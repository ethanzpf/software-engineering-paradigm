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notesMasterIdLst>
    <p:notesMasterId r:id="rId14"/>
  </p:notes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369"/>
    <p:restoredTop sz="94628"/>
  </p:normalViewPr>
  <p:slideViewPr>
    <p:cSldViewPr snapToGrid="0">
      <p:cViewPr varScale="1">
        <p:scale>
          <a:sx n="98" d="100"/>
          <a:sy n="98" d="100"/>
        </p:scale>
        <p:origin x="32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FED6C0-981D-AA40-9E59-8D34B6C2017E}" type="datetimeFigureOut">
              <a:rPr lang="en-US" smtClean="0"/>
              <a:t>11/3/24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5B72E0-AF98-AA40-9570-F338BA92E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429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03645-DCFE-47FC-8A66-F9A45A422E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1150" y="1247140"/>
            <a:ext cx="7891760" cy="3450844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D509FA-7BD7-4D45-998F-0E43038F17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21150" y="4818126"/>
            <a:ext cx="7891760" cy="1268984"/>
          </a:xfrm>
        </p:spPr>
        <p:txBody>
          <a:bodyPr anchor="b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03A0B2-4A2F-D846-A5E6-FB7CB9A031F7}"/>
              </a:ext>
            </a:extLst>
          </p:cNvPr>
          <p:cNvSpPr/>
          <p:nvPr/>
        </p:nvSpPr>
        <p:spPr>
          <a:xfrm>
            <a:off x="1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573F1D-73A7-FB41-BCAD-FC9AA7DEF4F5}"/>
              </a:ext>
            </a:extLst>
          </p:cNvPr>
          <p:cNvSpPr/>
          <p:nvPr/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FA51C-E4FE-4BF2-A2DD-E32DE57D8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1449AA12-8195-4182-A7AC-2E7E59DFBDAF}" type="datetimeFigureOut">
              <a:rPr lang="en-US" smtClean="0"/>
              <a:pPr algn="r"/>
              <a:t>11/3/24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438448-FC2D-4A2F-B7C0-04AC5031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1150" y="6292850"/>
            <a:ext cx="4114800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B07C67E-EAD9-47D8-9559-4E091BC03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916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C5DD8-8608-4B55-96D8-0AB848C02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3CC0B-7B21-422D-937D-FBD49EE93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0EAFA-89BC-43E9-8EB9-B6B3CD136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11/3/24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50944-70C2-487F-A102-58CDFB94C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7B7B8-A972-455E-9D8C-9B8026A53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CC95119-6D9D-3542-9E0E-4171B33DC9CA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FC92F19-7317-314C-81B7-43B8B687F4E4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991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087F2-AA0E-4F0C-9AD6-235302157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1150" y="1251674"/>
            <a:ext cx="7891760" cy="2914688"/>
          </a:xfrm>
        </p:spPr>
        <p:txBody>
          <a:bodyPr anchor="t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937807-96B8-4061-A845-1287216BF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21150" y="4818126"/>
            <a:ext cx="7891760" cy="1271524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AF346-9503-4767-BCB4-84B823E27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11/3/24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9605B-A39D-4BEE-B46F-16CF13FA0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1150" y="62928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5834A-942D-410B-A430-43F9E01FC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D199D5-C485-D449-9804-F755E0907B51}"/>
              </a:ext>
            </a:extLst>
          </p:cNvPr>
          <p:cNvSpPr/>
          <p:nvPr/>
        </p:nvSpPr>
        <p:spPr>
          <a:xfrm>
            <a:off x="1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90D1A7-C550-2540-86C9-EB0FB2EB2E71}"/>
              </a:ext>
            </a:extLst>
          </p:cNvPr>
          <p:cNvSpPr/>
          <p:nvPr/>
        </p:nvSpPr>
        <p:spPr>
          <a:xfrm>
            <a:off x="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895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FCAD2-C321-4E81-AEBE-696A90E2D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15504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20CD1-0E09-4415-911C-0F5B7341DD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87709" y="2160016"/>
            <a:ext cx="4425437" cy="392709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63EDD-031A-49CA-9130-067550BD0D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48963" y="2160016"/>
            <a:ext cx="4425437" cy="39270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808E79-A0BE-49F3-AE92-7EE5CC78F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11/3/24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98B87C-BF1E-47CF-9A4E-FD4BE32C0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C06E71-46F6-469C-A9CA-E707EBE51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2659F6-6B3B-A545-A45F-FAD238210D47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0637F8-15DE-2240-8BF8-D6E57A337B1A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051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3B26D-64DE-4314-8BD2-25FD618FB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1056" y="457200"/>
            <a:ext cx="9521854" cy="15544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D77613-5CEE-4B05-A937-CD43EAAAB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91057" y="2165086"/>
            <a:ext cx="4425696" cy="823912"/>
          </a:xfrm>
        </p:spPr>
        <p:txBody>
          <a:bodyPr anchor="b">
            <a:normAutofit/>
          </a:bodyPr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3E4779-3B5A-4993-9C7F-FB19F163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91056" y="2988998"/>
            <a:ext cx="4425697" cy="309811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51081A-685C-4C18-9AE9-425106A02F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87214" y="2165086"/>
            <a:ext cx="4425696" cy="823912"/>
          </a:xfrm>
        </p:spPr>
        <p:txBody>
          <a:bodyPr anchor="b">
            <a:normAutofit/>
          </a:bodyPr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80F424-FE3A-4B7D-B60C-7AEA2118A5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87214" y="2988998"/>
            <a:ext cx="4425696" cy="309811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4D2A96-CD7D-41BC-BDBE-5E29B7C0B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11/3/24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D1471D-6DDE-4E56-84E9-48136966A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A3F451-CF28-4F57-B844-52A665440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D1FA03E-7A83-AB41-BB4B-25B04946559A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702630-3C98-A142-9D04-1D852974DC26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033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22D7A-4502-49C3-BAFB-6D46F7A2E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AB67EE-A167-43D1-9C58-7B736CF28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11/3/24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605B7-599B-450E-9E8D-2A9AE3F30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5BD2B1-8C5F-430B-A0F2-CD5281AB7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BA877B-B45A-BD48-8FC8-E752E7D7174F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F3343D-2AFA-B544-B40A-315F5EC680B6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261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308016-71BA-4CD3-918D-51613F7F4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11/3/24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B24F46-0425-47C6-9FFB-F69AFFFE8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E7A99-1593-4189-A514-8209CC32A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C15DFD-AB97-AB43-A6C9-2808708C91B4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05BA89-ECA6-2247-ABBB-3C67160202E9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925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E933B-3FC6-4B08-9FBE-2DD48307A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2" y="455362"/>
            <a:ext cx="4043440" cy="1584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FBD4A-4514-4DCE-8F18-914DF3F4E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1232" y="565151"/>
            <a:ext cx="5358384" cy="552196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F18C85-0675-4202-B796-3527668549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87712" y="2039874"/>
            <a:ext cx="4043440" cy="38291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0079E5-F934-4D04-866F-F7CB5B08A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11/3/24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5FC94-7915-439A-B937-F02D1BB03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B69B19-4156-4584-B1DC-4F42F200B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1B6031-8ABE-F648-8E05-3D08D0D54B53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ABD855-35E6-BE4F-8B03-FD12DDB32E10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971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E1F3B-090C-4BB5-84BE-8ED0FC598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1" y="455362"/>
            <a:ext cx="4043436" cy="1584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97C49E-9426-4B24-B2A7-C54B89DA60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71232" y="565150"/>
            <a:ext cx="5355607" cy="552267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C7F011-0A5F-44E9-88CD-C95A33351B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87711" y="2039874"/>
            <a:ext cx="4043436" cy="38291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721C85-27BB-4533-A21B-C379FE03A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11/3/24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18850-01F1-4247-9BFD-1DDC5DDDC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B365A9-4C28-480F-B370-2DFF234B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0EAFF3-0A84-F84B-90E4-A596F00B3DC2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392559-3C15-B249-93C9-B0F7E9E5DDD8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481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C53B0-59B2-4B39-93E0-DCFBB932C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525200" cy="15504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8C5F7B-98AC-425B-80BD-6C6F3032D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87710" y="2160016"/>
            <a:ext cx="9525200" cy="39261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8C2EE-2433-424A-878C-24514FF5D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11/3/24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EFD20-ADE2-40F3-A071-6D1E97F8F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7D1D5-5E92-48E1-9475-EC122D3FE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FCF945-5CF3-5542-A36A-9CBB738E735E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7D61B-66C5-4341-8F2D-129A9E4D8283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32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47FBCF-6EDB-4883-92D4-612F4D1C55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46380" y="565149"/>
            <a:ext cx="2266530" cy="56118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9D2DF8-B588-416F-AA11-9F3A0DDE67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87710" y="565149"/>
            <a:ext cx="7088929" cy="56118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F7B1D-405D-4EE7-9A23-3F21916C9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9AA12-8195-4182-A7AC-2E7E59DFBDAF}" type="datetimeFigureOut">
              <a:rPr lang="en-US" smtClean="0"/>
              <a:t>11/3/24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B9304-686C-431A-8E7F-D9DD19F4D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A240B-DB2E-46ED-8AC6-744B2C1C7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FC975-2FD7-44A5-9E78-ECBA461560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275F2C-778B-864A-8379-6D0726B18FDC}"/>
              </a:ext>
            </a:extLst>
          </p:cNvPr>
          <p:cNvSpPr/>
          <p:nvPr/>
        </p:nvSpPr>
        <p:spPr>
          <a:xfrm>
            <a:off x="0" y="565153"/>
            <a:ext cx="1133856" cy="6292847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0051C8-76B3-384B-BCF1-60BB80301FCD}"/>
              </a:ext>
            </a:extLst>
          </p:cNvPr>
          <p:cNvSpPr/>
          <p:nvPr/>
        </p:nvSpPr>
        <p:spPr>
          <a:xfrm>
            <a:off x="0" y="-3"/>
            <a:ext cx="565150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49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934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7ACD69-D2F4-4938-B590-C41404901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9486690" cy="155041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762BD4-BA0F-4CA4-BAE3-DF2B5087C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87710" y="2160016"/>
            <a:ext cx="9486690" cy="39261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B2FEE-249E-42F1-94D8-A8C0759EF4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18632" y="6292850"/>
            <a:ext cx="30942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49AA12-8195-4182-A7AC-2E7E59DFBDAF}" type="datetimeFigureOut">
              <a:rPr lang="en-US" smtClean="0"/>
              <a:pPr/>
              <a:t>11/3/24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0C617-A890-4920-83B0-143C033490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87711" y="62928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1B4F1-B06B-4BBE-BFFF-C0B386E244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9574" y="6292850"/>
            <a:ext cx="8138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DFC975-2FD7-44A5-9E78-ECBA4615607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6078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5" r:id="rId6"/>
    <p:sldLayoutId id="2147483680" r:id="rId7"/>
    <p:sldLayoutId id="2147483681" r:id="rId8"/>
    <p:sldLayoutId id="2147483682" r:id="rId9"/>
    <p:sldLayoutId id="2147483684" r:id="rId10"/>
    <p:sldLayoutId id="214748368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200"/>
        </a:spcBef>
        <a:buClr>
          <a:schemeClr val="accent1"/>
        </a:buClr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8F843D-1C1B-C740-AC27-E3238D0F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91E46D-0383-154E-42D7-0ACEB1E5F0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9469" y="1247140"/>
            <a:ext cx="3608208" cy="3450844"/>
          </a:xfrm>
        </p:spPr>
        <p:txBody>
          <a:bodyPr>
            <a:normAutofit/>
          </a:bodyPr>
          <a:lstStyle/>
          <a:p>
            <a:r>
              <a:rPr lang="en-US" sz="4000" dirty="0"/>
              <a:t>Object-Oriented Software Engineering</a:t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2863FC-E4A9-7DE6-2FDF-CCF136B736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9469" y="4818126"/>
            <a:ext cx="3608208" cy="1268984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en-US" dirty="0"/>
              <a:t>TTTE6104 </a:t>
            </a:r>
          </a:p>
          <a:p>
            <a:pPr algn="ctr"/>
            <a:r>
              <a:rPr lang="en-US" dirty="0"/>
              <a:t>Software Engineering Paradigm </a:t>
            </a:r>
          </a:p>
        </p:txBody>
      </p:sp>
      <p:pic>
        <p:nvPicPr>
          <p:cNvPr id="4" name="Picture 3" descr="A blue and white curved wall&#10;&#10;Description automatically generated with medium confidence">
            <a:extLst>
              <a:ext uri="{FF2B5EF4-FFF2-40B4-BE49-F238E27FC236}">
                <a16:creationId xmlns:a16="http://schemas.microsoft.com/office/drawing/2014/main" id="{6B314AD5-A343-A6A8-C03F-CB9D36352F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416" r="7039"/>
          <a:stretch/>
        </p:blipFill>
        <p:spPr>
          <a:xfrm>
            <a:off x="4735487" y="10"/>
            <a:ext cx="7456513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21C8291-E3D5-4240-8FF4-E5213CBCC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35290" y="1375492"/>
            <a:ext cx="2770698" cy="54825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B44AFE-C181-7047-8CC9-CA00BD385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35290" y="-3"/>
            <a:ext cx="1373567" cy="6857999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81000">
                <a:schemeClr val="accent4">
                  <a:alpha val="50000"/>
                </a:schemeClr>
              </a:gs>
              <a:gs pos="25000">
                <a:schemeClr val="accent2">
                  <a:alpha val="60000"/>
                </a:schemeClr>
              </a:gs>
              <a:gs pos="50000">
                <a:schemeClr val="accent3">
                  <a:alpha val="55000"/>
                </a:schemeClr>
              </a:gs>
              <a:gs pos="99000">
                <a:schemeClr val="accent5">
                  <a:alpha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522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8D3EB-2883-567A-8BF9-436463C1D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D78888-46A2-A747-2F96-03E05824C3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5640" y="2160588"/>
            <a:ext cx="8290619" cy="3925887"/>
          </a:xfrm>
        </p:spPr>
      </p:pic>
    </p:spTree>
    <p:extLst>
      <p:ext uri="{BB962C8B-B14F-4D97-AF65-F5344CB8AC3E}">
        <p14:creationId xmlns:p14="http://schemas.microsoft.com/office/powerpoint/2010/main" val="2082875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B3F62-DBD0-0C00-2553-E479C3264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Introduction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D8BB1-715F-C3BE-6FE9-8E4404B85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MY" b="1" dirty="0"/>
              <a:t>Definition of OOSE</a:t>
            </a:r>
          </a:p>
          <a:p>
            <a:pPr lvl="1"/>
            <a:r>
              <a:rPr lang="en-MY" b="1" dirty="0"/>
              <a:t>A systematic approach to software development that incorporates object-oriented principles, methodologies, and techniques to design and implement software systems.</a:t>
            </a:r>
          </a:p>
          <a:p>
            <a:r>
              <a:rPr lang="en-MY" b="1" dirty="0"/>
              <a:t>Importance of OOSE in software development</a:t>
            </a:r>
          </a:p>
          <a:p>
            <a:pPr lvl="1"/>
            <a:r>
              <a:rPr lang="en-MY" b="1" dirty="0"/>
              <a:t>Focuses on </a:t>
            </a:r>
            <a:r>
              <a:rPr lang="en-MY" b="1" dirty="0" err="1"/>
              <a:t>modeling</a:t>
            </a:r>
            <a:r>
              <a:rPr lang="en-MY" b="1" dirty="0"/>
              <a:t> real-world entities as "objects," which encapsulate both data (attributes) and </a:t>
            </a:r>
            <a:r>
              <a:rPr lang="en-MY" b="1" dirty="0" err="1"/>
              <a:t>behavior</a:t>
            </a:r>
            <a:r>
              <a:rPr lang="en-MY" b="1" dirty="0"/>
              <a:t> (methods) related to those entities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515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E4B21-C2ED-CD07-0C26-132DEE058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Components of OOSE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50533-95A5-BFCE-12F5-BA2E4778A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MY" b="1" dirty="0"/>
              <a:t>Object-Oriented Principles</a:t>
            </a:r>
            <a:endParaRPr lang="en-MY" dirty="0"/>
          </a:p>
          <a:p>
            <a:pPr lvl="1"/>
            <a:r>
              <a:rPr lang="en-MY" b="1" dirty="0"/>
              <a:t>Encapsulation:</a:t>
            </a:r>
            <a:r>
              <a:rPr lang="en-MY" dirty="0"/>
              <a:t> Bundling data and methods that operate on that data within a single unit (the object), promoting data hiding and abstraction.</a:t>
            </a:r>
          </a:p>
          <a:p>
            <a:pPr lvl="1"/>
            <a:r>
              <a:rPr lang="en-MY" b="1" dirty="0"/>
              <a:t>Inheritance:</a:t>
            </a:r>
            <a:r>
              <a:rPr lang="en-MY" dirty="0"/>
              <a:t> Allowing a new class to inherit properties and </a:t>
            </a:r>
            <a:r>
              <a:rPr lang="en-MY" dirty="0" err="1"/>
              <a:t>behaviors</a:t>
            </a:r>
            <a:r>
              <a:rPr lang="en-MY" dirty="0"/>
              <a:t> from an existing class, facilitating reusability and the creation of hierarchical relationships.</a:t>
            </a:r>
          </a:p>
          <a:p>
            <a:pPr lvl="1"/>
            <a:r>
              <a:rPr lang="en-MY" b="1" dirty="0"/>
              <a:t>Polymorphism:</a:t>
            </a:r>
            <a:r>
              <a:rPr lang="en-MY" dirty="0"/>
              <a:t> Enabling objects to be treated as instances of their parent class, allowing for method overriding and overloading, which enhances flexibility in code execution.</a:t>
            </a:r>
          </a:p>
          <a:p>
            <a:r>
              <a:rPr lang="en-MY" b="1" dirty="0" err="1"/>
              <a:t>Modeling</a:t>
            </a:r>
            <a:r>
              <a:rPr lang="en-MY" b="1" dirty="0"/>
              <a:t> Real-World Systems</a:t>
            </a:r>
            <a:endParaRPr lang="en-MY" dirty="0"/>
          </a:p>
          <a:p>
            <a:pPr lvl="1"/>
            <a:r>
              <a:rPr lang="en-MY" dirty="0"/>
              <a:t>OOSE uses models to represent real-world entities and their interactions. These models help in understanding and specifying the requirements of the software system.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5547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D1EA2-D4BE-5DBA-1C9A-860773C06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Components of OOSE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2819F-F13B-8932-4EE6-8E8AD3831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MY" b="1" dirty="0"/>
              <a:t>Software Development Life Cycle</a:t>
            </a:r>
            <a:endParaRPr lang="en-MY" dirty="0"/>
          </a:p>
          <a:p>
            <a:pPr lvl="1"/>
            <a:r>
              <a:rPr lang="en-MY" dirty="0"/>
              <a:t>OOSE integrates the principles of OOP throughout all phases of the SDLC, including requirements gathering, analysis, design, implementation, testing, and maintenance, ensuring a cohesive approach to software development.</a:t>
            </a:r>
          </a:p>
          <a:p>
            <a:r>
              <a:rPr lang="en-MY" b="1" dirty="0"/>
              <a:t>Unified </a:t>
            </a:r>
            <a:r>
              <a:rPr lang="en-MY" b="1" dirty="0" err="1"/>
              <a:t>Modeling</a:t>
            </a:r>
            <a:r>
              <a:rPr lang="en-MY" b="1" dirty="0"/>
              <a:t> Language (UML)</a:t>
            </a:r>
            <a:endParaRPr lang="en-MY" dirty="0"/>
          </a:p>
          <a:p>
            <a:pPr lvl="1"/>
            <a:r>
              <a:rPr lang="en-MY" dirty="0"/>
              <a:t>OOSE often employs UML as a standardized </a:t>
            </a:r>
            <a:r>
              <a:rPr lang="en-MY" dirty="0" err="1"/>
              <a:t>modeling</a:t>
            </a:r>
            <a:r>
              <a:rPr lang="en-MY" dirty="0"/>
              <a:t> language to visualize the design of a system, facilitating communication among stakeholders.</a:t>
            </a:r>
          </a:p>
          <a:p>
            <a:r>
              <a:rPr lang="en-MY" b="1" dirty="0"/>
              <a:t>Focus on Reusability and Maintainability</a:t>
            </a:r>
            <a:endParaRPr lang="en-MY" dirty="0"/>
          </a:p>
          <a:p>
            <a:pPr lvl="1"/>
            <a:r>
              <a:rPr lang="en-MY" dirty="0"/>
              <a:t>By emphasizing modular design and the use of classes and objects, OOSE promotes code reusability and simplifies maintenance, which are crucial for long-term software sustainability.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5871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9E5ED-D609-589B-6E13-3E42C5C70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Development Life Cycle (SDLC)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AF7B2-B6F1-39C9-00A5-181ABCCA77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MY" dirty="0"/>
              <a:t>Requirement Analysis</a:t>
            </a:r>
          </a:p>
          <a:p>
            <a:pPr>
              <a:buFont typeface="+mj-lt"/>
              <a:buAutoNum type="arabicPeriod"/>
            </a:pPr>
            <a:r>
              <a:rPr lang="en-MY" dirty="0"/>
              <a:t>System Design</a:t>
            </a:r>
          </a:p>
          <a:p>
            <a:pPr>
              <a:buFont typeface="+mj-lt"/>
              <a:buAutoNum type="arabicPeriod"/>
            </a:pPr>
            <a:r>
              <a:rPr lang="en-MY" dirty="0"/>
              <a:t>Implementation</a:t>
            </a:r>
          </a:p>
          <a:p>
            <a:pPr>
              <a:buFont typeface="+mj-lt"/>
              <a:buAutoNum type="arabicPeriod"/>
            </a:pPr>
            <a:r>
              <a:rPr lang="en-MY" dirty="0"/>
              <a:t>Testing</a:t>
            </a:r>
          </a:p>
          <a:p>
            <a:pPr>
              <a:buFont typeface="+mj-lt"/>
              <a:buAutoNum type="arabicPeriod"/>
            </a:pPr>
            <a:r>
              <a:rPr lang="en-MY" dirty="0"/>
              <a:t>Deployment</a:t>
            </a:r>
          </a:p>
          <a:p>
            <a:pPr>
              <a:buFont typeface="+mj-lt"/>
              <a:buAutoNum type="arabicPeriod"/>
            </a:pPr>
            <a:r>
              <a:rPr lang="en-MY" dirty="0"/>
              <a:t>Maintenance</a:t>
            </a:r>
          </a:p>
          <a:p>
            <a:r>
              <a:rPr lang="en-MY" b="1" dirty="0"/>
              <a:t>Role of OOSE in each phase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7489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8AED1-5168-DCA8-BC1F-1D34A68B6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Y" dirty="0"/>
              <a:t>Object-Oriented Analysis and Design (OOAD)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EE030-ACB8-2FF1-E9F3-EA2D441075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way to design software by thinking of everything as objects similar to real-life things</a:t>
            </a:r>
          </a:p>
          <a:p>
            <a:r>
              <a:rPr lang="en-US" dirty="0"/>
              <a:t>Two distinct but closely related processes: Object-Oriented Analysis (OOA) and Object-Oriented Design (OOD)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7618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E2F36-B112-63BB-7EB1-78249880D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Aspects of OOAD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A74CD-0A93-85D7-C370-6450FDBFD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Object-Oriented Programming: In this the real-world items are represented/mapped as software objects with attributes and methods that relate to their actions.</a:t>
            </a:r>
          </a:p>
          <a:p>
            <a:r>
              <a:rPr lang="en-US" dirty="0"/>
              <a:t>Design Patterns: Design patterns are used by OOAD to help developers in building software systems that are more efficient and maintainable.</a:t>
            </a:r>
          </a:p>
          <a:p>
            <a:r>
              <a:rPr lang="en-US" dirty="0"/>
              <a:t>UML Diagrams: UML diagrams are used in OOAD to represent the different components and interactions of a software system.</a:t>
            </a:r>
          </a:p>
          <a:p>
            <a:r>
              <a:rPr lang="en-US" dirty="0"/>
              <a:t>Use Cases: OOAD uses use cases to help developers understand the requirements of a system and to design software systems that meet those requirements.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818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615F8-5C61-E4C0-7200-FC7510F50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Benefits of Object-Oriented Analysis and Design (OOAD)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1211F-2908-E35E-FB48-92E00A34ED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It increases the modularity and maintainability of software by encouraging the creation of tiny, reusable parts that can be combined to create more complex systems.</a:t>
            </a:r>
          </a:p>
          <a:p>
            <a:r>
              <a:rPr lang="en-US" dirty="0"/>
              <a:t>It provides a high-level, abstract representation of a software system, making understanding and maintenance easier.</a:t>
            </a:r>
          </a:p>
          <a:p>
            <a:r>
              <a:rPr lang="en-US" dirty="0"/>
              <a:t>It promotes object-oriented design principles and the reuse of objects, which lowers the amount of code that must be produced and raises the quality of the program.</a:t>
            </a:r>
          </a:p>
          <a:p>
            <a:r>
              <a:rPr lang="en-US" dirty="0"/>
              <a:t>Software engineers can use the same language and method that OOAD provides to communicate and work together more successfully in groups.</a:t>
            </a:r>
          </a:p>
          <a:p>
            <a:r>
              <a:rPr lang="en-US" dirty="0"/>
              <a:t>It can assist developers in creating scalable software systems that can adapt to changing user needs and business demands over time.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3183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5E03C-A834-6799-8AF1-1833BE696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world applications of OOAD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27375-B3BF-3E34-A8DE-B7079ED08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Banking Software</a:t>
            </a:r>
          </a:p>
          <a:p>
            <a:r>
              <a:rPr lang="en-US" dirty="0"/>
              <a:t>Electronic Health Record (EHR) Systems</a:t>
            </a:r>
          </a:p>
          <a:p>
            <a:r>
              <a:rPr lang="en-US" dirty="0"/>
              <a:t>Flight Control Systems</a:t>
            </a:r>
          </a:p>
          <a:p>
            <a:r>
              <a:rPr lang="en-US" dirty="0"/>
              <a:t>Telecom Billing Systems</a:t>
            </a:r>
          </a:p>
          <a:p>
            <a:r>
              <a:rPr lang="en-US" dirty="0"/>
              <a:t>Online Shopping Platforms</a:t>
            </a:r>
          </a:p>
        </p:txBody>
      </p:sp>
    </p:spTree>
    <p:extLst>
      <p:ext uri="{BB962C8B-B14F-4D97-AF65-F5344CB8AC3E}">
        <p14:creationId xmlns:p14="http://schemas.microsoft.com/office/powerpoint/2010/main" val="40541203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120B4-2AFF-EDB6-4D20-F13E90B29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0FE5C-3D7E-CA90-14F1-72F9D0DC2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Work in teams to identify a real-world application of Object-Oriented Analysis and Design, </a:t>
            </a:r>
            <a:r>
              <a:rPr lang="en-MY" dirty="0" err="1"/>
              <a:t>analyze</a:t>
            </a:r>
            <a:r>
              <a:rPr lang="en-MY" dirty="0"/>
              <a:t> its components, and present the findings.</a:t>
            </a:r>
          </a:p>
          <a:p>
            <a:r>
              <a:rPr lang="en-MY" dirty="0"/>
              <a:t>Each team will select a real-world example of a software application that utilizes Object-Oriented Analysis and Design principles.</a:t>
            </a:r>
          </a:p>
          <a:p>
            <a:r>
              <a:rPr lang="en-MY" dirty="0"/>
              <a:t>Suggested sources - Academic Articles, Whitepapers, Case Studies, Open Source Projects (GitHub)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6543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2EEBC-140A-15AC-294E-D5FB81805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55B0F-A773-6250-81EC-C0D32E7AB7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MY" dirty="0"/>
              <a:t>Each team will </a:t>
            </a:r>
            <a:r>
              <a:rPr lang="en-MY" dirty="0" err="1"/>
              <a:t>analyze</a:t>
            </a:r>
            <a:r>
              <a:rPr lang="en-MY" dirty="0"/>
              <a:t> their selected application and gather the following information: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b="1" dirty="0"/>
              <a:t>Project Title:</a:t>
            </a:r>
            <a:r>
              <a:rPr lang="en-MY" dirty="0"/>
              <a:t> Name of the application or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b="1" dirty="0"/>
              <a:t>Overview:</a:t>
            </a:r>
            <a:r>
              <a:rPr lang="en-MY" dirty="0"/>
              <a:t> Brief description of the application and its purpose.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b="1" dirty="0"/>
              <a:t>Diagrams:</a:t>
            </a:r>
            <a:r>
              <a:rPr lang="en-MY" dirty="0"/>
              <a:t> Create and include relevant UML diagrams such as: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MY" dirty="0"/>
              <a:t>Use Case Diagram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MY" dirty="0"/>
              <a:t>Class Diagram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MY" dirty="0"/>
              <a:t>Sequence Diagram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b="1" dirty="0"/>
              <a:t>Tools Used:</a:t>
            </a:r>
            <a:r>
              <a:rPr lang="en-MY" dirty="0"/>
              <a:t> Identify the tools and technologies used in the development of the application (e.g., programming languages, frameworks, design tools).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MY" b="1" dirty="0"/>
              <a:t>Benefits of Using OO Approach:</a:t>
            </a:r>
            <a:r>
              <a:rPr lang="en-MY" dirty="0"/>
              <a:t> Discuss the advantages of using an object-oriented approach in their chosen example, including aspects like modularity, maintainability, scalability, and ease of collaboration.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5406734"/>
      </p:ext>
    </p:extLst>
  </p:cSld>
  <p:clrMapOvr>
    <a:masterClrMapping/>
  </p:clrMapOvr>
</p:sld>
</file>

<file path=ppt/theme/theme1.xml><?xml version="1.0" encoding="utf-8"?>
<a:theme xmlns:a="http://schemas.openxmlformats.org/drawingml/2006/main" name="InterweaveVTI">
  <a:themeElements>
    <a:clrScheme name="AnalogousFromLightSeedRightStep">
      <a:dk1>
        <a:srgbClr val="000000"/>
      </a:dk1>
      <a:lt1>
        <a:srgbClr val="FFFFFF"/>
      </a:lt1>
      <a:dk2>
        <a:srgbClr val="243141"/>
      </a:dk2>
      <a:lt2>
        <a:srgbClr val="E2E3E8"/>
      </a:lt2>
      <a:accent1>
        <a:srgbClr val="AAA180"/>
      </a:accent1>
      <a:accent2>
        <a:srgbClr val="9CA671"/>
      </a:accent2>
      <a:accent3>
        <a:srgbClr val="8FA880"/>
      </a:accent3>
      <a:accent4>
        <a:srgbClr val="76AD78"/>
      </a:accent4>
      <a:accent5>
        <a:srgbClr val="81AB94"/>
      </a:accent5>
      <a:accent6>
        <a:srgbClr val="74AAA2"/>
      </a:accent6>
      <a:hlink>
        <a:srgbClr val="6978AE"/>
      </a:hlink>
      <a:folHlink>
        <a:srgbClr val="7F7F7F"/>
      </a:folHlink>
    </a:clrScheme>
    <a:fontScheme name="Interweave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rweaveVTI" id="{2A5AE21D-FC75-4AD0-BC12-FA563BC24905}" vid="{9A4A41B8-EB69-44BB-8E15-B517E25CF8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503</TotalTime>
  <Words>766</Words>
  <Application>Microsoft Macintosh PowerPoint</Application>
  <PresentationFormat>Widescreen</PresentationFormat>
  <Paragraphs>63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Neue Haas Grotesk Text Pro</vt:lpstr>
      <vt:lpstr>InterweaveVTI</vt:lpstr>
      <vt:lpstr>Object-Oriented Software Engineering </vt:lpstr>
      <vt:lpstr>PowerPoint Presentation</vt:lpstr>
      <vt:lpstr>Introduction</vt:lpstr>
      <vt:lpstr>Key Components of OOSE</vt:lpstr>
      <vt:lpstr>Key Components of OOSE</vt:lpstr>
      <vt:lpstr>Software Development Life Cycle (SDLC)</vt:lpstr>
      <vt:lpstr>Object-Oriented Analysis and Design (OOAD)</vt:lpstr>
      <vt:lpstr>Important Aspects of OOAD</vt:lpstr>
      <vt:lpstr>Benefits of Object-Oriented Analysis and Design (OOAD)</vt:lpstr>
      <vt:lpstr>Real world applications of OOAD</vt:lpstr>
      <vt:lpstr>Class Activity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NURHIDAYAH BAHAR</dc:creator>
  <cp:lastModifiedBy>NURHIDAYAH BAHAR</cp:lastModifiedBy>
  <cp:revision>21</cp:revision>
  <dcterms:created xsi:type="dcterms:W3CDTF">2024-10-15T01:56:27Z</dcterms:created>
  <dcterms:modified xsi:type="dcterms:W3CDTF">2024-11-03T07:47:07Z</dcterms:modified>
</cp:coreProperties>
</file>