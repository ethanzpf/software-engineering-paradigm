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8"/>
  </p:notesMasterIdLst>
  <p:sldIdLst>
    <p:sldId id="256" r:id="rId2"/>
    <p:sldId id="257" r:id="rId3"/>
    <p:sldId id="258" r:id="rId4"/>
    <p:sldId id="286" r:id="rId5"/>
    <p:sldId id="259" r:id="rId6"/>
    <p:sldId id="260" r:id="rId7"/>
    <p:sldId id="261" r:id="rId8"/>
    <p:sldId id="287" r:id="rId9"/>
    <p:sldId id="262" r:id="rId10"/>
    <p:sldId id="263" r:id="rId11"/>
    <p:sldId id="264" r:id="rId12"/>
    <p:sldId id="288" r:id="rId13"/>
    <p:sldId id="265" r:id="rId14"/>
    <p:sldId id="266" r:id="rId15"/>
    <p:sldId id="269" r:id="rId16"/>
    <p:sldId id="283" r:id="rId17"/>
    <p:sldId id="270" r:id="rId18"/>
    <p:sldId id="285" r:id="rId19"/>
    <p:sldId id="271" r:id="rId20"/>
    <p:sldId id="284" r:id="rId21"/>
    <p:sldId id="295" r:id="rId22"/>
    <p:sldId id="292" r:id="rId23"/>
    <p:sldId id="293" r:id="rId24"/>
    <p:sldId id="294" r:id="rId25"/>
    <p:sldId id="296" r:id="rId26"/>
    <p:sldId id="297" r:id="rId27"/>
    <p:sldId id="298" r:id="rId28"/>
    <p:sldId id="299" r:id="rId29"/>
    <p:sldId id="267" r:id="rId30"/>
    <p:sldId id="268" r:id="rId31"/>
    <p:sldId id="289" r:id="rId32"/>
    <p:sldId id="272" r:id="rId33"/>
    <p:sldId id="273" r:id="rId34"/>
    <p:sldId id="276" r:id="rId35"/>
    <p:sldId id="290" r:id="rId36"/>
    <p:sldId id="274" r:id="rId37"/>
    <p:sldId id="275" r:id="rId38"/>
    <p:sldId id="291" r:id="rId39"/>
    <p:sldId id="277" r:id="rId40"/>
    <p:sldId id="278" r:id="rId41"/>
    <p:sldId id="279" r:id="rId42"/>
    <p:sldId id="280" r:id="rId43"/>
    <p:sldId id="281" r:id="rId44"/>
    <p:sldId id="300" r:id="rId45"/>
    <p:sldId id="301" r:id="rId46"/>
    <p:sldId id="305" r:id="rId47"/>
  </p:sldIdLst>
  <p:sldSz cx="9144000" cy="5943600"/>
  <p:notesSz cx="9144000" cy="5943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254"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98450"/>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5180013" y="0"/>
            <a:ext cx="3962400" cy="298450"/>
          </a:xfrm>
          <a:prstGeom prst="rect">
            <a:avLst/>
          </a:prstGeom>
        </p:spPr>
        <p:txBody>
          <a:bodyPr vert="horz" lIns="91440" tIns="45720" rIns="91440" bIns="45720" rtlCol="0"/>
          <a:lstStyle>
            <a:lvl1pPr algn="r">
              <a:defRPr sz="1200"/>
            </a:lvl1pPr>
          </a:lstStyle>
          <a:p>
            <a:fld id="{9E321508-C6CA-4837-93AF-40E64AE1F922}" type="datetimeFigureOut">
              <a:rPr lang="en-MY" smtClean="0"/>
              <a:t>18/11/2024</a:t>
            </a:fld>
            <a:endParaRPr lang="en-MY"/>
          </a:p>
        </p:txBody>
      </p:sp>
      <p:sp>
        <p:nvSpPr>
          <p:cNvPr id="4" name="Slide Image Placeholder 3"/>
          <p:cNvSpPr>
            <a:spLocks noGrp="1" noRot="1" noChangeAspect="1"/>
          </p:cNvSpPr>
          <p:nvPr>
            <p:ph type="sldImg" idx="2"/>
          </p:nvPr>
        </p:nvSpPr>
        <p:spPr>
          <a:xfrm>
            <a:off x="3028950" y="742950"/>
            <a:ext cx="3086100" cy="20066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914400" y="2860675"/>
            <a:ext cx="7315200" cy="23399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5645150"/>
            <a:ext cx="3962400" cy="298450"/>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5180013" y="5645150"/>
            <a:ext cx="3962400" cy="298450"/>
          </a:xfrm>
          <a:prstGeom prst="rect">
            <a:avLst/>
          </a:prstGeom>
        </p:spPr>
        <p:txBody>
          <a:bodyPr vert="horz" lIns="91440" tIns="45720" rIns="91440" bIns="45720" rtlCol="0" anchor="b"/>
          <a:lstStyle>
            <a:lvl1pPr algn="r">
              <a:defRPr sz="1200"/>
            </a:lvl1pPr>
          </a:lstStyle>
          <a:p>
            <a:fld id="{BCB6FB79-922C-457F-8156-CF9785CD4F08}" type="slidenum">
              <a:rPr lang="en-MY" smtClean="0"/>
              <a:t>‹#›</a:t>
            </a:fld>
            <a:endParaRPr lang="en-MY"/>
          </a:p>
        </p:txBody>
      </p:sp>
    </p:spTree>
    <p:extLst>
      <p:ext uri="{BB962C8B-B14F-4D97-AF65-F5344CB8AC3E}">
        <p14:creationId xmlns:p14="http://schemas.microsoft.com/office/powerpoint/2010/main" val="591215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BCB6FB79-922C-457F-8156-CF9785CD4F08}" type="slidenum">
              <a:rPr lang="en-MY" smtClean="0"/>
              <a:t>18</a:t>
            </a:fld>
            <a:endParaRPr lang="en-MY"/>
          </a:p>
        </p:txBody>
      </p:sp>
    </p:spTree>
    <p:extLst>
      <p:ext uri="{BB962C8B-B14F-4D97-AF65-F5344CB8AC3E}">
        <p14:creationId xmlns:p14="http://schemas.microsoft.com/office/powerpoint/2010/main" val="42557431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40BF55A-2677-431C-A181-37DBB4C0DEF4}" type="slidenum">
              <a:rPr lang="en-US" smtClean="0"/>
              <a:t>46</a:t>
            </a:fld>
            <a:endParaRPr lang="en-US"/>
          </a:p>
        </p:txBody>
      </p:sp>
    </p:spTree>
    <p:extLst>
      <p:ext uri="{BB962C8B-B14F-4D97-AF65-F5344CB8AC3E}">
        <p14:creationId xmlns:p14="http://schemas.microsoft.com/office/powerpoint/2010/main" val="31559085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842516"/>
            <a:ext cx="7772400" cy="1248156"/>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328416"/>
            <a:ext cx="6400800" cy="14859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000" b="0" i="0">
                <a:solidFill>
                  <a:srgbClr val="909090"/>
                </a:solidFill>
                <a:latin typeface="Roboto Lt"/>
                <a:cs typeface="Roboto Lt"/>
              </a:defRPr>
            </a:lvl1pPr>
          </a:lstStyle>
          <a:p>
            <a:pPr marL="12700">
              <a:lnSpc>
                <a:spcPct val="100000"/>
              </a:lnSpc>
              <a:spcBef>
                <a:spcPts val="25"/>
              </a:spcBef>
            </a:pPr>
            <a:r>
              <a:rPr lang="en-MY" spc="-25"/>
              <a:t>Agile Methodology</a:t>
            </a:r>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E524E484-2F96-4B04-A3E9-936712E65258}" type="datetime1">
              <a:rPr lang="en-US" smtClean="0"/>
              <a:t>11/18/2024</a:t>
            </a:fld>
            <a:endParaRPr lang="en-US"/>
          </a:p>
        </p:txBody>
      </p:sp>
      <p:sp>
        <p:nvSpPr>
          <p:cNvPr id="6" name="Holder 6"/>
          <p:cNvSpPr>
            <a:spLocks noGrp="1"/>
          </p:cNvSpPr>
          <p:nvPr>
            <p:ph type="sldNum" sz="quarter" idx="7"/>
          </p:nvPr>
        </p:nvSpPr>
        <p:spPr/>
        <p:txBody>
          <a:bodyPr lIns="0" tIns="0" rIns="0" bIns="0"/>
          <a:lstStyle>
            <a:lvl1pPr>
              <a:defRPr sz="1300" b="1" i="0">
                <a:solidFill>
                  <a:srgbClr val="909090"/>
                </a:solidFill>
                <a:latin typeface="Arial"/>
                <a:cs typeface="Arial"/>
              </a:defRPr>
            </a:lvl1pPr>
          </a:lstStyle>
          <a:p>
            <a:pPr marL="38100">
              <a:lnSpc>
                <a:spcPct val="100000"/>
              </a:lnSpc>
              <a:spcBef>
                <a:spcPts val="190"/>
              </a:spcBef>
            </a:pPr>
            <a:fld id="{81D60167-4931-47E6-BA6A-407CBD079E47}" type="slidenum">
              <a:rPr spc="35" dirty="0"/>
              <a:t>‹#›</a:t>
            </a:fld>
            <a:endParaRPr spc="3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1"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000" b="0" i="0">
                <a:solidFill>
                  <a:srgbClr val="909090"/>
                </a:solidFill>
                <a:latin typeface="Roboto Lt"/>
                <a:cs typeface="Roboto Lt"/>
              </a:defRPr>
            </a:lvl1pPr>
          </a:lstStyle>
          <a:p>
            <a:pPr marL="12700">
              <a:lnSpc>
                <a:spcPct val="100000"/>
              </a:lnSpc>
              <a:spcBef>
                <a:spcPts val="25"/>
              </a:spcBef>
            </a:pPr>
            <a:r>
              <a:rPr lang="en-MY" spc="-25"/>
              <a:t>Agile Methodology</a:t>
            </a:r>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B6254536-45AF-48EE-BF1C-86A959A5C5CA}" type="datetime1">
              <a:rPr lang="en-US" smtClean="0"/>
              <a:t>11/18/2024</a:t>
            </a:fld>
            <a:endParaRPr lang="en-US"/>
          </a:p>
        </p:txBody>
      </p:sp>
      <p:sp>
        <p:nvSpPr>
          <p:cNvPr id="6" name="Holder 6"/>
          <p:cNvSpPr>
            <a:spLocks noGrp="1"/>
          </p:cNvSpPr>
          <p:nvPr>
            <p:ph type="sldNum" sz="quarter" idx="7"/>
          </p:nvPr>
        </p:nvSpPr>
        <p:spPr/>
        <p:txBody>
          <a:bodyPr lIns="0" tIns="0" rIns="0" bIns="0"/>
          <a:lstStyle>
            <a:lvl1pPr>
              <a:defRPr sz="1300" b="1" i="0">
                <a:solidFill>
                  <a:srgbClr val="909090"/>
                </a:solidFill>
                <a:latin typeface="Arial"/>
                <a:cs typeface="Arial"/>
              </a:defRPr>
            </a:lvl1pPr>
          </a:lstStyle>
          <a:p>
            <a:pPr marL="38100">
              <a:lnSpc>
                <a:spcPct val="100000"/>
              </a:lnSpc>
              <a:spcBef>
                <a:spcPts val="190"/>
              </a:spcBef>
            </a:pPr>
            <a:fld id="{81D60167-4931-47E6-BA6A-407CBD079E47}" type="slidenum">
              <a:rPr spc="35" dirty="0"/>
              <a:t>‹#›</a:t>
            </a:fld>
            <a:endParaRPr spc="3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1" i="0">
                <a:solidFill>
                  <a:schemeClr val="bg1"/>
                </a:solidFill>
                <a:latin typeface="Arial"/>
                <a:cs typeface="Arial"/>
              </a:defRPr>
            </a:lvl1pPr>
          </a:lstStyle>
          <a:p>
            <a:endParaRPr/>
          </a:p>
        </p:txBody>
      </p:sp>
      <p:sp>
        <p:nvSpPr>
          <p:cNvPr id="3" name="Holder 3"/>
          <p:cNvSpPr>
            <a:spLocks noGrp="1"/>
          </p:cNvSpPr>
          <p:nvPr>
            <p:ph sz="half" idx="2"/>
          </p:nvPr>
        </p:nvSpPr>
        <p:spPr>
          <a:xfrm>
            <a:off x="526366" y="2197036"/>
            <a:ext cx="3822065" cy="3240404"/>
          </a:xfrm>
          <a:prstGeom prst="rect">
            <a:avLst/>
          </a:prstGeom>
        </p:spPr>
        <p:txBody>
          <a:bodyPr wrap="square" lIns="0" tIns="0" rIns="0" bIns="0">
            <a:spAutoFit/>
          </a:bodyPr>
          <a:lstStyle>
            <a:lvl1pPr>
              <a:defRPr sz="1700" b="1" i="0">
                <a:solidFill>
                  <a:srgbClr val="002F59"/>
                </a:solidFill>
                <a:latin typeface="Arial"/>
                <a:cs typeface="Arial"/>
              </a:defRPr>
            </a:lvl1pPr>
          </a:lstStyle>
          <a:p>
            <a:endParaRPr/>
          </a:p>
        </p:txBody>
      </p:sp>
      <p:sp>
        <p:nvSpPr>
          <p:cNvPr id="4" name="Holder 4"/>
          <p:cNvSpPr>
            <a:spLocks noGrp="1"/>
          </p:cNvSpPr>
          <p:nvPr>
            <p:ph sz="half" idx="3"/>
          </p:nvPr>
        </p:nvSpPr>
        <p:spPr>
          <a:xfrm>
            <a:off x="4709160" y="1367028"/>
            <a:ext cx="3977640" cy="39227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00" b="0" i="0">
                <a:solidFill>
                  <a:srgbClr val="909090"/>
                </a:solidFill>
                <a:latin typeface="Roboto Lt"/>
                <a:cs typeface="Roboto Lt"/>
              </a:defRPr>
            </a:lvl1pPr>
          </a:lstStyle>
          <a:p>
            <a:pPr marL="12700">
              <a:lnSpc>
                <a:spcPct val="100000"/>
              </a:lnSpc>
              <a:spcBef>
                <a:spcPts val="25"/>
              </a:spcBef>
            </a:pPr>
            <a:r>
              <a:rPr lang="en-MY" spc="-25"/>
              <a:t>Agile Methodology</a:t>
            </a:r>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8BA0E9D4-D6A0-4174-A81C-D10522B5D2BE}" type="datetime1">
              <a:rPr lang="en-US" smtClean="0"/>
              <a:t>11/18/2024</a:t>
            </a:fld>
            <a:endParaRPr lang="en-US"/>
          </a:p>
        </p:txBody>
      </p:sp>
      <p:sp>
        <p:nvSpPr>
          <p:cNvPr id="7" name="Holder 7"/>
          <p:cNvSpPr>
            <a:spLocks noGrp="1"/>
          </p:cNvSpPr>
          <p:nvPr>
            <p:ph type="sldNum" sz="quarter" idx="7"/>
          </p:nvPr>
        </p:nvSpPr>
        <p:spPr/>
        <p:txBody>
          <a:bodyPr lIns="0" tIns="0" rIns="0" bIns="0"/>
          <a:lstStyle>
            <a:lvl1pPr>
              <a:defRPr sz="1300" b="1" i="0">
                <a:solidFill>
                  <a:srgbClr val="909090"/>
                </a:solidFill>
                <a:latin typeface="Arial"/>
                <a:cs typeface="Arial"/>
              </a:defRPr>
            </a:lvl1pPr>
          </a:lstStyle>
          <a:p>
            <a:pPr marL="38100">
              <a:lnSpc>
                <a:spcPct val="100000"/>
              </a:lnSpc>
              <a:spcBef>
                <a:spcPts val="190"/>
              </a:spcBef>
            </a:pPr>
            <a:fld id="{81D60167-4931-47E6-BA6A-407CBD079E47}" type="slidenum">
              <a:rPr spc="35" dirty="0"/>
              <a:t>‹#›</a:t>
            </a:fld>
            <a:endParaRPr spc="3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1"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000" b="0" i="0">
                <a:solidFill>
                  <a:srgbClr val="909090"/>
                </a:solidFill>
                <a:latin typeface="Roboto Lt"/>
                <a:cs typeface="Roboto Lt"/>
              </a:defRPr>
            </a:lvl1pPr>
          </a:lstStyle>
          <a:p>
            <a:pPr marL="12700">
              <a:lnSpc>
                <a:spcPct val="100000"/>
              </a:lnSpc>
              <a:spcBef>
                <a:spcPts val="25"/>
              </a:spcBef>
            </a:pPr>
            <a:r>
              <a:rPr lang="en-MY" spc="-25"/>
              <a:t>Agile Methodology</a:t>
            </a:r>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0700C114-6687-42FE-B708-68B6AA5B999F}" type="datetime1">
              <a:rPr lang="en-US" smtClean="0"/>
              <a:t>11/18/2024</a:t>
            </a:fld>
            <a:endParaRPr lang="en-US"/>
          </a:p>
        </p:txBody>
      </p:sp>
      <p:sp>
        <p:nvSpPr>
          <p:cNvPr id="5" name="Holder 5"/>
          <p:cNvSpPr>
            <a:spLocks noGrp="1"/>
          </p:cNvSpPr>
          <p:nvPr>
            <p:ph type="sldNum" sz="quarter" idx="7"/>
          </p:nvPr>
        </p:nvSpPr>
        <p:spPr/>
        <p:txBody>
          <a:bodyPr lIns="0" tIns="0" rIns="0" bIns="0"/>
          <a:lstStyle>
            <a:lvl1pPr>
              <a:defRPr sz="1300" b="1" i="0">
                <a:solidFill>
                  <a:srgbClr val="909090"/>
                </a:solidFill>
                <a:latin typeface="Arial"/>
                <a:cs typeface="Arial"/>
              </a:defRPr>
            </a:lvl1pPr>
          </a:lstStyle>
          <a:p>
            <a:pPr marL="38100">
              <a:lnSpc>
                <a:spcPct val="100000"/>
              </a:lnSpc>
              <a:spcBef>
                <a:spcPts val="190"/>
              </a:spcBef>
            </a:pPr>
            <a:fld id="{81D60167-4931-47E6-BA6A-407CBD079E47}" type="slidenum">
              <a:rPr spc="35" dirty="0"/>
              <a:t>‹#›</a:t>
            </a:fld>
            <a:endParaRPr spc="3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00" b="0" i="0">
                <a:solidFill>
                  <a:srgbClr val="909090"/>
                </a:solidFill>
                <a:latin typeface="Roboto Lt"/>
                <a:cs typeface="Roboto Lt"/>
              </a:defRPr>
            </a:lvl1pPr>
          </a:lstStyle>
          <a:p>
            <a:pPr marL="12700">
              <a:lnSpc>
                <a:spcPct val="100000"/>
              </a:lnSpc>
              <a:spcBef>
                <a:spcPts val="25"/>
              </a:spcBef>
            </a:pPr>
            <a:r>
              <a:rPr lang="en-MY" spc="-25"/>
              <a:t>Agile Methodology</a:t>
            </a:r>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6598E422-E3CF-47FE-9859-130C06A03D0F}" type="datetime1">
              <a:rPr lang="en-US" smtClean="0"/>
              <a:t>11/18/2024</a:t>
            </a:fld>
            <a:endParaRPr lang="en-US"/>
          </a:p>
        </p:txBody>
      </p:sp>
      <p:sp>
        <p:nvSpPr>
          <p:cNvPr id="4" name="Holder 4"/>
          <p:cNvSpPr>
            <a:spLocks noGrp="1"/>
          </p:cNvSpPr>
          <p:nvPr>
            <p:ph type="sldNum" sz="quarter" idx="7"/>
          </p:nvPr>
        </p:nvSpPr>
        <p:spPr/>
        <p:txBody>
          <a:bodyPr lIns="0" tIns="0" rIns="0" bIns="0"/>
          <a:lstStyle>
            <a:lvl1pPr>
              <a:defRPr sz="1300" b="1" i="0">
                <a:solidFill>
                  <a:srgbClr val="909090"/>
                </a:solidFill>
                <a:latin typeface="Arial"/>
                <a:cs typeface="Arial"/>
              </a:defRPr>
            </a:lvl1pPr>
          </a:lstStyle>
          <a:p>
            <a:pPr marL="38100">
              <a:lnSpc>
                <a:spcPct val="100000"/>
              </a:lnSpc>
              <a:spcBef>
                <a:spcPts val="190"/>
              </a:spcBef>
            </a:pPr>
            <a:fld id="{81D60167-4931-47E6-BA6A-407CBD079E47}" type="slidenum">
              <a:rPr spc="35" dirty="0"/>
              <a:t>‹#›</a:t>
            </a:fld>
            <a:endParaRPr spc="3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26368" y="411876"/>
            <a:ext cx="3006725" cy="711200"/>
          </a:xfrm>
          <a:prstGeom prst="rect">
            <a:avLst/>
          </a:prstGeom>
        </p:spPr>
        <p:txBody>
          <a:bodyPr wrap="square" lIns="0" tIns="0" rIns="0" bIns="0">
            <a:spAutoFit/>
          </a:bodyPr>
          <a:lstStyle>
            <a:lvl1pPr>
              <a:defRPr sz="4500" b="1" i="0">
                <a:solidFill>
                  <a:schemeClr val="bg1"/>
                </a:solidFill>
                <a:latin typeface="Arial"/>
                <a:cs typeface="Arial"/>
              </a:defRPr>
            </a:lvl1pPr>
          </a:lstStyle>
          <a:p>
            <a:endParaRPr/>
          </a:p>
        </p:txBody>
      </p:sp>
      <p:sp>
        <p:nvSpPr>
          <p:cNvPr id="3" name="Holder 3"/>
          <p:cNvSpPr>
            <a:spLocks noGrp="1"/>
          </p:cNvSpPr>
          <p:nvPr>
            <p:ph type="body" idx="1"/>
          </p:nvPr>
        </p:nvSpPr>
        <p:spPr>
          <a:xfrm>
            <a:off x="526368" y="2197036"/>
            <a:ext cx="8091263" cy="302450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6634705" y="5571421"/>
            <a:ext cx="1627504" cy="174625"/>
          </a:xfrm>
          <a:prstGeom prst="rect">
            <a:avLst/>
          </a:prstGeom>
        </p:spPr>
        <p:txBody>
          <a:bodyPr wrap="square" lIns="0" tIns="0" rIns="0" bIns="0">
            <a:spAutoFit/>
          </a:bodyPr>
          <a:lstStyle>
            <a:lvl1pPr>
              <a:defRPr sz="1000" b="0" i="0">
                <a:solidFill>
                  <a:srgbClr val="909090"/>
                </a:solidFill>
                <a:latin typeface="Roboto Lt"/>
                <a:cs typeface="Roboto Lt"/>
              </a:defRPr>
            </a:lvl1pPr>
          </a:lstStyle>
          <a:p>
            <a:pPr marL="12700">
              <a:lnSpc>
                <a:spcPct val="100000"/>
              </a:lnSpc>
              <a:spcBef>
                <a:spcPts val="25"/>
              </a:spcBef>
            </a:pPr>
            <a:r>
              <a:rPr lang="en-MY" spc="-25"/>
              <a:t>Agile Methodology</a:t>
            </a:r>
            <a:endParaRPr dirty="0"/>
          </a:p>
        </p:txBody>
      </p:sp>
      <p:sp>
        <p:nvSpPr>
          <p:cNvPr id="5" name="Holder 5"/>
          <p:cNvSpPr>
            <a:spLocks noGrp="1"/>
          </p:cNvSpPr>
          <p:nvPr>
            <p:ph type="dt" sz="half" idx="6"/>
          </p:nvPr>
        </p:nvSpPr>
        <p:spPr>
          <a:xfrm>
            <a:off x="457200" y="5527548"/>
            <a:ext cx="2103120" cy="297180"/>
          </a:xfrm>
          <a:prstGeom prst="rect">
            <a:avLst/>
          </a:prstGeom>
        </p:spPr>
        <p:txBody>
          <a:bodyPr wrap="square" lIns="0" tIns="0" rIns="0" bIns="0">
            <a:spAutoFit/>
          </a:bodyPr>
          <a:lstStyle>
            <a:lvl1pPr algn="l">
              <a:defRPr>
                <a:solidFill>
                  <a:schemeClr val="tx1">
                    <a:tint val="75000"/>
                  </a:schemeClr>
                </a:solidFill>
              </a:defRPr>
            </a:lvl1pPr>
          </a:lstStyle>
          <a:p>
            <a:fld id="{2AFFAB97-5C9D-457C-893B-BA33A64E5009}" type="datetime1">
              <a:rPr lang="en-US" smtClean="0"/>
              <a:t>11/18/2024</a:t>
            </a:fld>
            <a:endParaRPr lang="en-US"/>
          </a:p>
        </p:txBody>
      </p:sp>
      <p:sp>
        <p:nvSpPr>
          <p:cNvPr id="6" name="Holder 6"/>
          <p:cNvSpPr>
            <a:spLocks noGrp="1"/>
          </p:cNvSpPr>
          <p:nvPr>
            <p:ph type="sldNum" sz="quarter" idx="7"/>
          </p:nvPr>
        </p:nvSpPr>
        <p:spPr>
          <a:xfrm>
            <a:off x="8501148" y="5526986"/>
            <a:ext cx="262254" cy="250825"/>
          </a:xfrm>
          <a:prstGeom prst="rect">
            <a:avLst/>
          </a:prstGeom>
        </p:spPr>
        <p:txBody>
          <a:bodyPr wrap="square" lIns="0" tIns="0" rIns="0" bIns="0">
            <a:spAutoFit/>
          </a:bodyPr>
          <a:lstStyle>
            <a:lvl1pPr>
              <a:defRPr sz="1300" b="1" i="0">
                <a:solidFill>
                  <a:srgbClr val="909090"/>
                </a:solidFill>
                <a:latin typeface="Arial"/>
                <a:cs typeface="Arial"/>
              </a:defRPr>
            </a:lvl1pPr>
          </a:lstStyle>
          <a:p>
            <a:pPr marL="38100">
              <a:lnSpc>
                <a:spcPct val="100000"/>
              </a:lnSpc>
              <a:spcBef>
                <a:spcPts val="190"/>
              </a:spcBef>
            </a:pPr>
            <a:fld id="{81D60167-4931-47E6-BA6A-407CBD079E47}" type="slidenum">
              <a:rPr spc="35" dirty="0"/>
              <a:t>‹#›</a:t>
            </a:fld>
            <a:endParaRPr spc="3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4000" cy="5943600"/>
          </a:xfrm>
          <a:prstGeom prst="rect">
            <a:avLst/>
          </a:prstGeom>
        </p:spPr>
      </p:pic>
      <p:sp>
        <p:nvSpPr>
          <p:cNvPr id="3" name="object 3"/>
          <p:cNvSpPr/>
          <p:nvPr/>
        </p:nvSpPr>
        <p:spPr>
          <a:xfrm>
            <a:off x="0" y="0"/>
            <a:ext cx="9144000" cy="5943600"/>
          </a:xfrm>
          <a:custGeom>
            <a:avLst/>
            <a:gdLst/>
            <a:ahLst/>
            <a:cxnLst/>
            <a:rect l="l" t="t" r="r" b="b"/>
            <a:pathLst>
              <a:path w="9144000" h="5943600">
                <a:moveTo>
                  <a:pt x="9144000" y="0"/>
                </a:moveTo>
                <a:lnTo>
                  <a:pt x="0" y="0"/>
                </a:lnTo>
                <a:lnTo>
                  <a:pt x="0" y="5943600"/>
                </a:lnTo>
                <a:lnTo>
                  <a:pt x="9144000" y="5943600"/>
                </a:lnTo>
                <a:lnTo>
                  <a:pt x="9144000" y="0"/>
                </a:lnTo>
                <a:close/>
              </a:path>
            </a:pathLst>
          </a:custGeom>
          <a:solidFill>
            <a:srgbClr val="033057">
              <a:alpha val="50000"/>
            </a:srgbClr>
          </a:solidFill>
        </p:spPr>
        <p:txBody>
          <a:bodyPr wrap="square" lIns="0" tIns="0" rIns="0" bIns="0" rtlCol="0"/>
          <a:lstStyle/>
          <a:p>
            <a:endParaRPr/>
          </a:p>
        </p:txBody>
      </p:sp>
      <p:sp>
        <p:nvSpPr>
          <p:cNvPr id="4" name="object 4"/>
          <p:cNvSpPr txBox="1"/>
          <p:nvPr/>
        </p:nvSpPr>
        <p:spPr>
          <a:xfrm>
            <a:off x="1600200" y="3733800"/>
            <a:ext cx="6972508" cy="1538883"/>
          </a:xfrm>
          <a:prstGeom prst="rect">
            <a:avLst/>
          </a:prstGeom>
        </p:spPr>
        <p:txBody>
          <a:bodyPr vert="horz" wrap="square" lIns="0" tIns="127000" rIns="0" bIns="0" rtlCol="0">
            <a:spAutoFit/>
          </a:bodyPr>
          <a:lstStyle/>
          <a:p>
            <a:pPr marL="12700" marR="5080" indent="1608455" algn="r">
              <a:lnSpc>
                <a:spcPts val="5500"/>
              </a:lnSpc>
              <a:spcBef>
                <a:spcPts val="1000"/>
              </a:spcBef>
            </a:pPr>
            <a:r>
              <a:rPr sz="5300" b="1" dirty="0">
                <a:solidFill>
                  <a:srgbClr val="FFFFFF"/>
                </a:solidFill>
                <a:latin typeface="Arial"/>
                <a:cs typeface="Arial"/>
              </a:rPr>
              <a:t>Agile</a:t>
            </a:r>
            <a:r>
              <a:rPr lang="en-US" sz="5300" b="1" dirty="0">
                <a:solidFill>
                  <a:srgbClr val="FFFFFF"/>
                </a:solidFill>
                <a:latin typeface="Arial"/>
                <a:cs typeface="Arial"/>
              </a:rPr>
              <a:t> Methodology</a:t>
            </a:r>
            <a:endParaRPr sz="5300" dirty="0">
              <a:latin typeface="Arial"/>
              <a:cs typeface="Arial"/>
            </a:endParaRPr>
          </a:p>
        </p:txBody>
      </p:sp>
      <p:sp>
        <p:nvSpPr>
          <p:cNvPr id="8" name="Footer Placeholder 7">
            <a:extLst>
              <a:ext uri="{FF2B5EF4-FFF2-40B4-BE49-F238E27FC236}">
                <a16:creationId xmlns:a16="http://schemas.microsoft.com/office/drawing/2014/main" id="{CE2A3294-65C9-F474-8A01-0C496C19966E}"/>
              </a:ext>
            </a:extLst>
          </p:cNvPr>
          <p:cNvSpPr>
            <a:spLocks noGrp="1"/>
          </p:cNvSpPr>
          <p:nvPr>
            <p:ph type="ftr" sz="quarter" idx="5"/>
          </p:nvPr>
        </p:nvSpPr>
        <p:spPr>
          <a:xfrm>
            <a:off x="6634705" y="5571421"/>
            <a:ext cx="1627504" cy="153888"/>
          </a:xfrm>
        </p:spPr>
        <p:txBody>
          <a:bodyPr/>
          <a:lstStyle/>
          <a:p>
            <a:pPr marL="12700" algn="r">
              <a:lnSpc>
                <a:spcPct val="100000"/>
              </a:lnSpc>
              <a:spcBef>
                <a:spcPts val="25"/>
              </a:spcBef>
            </a:pPr>
            <a:r>
              <a:rPr lang="en-MY" spc="-25" dirty="0"/>
              <a:t>Agile Methodology</a:t>
            </a:r>
            <a:endParaRPr lang="en-MY" dirty="0"/>
          </a:p>
        </p:txBody>
      </p:sp>
      <p:sp>
        <p:nvSpPr>
          <p:cNvPr id="9" name="Slide Number Placeholder 8">
            <a:extLst>
              <a:ext uri="{FF2B5EF4-FFF2-40B4-BE49-F238E27FC236}">
                <a16:creationId xmlns:a16="http://schemas.microsoft.com/office/drawing/2014/main" id="{3B74F13E-B210-C83F-B28E-0A019F162695}"/>
              </a:ext>
            </a:extLst>
          </p:cNvPr>
          <p:cNvSpPr>
            <a:spLocks noGrp="1"/>
          </p:cNvSpPr>
          <p:nvPr>
            <p:ph type="sldNum" sz="quarter" idx="7"/>
          </p:nvPr>
        </p:nvSpPr>
        <p:spPr/>
        <p:txBody>
          <a:bodyPr/>
          <a:lstStyle/>
          <a:p>
            <a:pPr marL="38100">
              <a:lnSpc>
                <a:spcPct val="100000"/>
              </a:lnSpc>
              <a:spcBef>
                <a:spcPts val="190"/>
              </a:spcBef>
            </a:pPr>
            <a:fld id="{81D60167-4931-47E6-BA6A-407CBD079E47}" type="slidenum">
              <a:rPr lang="en-MY" spc="35" smtClean="0"/>
              <a:t>1</a:t>
            </a:fld>
            <a:endParaRPr lang="en-MY" spc="35"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0" y="0"/>
            <a:ext cx="3657600" cy="5943600"/>
          </a:xfrm>
          <a:custGeom>
            <a:avLst/>
            <a:gdLst/>
            <a:ahLst/>
            <a:cxnLst/>
            <a:rect l="l" t="t" r="r" b="b"/>
            <a:pathLst>
              <a:path w="3657600" h="5943600">
                <a:moveTo>
                  <a:pt x="3657600" y="0"/>
                </a:moveTo>
                <a:lnTo>
                  <a:pt x="0" y="0"/>
                </a:lnTo>
                <a:lnTo>
                  <a:pt x="0" y="5943600"/>
                </a:lnTo>
                <a:lnTo>
                  <a:pt x="3657600" y="5943600"/>
                </a:lnTo>
                <a:lnTo>
                  <a:pt x="3657600" y="0"/>
                </a:lnTo>
                <a:close/>
              </a:path>
            </a:pathLst>
          </a:custGeom>
          <a:solidFill>
            <a:srgbClr val="002F59"/>
          </a:solidFill>
        </p:spPr>
        <p:txBody>
          <a:bodyPr wrap="square" lIns="0" tIns="0" rIns="0" bIns="0" rtlCol="0"/>
          <a:lstStyle/>
          <a:p>
            <a:endParaRPr>
              <a:latin typeface="Aptos Light" panose="020B0004020202020204" pitchFamily="34" charset="0"/>
            </a:endParaRPr>
          </a:p>
        </p:txBody>
      </p:sp>
      <p:sp>
        <p:nvSpPr>
          <p:cNvPr id="4" name="object 4"/>
          <p:cNvSpPr txBox="1">
            <a:spLocks noGrp="1"/>
          </p:cNvSpPr>
          <p:nvPr>
            <p:ph type="title"/>
          </p:nvPr>
        </p:nvSpPr>
        <p:spPr>
          <a:xfrm>
            <a:off x="526368" y="510301"/>
            <a:ext cx="2468245" cy="711200"/>
          </a:xfrm>
          <a:prstGeom prst="rect">
            <a:avLst/>
          </a:prstGeom>
        </p:spPr>
        <p:txBody>
          <a:bodyPr vert="horz" wrap="square" lIns="0" tIns="12700" rIns="0" bIns="0" rtlCol="0">
            <a:spAutoFit/>
          </a:bodyPr>
          <a:lstStyle/>
          <a:p>
            <a:pPr marL="12700">
              <a:lnSpc>
                <a:spcPct val="100000"/>
              </a:lnSpc>
              <a:spcBef>
                <a:spcPts val="100"/>
              </a:spcBef>
            </a:pPr>
            <a:r>
              <a:rPr spc="-40" dirty="0"/>
              <a:t>Contents</a:t>
            </a:r>
          </a:p>
        </p:txBody>
      </p:sp>
      <p:sp>
        <p:nvSpPr>
          <p:cNvPr id="5" name="Content Placeholder 4">
            <a:extLst>
              <a:ext uri="{FF2B5EF4-FFF2-40B4-BE49-F238E27FC236}">
                <a16:creationId xmlns:a16="http://schemas.microsoft.com/office/drawing/2014/main" id="{993AE8A2-EEB8-467E-C7FF-C27726FE0514}"/>
              </a:ext>
            </a:extLst>
          </p:cNvPr>
          <p:cNvSpPr txBox="1">
            <a:spLocks/>
          </p:cNvSpPr>
          <p:nvPr/>
        </p:nvSpPr>
        <p:spPr>
          <a:xfrm>
            <a:off x="3905396" y="486855"/>
            <a:ext cx="4933804" cy="472440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85216" indent="-457200" algn="l" fontAlgn="t">
              <a:spcBef>
                <a:spcPts val="90"/>
              </a:spcBef>
              <a:spcAft>
                <a:spcPts val="0"/>
              </a:spcAft>
              <a:buFont typeface="+mj-lt"/>
              <a:buAutoNum type="arabicPeriod"/>
            </a:pPr>
            <a:r>
              <a:rPr lang="en-MY" sz="1600" b="0" i="0" u="none" strike="noStrike" spc="-20" dirty="0">
                <a:solidFill>
                  <a:srgbClr val="333333"/>
                </a:solidFill>
                <a:effectLst/>
                <a:latin typeface="Aptos Light" panose="020B0004020202020204" pitchFamily="34" charset="0"/>
                <a:cs typeface="Arial" panose="020B0604020202020204" pitchFamily="34" charset="0"/>
              </a:rPr>
              <a:t>Introduction</a:t>
            </a:r>
            <a:endParaRPr lang="en-MY" b="0" i="0" u="none" strike="noStrike" dirty="0">
              <a:effectLst/>
              <a:latin typeface="Arial" panose="020B0604020202020204" pitchFamily="34" charset="0"/>
            </a:endParaRPr>
          </a:p>
          <a:p>
            <a:pPr marL="585216" indent="-457200" algn="l" fontAlgn="t">
              <a:spcBef>
                <a:spcPts val="755"/>
              </a:spcBef>
              <a:spcAft>
                <a:spcPts val="0"/>
              </a:spcAft>
              <a:buFont typeface="+mj-lt"/>
              <a:buAutoNum type="arabicPeriod"/>
            </a:pPr>
            <a:r>
              <a:rPr lang="en-MY" sz="1600" b="0" i="0" u="none" strike="noStrike" spc="-15" dirty="0">
                <a:solidFill>
                  <a:srgbClr val="333333"/>
                </a:solidFill>
                <a:effectLst/>
                <a:latin typeface="Aptos Light" panose="020B0004020202020204" pitchFamily="34" charset="0"/>
                <a:cs typeface="Arial" panose="020B0604020202020204" pitchFamily="34" charset="0"/>
              </a:rPr>
              <a:t>Agile</a:t>
            </a:r>
            <a:r>
              <a:rPr lang="en-MY" sz="1600" b="0" i="0" u="none" strike="noStrike" spc="-55" dirty="0">
                <a:solidFill>
                  <a:srgbClr val="333333"/>
                </a:solidFill>
                <a:effectLst/>
                <a:latin typeface="Aptos Light" panose="020B0004020202020204" pitchFamily="34" charset="0"/>
                <a:cs typeface="Arial" panose="020B0604020202020204" pitchFamily="34" charset="0"/>
              </a:rPr>
              <a:t> </a:t>
            </a:r>
            <a:r>
              <a:rPr lang="en-MY" sz="1600" b="0" i="0" u="none" strike="noStrike" spc="-20" dirty="0">
                <a:solidFill>
                  <a:srgbClr val="333333"/>
                </a:solidFill>
                <a:effectLst/>
                <a:latin typeface="Aptos Light" panose="020B0004020202020204" pitchFamily="34" charset="0"/>
                <a:cs typeface="Arial" panose="020B0604020202020204" pitchFamily="34" charset="0"/>
              </a:rPr>
              <a:t>Overview</a:t>
            </a:r>
            <a:endParaRPr lang="en-MY" b="0" i="0" u="none" strike="noStrike" dirty="0">
              <a:effectLst/>
              <a:latin typeface="Arial" panose="020B0604020202020204" pitchFamily="34" charset="0"/>
            </a:endParaRPr>
          </a:p>
          <a:p>
            <a:pPr marL="585216" indent="-457200" algn="l" fontAlgn="t">
              <a:spcBef>
                <a:spcPts val="755"/>
              </a:spcBef>
              <a:spcAft>
                <a:spcPts val="0"/>
              </a:spcAft>
              <a:buFont typeface="+mj-lt"/>
              <a:buAutoNum type="arabicPeriod"/>
            </a:pPr>
            <a:r>
              <a:rPr lang="en-MY" sz="1600" b="0" i="0" u="none" strike="noStrike" spc="-10" dirty="0">
                <a:solidFill>
                  <a:srgbClr val="333333"/>
                </a:solidFill>
                <a:effectLst/>
                <a:latin typeface="Aptos Light" panose="020B0004020202020204" pitchFamily="34" charset="0"/>
                <a:cs typeface="Arial" panose="020B0604020202020204" pitchFamily="34" charset="0"/>
              </a:rPr>
              <a:t>12</a:t>
            </a:r>
            <a:r>
              <a:rPr lang="en-MY" sz="1600" b="0" i="0" u="none" strike="noStrike" spc="-50" dirty="0">
                <a:solidFill>
                  <a:srgbClr val="333333"/>
                </a:solidFill>
                <a:effectLst/>
                <a:latin typeface="Aptos Light" panose="020B0004020202020204" pitchFamily="34" charset="0"/>
                <a:cs typeface="Arial" panose="020B0604020202020204" pitchFamily="34" charset="0"/>
              </a:rPr>
              <a:t> </a:t>
            </a:r>
            <a:r>
              <a:rPr lang="en-MY" sz="1600" b="0" i="0" u="none" strike="noStrike" spc="-15" dirty="0">
                <a:solidFill>
                  <a:srgbClr val="333333"/>
                </a:solidFill>
                <a:effectLst/>
                <a:latin typeface="Aptos Light" panose="020B0004020202020204" pitchFamily="34" charset="0"/>
                <a:cs typeface="Arial" panose="020B0604020202020204" pitchFamily="34" charset="0"/>
              </a:rPr>
              <a:t>Agile</a:t>
            </a:r>
            <a:r>
              <a:rPr lang="en-MY" sz="1600" b="0" i="0" u="none" strike="noStrike" spc="-45" dirty="0">
                <a:solidFill>
                  <a:srgbClr val="333333"/>
                </a:solidFill>
                <a:effectLst/>
                <a:latin typeface="Aptos Light" panose="020B0004020202020204" pitchFamily="34" charset="0"/>
                <a:cs typeface="Arial" panose="020B0604020202020204" pitchFamily="34" charset="0"/>
              </a:rPr>
              <a:t> </a:t>
            </a:r>
            <a:r>
              <a:rPr lang="en-MY" sz="1600" b="0" i="0" u="none" strike="noStrike" spc="-20" dirty="0">
                <a:solidFill>
                  <a:srgbClr val="333333"/>
                </a:solidFill>
                <a:effectLst/>
                <a:latin typeface="Aptos Light" panose="020B0004020202020204" pitchFamily="34" charset="0"/>
                <a:cs typeface="Arial" panose="020B0604020202020204" pitchFamily="34" charset="0"/>
              </a:rPr>
              <a:t>Principles</a:t>
            </a:r>
            <a:endParaRPr lang="en-MY" b="0" i="0" u="none" strike="noStrike" dirty="0">
              <a:effectLst/>
              <a:latin typeface="Arial" panose="020B0604020202020204" pitchFamily="34" charset="0"/>
            </a:endParaRPr>
          </a:p>
          <a:p>
            <a:pPr marL="585216" indent="-457200" algn="l" fontAlgn="t">
              <a:spcBef>
                <a:spcPts val="755"/>
              </a:spcBef>
              <a:spcAft>
                <a:spcPts val="0"/>
              </a:spcAft>
              <a:buFont typeface="+mj-lt"/>
              <a:buAutoNum type="arabicPeriod"/>
            </a:pPr>
            <a:r>
              <a:rPr lang="en-MY" sz="1600" b="0" i="0" u="none" strike="noStrike" spc="-15" dirty="0">
                <a:solidFill>
                  <a:srgbClr val="333333"/>
                </a:solidFill>
                <a:effectLst/>
                <a:latin typeface="Aptos Light" panose="020B0004020202020204" pitchFamily="34" charset="0"/>
                <a:cs typeface="Arial" panose="020B0604020202020204" pitchFamily="34" charset="0"/>
              </a:rPr>
              <a:t>Agile</a:t>
            </a:r>
            <a:r>
              <a:rPr lang="en-MY" sz="1600" b="0" i="0" u="none" strike="noStrike" spc="-40" dirty="0">
                <a:solidFill>
                  <a:srgbClr val="333333"/>
                </a:solidFill>
                <a:effectLst/>
                <a:latin typeface="Aptos Light" panose="020B0004020202020204" pitchFamily="34" charset="0"/>
                <a:cs typeface="Arial" panose="020B0604020202020204" pitchFamily="34" charset="0"/>
              </a:rPr>
              <a:t> </a:t>
            </a:r>
            <a:r>
              <a:rPr lang="en-MY" sz="1600" b="0" i="0" u="none" strike="noStrike" spc="-20" dirty="0">
                <a:solidFill>
                  <a:srgbClr val="333333"/>
                </a:solidFill>
                <a:effectLst/>
                <a:latin typeface="Aptos Light" panose="020B0004020202020204" pitchFamily="34" charset="0"/>
                <a:cs typeface="Arial" panose="020B0604020202020204" pitchFamily="34" charset="0"/>
              </a:rPr>
              <a:t>Development</a:t>
            </a:r>
            <a:r>
              <a:rPr lang="en-MY" sz="1600" b="0" i="0" u="none" strike="noStrike" spc="-40" dirty="0">
                <a:solidFill>
                  <a:srgbClr val="333333"/>
                </a:solidFill>
                <a:effectLst/>
                <a:latin typeface="Aptos Light" panose="020B0004020202020204" pitchFamily="34" charset="0"/>
                <a:cs typeface="Arial" panose="020B0604020202020204" pitchFamily="34" charset="0"/>
              </a:rPr>
              <a:t> </a:t>
            </a:r>
            <a:r>
              <a:rPr lang="en-MY" sz="1600" b="0" i="0" u="none" strike="noStrike" spc="-20" dirty="0">
                <a:solidFill>
                  <a:srgbClr val="333333"/>
                </a:solidFill>
                <a:effectLst/>
                <a:latin typeface="Aptos Light" panose="020B0004020202020204" pitchFamily="34" charset="0"/>
                <a:cs typeface="Arial" panose="020B0604020202020204" pitchFamily="34" charset="0"/>
              </a:rPr>
              <a:t>Cycle</a:t>
            </a:r>
            <a:endParaRPr lang="en-MY" b="0" i="0" u="none" strike="noStrike" dirty="0">
              <a:effectLst/>
              <a:latin typeface="Arial" panose="020B0604020202020204" pitchFamily="34" charset="0"/>
            </a:endParaRPr>
          </a:p>
          <a:p>
            <a:pPr marL="585216" indent="-457200" algn="l" fontAlgn="t">
              <a:spcBef>
                <a:spcPts val="755"/>
              </a:spcBef>
              <a:spcAft>
                <a:spcPts val="0"/>
              </a:spcAft>
              <a:buFont typeface="+mj-lt"/>
              <a:buAutoNum type="arabicPeriod"/>
            </a:pPr>
            <a:r>
              <a:rPr lang="en-MY" sz="1600" b="0" i="0" u="none" strike="noStrike" spc="-20" dirty="0">
                <a:solidFill>
                  <a:srgbClr val="333333"/>
                </a:solidFill>
                <a:effectLst/>
                <a:latin typeface="Aptos Light" panose="020B0004020202020204" pitchFamily="34" charset="0"/>
                <a:cs typeface="Arial" panose="020B0604020202020204" pitchFamily="34" charset="0"/>
              </a:rPr>
              <a:t>Advantages</a:t>
            </a:r>
            <a:r>
              <a:rPr lang="en-MY" sz="1600" b="0" i="0" u="none" strike="noStrike" spc="-35" dirty="0">
                <a:solidFill>
                  <a:srgbClr val="333333"/>
                </a:solidFill>
                <a:effectLst/>
                <a:latin typeface="Aptos Light" panose="020B0004020202020204" pitchFamily="34" charset="0"/>
                <a:cs typeface="Arial" panose="020B0604020202020204" pitchFamily="34" charset="0"/>
              </a:rPr>
              <a:t> </a:t>
            </a:r>
            <a:r>
              <a:rPr lang="en-MY" sz="1600" b="0" i="0" u="none" strike="noStrike" dirty="0">
                <a:solidFill>
                  <a:srgbClr val="333333"/>
                </a:solidFill>
                <a:effectLst/>
                <a:latin typeface="Aptos Light" panose="020B0004020202020204" pitchFamily="34" charset="0"/>
                <a:cs typeface="Arial" panose="020B0604020202020204" pitchFamily="34" charset="0"/>
              </a:rPr>
              <a:t>&amp;</a:t>
            </a:r>
            <a:r>
              <a:rPr lang="en-MY" sz="1600" b="0" i="0" u="none" strike="noStrike" spc="-35" dirty="0">
                <a:solidFill>
                  <a:srgbClr val="333333"/>
                </a:solidFill>
                <a:effectLst/>
                <a:latin typeface="Aptos Light" panose="020B0004020202020204" pitchFamily="34" charset="0"/>
                <a:cs typeface="Arial" panose="020B0604020202020204" pitchFamily="34" charset="0"/>
              </a:rPr>
              <a:t> </a:t>
            </a:r>
            <a:r>
              <a:rPr lang="en-MY" sz="1600" b="0" i="0" u="none" strike="noStrike" spc="-20" dirty="0">
                <a:solidFill>
                  <a:srgbClr val="333333"/>
                </a:solidFill>
                <a:effectLst/>
                <a:latin typeface="Aptos Light" panose="020B0004020202020204" pitchFamily="34" charset="0"/>
                <a:cs typeface="Arial" panose="020B0604020202020204" pitchFamily="34" charset="0"/>
              </a:rPr>
              <a:t>Disadvantages</a:t>
            </a:r>
            <a:r>
              <a:rPr lang="en-MY" sz="1600" b="0" i="0" u="none" strike="noStrike" spc="-35" dirty="0">
                <a:solidFill>
                  <a:srgbClr val="333333"/>
                </a:solidFill>
                <a:effectLst/>
                <a:latin typeface="Aptos Light" panose="020B0004020202020204" pitchFamily="34" charset="0"/>
                <a:cs typeface="Arial" panose="020B0604020202020204" pitchFamily="34" charset="0"/>
              </a:rPr>
              <a:t> </a:t>
            </a:r>
            <a:r>
              <a:rPr lang="en-MY" sz="1600" b="0" i="0" u="none" strike="noStrike" dirty="0">
                <a:solidFill>
                  <a:srgbClr val="333333"/>
                </a:solidFill>
                <a:effectLst/>
                <a:latin typeface="Aptos Light" panose="020B0004020202020204" pitchFamily="34" charset="0"/>
                <a:cs typeface="Arial" panose="020B0604020202020204" pitchFamily="34" charset="0"/>
              </a:rPr>
              <a:t>of</a:t>
            </a:r>
            <a:r>
              <a:rPr lang="en-MY" sz="1600" b="0" i="0" u="none" strike="noStrike" spc="-35" dirty="0">
                <a:solidFill>
                  <a:srgbClr val="333333"/>
                </a:solidFill>
                <a:effectLst/>
                <a:latin typeface="Aptos Light" panose="020B0004020202020204" pitchFamily="34" charset="0"/>
                <a:cs typeface="Arial" panose="020B0604020202020204" pitchFamily="34" charset="0"/>
              </a:rPr>
              <a:t> </a:t>
            </a:r>
            <a:r>
              <a:rPr lang="en-MY" sz="1600" b="0" i="0" u="none" strike="noStrike" spc="-15" dirty="0">
                <a:solidFill>
                  <a:srgbClr val="333333"/>
                </a:solidFill>
                <a:effectLst/>
                <a:latin typeface="Aptos Light" panose="020B0004020202020204" pitchFamily="34" charset="0"/>
                <a:cs typeface="Arial" panose="020B0604020202020204" pitchFamily="34" charset="0"/>
              </a:rPr>
              <a:t>Agile</a:t>
            </a:r>
            <a:endParaRPr lang="en-MY" b="0" i="0" u="none" strike="noStrike" dirty="0">
              <a:effectLst/>
              <a:latin typeface="Arial" panose="020B0604020202020204" pitchFamily="34" charset="0"/>
            </a:endParaRPr>
          </a:p>
          <a:p>
            <a:pPr marL="585216" indent="-457200" algn="l" fontAlgn="t">
              <a:spcBef>
                <a:spcPts val="755"/>
              </a:spcBef>
              <a:spcAft>
                <a:spcPts val="0"/>
              </a:spcAft>
              <a:buFont typeface="+mj-lt"/>
              <a:buAutoNum type="arabicPeriod"/>
            </a:pPr>
            <a:r>
              <a:rPr lang="en-MY" sz="1600" b="0" i="0" u="none" strike="noStrike" spc="-10" dirty="0">
                <a:solidFill>
                  <a:srgbClr val="333333"/>
                </a:solidFill>
                <a:effectLst/>
                <a:latin typeface="Aptos Light" panose="020B0004020202020204" pitchFamily="34" charset="0"/>
                <a:cs typeface="Arial" panose="020B0604020202020204" pitchFamily="34" charset="0"/>
              </a:rPr>
              <a:t>Top</a:t>
            </a:r>
            <a:r>
              <a:rPr lang="en-MY" sz="1600" b="0" i="0" u="none" strike="noStrike" spc="-35" dirty="0">
                <a:solidFill>
                  <a:srgbClr val="333333"/>
                </a:solidFill>
                <a:effectLst/>
                <a:latin typeface="Aptos Light" panose="020B0004020202020204" pitchFamily="34" charset="0"/>
                <a:cs typeface="Arial" panose="020B0604020202020204" pitchFamily="34" charset="0"/>
              </a:rPr>
              <a:t> </a:t>
            </a:r>
            <a:r>
              <a:rPr lang="en-MY" sz="1600" b="0" i="0" u="none" strike="noStrike" spc="-15" dirty="0">
                <a:solidFill>
                  <a:srgbClr val="333333"/>
                </a:solidFill>
                <a:effectLst/>
                <a:latin typeface="Aptos Light" panose="020B0004020202020204" pitchFamily="34" charset="0"/>
                <a:cs typeface="Arial" panose="020B0604020202020204" pitchFamily="34" charset="0"/>
              </a:rPr>
              <a:t>Methodologies</a:t>
            </a:r>
            <a:r>
              <a:rPr lang="en-MY" sz="1600" b="0" i="0" u="none" strike="noStrike" spc="-30" dirty="0">
                <a:solidFill>
                  <a:srgbClr val="333333"/>
                </a:solidFill>
                <a:effectLst/>
                <a:latin typeface="Aptos Light" panose="020B0004020202020204" pitchFamily="34" charset="0"/>
                <a:cs typeface="Arial" panose="020B0604020202020204" pitchFamily="34" charset="0"/>
              </a:rPr>
              <a:t> </a:t>
            </a:r>
            <a:r>
              <a:rPr lang="en-MY" sz="1600" b="0" i="0" u="none" strike="noStrike" spc="-20" dirty="0">
                <a:solidFill>
                  <a:srgbClr val="333333"/>
                </a:solidFill>
                <a:effectLst/>
                <a:latin typeface="Aptos Light" panose="020B0004020202020204" pitchFamily="34" charset="0"/>
                <a:cs typeface="Arial" panose="020B0604020202020204" pitchFamily="34" charset="0"/>
              </a:rPr>
              <a:t>Used</a:t>
            </a:r>
            <a:r>
              <a:rPr lang="en-MY" sz="1600" b="0" i="0" u="none" strike="noStrike" spc="-35" dirty="0">
                <a:solidFill>
                  <a:srgbClr val="333333"/>
                </a:solidFill>
                <a:effectLst/>
                <a:latin typeface="Aptos Light" panose="020B0004020202020204" pitchFamily="34" charset="0"/>
                <a:cs typeface="Arial" panose="020B0604020202020204" pitchFamily="34" charset="0"/>
              </a:rPr>
              <a:t> </a:t>
            </a:r>
            <a:r>
              <a:rPr lang="en-MY" sz="1600" b="0" i="0" u="none" strike="noStrike" spc="-10" dirty="0">
                <a:solidFill>
                  <a:srgbClr val="333333"/>
                </a:solidFill>
                <a:effectLst/>
                <a:latin typeface="Aptos Light" panose="020B0004020202020204" pitchFamily="34" charset="0"/>
                <a:cs typeface="Arial" panose="020B0604020202020204" pitchFamily="34" charset="0"/>
              </a:rPr>
              <a:t>to</a:t>
            </a:r>
            <a:r>
              <a:rPr lang="en-MY" sz="1600" b="0" i="0" u="none" strike="noStrike" spc="-30" dirty="0">
                <a:solidFill>
                  <a:srgbClr val="333333"/>
                </a:solidFill>
                <a:effectLst/>
                <a:latin typeface="Aptos Light" panose="020B0004020202020204" pitchFamily="34" charset="0"/>
                <a:cs typeface="Arial" panose="020B0604020202020204" pitchFamily="34" charset="0"/>
              </a:rPr>
              <a:t> </a:t>
            </a:r>
            <a:r>
              <a:rPr lang="en-MY" sz="1600" b="0" i="0" u="none" strike="noStrike" spc="-20" dirty="0">
                <a:solidFill>
                  <a:srgbClr val="333333"/>
                </a:solidFill>
                <a:effectLst/>
                <a:latin typeface="Aptos Light" panose="020B0004020202020204" pitchFamily="34" charset="0"/>
                <a:cs typeface="Arial" panose="020B0604020202020204" pitchFamily="34" charset="0"/>
              </a:rPr>
              <a:t>Implement</a:t>
            </a:r>
            <a:r>
              <a:rPr lang="en-MY" sz="1600" b="0" i="0" u="none" strike="noStrike" spc="-35" dirty="0">
                <a:solidFill>
                  <a:srgbClr val="333333"/>
                </a:solidFill>
                <a:effectLst/>
                <a:latin typeface="Aptos Light" panose="020B0004020202020204" pitchFamily="34" charset="0"/>
                <a:cs typeface="Arial" panose="020B0604020202020204" pitchFamily="34" charset="0"/>
              </a:rPr>
              <a:t> </a:t>
            </a:r>
            <a:r>
              <a:rPr lang="en-MY" sz="1600" b="0" i="0" u="none" strike="noStrike" spc="-15" dirty="0">
                <a:solidFill>
                  <a:srgbClr val="333333"/>
                </a:solidFill>
                <a:effectLst/>
                <a:latin typeface="Aptos Light" panose="020B0004020202020204" pitchFamily="34" charset="0"/>
                <a:cs typeface="Arial" panose="020B0604020202020204" pitchFamily="34" charset="0"/>
              </a:rPr>
              <a:t>Agile</a:t>
            </a:r>
            <a:endParaRPr lang="en-MY" b="0" i="0" u="none" strike="noStrike" dirty="0">
              <a:effectLst/>
              <a:latin typeface="Arial" panose="020B0604020202020204" pitchFamily="34" charset="0"/>
            </a:endParaRPr>
          </a:p>
          <a:p>
            <a:pPr marL="585216" indent="-457200" algn="l" fontAlgn="t">
              <a:spcBef>
                <a:spcPts val="755"/>
              </a:spcBef>
              <a:spcAft>
                <a:spcPts val="0"/>
              </a:spcAft>
              <a:buFont typeface="+mj-lt"/>
              <a:buAutoNum type="arabicPeriod"/>
            </a:pPr>
            <a:r>
              <a:rPr lang="en-MY" sz="1600" b="0" i="0" u="none" strike="noStrike" spc="-10" dirty="0">
                <a:solidFill>
                  <a:srgbClr val="333333"/>
                </a:solidFill>
                <a:effectLst/>
                <a:latin typeface="Aptos Light" panose="020B0004020202020204" pitchFamily="34" charset="0"/>
                <a:cs typeface="Arial" panose="020B0604020202020204" pitchFamily="34" charset="0"/>
              </a:rPr>
              <a:t>Top</a:t>
            </a:r>
            <a:r>
              <a:rPr lang="en-MY" sz="1600" b="0" i="0" u="none" strike="noStrike" spc="-30" dirty="0">
                <a:solidFill>
                  <a:srgbClr val="333333"/>
                </a:solidFill>
                <a:effectLst/>
                <a:latin typeface="Aptos Light" panose="020B0004020202020204" pitchFamily="34" charset="0"/>
                <a:cs typeface="Arial" panose="020B0604020202020204" pitchFamily="34" charset="0"/>
              </a:rPr>
              <a:t> </a:t>
            </a:r>
            <a:r>
              <a:rPr lang="en-MY" sz="1600" b="0" i="0" u="none" strike="noStrike" spc="-15" dirty="0">
                <a:solidFill>
                  <a:srgbClr val="333333"/>
                </a:solidFill>
                <a:effectLst/>
                <a:latin typeface="Aptos Light" panose="020B0004020202020204" pitchFamily="34" charset="0"/>
                <a:cs typeface="Arial" panose="020B0604020202020204" pitchFamily="34" charset="0"/>
              </a:rPr>
              <a:t>Methodologies</a:t>
            </a:r>
            <a:r>
              <a:rPr lang="en-MY" sz="1600" b="0" i="0" u="none" strike="noStrike" spc="-30" dirty="0">
                <a:solidFill>
                  <a:srgbClr val="333333"/>
                </a:solidFill>
                <a:effectLst/>
                <a:latin typeface="Aptos Light" panose="020B0004020202020204" pitchFamily="34" charset="0"/>
                <a:cs typeface="Arial" panose="020B0604020202020204" pitchFamily="34" charset="0"/>
              </a:rPr>
              <a:t> </a:t>
            </a:r>
            <a:r>
              <a:rPr lang="en-MY" sz="1600" b="0" i="0" u="none" strike="noStrike" spc="-20" dirty="0">
                <a:solidFill>
                  <a:srgbClr val="333333"/>
                </a:solidFill>
                <a:effectLst/>
                <a:latin typeface="Aptos Light" panose="020B0004020202020204" pitchFamily="34" charset="0"/>
                <a:cs typeface="Arial" panose="020B0604020202020204" pitchFamily="34" charset="0"/>
              </a:rPr>
              <a:t>Used</a:t>
            </a:r>
            <a:r>
              <a:rPr lang="en-MY" sz="1600" b="0" i="0" u="none" strike="noStrike" spc="-25" dirty="0">
                <a:solidFill>
                  <a:srgbClr val="333333"/>
                </a:solidFill>
                <a:effectLst/>
                <a:latin typeface="Aptos Light" panose="020B0004020202020204" pitchFamily="34" charset="0"/>
                <a:cs typeface="Arial" panose="020B0604020202020204" pitchFamily="34" charset="0"/>
              </a:rPr>
              <a:t> </a:t>
            </a:r>
            <a:r>
              <a:rPr lang="en-MY" sz="1600" b="0" i="0" u="none" strike="noStrike" spc="-10" dirty="0">
                <a:solidFill>
                  <a:srgbClr val="333333"/>
                </a:solidFill>
                <a:effectLst/>
                <a:latin typeface="Aptos Light" panose="020B0004020202020204" pitchFamily="34" charset="0"/>
                <a:cs typeface="Arial" panose="020B0604020202020204" pitchFamily="34" charset="0"/>
              </a:rPr>
              <a:t>to</a:t>
            </a:r>
            <a:r>
              <a:rPr lang="en-MY" sz="1600" b="0" i="0" u="none" strike="noStrike" spc="-30" dirty="0">
                <a:solidFill>
                  <a:srgbClr val="333333"/>
                </a:solidFill>
                <a:effectLst/>
                <a:latin typeface="Aptos Light" panose="020B0004020202020204" pitchFamily="34" charset="0"/>
                <a:cs typeface="Arial" panose="020B0604020202020204" pitchFamily="34" charset="0"/>
              </a:rPr>
              <a:t> </a:t>
            </a:r>
            <a:r>
              <a:rPr lang="en-MY" sz="1600" b="0" i="0" u="none" strike="noStrike" spc="-20" dirty="0">
                <a:solidFill>
                  <a:srgbClr val="333333"/>
                </a:solidFill>
                <a:effectLst/>
                <a:latin typeface="Aptos Light" panose="020B0004020202020204" pitchFamily="34" charset="0"/>
                <a:cs typeface="Arial" panose="020B0604020202020204" pitchFamily="34" charset="0"/>
              </a:rPr>
              <a:t>Implement</a:t>
            </a:r>
            <a:r>
              <a:rPr lang="en-MY" sz="1600" b="0" i="0" u="none" strike="noStrike" spc="-25" dirty="0">
                <a:solidFill>
                  <a:srgbClr val="333333"/>
                </a:solidFill>
                <a:effectLst/>
                <a:latin typeface="Aptos Light" panose="020B0004020202020204" pitchFamily="34" charset="0"/>
                <a:cs typeface="Arial" panose="020B0604020202020204" pitchFamily="34" charset="0"/>
              </a:rPr>
              <a:t> </a:t>
            </a:r>
            <a:r>
              <a:rPr lang="en-MY" sz="1600" b="0" i="0" u="none" strike="noStrike" spc="-15" dirty="0">
                <a:solidFill>
                  <a:srgbClr val="333333"/>
                </a:solidFill>
                <a:effectLst/>
                <a:latin typeface="Aptos Light" panose="020B0004020202020204" pitchFamily="34" charset="0"/>
                <a:cs typeface="Arial" panose="020B0604020202020204" pitchFamily="34" charset="0"/>
              </a:rPr>
              <a:t>Agile</a:t>
            </a:r>
            <a:r>
              <a:rPr lang="en-MY" sz="1600" b="0" i="0" u="none" strike="noStrike" spc="-30" dirty="0">
                <a:solidFill>
                  <a:srgbClr val="333333"/>
                </a:solidFill>
                <a:effectLst/>
                <a:latin typeface="Aptos Light" panose="020B0004020202020204" pitchFamily="34" charset="0"/>
                <a:cs typeface="Arial" panose="020B0604020202020204" pitchFamily="34" charset="0"/>
              </a:rPr>
              <a:t> </a:t>
            </a:r>
            <a:r>
              <a:rPr lang="en-MY" sz="1600" b="0" i="0" u="none" strike="noStrike" spc="-175" dirty="0">
                <a:solidFill>
                  <a:srgbClr val="333333"/>
                </a:solidFill>
                <a:effectLst/>
                <a:latin typeface="Aptos Light" panose="020B0004020202020204" pitchFamily="34" charset="0"/>
                <a:cs typeface="Arial" panose="020B0604020202020204" pitchFamily="34" charset="0"/>
              </a:rPr>
              <a:t>-</a:t>
            </a:r>
            <a:r>
              <a:rPr lang="en-MY" sz="1600" b="0" i="0" u="none" strike="noStrike" spc="-160" dirty="0">
                <a:solidFill>
                  <a:srgbClr val="333333"/>
                </a:solidFill>
                <a:effectLst/>
                <a:latin typeface="Aptos Light" panose="020B0004020202020204" pitchFamily="34" charset="0"/>
                <a:cs typeface="Arial" panose="020B0604020202020204" pitchFamily="34" charset="0"/>
              </a:rPr>
              <a:t> </a:t>
            </a:r>
            <a:r>
              <a:rPr lang="en-MY" sz="1600" b="0" i="0" u="none" strike="noStrike" spc="-25" dirty="0">
                <a:solidFill>
                  <a:srgbClr val="333333"/>
                </a:solidFill>
                <a:effectLst/>
                <a:latin typeface="Aptos Light" panose="020B0004020202020204" pitchFamily="34" charset="0"/>
                <a:cs typeface="Arial" panose="020B0604020202020204" pitchFamily="34" charset="0"/>
              </a:rPr>
              <a:t>Scrum</a:t>
            </a:r>
            <a:endParaRPr lang="en-MY" b="0" i="0" u="none" strike="noStrike" dirty="0">
              <a:effectLst/>
              <a:latin typeface="Arial" panose="020B0604020202020204" pitchFamily="34" charset="0"/>
            </a:endParaRPr>
          </a:p>
          <a:p>
            <a:pPr marL="585216" indent="-457200" algn="l" fontAlgn="t">
              <a:spcBef>
                <a:spcPts val="755"/>
              </a:spcBef>
              <a:spcAft>
                <a:spcPts val="0"/>
              </a:spcAft>
              <a:buFont typeface="+mj-lt"/>
              <a:buAutoNum type="arabicPeriod"/>
            </a:pPr>
            <a:r>
              <a:rPr lang="en-MY" sz="1600" b="0" i="0" u="none" strike="noStrike" spc="-10" dirty="0">
                <a:solidFill>
                  <a:srgbClr val="333333"/>
                </a:solidFill>
                <a:effectLst/>
                <a:latin typeface="Aptos Light" panose="020B0004020202020204" pitchFamily="34" charset="0"/>
                <a:cs typeface="Arial" panose="020B0604020202020204" pitchFamily="34" charset="0"/>
              </a:rPr>
              <a:t>Top</a:t>
            </a:r>
            <a:r>
              <a:rPr lang="en-MY" sz="1600" b="0" i="0" u="none" strike="noStrike" spc="-30" dirty="0">
                <a:solidFill>
                  <a:srgbClr val="333333"/>
                </a:solidFill>
                <a:effectLst/>
                <a:latin typeface="Aptos Light" panose="020B0004020202020204" pitchFamily="34" charset="0"/>
                <a:cs typeface="Arial" panose="020B0604020202020204" pitchFamily="34" charset="0"/>
              </a:rPr>
              <a:t> </a:t>
            </a:r>
            <a:r>
              <a:rPr lang="en-MY" sz="1600" b="0" i="0" u="none" strike="noStrike" spc="-15" dirty="0">
                <a:solidFill>
                  <a:srgbClr val="333333"/>
                </a:solidFill>
                <a:effectLst/>
                <a:latin typeface="Aptos Light" panose="020B0004020202020204" pitchFamily="34" charset="0"/>
                <a:cs typeface="Arial" panose="020B0604020202020204" pitchFamily="34" charset="0"/>
              </a:rPr>
              <a:t>Methodologies</a:t>
            </a:r>
            <a:r>
              <a:rPr lang="en-MY" sz="1600" b="0" i="0" u="none" strike="noStrike" spc="-25" dirty="0">
                <a:solidFill>
                  <a:srgbClr val="333333"/>
                </a:solidFill>
                <a:effectLst/>
                <a:latin typeface="Aptos Light" panose="020B0004020202020204" pitchFamily="34" charset="0"/>
                <a:cs typeface="Arial" panose="020B0604020202020204" pitchFamily="34" charset="0"/>
              </a:rPr>
              <a:t> </a:t>
            </a:r>
            <a:r>
              <a:rPr lang="en-MY" sz="1600" b="0" i="0" u="none" strike="noStrike" spc="-20" dirty="0">
                <a:solidFill>
                  <a:srgbClr val="333333"/>
                </a:solidFill>
                <a:effectLst/>
                <a:latin typeface="Aptos Light" panose="020B0004020202020204" pitchFamily="34" charset="0"/>
                <a:cs typeface="Arial" panose="020B0604020202020204" pitchFamily="34" charset="0"/>
              </a:rPr>
              <a:t>Used</a:t>
            </a:r>
            <a:r>
              <a:rPr lang="en-MY" sz="1600" b="0" i="0" u="none" strike="noStrike" spc="-30" dirty="0">
                <a:solidFill>
                  <a:srgbClr val="333333"/>
                </a:solidFill>
                <a:effectLst/>
                <a:latin typeface="Aptos Light" panose="020B0004020202020204" pitchFamily="34" charset="0"/>
                <a:cs typeface="Arial" panose="020B0604020202020204" pitchFamily="34" charset="0"/>
              </a:rPr>
              <a:t> </a:t>
            </a:r>
            <a:r>
              <a:rPr lang="en-MY" sz="1600" b="0" i="0" u="none" strike="noStrike" spc="-10" dirty="0">
                <a:solidFill>
                  <a:srgbClr val="333333"/>
                </a:solidFill>
                <a:effectLst/>
                <a:latin typeface="Aptos Light" panose="020B0004020202020204" pitchFamily="34" charset="0"/>
                <a:cs typeface="Arial" panose="020B0604020202020204" pitchFamily="34" charset="0"/>
              </a:rPr>
              <a:t>to</a:t>
            </a:r>
            <a:r>
              <a:rPr lang="en-MY" sz="1600" b="0" i="0" u="none" strike="noStrike" spc="-25" dirty="0">
                <a:solidFill>
                  <a:srgbClr val="333333"/>
                </a:solidFill>
                <a:effectLst/>
                <a:latin typeface="Aptos Light" panose="020B0004020202020204" pitchFamily="34" charset="0"/>
                <a:cs typeface="Arial" panose="020B0604020202020204" pitchFamily="34" charset="0"/>
              </a:rPr>
              <a:t> </a:t>
            </a:r>
            <a:r>
              <a:rPr lang="en-MY" sz="1600" b="0" i="0" u="none" strike="noStrike" spc="-20" dirty="0">
                <a:solidFill>
                  <a:srgbClr val="333333"/>
                </a:solidFill>
                <a:effectLst/>
                <a:latin typeface="Aptos Light" panose="020B0004020202020204" pitchFamily="34" charset="0"/>
                <a:cs typeface="Arial" panose="020B0604020202020204" pitchFamily="34" charset="0"/>
              </a:rPr>
              <a:t>Implement</a:t>
            </a:r>
            <a:r>
              <a:rPr lang="en-MY" sz="1600" b="0" i="0" u="none" strike="noStrike" spc="-30" dirty="0">
                <a:solidFill>
                  <a:srgbClr val="333333"/>
                </a:solidFill>
                <a:effectLst/>
                <a:latin typeface="Aptos Light" panose="020B0004020202020204" pitchFamily="34" charset="0"/>
                <a:cs typeface="Arial" panose="020B0604020202020204" pitchFamily="34" charset="0"/>
              </a:rPr>
              <a:t> </a:t>
            </a:r>
            <a:r>
              <a:rPr lang="en-MY" sz="1600" b="0" i="0" u="none" strike="noStrike" spc="-15" dirty="0">
                <a:solidFill>
                  <a:srgbClr val="333333"/>
                </a:solidFill>
                <a:effectLst/>
                <a:latin typeface="Aptos Light" panose="020B0004020202020204" pitchFamily="34" charset="0"/>
                <a:cs typeface="Arial" panose="020B0604020202020204" pitchFamily="34" charset="0"/>
              </a:rPr>
              <a:t>Agile</a:t>
            </a:r>
            <a:r>
              <a:rPr lang="en-MY" sz="1600" b="0" i="0" u="none" strike="noStrike" spc="-25" dirty="0">
                <a:solidFill>
                  <a:srgbClr val="333333"/>
                </a:solidFill>
                <a:effectLst/>
                <a:latin typeface="Aptos Light" panose="020B0004020202020204" pitchFamily="34" charset="0"/>
                <a:cs typeface="Arial" panose="020B0604020202020204" pitchFamily="34" charset="0"/>
              </a:rPr>
              <a:t> </a:t>
            </a:r>
            <a:r>
              <a:rPr lang="en-MY" sz="1600" b="0" i="0" u="none" strike="noStrike" spc="-175" dirty="0">
                <a:solidFill>
                  <a:srgbClr val="333333"/>
                </a:solidFill>
                <a:effectLst/>
                <a:latin typeface="Aptos Light" panose="020B0004020202020204" pitchFamily="34" charset="0"/>
                <a:cs typeface="Arial" panose="020B0604020202020204" pitchFamily="34" charset="0"/>
              </a:rPr>
              <a:t>-</a:t>
            </a:r>
            <a:r>
              <a:rPr lang="en-MY" sz="1600" b="0" i="0" u="none" strike="noStrike" spc="-165" dirty="0">
                <a:solidFill>
                  <a:srgbClr val="333333"/>
                </a:solidFill>
                <a:effectLst/>
                <a:latin typeface="Aptos Light" panose="020B0004020202020204" pitchFamily="34" charset="0"/>
                <a:cs typeface="Arial" panose="020B0604020202020204" pitchFamily="34" charset="0"/>
              </a:rPr>
              <a:t> </a:t>
            </a:r>
            <a:r>
              <a:rPr lang="en-MY" sz="1600" b="0" i="0" u="none" strike="noStrike" spc="-20" dirty="0">
                <a:solidFill>
                  <a:srgbClr val="333333"/>
                </a:solidFill>
                <a:effectLst/>
                <a:latin typeface="Aptos Light" panose="020B0004020202020204" pitchFamily="34" charset="0"/>
                <a:cs typeface="Arial" panose="020B0604020202020204" pitchFamily="34" charset="0"/>
              </a:rPr>
              <a:t>Kanban</a:t>
            </a:r>
            <a:endParaRPr lang="en-MY" b="0" i="0" u="none" strike="noStrike" dirty="0">
              <a:effectLst/>
              <a:latin typeface="Arial" panose="020B0604020202020204" pitchFamily="34" charset="0"/>
            </a:endParaRPr>
          </a:p>
          <a:p>
            <a:pPr marL="585216" indent="-457200" algn="l" fontAlgn="t">
              <a:spcBef>
                <a:spcPts val="755"/>
              </a:spcBef>
              <a:spcAft>
                <a:spcPts val="0"/>
              </a:spcAft>
              <a:buFont typeface="+mj-lt"/>
              <a:buAutoNum type="arabicPeriod"/>
            </a:pPr>
            <a:r>
              <a:rPr lang="en-MY" sz="1600" b="0" i="0" u="none" strike="noStrike" spc="-10" dirty="0">
                <a:solidFill>
                  <a:srgbClr val="333333"/>
                </a:solidFill>
                <a:effectLst/>
                <a:latin typeface="Aptos Light" panose="020B0004020202020204" pitchFamily="34" charset="0"/>
                <a:cs typeface="Arial" panose="020B0604020202020204" pitchFamily="34" charset="0"/>
              </a:rPr>
              <a:t>How</a:t>
            </a:r>
            <a:r>
              <a:rPr lang="en-MY" sz="1600" b="0" i="0" u="none" strike="noStrike" spc="-35" dirty="0">
                <a:solidFill>
                  <a:srgbClr val="333333"/>
                </a:solidFill>
                <a:effectLst/>
                <a:latin typeface="Aptos Light" panose="020B0004020202020204" pitchFamily="34" charset="0"/>
                <a:cs typeface="Arial" panose="020B0604020202020204" pitchFamily="34" charset="0"/>
              </a:rPr>
              <a:t> </a:t>
            </a:r>
            <a:r>
              <a:rPr lang="en-MY" sz="1600" b="0" i="0" u="none" strike="noStrike" spc="-10" dirty="0">
                <a:solidFill>
                  <a:srgbClr val="333333"/>
                </a:solidFill>
                <a:effectLst/>
                <a:latin typeface="Aptos Light" panose="020B0004020202020204" pitchFamily="34" charset="0"/>
                <a:cs typeface="Arial" panose="020B0604020202020204" pitchFamily="34" charset="0"/>
              </a:rPr>
              <a:t>to</a:t>
            </a:r>
            <a:r>
              <a:rPr lang="en-MY" sz="1600" b="0" i="0" u="none" strike="noStrike" spc="-35" dirty="0">
                <a:solidFill>
                  <a:srgbClr val="333333"/>
                </a:solidFill>
                <a:effectLst/>
                <a:latin typeface="Aptos Light" panose="020B0004020202020204" pitchFamily="34" charset="0"/>
                <a:cs typeface="Arial" panose="020B0604020202020204" pitchFamily="34" charset="0"/>
              </a:rPr>
              <a:t> </a:t>
            </a:r>
            <a:r>
              <a:rPr lang="en-MY" sz="1600" b="0" i="0" u="none" strike="noStrike" spc="-15" dirty="0">
                <a:solidFill>
                  <a:srgbClr val="333333"/>
                </a:solidFill>
                <a:effectLst/>
                <a:latin typeface="Aptos Light" panose="020B0004020202020204" pitchFamily="34" charset="0"/>
                <a:cs typeface="Arial" panose="020B0604020202020204" pitchFamily="34" charset="0"/>
              </a:rPr>
              <a:t>Get</a:t>
            </a:r>
            <a:r>
              <a:rPr lang="en-MY" sz="1600" b="0" i="0" u="none" strike="noStrike" spc="-35" dirty="0">
                <a:solidFill>
                  <a:srgbClr val="333333"/>
                </a:solidFill>
                <a:effectLst/>
                <a:latin typeface="Aptos Light" panose="020B0004020202020204" pitchFamily="34" charset="0"/>
                <a:cs typeface="Arial" panose="020B0604020202020204" pitchFamily="34" charset="0"/>
              </a:rPr>
              <a:t> </a:t>
            </a:r>
            <a:r>
              <a:rPr lang="en-MY" sz="1600" b="0" i="0" u="none" strike="noStrike" spc="-20" dirty="0">
                <a:solidFill>
                  <a:srgbClr val="333333"/>
                </a:solidFill>
                <a:effectLst/>
                <a:latin typeface="Aptos Light" panose="020B0004020202020204" pitchFamily="34" charset="0"/>
                <a:cs typeface="Arial" panose="020B0604020202020204" pitchFamily="34" charset="0"/>
              </a:rPr>
              <a:t>Started</a:t>
            </a:r>
            <a:r>
              <a:rPr lang="en-MY" sz="1600" b="0" i="0" u="none" strike="noStrike" spc="-35" dirty="0">
                <a:solidFill>
                  <a:srgbClr val="333333"/>
                </a:solidFill>
                <a:effectLst/>
                <a:latin typeface="Aptos Light" panose="020B0004020202020204" pitchFamily="34" charset="0"/>
                <a:cs typeface="Arial" panose="020B0604020202020204" pitchFamily="34" charset="0"/>
              </a:rPr>
              <a:t> </a:t>
            </a:r>
            <a:r>
              <a:rPr lang="en-MY" sz="1600" b="0" i="0" u="none" strike="noStrike" spc="-15" dirty="0">
                <a:solidFill>
                  <a:srgbClr val="333333"/>
                </a:solidFill>
                <a:effectLst/>
                <a:latin typeface="Aptos Light" panose="020B0004020202020204" pitchFamily="34" charset="0"/>
                <a:cs typeface="Arial" panose="020B0604020202020204" pitchFamily="34" charset="0"/>
              </a:rPr>
              <a:t>With</a:t>
            </a:r>
            <a:r>
              <a:rPr lang="en-MY" sz="1600" b="0" i="0" u="none" strike="noStrike" spc="-30" dirty="0">
                <a:solidFill>
                  <a:srgbClr val="333333"/>
                </a:solidFill>
                <a:effectLst/>
                <a:latin typeface="Aptos Light" panose="020B0004020202020204" pitchFamily="34" charset="0"/>
                <a:cs typeface="Arial" panose="020B0604020202020204" pitchFamily="34" charset="0"/>
              </a:rPr>
              <a:t> </a:t>
            </a:r>
            <a:r>
              <a:rPr lang="en-MY" sz="1600" b="0" i="0" u="none" strike="noStrike" spc="-15" dirty="0">
                <a:solidFill>
                  <a:srgbClr val="333333"/>
                </a:solidFill>
                <a:effectLst/>
                <a:latin typeface="Aptos Light" panose="020B0004020202020204" pitchFamily="34" charset="0"/>
                <a:cs typeface="Arial" panose="020B0604020202020204" pitchFamily="34" charset="0"/>
              </a:rPr>
              <a:t>Agile</a:t>
            </a:r>
            <a:endParaRPr lang="en-MY" b="0" i="0" u="none" strike="noStrike" dirty="0">
              <a:effectLst/>
              <a:latin typeface="Arial" panose="020B0604020202020204" pitchFamily="34" charset="0"/>
            </a:endParaRPr>
          </a:p>
          <a:p>
            <a:pPr marL="585216" indent="-457200" algn="l" fontAlgn="t">
              <a:spcBef>
                <a:spcPts val="755"/>
              </a:spcBef>
              <a:spcAft>
                <a:spcPts val="0"/>
              </a:spcAft>
              <a:buFont typeface="+mj-lt"/>
              <a:buAutoNum type="arabicPeriod"/>
            </a:pPr>
            <a:r>
              <a:rPr lang="en-MY" sz="1600" b="0" i="0" u="none" strike="noStrike" spc="-15" dirty="0">
                <a:solidFill>
                  <a:srgbClr val="333333"/>
                </a:solidFill>
                <a:effectLst/>
                <a:latin typeface="Aptos Light" panose="020B0004020202020204" pitchFamily="34" charset="0"/>
                <a:cs typeface="Arial" panose="020B0604020202020204" pitchFamily="34" charset="0"/>
              </a:rPr>
              <a:t>Finding</a:t>
            </a:r>
            <a:r>
              <a:rPr lang="en-MY" sz="1600" b="0" i="0" u="none" strike="noStrike" spc="-45" dirty="0">
                <a:solidFill>
                  <a:srgbClr val="333333"/>
                </a:solidFill>
                <a:effectLst/>
                <a:latin typeface="Aptos Light" panose="020B0004020202020204" pitchFamily="34" charset="0"/>
                <a:cs typeface="Arial" panose="020B0604020202020204" pitchFamily="34" charset="0"/>
              </a:rPr>
              <a:t> </a:t>
            </a:r>
            <a:r>
              <a:rPr lang="en-MY" sz="1600" b="0" i="0" u="none" strike="noStrike" spc="-15" dirty="0">
                <a:solidFill>
                  <a:srgbClr val="333333"/>
                </a:solidFill>
                <a:effectLst/>
                <a:latin typeface="Aptos Light" panose="020B0004020202020204" pitchFamily="34" charset="0"/>
                <a:cs typeface="Arial" panose="020B0604020202020204" pitchFamily="34" charset="0"/>
              </a:rPr>
              <a:t>the</a:t>
            </a:r>
            <a:r>
              <a:rPr lang="en-MY" sz="1600" b="0" i="0" u="none" strike="noStrike" spc="-40" dirty="0">
                <a:solidFill>
                  <a:srgbClr val="333333"/>
                </a:solidFill>
                <a:effectLst/>
                <a:latin typeface="Aptos Light" panose="020B0004020202020204" pitchFamily="34" charset="0"/>
                <a:cs typeface="Arial" panose="020B0604020202020204" pitchFamily="34" charset="0"/>
              </a:rPr>
              <a:t> </a:t>
            </a:r>
            <a:r>
              <a:rPr lang="en-MY" sz="1600" b="0" i="0" u="none" strike="noStrike" spc="-15" dirty="0">
                <a:solidFill>
                  <a:srgbClr val="333333"/>
                </a:solidFill>
                <a:effectLst/>
                <a:latin typeface="Aptos Light" panose="020B0004020202020204" pitchFamily="34" charset="0"/>
                <a:cs typeface="Arial" panose="020B0604020202020204" pitchFamily="34" charset="0"/>
              </a:rPr>
              <a:t>Best</a:t>
            </a:r>
            <a:r>
              <a:rPr lang="en-MY" sz="1600" b="0" i="0" u="none" strike="noStrike" spc="-40" dirty="0">
                <a:solidFill>
                  <a:srgbClr val="333333"/>
                </a:solidFill>
                <a:effectLst/>
                <a:latin typeface="Aptos Light" panose="020B0004020202020204" pitchFamily="34" charset="0"/>
                <a:cs typeface="Arial" panose="020B0604020202020204" pitchFamily="34" charset="0"/>
              </a:rPr>
              <a:t> </a:t>
            </a:r>
            <a:r>
              <a:rPr lang="en-MY" sz="1600" b="0" i="0" u="none" strike="noStrike" spc="-15" dirty="0">
                <a:solidFill>
                  <a:srgbClr val="333333"/>
                </a:solidFill>
                <a:effectLst/>
                <a:latin typeface="Aptos Light" panose="020B0004020202020204" pitchFamily="34" charset="0"/>
                <a:cs typeface="Arial" panose="020B0604020202020204" pitchFamily="34" charset="0"/>
              </a:rPr>
              <a:t>Agile</a:t>
            </a:r>
            <a:r>
              <a:rPr lang="en-MY" sz="1600" b="0" i="0" u="none" strike="noStrike" spc="-40" dirty="0">
                <a:solidFill>
                  <a:srgbClr val="333333"/>
                </a:solidFill>
                <a:effectLst/>
                <a:latin typeface="Aptos Light" panose="020B0004020202020204" pitchFamily="34" charset="0"/>
                <a:cs typeface="Arial" panose="020B0604020202020204" pitchFamily="34" charset="0"/>
              </a:rPr>
              <a:t> </a:t>
            </a:r>
            <a:r>
              <a:rPr lang="en-MY" sz="1600" b="0" i="0" u="none" strike="noStrike" spc="-15" dirty="0">
                <a:solidFill>
                  <a:srgbClr val="333333"/>
                </a:solidFill>
                <a:effectLst/>
                <a:latin typeface="Aptos Light" panose="020B0004020202020204" pitchFamily="34" charset="0"/>
                <a:cs typeface="Arial" panose="020B0604020202020204" pitchFamily="34" charset="0"/>
              </a:rPr>
              <a:t>Tool</a:t>
            </a:r>
            <a:endParaRPr lang="en-MY" b="0" i="0" u="none" strike="noStrike" dirty="0">
              <a:effectLst/>
              <a:latin typeface="Arial" panose="020B0604020202020204" pitchFamily="34" charset="0"/>
            </a:endParaRPr>
          </a:p>
        </p:txBody>
      </p:sp>
      <p:sp>
        <p:nvSpPr>
          <p:cNvPr id="2" name="Footer Placeholder 1">
            <a:extLst>
              <a:ext uri="{FF2B5EF4-FFF2-40B4-BE49-F238E27FC236}">
                <a16:creationId xmlns:a16="http://schemas.microsoft.com/office/drawing/2014/main" id="{46A80260-CB90-44AB-1A3F-227E19409D67}"/>
              </a:ext>
            </a:extLst>
          </p:cNvPr>
          <p:cNvSpPr>
            <a:spLocks noGrp="1"/>
          </p:cNvSpPr>
          <p:nvPr>
            <p:ph type="ftr" sz="quarter" idx="5"/>
          </p:nvPr>
        </p:nvSpPr>
        <p:spPr>
          <a:xfrm>
            <a:off x="6634705" y="5571421"/>
            <a:ext cx="1627504" cy="153888"/>
          </a:xfrm>
        </p:spPr>
        <p:txBody>
          <a:bodyPr/>
          <a:lstStyle/>
          <a:p>
            <a:pPr marL="12700" algn="r">
              <a:lnSpc>
                <a:spcPct val="100000"/>
              </a:lnSpc>
              <a:spcBef>
                <a:spcPts val="25"/>
              </a:spcBef>
            </a:pPr>
            <a:r>
              <a:rPr lang="en-MY" spc="-25"/>
              <a:t>Agile Methodology</a:t>
            </a:r>
            <a:endParaRPr lang="en-MY" dirty="0"/>
          </a:p>
        </p:txBody>
      </p:sp>
      <p:sp>
        <p:nvSpPr>
          <p:cNvPr id="6" name="Slide Number Placeholder 5">
            <a:extLst>
              <a:ext uri="{FF2B5EF4-FFF2-40B4-BE49-F238E27FC236}">
                <a16:creationId xmlns:a16="http://schemas.microsoft.com/office/drawing/2014/main" id="{3226C51A-F396-C76C-B100-602D942F6227}"/>
              </a:ext>
            </a:extLst>
          </p:cNvPr>
          <p:cNvSpPr>
            <a:spLocks noGrp="1"/>
          </p:cNvSpPr>
          <p:nvPr>
            <p:ph type="sldNum" sz="quarter" idx="7"/>
          </p:nvPr>
        </p:nvSpPr>
        <p:spPr/>
        <p:txBody>
          <a:bodyPr/>
          <a:lstStyle/>
          <a:p>
            <a:pPr marL="38100">
              <a:lnSpc>
                <a:spcPct val="100000"/>
              </a:lnSpc>
              <a:spcBef>
                <a:spcPts val="190"/>
              </a:spcBef>
            </a:pPr>
            <a:fld id="{81D60167-4931-47E6-BA6A-407CBD079E47}" type="slidenum">
              <a:rPr lang="en-MY" spc="35" smtClean="0"/>
              <a:t>2</a:t>
            </a:fld>
            <a:endParaRPr lang="en-MY" spc="3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3657600" cy="5943600"/>
          </a:xfrm>
          <a:custGeom>
            <a:avLst/>
            <a:gdLst/>
            <a:ahLst/>
            <a:cxnLst/>
            <a:rect l="l" t="t" r="r" b="b"/>
            <a:pathLst>
              <a:path w="3657600" h="5943600">
                <a:moveTo>
                  <a:pt x="3657600" y="0"/>
                </a:moveTo>
                <a:lnTo>
                  <a:pt x="0" y="0"/>
                </a:lnTo>
                <a:lnTo>
                  <a:pt x="0" y="5943600"/>
                </a:lnTo>
                <a:lnTo>
                  <a:pt x="3657600" y="5943600"/>
                </a:lnTo>
                <a:lnTo>
                  <a:pt x="3657600" y="0"/>
                </a:lnTo>
                <a:close/>
              </a:path>
            </a:pathLst>
          </a:custGeom>
          <a:solidFill>
            <a:srgbClr val="002F59"/>
          </a:solidFill>
        </p:spPr>
        <p:txBody>
          <a:bodyPr wrap="square" lIns="0" tIns="0" rIns="0" bIns="0" rtlCol="0"/>
          <a:lstStyle/>
          <a:p>
            <a:endParaRPr/>
          </a:p>
        </p:txBody>
      </p:sp>
      <p:sp>
        <p:nvSpPr>
          <p:cNvPr id="6" name="object 6"/>
          <p:cNvSpPr txBox="1">
            <a:spLocks noGrp="1"/>
          </p:cNvSpPr>
          <p:nvPr>
            <p:ph type="title"/>
          </p:nvPr>
        </p:nvSpPr>
        <p:spPr>
          <a:xfrm>
            <a:off x="526368" y="510301"/>
            <a:ext cx="2620010" cy="3134191"/>
          </a:xfrm>
          <a:prstGeom prst="rect">
            <a:avLst/>
          </a:prstGeom>
        </p:spPr>
        <p:txBody>
          <a:bodyPr vert="horz" wrap="square" lIns="0" tIns="106680" rIns="0" bIns="0" rtlCol="0">
            <a:spAutoFit/>
          </a:bodyPr>
          <a:lstStyle/>
          <a:p>
            <a:pPr marL="12700" marR="84455" algn="l">
              <a:lnSpc>
                <a:spcPts val="4700"/>
              </a:lnSpc>
              <a:spcBef>
                <a:spcPts val="840"/>
              </a:spcBef>
            </a:pPr>
            <a:r>
              <a:rPr spc="-705" dirty="0"/>
              <a:t>E</a:t>
            </a:r>
            <a:r>
              <a:rPr spc="-90" dirty="0"/>
              <a:t>v</a:t>
            </a:r>
            <a:r>
              <a:rPr spc="25" dirty="0"/>
              <a:t>e</a:t>
            </a:r>
            <a:r>
              <a:rPr spc="260" dirty="0"/>
              <a:t>r</a:t>
            </a:r>
            <a:r>
              <a:rPr spc="-165" dirty="0"/>
              <a:t>y</a:t>
            </a:r>
            <a:r>
              <a:rPr spc="-80" dirty="0"/>
              <a:t>o</a:t>
            </a:r>
            <a:r>
              <a:rPr spc="-10" dirty="0"/>
              <a:t>n</a:t>
            </a:r>
            <a:r>
              <a:rPr spc="185" dirty="0"/>
              <a:t>e  </a:t>
            </a:r>
            <a:r>
              <a:rPr spc="-70" dirty="0"/>
              <a:t>manages </a:t>
            </a:r>
            <a:r>
              <a:rPr spc="-1240" dirty="0"/>
              <a:t> </a:t>
            </a:r>
            <a:r>
              <a:rPr spc="-35" dirty="0"/>
              <a:t>projects</a:t>
            </a:r>
          </a:p>
          <a:p>
            <a:pPr marL="12700" marR="5080" algn="l">
              <a:lnSpc>
                <a:spcPct val="112500"/>
              </a:lnSpc>
              <a:spcBef>
                <a:spcPts val="980"/>
              </a:spcBef>
            </a:pPr>
            <a:br>
              <a:rPr lang="en-US" sz="1600" spc="130" dirty="0"/>
            </a:br>
            <a:r>
              <a:rPr lang="en-US" sz="1600" spc="130" dirty="0"/>
              <a:t>W</a:t>
            </a:r>
            <a:r>
              <a:rPr sz="1600" spc="5" dirty="0"/>
              <a:t>h</a:t>
            </a:r>
            <a:r>
              <a:rPr sz="1600" spc="15" dirty="0"/>
              <a:t>e</a:t>
            </a:r>
            <a:r>
              <a:rPr sz="1600" spc="135" dirty="0"/>
              <a:t>t</a:t>
            </a:r>
            <a:r>
              <a:rPr sz="1600" spc="5" dirty="0"/>
              <a:t>h</a:t>
            </a:r>
            <a:r>
              <a:rPr sz="1600" spc="20" dirty="0"/>
              <a:t>e</a:t>
            </a:r>
            <a:r>
              <a:rPr sz="1600" spc="125" dirty="0"/>
              <a:t>r</a:t>
            </a:r>
            <a:r>
              <a:rPr sz="1600" spc="-190" dirty="0"/>
              <a:t> </a:t>
            </a:r>
            <a:r>
              <a:rPr sz="1600" spc="135" dirty="0"/>
              <a:t>t</a:t>
            </a:r>
            <a:r>
              <a:rPr sz="1600" spc="5" dirty="0"/>
              <a:t>h</a:t>
            </a:r>
            <a:r>
              <a:rPr sz="1600" spc="-5" dirty="0"/>
              <a:t>e</a:t>
            </a:r>
            <a:r>
              <a:rPr sz="1600" spc="65" dirty="0"/>
              <a:t>y</a:t>
            </a:r>
            <a:r>
              <a:rPr sz="1600" spc="-130" dirty="0"/>
              <a:t>’</a:t>
            </a:r>
            <a:r>
              <a:rPr sz="1600" spc="45" dirty="0"/>
              <a:t>r</a:t>
            </a:r>
            <a:r>
              <a:rPr sz="1600" spc="95" dirty="0"/>
              <a:t>e</a:t>
            </a:r>
            <a:r>
              <a:rPr sz="1600" spc="-190" dirty="0"/>
              <a:t> </a:t>
            </a:r>
            <a:r>
              <a:rPr sz="1600" spc="105" dirty="0"/>
              <a:t>a</a:t>
            </a:r>
            <a:r>
              <a:rPr sz="1600" spc="-190" dirty="0"/>
              <a:t> </a:t>
            </a:r>
            <a:r>
              <a:rPr sz="1600" spc="-114" dirty="0"/>
              <a:t>c</a:t>
            </a:r>
            <a:r>
              <a:rPr sz="1600" spc="20" dirty="0"/>
              <a:t>e</a:t>
            </a:r>
            <a:r>
              <a:rPr sz="1600" spc="75" dirty="0"/>
              <a:t>r</a:t>
            </a:r>
            <a:r>
              <a:rPr sz="1600" spc="135" dirty="0"/>
              <a:t>t</a:t>
            </a:r>
            <a:r>
              <a:rPr sz="1600" dirty="0"/>
              <a:t>i</a:t>
            </a:r>
            <a:r>
              <a:rPr sz="1600" spc="110" dirty="0"/>
              <a:t>f</a:t>
            </a:r>
            <a:r>
              <a:rPr sz="1600" spc="15" dirty="0"/>
              <a:t>i</a:t>
            </a:r>
            <a:r>
              <a:rPr sz="1600" spc="20" dirty="0"/>
              <a:t>e</a:t>
            </a:r>
            <a:r>
              <a:rPr sz="1600" spc="30" dirty="0"/>
              <a:t>d </a:t>
            </a:r>
            <a:r>
              <a:rPr sz="1600" spc="-25" dirty="0"/>
              <a:t>p</a:t>
            </a:r>
            <a:r>
              <a:rPr sz="1600" spc="45" dirty="0"/>
              <a:t>r</a:t>
            </a:r>
            <a:r>
              <a:rPr sz="1600" spc="-50" dirty="0"/>
              <a:t>o</a:t>
            </a:r>
            <a:r>
              <a:rPr sz="1600" spc="-15" dirty="0"/>
              <a:t>j</a:t>
            </a:r>
            <a:r>
              <a:rPr sz="1600" spc="15" dirty="0"/>
              <a:t>e</a:t>
            </a:r>
            <a:r>
              <a:rPr sz="1600" spc="-95" dirty="0"/>
              <a:t>c</a:t>
            </a:r>
            <a:r>
              <a:rPr sz="1600" spc="200" dirty="0"/>
              <a:t>t</a:t>
            </a:r>
            <a:r>
              <a:rPr sz="1600" spc="-190" dirty="0"/>
              <a:t> </a:t>
            </a:r>
            <a:r>
              <a:rPr sz="1600" spc="90" dirty="0"/>
              <a:t>m</a:t>
            </a:r>
            <a:r>
              <a:rPr sz="1600" spc="25" dirty="0"/>
              <a:t>a</a:t>
            </a:r>
            <a:r>
              <a:rPr sz="1600" dirty="0"/>
              <a:t>n</a:t>
            </a:r>
            <a:r>
              <a:rPr sz="1600" spc="15" dirty="0"/>
              <a:t>a</a:t>
            </a:r>
            <a:r>
              <a:rPr sz="1600" spc="-105" dirty="0"/>
              <a:t>g</a:t>
            </a:r>
            <a:r>
              <a:rPr sz="1600" spc="20" dirty="0"/>
              <a:t>e</a:t>
            </a:r>
            <a:r>
              <a:rPr sz="1600" spc="125" dirty="0"/>
              <a:t>r</a:t>
            </a:r>
            <a:r>
              <a:rPr sz="1600" spc="-190" dirty="0"/>
              <a:t> </a:t>
            </a:r>
            <a:r>
              <a:rPr sz="1600" spc="15" dirty="0"/>
              <a:t>o</a:t>
            </a:r>
            <a:r>
              <a:rPr sz="1600" spc="65" dirty="0"/>
              <a:t>r</a:t>
            </a:r>
            <a:r>
              <a:rPr sz="1600" spc="-190" dirty="0"/>
              <a:t> </a:t>
            </a:r>
            <a:r>
              <a:rPr sz="1600" spc="5" dirty="0"/>
              <a:t>n</a:t>
            </a:r>
            <a:r>
              <a:rPr sz="1600" spc="-50" dirty="0"/>
              <a:t>o</a:t>
            </a:r>
            <a:r>
              <a:rPr sz="1600" spc="165" dirty="0"/>
              <a:t>t</a:t>
            </a:r>
            <a:r>
              <a:rPr sz="1600" spc="15" dirty="0"/>
              <a:t>.</a:t>
            </a:r>
            <a:endParaRPr sz="1600" dirty="0"/>
          </a:p>
        </p:txBody>
      </p:sp>
      <p:sp>
        <p:nvSpPr>
          <p:cNvPr id="9" name="Content Placeholder 4">
            <a:extLst>
              <a:ext uri="{FF2B5EF4-FFF2-40B4-BE49-F238E27FC236}">
                <a16:creationId xmlns:a16="http://schemas.microsoft.com/office/drawing/2014/main" id="{57969782-409A-65D4-9C49-96E0FFD891CA}"/>
              </a:ext>
            </a:extLst>
          </p:cNvPr>
          <p:cNvSpPr txBox="1">
            <a:spLocks/>
          </p:cNvSpPr>
          <p:nvPr/>
        </p:nvSpPr>
        <p:spPr>
          <a:xfrm>
            <a:off x="4051166" y="609600"/>
            <a:ext cx="4712236" cy="472440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spcBef>
                <a:spcPts val="600"/>
              </a:spcBef>
              <a:buFont typeface="Arial" panose="020B0604020202020204" pitchFamily="34" charset="0"/>
              <a:buChar char="•"/>
            </a:pPr>
            <a:r>
              <a:rPr lang="en-US" sz="2000" kern="0" dirty="0">
                <a:solidFill>
                  <a:sysClr val="windowText" lastClr="000000"/>
                </a:solidFill>
                <a:latin typeface="Aptos Light" panose="020B0004020202020204" pitchFamily="34" charset="0"/>
                <a:ea typeface="Lato Light" pitchFamily="34" charset="0"/>
                <a:cs typeface="Lato Light" pitchFamily="34" charset="0"/>
              </a:rPr>
              <a:t>Many people manage projects without formal training, often “going with the flow”.</a:t>
            </a:r>
          </a:p>
          <a:p>
            <a:pPr marL="342900" indent="-342900">
              <a:spcBef>
                <a:spcPts val="600"/>
              </a:spcBef>
              <a:buFont typeface="Arial" panose="020B0604020202020204" pitchFamily="34" charset="0"/>
              <a:buChar char="•"/>
            </a:pPr>
            <a:r>
              <a:rPr lang="en-US" sz="2000" kern="0" dirty="0">
                <a:solidFill>
                  <a:sysClr val="windowText" lastClr="000000"/>
                </a:solidFill>
                <a:latin typeface="Aptos Light" panose="020B0004020202020204" pitchFamily="34" charset="0"/>
                <a:ea typeface="Lato Light" pitchFamily="34" charset="0"/>
                <a:cs typeface="Lato Light" pitchFamily="34" charset="0"/>
              </a:rPr>
              <a:t>This can lead to challenges in managing multiple projects, meeting deadlines, and adapting to changes.</a:t>
            </a:r>
          </a:p>
          <a:p>
            <a:pPr marL="342900" indent="-342900">
              <a:spcBef>
                <a:spcPts val="600"/>
              </a:spcBef>
              <a:buFont typeface="Arial" panose="020B0604020202020204" pitchFamily="34" charset="0"/>
              <a:buChar char="•"/>
            </a:pPr>
            <a:r>
              <a:rPr lang="en-US" sz="2000" kern="0" dirty="0">
                <a:solidFill>
                  <a:sysClr val="windowText" lastClr="000000"/>
                </a:solidFill>
                <a:latin typeface="Aptos Light" panose="020B0004020202020204" pitchFamily="34" charset="0"/>
                <a:ea typeface="Lato Light" pitchFamily="34" charset="0"/>
                <a:cs typeface="Lato Light" pitchFamily="34" charset="0"/>
              </a:rPr>
              <a:t>Companies use a standard project management methodology, but projects still fail.</a:t>
            </a:r>
          </a:p>
          <a:p>
            <a:pPr marL="342900" indent="-342900">
              <a:spcBef>
                <a:spcPts val="600"/>
              </a:spcBef>
              <a:buFont typeface="Arial" panose="020B0604020202020204" pitchFamily="34" charset="0"/>
              <a:buChar char="•"/>
            </a:pPr>
            <a:r>
              <a:rPr lang="en-US" sz="2000" kern="0" dirty="0">
                <a:solidFill>
                  <a:sysClr val="windowText" lastClr="000000"/>
                </a:solidFill>
                <a:latin typeface="Aptos Light" panose="020B0004020202020204" pitchFamily="34" charset="0"/>
                <a:ea typeface="Lato Light" pitchFamily="34" charset="0"/>
                <a:cs typeface="Lato Light" pitchFamily="34" charset="0"/>
              </a:rPr>
              <a:t>Adopting a </a:t>
            </a:r>
            <a:r>
              <a:rPr lang="en-US" sz="2000" kern="0">
                <a:solidFill>
                  <a:sysClr val="windowText" lastClr="000000"/>
                </a:solidFill>
                <a:latin typeface="Aptos Light" panose="020B0004020202020204" pitchFamily="34" charset="0"/>
                <a:ea typeface="Lato Light" pitchFamily="34" charset="0"/>
                <a:cs typeface="Lato Light" pitchFamily="34" charset="0"/>
              </a:rPr>
              <a:t>standardized approach like Agile </a:t>
            </a:r>
            <a:r>
              <a:rPr lang="en-US" sz="2000" kern="0" dirty="0">
                <a:solidFill>
                  <a:sysClr val="windowText" lastClr="000000"/>
                </a:solidFill>
                <a:latin typeface="Aptos Light" panose="020B0004020202020204" pitchFamily="34" charset="0"/>
                <a:ea typeface="Lato Light" pitchFamily="34" charset="0"/>
                <a:cs typeface="Lato Light" pitchFamily="34" charset="0"/>
              </a:rPr>
              <a:t>is recommended for anyone managing work.</a:t>
            </a:r>
          </a:p>
        </p:txBody>
      </p:sp>
      <p:sp>
        <p:nvSpPr>
          <p:cNvPr id="3" name="Footer Placeholder 2">
            <a:extLst>
              <a:ext uri="{FF2B5EF4-FFF2-40B4-BE49-F238E27FC236}">
                <a16:creationId xmlns:a16="http://schemas.microsoft.com/office/drawing/2014/main" id="{D2CFCD54-A136-D682-CF25-F2066D5FD535}"/>
              </a:ext>
            </a:extLst>
          </p:cNvPr>
          <p:cNvSpPr>
            <a:spLocks noGrp="1"/>
          </p:cNvSpPr>
          <p:nvPr>
            <p:ph type="ftr" sz="quarter" idx="5"/>
          </p:nvPr>
        </p:nvSpPr>
        <p:spPr>
          <a:xfrm>
            <a:off x="6634705" y="5571421"/>
            <a:ext cx="1627504" cy="153888"/>
          </a:xfrm>
        </p:spPr>
        <p:txBody>
          <a:bodyPr/>
          <a:lstStyle/>
          <a:p>
            <a:pPr marL="12700" algn="r">
              <a:lnSpc>
                <a:spcPct val="100000"/>
              </a:lnSpc>
              <a:spcBef>
                <a:spcPts val="25"/>
              </a:spcBef>
            </a:pPr>
            <a:r>
              <a:rPr lang="en-MY" spc="-25" dirty="0"/>
              <a:t>Agile Methodology</a:t>
            </a:r>
            <a:endParaRPr lang="en-MY" dirty="0"/>
          </a:p>
        </p:txBody>
      </p:sp>
      <p:sp>
        <p:nvSpPr>
          <p:cNvPr id="4" name="Slide Number Placeholder 3">
            <a:extLst>
              <a:ext uri="{FF2B5EF4-FFF2-40B4-BE49-F238E27FC236}">
                <a16:creationId xmlns:a16="http://schemas.microsoft.com/office/drawing/2014/main" id="{431E1DE4-A2D3-EF02-D586-39A66EB34A62}"/>
              </a:ext>
            </a:extLst>
          </p:cNvPr>
          <p:cNvSpPr>
            <a:spLocks noGrp="1"/>
          </p:cNvSpPr>
          <p:nvPr>
            <p:ph type="sldNum" sz="quarter" idx="7"/>
          </p:nvPr>
        </p:nvSpPr>
        <p:spPr/>
        <p:txBody>
          <a:bodyPr/>
          <a:lstStyle/>
          <a:p>
            <a:pPr marL="38100">
              <a:lnSpc>
                <a:spcPct val="100000"/>
              </a:lnSpc>
              <a:spcBef>
                <a:spcPts val="190"/>
              </a:spcBef>
            </a:pPr>
            <a:fld id="{81D60167-4931-47E6-BA6A-407CBD079E47}" type="slidenum">
              <a:rPr lang="en-MY" spc="35" smtClean="0"/>
              <a:t>3</a:t>
            </a:fld>
            <a:endParaRPr lang="en-MY" spc="3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1017F-CDF9-6C16-F279-D5F7CCF43ED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92B296A-7118-2547-6068-0EB8C69E0FF0}"/>
              </a:ext>
            </a:extLst>
          </p:cNvPr>
          <p:cNvSpPr/>
          <p:nvPr/>
        </p:nvSpPr>
        <p:spPr>
          <a:xfrm>
            <a:off x="0" y="0"/>
            <a:ext cx="2438400" cy="5943600"/>
          </a:xfrm>
          <a:custGeom>
            <a:avLst/>
            <a:gdLst/>
            <a:ahLst/>
            <a:cxnLst/>
            <a:rect l="l" t="t" r="r" b="b"/>
            <a:pathLst>
              <a:path w="3657600" h="5943600">
                <a:moveTo>
                  <a:pt x="3657600" y="0"/>
                </a:moveTo>
                <a:lnTo>
                  <a:pt x="0" y="0"/>
                </a:lnTo>
                <a:lnTo>
                  <a:pt x="0" y="5943600"/>
                </a:lnTo>
                <a:lnTo>
                  <a:pt x="3657600" y="5943600"/>
                </a:lnTo>
                <a:lnTo>
                  <a:pt x="3657600" y="0"/>
                </a:lnTo>
                <a:close/>
              </a:path>
            </a:pathLst>
          </a:custGeom>
          <a:solidFill>
            <a:srgbClr val="002F59"/>
          </a:solidFill>
        </p:spPr>
        <p:txBody>
          <a:bodyPr wrap="square" lIns="0" tIns="0" rIns="0" bIns="0" rtlCol="0"/>
          <a:lstStyle/>
          <a:p>
            <a:endParaRPr/>
          </a:p>
        </p:txBody>
      </p:sp>
      <p:sp>
        <p:nvSpPr>
          <p:cNvPr id="6" name="object 6">
            <a:extLst>
              <a:ext uri="{FF2B5EF4-FFF2-40B4-BE49-F238E27FC236}">
                <a16:creationId xmlns:a16="http://schemas.microsoft.com/office/drawing/2014/main" id="{DADC67D3-AB08-232B-C36A-3531F9247058}"/>
              </a:ext>
            </a:extLst>
          </p:cNvPr>
          <p:cNvSpPr txBox="1">
            <a:spLocks noGrp="1"/>
          </p:cNvSpPr>
          <p:nvPr>
            <p:ph type="title"/>
          </p:nvPr>
        </p:nvSpPr>
        <p:spPr>
          <a:xfrm>
            <a:off x="526368" y="510301"/>
            <a:ext cx="1835832" cy="2206951"/>
          </a:xfrm>
          <a:prstGeom prst="rect">
            <a:avLst/>
          </a:prstGeom>
        </p:spPr>
        <p:txBody>
          <a:bodyPr vert="horz" wrap="square" lIns="0" tIns="106680" rIns="0" bIns="0" rtlCol="0">
            <a:spAutoFit/>
          </a:bodyPr>
          <a:lstStyle/>
          <a:p>
            <a:pPr marL="12700" marR="84455" algn="l">
              <a:lnSpc>
                <a:spcPts val="4700"/>
              </a:lnSpc>
              <a:spcBef>
                <a:spcPts val="840"/>
              </a:spcBef>
            </a:pPr>
            <a:r>
              <a:rPr lang="en-US" spc="-100" dirty="0"/>
              <a:t>Facts</a:t>
            </a:r>
            <a:endParaRPr spc="-100" dirty="0"/>
          </a:p>
          <a:p>
            <a:pPr marL="12700" marR="5080" algn="l">
              <a:lnSpc>
                <a:spcPct val="112500"/>
              </a:lnSpc>
              <a:spcBef>
                <a:spcPts val="980"/>
              </a:spcBef>
            </a:pPr>
            <a:r>
              <a:rPr lang="en-US" sz="1600" spc="-100" dirty="0"/>
              <a:t>Breakdown of software development methodologies practiced in 2022.</a:t>
            </a:r>
            <a:endParaRPr sz="1600" spc="-100" dirty="0"/>
          </a:p>
        </p:txBody>
      </p:sp>
      <p:sp>
        <p:nvSpPr>
          <p:cNvPr id="9" name="Content Placeholder 4">
            <a:extLst>
              <a:ext uri="{FF2B5EF4-FFF2-40B4-BE49-F238E27FC236}">
                <a16:creationId xmlns:a16="http://schemas.microsoft.com/office/drawing/2014/main" id="{1567B44A-5BC7-A947-DF01-083933EC97DB}"/>
              </a:ext>
            </a:extLst>
          </p:cNvPr>
          <p:cNvSpPr txBox="1">
            <a:spLocks/>
          </p:cNvSpPr>
          <p:nvPr/>
        </p:nvSpPr>
        <p:spPr>
          <a:xfrm>
            <a:off x="2743200" y="609600"/>
            <a:ext cx="6020202" cy="1752600"/>
          </a:xfrm>
          <a:prstGeom prst="rect">
            <a:avLst/>
          </a:prstGeom>
        </p:spPr>
        <p:txBody>
          <a:bodyPr>
            <a:no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spcBef>
                <a:spcPts val="600"/>
              </a:spcBef>
              <a:buFont typeface="Arial" panose="020B0604020202020204" pitchFamily="34" charset="0"/>
              <a:buChar char="•"/>
            </a:pPr>
            <a:r>
              <a:rPr lang="en-US" sz="2000" kern="0" dirty="0">
                <a:solidFill>
                  <a:sysClr val="windowText" lastClr="000000"/>
                </a:solidFill>
                <a:latin typeface="Aptos Light" panose="020B0004020202020204" pitchFamily="34" charset="0"/>
                <a:ea typeface="Lato Light" pitchFamily="34" charset="0"/>
                <a:cs typeface="Lato Light" pitchFamily="34" charset="0"/>
              </a:rPr>
              <a:t>Do you want to choose the best method for your software development?</a:t>
            </a:r>
          </a:p>
          <a:p>
            <a:pPr marL="342900" indent="-342900">
              <a:spcBef>
                <a:spcPts val="600"/>
              </a:spcBef>
              <a:buFont typeface="Arial" panose="020B0604020202020204" pitchFamily="34" charset="0"/>
              <a:buChar char="•"/>
            </a:pPr>
            <a:r>
              <a:rPr lang="en-US" sz="2000" kern="0" dirty="0">
                <a:solidFill>
                  <a:sysClr val="windowText" lastClr="000000"/>
                </a:solidFill>
                <a:latin typeface="Aptos Light" panose="020B0004020202020204" pitchFamily="34" charset="0"/>
                <a:ea typeface="Lato Light" pitchFamily="34" charset="0"/>
                <a:cs typeface="Lato Light" pitchFamily="34" charset="0"/>
              </a:rPr>
              <a:t>According to a report by Statista, in 2022, 37% of respondents use Agile methodology, while 26% use Waterfall methodology.</a:t>
            </a:r>
          </a:p>
        </p:txBody>
      </p:sp>
      <p:pic>
        <p:nvPicPr>
          <p:cNvPr id="3" name="Picture 2" descr="Breakdown-of-software-development-methodologies-practiced-worldwide-in-2022">
            <a:extLst>
              <a:ext uri="{FF2B5EF4-FFF2-40B4-BE49-F238E27FC236}">
                <a16:creationId xmlns:a16="http://schemas.microsoft.com/office/drawing/2014/main" id="{3AA15B90-BDCD-8D89-5A6D-19C52889F42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304"/>
          <a:stretch/>
        </p:blipFill>
        <p:spPr bwMode="auto">
          <a:xfrm>
            <a:off x="3200400" y="2590800"/>
            <a:ext cx="5111372" cy="29851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3630B541-A78D-1F13-4CD9-5F5E3E6A525F}"/>
              </a:ext>
            </a:extLst>
          </p:cNvPr>
          <p:cNvSpPr>
            <a:spLocks noGrp="1"/>
          </p:cNvSpPr>
          <p:nvPr>
            <p:ph type="ftr" sz="quarter" idx="5"/>
          </p:nvPr>
        </p:nvSpPr>
        <p:spPr>
          <a:xfrm>
            <a:off x="6634705" y="5571421"/>
            <a:ext cx="1627504" cy="153888"/>
          </a:xfrm>
        </p:spPr>
        <p:txBody>
          <a:bodyPr/>
          <a:lstStyle/>
          <a:p>
            <a:pPr marL="12700" algn="r">
              <a:lnSpc>
                <a:spcPct val="100000"/>
              </a:lnSpc>
              <a:spcBef>
                <a:spcPts val="25"/>
              </a:spcBef>
            </a:pPr>
            <a:r>
              <a:rPr lang="en-MY" spc="-25" dirty="0"/>
              <a:t>Agile Methodology</a:t>
            </a:r>
            <a:endParaRPr lang="en-MY" dirty="0"/>
          </a:p>
        </p:txBody>
      </p:sp>
      <p:sp>
        <p:nvSpPr>
          <p:cNvPr id="5" name="Slide Number Placeholder 4">
            <a:extLst>
              <a:ext uri="{FF2B5EF4-FFF2-40B4-BE49-F238E27FC236}">
                <a16:creationId xmlns:a16="http://schemas.microsoft.com/office/drawing/2014/main" id="{D8C30E7E-0D3D-C350-DC03-452D921328CE}"/>
              </a:ext>
            </a:extLst>
          </p:cNvPr>
          <p:cNvSpPr>
            <a:spLocks noGrp="1"/>
          </p:cNvSpPr>
          <p:nvPr>
            <p:ph type="sldNum" sz="quarter" idx="7"/>
          </p:nvPr>
        </p:nvSpPr>
        <p:spPr/>
        <p:txBody>
          <a:bodyPr/>
          <a:lstStyle/>
          <a:p>
            <a:pPr marL="38100">
              <a:lnSpc>
                <a:spcPct val="100000"/>
              </a:lnSpc>
              <a:spcBef>
                <a:spcPts val="190"/>
              </a:spcBef>
            </a:pPr>
            <a:fld id="{81D60167-4931-47E6-BA6A-407CBD079E47}" type="slidenum">
              <a:rPr lang="en-MY" spc="35" smtClean="0"/>
              <a:t>4</a:t>
            </a:fld>
            <a:endParaRPr lang="en-MY" spc="35" dirty="0"/>
          </a:p>
        </p:txBody>
      </p:sp>
    </p:spTree>
    <p:extLst>
      <p:ext uri="{BB962C8B-B14F-4D97-AF65-F5344CB8AC3E}">
        <p14:creationId xmlns:p14="http://schemas.microsoft.com/office/powerpoint/2010/main" val="947862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3657600" cy="5943600"/>
          </a:xfrm>
          <a:custGeom>
            <a:avLst/>
            <a:gdLst/>
            <a:ahLst/>
            <a:cxnLst/>
            <a:rect l="l" t="t" r="r" b="b"/>
            <a:pathLst>
              <a:path w="3657600" h="5943600">
                <a:moveTo>
                  <a:pt x="3657600" y="0"/>
                </a:moveTo>
                <a:lnTo>
                  <a:pt x="0" y="0"/>
                </a:lnTo>
                <a:lnTo>
                  <a:pt x="0" y="5943600"/>
                </a:lnTo>
                <a:lnTo>
                  <a:pt x="3657600" y="5943600"/>
                </a:lnTo>
                <a:lnTo>
                  <a:pt x="3657600" y="0"/>
                </a:lnTo>
                <a:close/>
              </a:path>
            </a:pathLst>
          </a:custGeom>
          <a:solidFill>
            <a:srgbClr val="002F59"/>
          </a:solidFill>
        </p:spPr>
        <p:txBody>
          <a:bodyPr wrap="square" lIns="0" tIns="0" rIns="0" bIns="0" rtlCol="0"/>
          <a:lstStyle/>
          <a:p>
            <a:endParaRPr/>
          </a:p>
        </p:txBody>
      </p:sp>
      <p:sp>
        <p:nvSpPr>
          <p:cNvPr id="3" name="object 3"/>
          <p:cNvSpPr txBox="1"/>
          <p:nvPr/>
        </p:nvSpPr>
        <p:spPr>
          <a:xfrm>
            <a:off x="4140200" y="3944620"/>
            <a:ext cx="4437380" cy="1573892"/>
          </a:xfrm>
          <a:prstGeom prst="rect">
            <a:avLst/>
          </a:prstGeom>
        </p:spPr>
        <p:txBody>
          <a:bodyPr vert="horz" wrap="square" lIns="0" tIns="12700" rIns="0" bIns="0" rtlCol="0">
            <a:spAutoFit/>
          </a:bodyPr>
          <a:lstStyle/>
          <a:p>
            <a:pPr marL="12700" marR="5080">
              <a:lnSpc>
                <a:spcPct val="121800"/>
              </a:lnSpc>
              <a:spcBef>
                <a:spcPts val="100"/>
              </a:spcBef>
            </a:pPr>
            <a:r>
              <a:rPr sz="1400" spc="-25" dirty="0">
                <a:solidFill>
                  <a:srgbClr val="333333"/>
                </a:solidFill>
                <a:latin typeface="Aptos Light" panose="020B0004020202020204" pitchFamily="34" charset="0"/>
                <a:cs typeface="Roboto Lt"/>
              </a:rPr>
              <a:t>Agile</a:t>
            </a:r>
            <a:r>
              <a:rPr sz="1400" spc="-30" dirty="0">
                <a:solidFill>
                  <a:srgbClr val="333333"/>
                </a:solidFill>
                <a:latin typeface="Aptos Light" panose="020B0004020202020204" pitchFamily="34" charset="0"/>
                <a:cs typeface="Roboto Lt"/>
              </a:rPr>
              <a:t> refers</a:t>
            </a:r>
            <a:r>
              <a:rPr sz="1400" spc="-25" dirty="0">
                <a:solidFill>
                  <a:srgbClr val="333333"/>
                </a:solidFill>
                <a:latin typeface="Aptos Light" panose="020B0004020202020204" pitchFamily="34" charset="0"/>
                <a:cs typeface="Roboto Lt"/>
              </a:rPr>
              <a:t> </a:t>
            </a:r>
            <a:r>
              <a:rPr sz="1400" spc="-30" dirty="0">
                <a:solidFill>
                  <a:srgbClr val="333333"/>
                </a:solidFill>
                <a:latin typeface="Aptos Light" panose="020B0004020202020204" pitchFamily="34" charset="0"/>
                <a:cs typeface="Roboto Lt"/>
              </a:rPr>
              <a:t>to </a:t>
            </a:r>
            <a:r>
              <a:rPr sz="1400" spc="-40" dirty="0">
                <a:solidFill>
                  <a:srgbClr val="333333"/>
                </a:solidFill>
                <a:latin typeface="Aptos Light" panose="020B0004020202020204" pitchFamily="34" charset="0"/>
                <a:cs typeface="Roboto Lt"/>
              </a:rPr>
              <a:t>any</a:t>
            </a:r>
            <a:r>
              <a:rPr sz="1400" spc="-25" dirty="0">
                <a:solidFill>
                  <a:srgbClr val="333333"/>
                </a:solidFill>
                <a:latin typeface="Aptos Light" panose="020B0004020202020204" pitchFamily="34" charset="0"/>
                <a:cs typeface="Roboto Lt"/>
              </a:rPr>
              <a:t> process</a:t>
            </a:r>
            <a:r>
              <a:rPr sz="1400" spc="-30" dirty="0">
                <a:solidFill>
                  <a:srgbClr val="333333"/>
                </a:solidFill>
                <a:latin typeface="Aptos Light" panose="020B0004020202020204" pitchFamily="34" charset="0"/>
                <a:cs typeface="Roboto Lt"/>
              </a:rPr>
              <a:t> that</a:t>
            </a:r>
            <a:r>
              <a:rPr sz="1400" spc="-25" dirty="0">
                <a:solidFill>
                  <a:srgbClr val="333333"/>
                </a:solidFill>
                <a:latin typeface="Aptos Light" panose="020B0004020202020204" pitchFamily="34" charset="0"/>
                <a:cs typeface="Roboto Lt"/>
              </a:rPr>
              <a:t> </a:t>
            </a:r>
            <a:r>
              <a:rPr sz="1400" spc="-35" dirty="0">
                <a:solidFill>
                  <a:srgbClr val="333333"/>
                </a:solidFill>
                <a:latin typeface="Aptos Light" panose="020B0004020202020204" pitchFamily="34" charset="0"/>
                <a:cs typeface="Roboto Lt"/>
              </a:rPr>
              <a:t>aligns</a:t>
            </a:r>
            <a:r>
              <a:rPr sz="1400" spc="-30" dirty="0">
                <a:solidFill>
                  <a:srgbClr val="333333"/>
                </a:solidFill>
                <a:latin typeface="Aptos Light" panose="020B0004020202020204" pitchFamily="34" charset="0"/>
                <a:cs typeface="Roboto Lt"/>
              </a:rPr>
              <a:t> with</a:t>
            </a:r>
            <a:r>
              <a:rPr sz="1400" spc="-25" dirty="0">
                <a:solidFill>
                  <a:srgbClr val="333333"/>
                </a:solidFill>
                <a:latin typeface="Aptos Light" panose="020B0004020202020204" pitchFamily="34" charset="0"/>
                <a:cs typeface="Roboto Lt"/>
              </a:rPr>
              <a:t> the concepts</a:t>
            </a:r>
            <a:r>
              <a:rPr sz="1400" spc="-30" dirty="0">
                <a:solidFill>
                  <a:srgbClr val="333333"/>
                </a:solidFill>
                <a:latin typeface="Aptos Light" panose="020B0004020202020204" pitchFamily="34" charset="0"/>
                <a:cs typeface="Roboto Lt"/>
              </a:rPr>
              <a:t> </a:t>
            </a:r>
            <a:r>
              <a:rPr sz="1400" spc="-15" dirty="0">
                <a:solidFill>
                  <a:srgbClr val="333333"/>
                </a:solidFill>
                <a:latin typeface="Aptos Light" panose="020B0004020202020204" pitchFamily="34" charset="0"/>
                <a:cs typeface="Roboto Lt"/>
              </a:rPr>
              <a:t>of</a:t>
            </a:r>
            <a:r>
              <a:rPr sz="1400" spc="-25" dirty="0">
                <a:solidFill>
                  <a:srgbClr val="333333"/>
                </a:solidFill>
                <a:latin typeface="Aptos Light" panose="020B0004020202020204" pitchFamily="34" charset="0"/>
                <a:cs typeface="Roboto Lt"/>
              </a:rPr>
              <a:t> the </a:t>
            </a:r>
            <a:r>
              <a:rPr sz="1400" spc="-20" dirty="0">
                <a:solidFill>
                  <a:srgbClr val="333333"/>
                </a:solidFill>
                <a:latin typeface="Aptos Light" panose="020B0004020202020204" pitchFamily="34" charset="0"/>
                <a:cs typeface="Roboto Lt"/>
              </a:rPr>
              <a:t> </a:t>
            </a:r>
            <a:r>
              <a:rPr sz="1400" spc="-25" dirty="0">
                <a:solidFill>
                  <a:srgbClr val="333333"/>
                </a:solidFill>
                <a:latin typeface="Aptos Light" panose="020B0004020202020204" pitchFamily="34" charset="0"/>
                <a:cs typeface="Roboto Lt"/>
              </a:rPr>
              <a:t>Agile</a:t>
            </a:r>
            <a:r>
              <a:rPr sz="1400" spc="-30" dirty="0">
                <a:solidFill>
                  <a:srgbClr val="333333"/>
                </a:solidFill>
                <a:latin typeface="Aptos Light" panose="020B0004020202020204" pitchFamily="34" charset="0"/>
                <a:cs typeface="Roboto Lt"/>
              </a:rPr>
              <a:t> </a:t>
            </a:r>
            <a:r>
              <a:rPr sz="1400" spc="-35" dirty="0">
                <a:solidFill>
                  <a:srgbClr val="333333"/>
                </a:solidFill>
                <a:latin typeface="Aptos Light" panose="020B0004020202020204" pitchFamily="34" charset="0"/>
                <a:cs typeface="Roboto Lt"/>
              </a:rPr>
              <a:t>Manifesto.</a:t>
            </a:r>
            <a:r>
              <a:rPr sz="1400" spc="-30" dirty="0">
                <a:solidFill>
                  <a:srgbClr val="333333"/>
                </a:solidFill>
                <a:latin typeface="Aptos Light" panose="020B0004020202020204" pitchFamily="34" charset="0"/>
                <a:cs typeface="Roboto Lt"/>
              </a:rPr>
              <a:t> In </a:t>
            </a:r>
            <a:r>
              <a:rPr sz="1400" spc="-35" dirty="0">
                <a:solidFill>
                  <a:srgbClr val="333333"/>
                </a:solidFill>
                <a:latin typeface="Aptos Light" panose="020B0004020202020204" pitchFamily="34" charset="0"/>
                <a:cs typeface="Roboto Lt"/>
              </a:rPr>
              <a:t>2001,</a:t>
            </a:r>
            <a:r>
              <a:rPr sz="1400" spc="-25" dirty="0">
                <a:solidFill>
                  <a:srgbClr val="333333"/>
                </a:solidFill>
                <a:latin typeface="Aptos Light" panose="020B0004020202020204" pitchFamily="34" charset="0"/>
                <a:cs typeface="Roboto Lt"/>
              </a:rPr>
              <a:t> </a:t>
            </a:r>
            <a:r>
              <a:rPr sz="1400" spc="-50" dirty="0">
                <a:solidFill>
                  <a:srgbClr val="333333"/>
                </a:solidFill>
                <a:latin typeface="Aptos Light" panose="020B0004020202020204" pitchFamily="34" charset="0"/>
                <a:cs typeface="Roboto Lt"/>
              </a:rPr>
              <a:t>17</a:t>
            </a:r>
            <a:r>
              <a:rPr sz="1400" spc="-30" dirty="0">
                <a:solidFill>
                  <a:srgbClr val="333333"/>
                </a:solidFill>
                <a:latin typeface="Aptos Light" panose="020B0004020202020204" pitchFamily="34" charset="0"/>
                <a:cs typeface="Roboto Lt"/>
              </a:rPr>
              <a:t> </a:t>
            </a:r>
            <a:r>
              <a:rPr sz="1400" spc="-25" dirty="0">
                <a:solidFill>
                  <a:srgbClr val="333333"/>
                </a:solidFill>
                <a:latin typeface="Aptos Light" panose="020B0004020202020204" pitchFamily="34" charset="0"/>
                <a:cs typeface="Roboto Lt"/>
              </a:rPr>
              <a:t>software</a:t>
            </a:r>
            <a:r>
              <a:rPr sz="1400" spc="-30" dirty="0">
                <a:solidFill>
                  <a:srgbClr val="333333"/>
                </a:solidFill>
                <a:latin typeface="Aptos Light" panose="020B0004020202020204" pitchFamily="34" charset="0"/>
                <a:cs typeface="Roboto Lt"/>
              </a:rPr>
              <a:t> </a:t>
            </a:r>
            <a:r>
              <a:rPr sz="1400" spc="-25" dirty="0">
                <a:solidFill>
                  <a:srgbClr val="333333"/>
                </a:solidFill>
                <a:latin typeface="Aptos Light" panose="020B0004020202020204" pitchFamily="34" charset="0"/>
                <a:cs typeface="Roboto Lt"/>
              </a:rPr>
              <a:t>developers </a:t>
            </a:r>
            <a:r>
              <a:rPr sz="1400" spc="-15" dirty="0">
                <a:solidFill>
                  <a:srgbClr val="333333"/>
                </a:solidFill>
                <a:latin typeface="Aptos Light" panose="020B0004020202020204" pitchFamily="34" charset="0"/>
                <a:cs typeface="Roboto Lt"/>
              </a:rPr>
              <a:t>met</a:t>
            </a:r>
            <a:r>
              <a:rPr sz="1400" spc="-30" dirty="0">
                <a:solidFill>
                  <a:srgbClr val="333333"/>
                </a:solidFill>
                <a:latin typeface="Aptos Light" panose="020B0004020202020204" pitchFamily="34" charset="0"/>
                <a:cs typeface="Roboto Lt"/>
              </a:rPr>
              <a:t> to discuss </a:t>
            </a:r>
            <a:r>
              <a:rPr sz="1400" spc="-300" dirty="0">
                <a:solidFill>
                  <a:srgbClr val="333333"/>
                </a:solidFill>
                <a:latin typeface="Aptos Light" panose="020B0004020202020204" pitchFamily="34" charset="0"/>
                <a:cs typeface="Roboto Lt"/>
              </a:rPr>
              <a:t> </a:t>
            </a:r>
            <a:r>
              <a:rPr sz="1400" spc="-30" dirty="0">
                <a:solidFill>
                  <a:srgbClr val="333333"/>
                </a:solidFill>
                <a:latin typeface="Aptos Light" panose="020B0004020202020204" pitchFamily="34" charset="0"/>
                <a:cs typeface="Roboto Lt"/>
              </a:rPr>
              <a:t>lightweight development </a:t>
            </a:r>
            <a:r>
              <a:rPr sz="1400" spc="-25" dirty="0">
                <a:solidFill>
                  <a:srgbClr val="333333"/>
                </a:solidFill>
                <a:latin typeface="Aptos Light" panose="020B0004020202020204" pitchFamily="34" charset="0"/>
                <a:cs typeface="Roboto Lt"/>
              </a:rPr>
              <a:t>methods. They </a:t>
            </a:r>
            <a:r>
              <a:rPr sz="1400" spc="-30" dirty="0">
                <a:solidFill>
                  <a:srgbClr val="333333"/>
                </a:solidFill>
                <a:latin typeface="Aptos Light" panose="020B0004020202020204" pitchFamily="34" charset="0"/>
                <a:cs typeface="Roboto Lt"/>
              </a:rPr>
              <a:t>published </a:t>
            </a:r>
            <a:r>
              <a:rPr sz="1400" spc="-25" dirty="0">
                <a:solidFill>
                  <a:srgbClr val="333333"/>
                </a:solidFill>
                <a:latin typeface="Aptos Light" panose="020B0004020202020204" pitchFamily="34" charset="0"/>
                <a:cs typeface="Roboto Lt"/>
              </a:rPr>
              <a:t>the</a:t>
            </a:r>
            <a:r>
              <a:rPr lang="en-US" sz="1400" spc="-25" dirty="0">
                <a:solidFill>
                  <a:srgbClr val="333333"/>
                </a:solidFill>
                <a:latin typeface="Aptos Light" panose="020B0004020202020204" pitchFamily="34" charset="0"/>
                <a:cs typeface="Roboto Lt"/>
              </a:rPr>
              <a:t> </a:t>
            </a:r>
            <a:r>
              <a:rPr lang="en-US" sz="1400" b="1" spc="-25" dirty="0">
                <a:solidFill>
                  <a:srgbClr val="333333"/>
                </a:solidFill>
                <a:latin typeface="Aptos Light" panose="020B0004020202020204" pitchFamily="34" charset="0"/>
                <a:cs typeface="Roboto Lt"/>
              </a:rPr>
              <a:t>Manifesto for Agile Software Development</a:t>
            </a:r>
            <a:r>
              <a:rPr sz="1400" spc="-15" dirty="0">
                <a:solidFill>
                  <a:srgbClr val="333333"/>
                </a:solidFill>
                <a:latin typeface="Aptos Light" panose="020B0004020202020204" pitchFamily="34" charset="0"/>
                <a:cs typeface="Roboto Lt"/>
              </a:rPr>
              <a:t>, </a:t>
            </a:r>
            <a:r>
              <a:rPr sz="1400" spc="-30" dirty="0">
                <a:solidFill>
                  <a:srgbClr val="333333"/>
                </a:solidFill>
                <a:latin typeface="Aptos Light" panose="020B0004020202020204" pitchFamily="34" charset="0"/>
                <a:cs typeface="Roboto Lt"/>
              </a:rPr>
              <a:t>which covered </a:t>
            </a:r>
            <a:r>
              <a:rPr sz="1400" spc="-25" dirty="0">
                <a:solidFill>
                  <a:srgbClr val="333333"/>
                </a:solidFill>
                <a:latin typeface="Aptos Light" panose="020B0004020202020204" pitchFamily="34" charset="0"/>
                <a:cs typeface="Roboto Lt"/>
              </a:rPr>
              <a:t> </a:t>
            </a:r>
            <a:r>
              <a:rPr sz="1400" spc="-30" dirty="0">
                <a:solidFill>
                  <a:srgbClr val="333333"/>
                </a:solidFill>
                <a:latin typeface="Aptos Light" panose="020B0004020202020204" pitchFamily="34" charset="0"/>
                <a:cs typeface="Roboto Lt"/>
              </a:rPr>
              <a:t>how they found </a:t>
            </a:r>
            <a:r>
              <a:rPr sz="1400" spc="-25" dirty="0">
                <a:solidFill>
                  <a:srgbClr val="333333"/>
                </a:solidFill>
                <a:latin typeface="Aptos Light" panose="020B0004020202020204" pitchFamily="34" charset="0"/>
                <a:cs typeface="Roboto Lt"/>
              </a:rPr>
              <a:t>“better </a:t>
            </a:r>
            <a:r>
              <a:rPr sz="1400" spc="-40" dirty="0">
                <a:solidFill>
                  <a:srgbClr val="333333"/>
                </a:solidFill>
                <a:latin typeface="Aptos Light" panose="020B0004020202020204" pitchFamily="34" charset="0"/>
                <a:cs typeface="Roboto Lt"/>
              </a:rPr>
              <a:t>ways </a:t>
            </a:r>
            <a:r>
              <a:rPr sz="1400" spc="-15" dirty="0">
                <a:solidFill>
                  <a:srgbClr val="333333"/>
                </a:solidFill>
                <a:latin typeface="Aptos Light" panose="020B0004020202020204" pitchFamily="34" charset="0"/>
                <a:cs typeface="Roboto Lt"/>
              </a:rPr>
              <a:t>of </a:t>
            </a:r>
            <a:r>
              <a:rPr sz="1400" spc="-30" dirty="0">
                <a:solidFill>
                  <a:srgbClr val="333333"/>
                </a:solidFill>
                <a:latin typeface="Aptos Light" panose="020B0004020202020204" pitchFamily="34" charset="0"/>
                <a:cs typeface="Roboto Lt"/>
              </a:rPr>
              <a:t>developing </a:t>
            </a:r>
            <a:r>
              <a:rPr sz="1400" spc="-25" dirty="0">
                <a:solidFill>
                  <a:srgbClr val="333333"/>
                </a:solidFill>
                <a:latin typeface="Aptos Light" panose="020B0004020202020204" pitchFamily="34" charset="0"/>
                <a:cs typeface="Roboto Lt"/>
              </a:rPr>
              <a:t>software </a:t>
            </a:r>
            <a:r>
              <a:rPr sz="1400" spc="-35" dirty="0">
                <a:solidFill>
                  <a:srgbClr val="333333"/>
                </a:solidFill>
                <a:latin typeface="Aptos Light" panose="020B0004020202020204" pitchFamily="34" charset="0"/>
                <a:cs typeface="Roboto Lt"/>
              </a:rPr>
              <a:t>by </a:t>
            </a:r>
            <a:r>
              <a:rPr sz="1400" spc="-25" dirty="0">
                <a:solidFill>
                  <a:srgbClr val="333333"/>
                </a:solidFill>
                <a:latin typeface="Aptos Light" panose="020B0004020202020204" pitchFamily="34" charset="0"/>
                <a:cs typeface="Roboto Lt"/>
              </a:rPr>
              <a:t>doing </a:t>
            </a:r>
            <a:r>
              <a:rPr sz="1400" spc="-15" dirty="0">
                <a:solidFill>
                  <a:srgbClr val="333333"/>
                </a:solidFill>
                <a:latin typeface="Aptos Light" panose="020B0004020202020204" pitchFamily="34" charset="0"/>
                <a:cs typeface="Roboto Lt"/>
              </a:rPr>
              <a:t>it </a:t>
            </a:r>
            <a:r>
              <a:rPr sz="1400" spc="-10" dirty="0">
                <a:solidFill>
                  <a:srgbClr val="333333"/>
                </a:solidFill>
                <a:latin typeface="Aptos Light" panose="020B0004020202020204" pitchFamily="34" charset="0"/>
                <a:cs typeface="Roboto Lt"/>
              </a:rPr>
              <a:t> </a:t>
            </a:r>
            <a:r>
              <a:rPr sz="1400" spc="-25" dirty="0">
                <a:solidFill>
                  <a:srgbClr val="333333"/>
                </a:solidFill>
                <a:latin typeface="Aptos Light" panose="020B0004020202020204" pitchFamily="34" charset="0"/>
                <a:cs typeface="Roboto Lt"/>
              </a:rPr>
              <a:t>and</a:t>
            </a:r>
            <a:r>
              <a:rPr sz="1400" spc="-35" dirty="0">
                <a:solidFill>
                  <a:srgbClr val="333333"/>
                </a:solidFill>
                <a:latin typeface="Aptos Light" panose="020B0004020202020204" pitchFamily="34" charset="0"/>
                <a:cs typeface="Roboto Lt"/>
              </a:rPr>
              <a:t> </a:t>
            </a:r>
            <a:r>
              <a:rPr sz="1400" spc="-30" dirty="0">
                <a:solidFill>
                  <a:srgbClr val="333333"/>
                </a:solidFill>
                <a:latin typeface="Aptos Light" panose="020B0004020202020204" pitchFamily="34" charset="0"/>
                <a:cs typeface="Roboto Lt"/>
              </a:rPr>
              <a:t>helping others </a:t>
            </a:r>
            <a:r>
              <a:rPr sz="1400" spc="-10" dirty="0">
                <a:solidFill>
                  <a:srgbClr val="333333"/>
                </a:solidFill>
                <a:latin typeface="Aptos Light" panose="020B0004020202020204" pitchFamily="34" charset="0"/>
                <a:cs typeface="Roboto Lt"/>
              </a:rPr>
              <a:t>do</a:t>
            </a:r>
            <a:r>
              <a:rPr sz="1400" spc="-30" dirty="0">
                <a:solidFill>
                  <a:srgbClr val="333333"/>
                </a:solidFill>
                <a:latin typeface="Aptos Light" panose="020B0004020202020204" pitchFamily="34" charset="0"/>
                <a:cs typeface="Roboto Lt"/>
              </a:rPr>
              <a:t> </a:t>
            </a:r>
            <a:r>
              <a:rPr sz="1400" spc="-50" dirty="0">
                <a:solidFill>
                  <a:srgbClr val="333333"/>
                </a:solidFill>
                <a:latin typeface="Aptos Light" panose="020B0004020202020204" pitchFamily="34" charset="0"/>
                <a:cs typeface="Roboto Lt"/>
              </a:rPr>
              <a:t>it.”</a:t>
            </a:r>
            <a:endParaRPr sz="1400" dirty="0">
              <a:latin typeface="Aptos Light" panose="020B0004020202020204" pitchFamily="34" charset="0"/>
              <a:cs typeface="Roboto Lt"/>
            </a:endParaRPr>
          </a:p>
        </p:txBody>
      </p:sp>
      <p:sp>
        <p:nvSpPr>
          <p:cNvPr id="4" name="object 4"/>
          <p:cNvSpPr txBox="1">
            <a:spLocks noGrp="1"/>
          </p:cNvSpPr>
          <p:nvPr>
            <p:ph type="title"/>
          </p:nvPr>
        </p:nvSpPr>
        <p:spPr>
          <a:xfrm>
            <a:off x="526368" y="510301"/>
            <a:ext cx="2640330" cy="1308100"/>
          </a:xfrm>
          <a:prstGeom prst="rect">
            <a:avLst/>
          </a:prstGeom>
        </p:spPr>
        <p:txBody>
          <a:bodyPr vert="horz" wrap="square" lIns="0" tIns="106680" rIns="0" bIns="0" rtlCol="0">
            <a:spAutoFit/>
          </a:bodyPr>
          <a:lstStyle/>
          <a:p>
            <a:pPr marL="12700" marR="5080">
              <a:lnSpc>
                <a:spcPts val="4700"/>
              </a:lnSpc>
              <a:spcBef>
                <a:spcPts val="840"/>
              </a:spcBef>
            </a:pPr>
            <a:r>
              <a:rPr spc="-110" dirty="0"/>
              <a:t>Agile </a:t>
            </a:r>
            <a:r>
              <a:rPr spc="-105" dirty="0"/>
              <a:t> </a:t>
            </a:r>
            <a:r>
              <a:rPr spc="-160" dirty="0"/>
              <a:t>O</a:t>
            </a:r>
            <a:r>
              <a:rPr spc="-90" dirty="0"/>
              <a:t>v</a:t>
            </a:r>
            <a:r>
              <a:rPr spc="25" dirty="0"/>
              <a:t>e</a:t>
            </a:r>
            <a:r>
              <a:rPr spc="260" dirty="0"/>
              <a:t>r</a:t>
            </a:r>
            <a:r>
              <a:rPr spc="10" dirty="0"/>
              <a:t>v</a:t>
            </a:r>
            <a:r>
              <a:rPr spc="-65" dirty="0"/>
              <a:t>i</a:t>
            </a:r>
            <a:r>
              <a:rPr spc="-30" dirty="0"/>
              <a:t>e</a:t>
            </a:r>
            <a:r>
              <a:rPr spc="595" dirty="0"/>
              <a:t>w</a:t>
            </a:r>
          </a:p>
        </p:txBody>
      </p:sp>
      <p:sp>
        <p:nvSpPr>
          <p:cNvPr id="5" name="object 5"/>
          <p:cNvSpPr txBox="1"/>
          <p:nvPr/>
        </p:nvSpPr>
        <p:spPr>
          <a:xfrm>
            <a:off x="526368" y="1953021"/>
            <a:ext cx="2776220" cy="3005695"/>
          </a:xfrm>
          <a:prstGeom prst="rect">
            <a:avLst/>
          </a:prstGeom>
        </p:spPr>
        <p:txBody>
          <a:bodyPr vert="horz" wrap="square" lIns="0" tIns="7620" rIns="0" bIns="0" rtlCol="0">
            <a:spAutoFit/>
          </a:bodyPr>
          <a:lstStyle/>
          <a:p>
            <a:pPr marL="12700" marR="5080">
              <a:lnSpc>
                <a:spcPct val="102099"/>
              </a:lnSpc>
              <a:spcBef>
                <a:spcPts val="60"/>
              </a:spcBef>
            </a:pPr>
            <a:r>
              <a:rPr sz="1600" b="1" spc="-40" dirty="0">
                <a:solidFill>
                  <a:srgbClr val="FFFFFF"/>
                </a:solidFill>
                <a:latin typeface="Arial"/>
                <a:cs typeface="Arial"/>
              </a:rPr>
              <a:t>A</a:t>
            </a:r>
            <a:r>
              <a:rPr sz="1600" b="1" spc="-90" dirty="0">
                <a:solidFill>
                  <a:srgbClr val="FFFFFF"/>
                </a:solidFill>
                <a:latin typeface="Arial"/>
                <a:cs typeface="Arial"/>
              </a:rPr>
              <a:t>g</a:t>
            </a:r>
            <a:r>
              <a:rPr sz="1600" b="1" spc="-5" dirty="0">
                <a:solidFill>
                  <a:srgbClr val="FFFFFF"/>
                </a:solidFill>
                <a:latin typeface="Arial"/>
                <a:cs typeface="Arial"/>
              </a:rPr>
              <a:t>i</a:t>
            </a:r>
            <a:r>
              <a:rPr sz="1600" b="1" spc="-30" dirty="0">
                <a:solidFill>
                  <a:srgbClr val="FFFFFF"/>
                </a:solidFill>
                <a:latin typeface="Arial"/>
                <a:cs typeface="Arial"/>
              </a:rPr>
              <a:t>l</a:t>
            </a:r>
            <a:r>
              <a:rPr sz="1600" b="1" spc="110" dirty="0">
                <a:solidFill>
                  <a:srgbClr val="FFFFFF"/>
                </a:solidFill>
                <a:latin typeface="Arial"/>
                <a:cs typeface="Arial"/>
              </a:rPr>
              <a:t>e</a:t>
            </a:r>
            <a:r>
              <a:rPr sz="1600" b="1" spc="-190" dirty="0">
                <a:solidFill>
                  <a:srgbClr val="FFFFFF"/>
                </a:solidFill>
                <a:latin typeface="Arial"/>
                <a:cs typeface="Arial"/>
              </a:rPr>
              <a:t> </a:t>
            </a:r>
            <a:r>
              <a:rPr sz="1600" b="1" spc="-25" dirty="0">
                <a:solidFill>
                  <a:srgbClr val="FFFFFF"/>
                </a:solidFill>
                <a:latin typeface="Arial"/>
                <a:cs typeface="Arial"/>
              </a:rPr>
              <a:t>p</a:t>
            </a:r>
            <a:r>
              <a:rPr sz="1600" b="1" spc="45" dirty="0">
                <a:solidFill>
                  <a:srgbClr val="FFFFFF"/>
                </a:solidFill>
                <a:latin typeface="Arial"/>
                <a:cs typeface="Arial"/>
              </a:rPr>
              <a:t>r</a:t>
            </a:r>
            <a:r>
              <a:rPr sz="1600" b="1" spc="-50" dirty="0">
                <a:solidFill>
                  <a:srgbClr val="FFFFFF"/>
                </a:solidFill>
                <a:latin typeface="Arial"/>
                <a:cs typeface="Arial"/>
              </a:rPr>
              <a:t>o</a:t>
            </a:r>
            <a:r>
              <a:rPr sz="1600" b="1" spc="-15" dirty="0">
                <a:solidFill>
                  <a:srgbClr val="FFFFFF"/>
                </a:solidFill>
                <a:latin typeface="Arial"/>
                <a:cs typeface="Arial"/>
              </a:rPr>
              <a:t>j</a:t>
            </a:r>
            <a:r>
              <a:rPr sz="1600" b="1" spc="15" dirty="0">
                <a:solidFill>
                  <a:srgbClr val="FFFFFF"/>
                </a:solidFill>
                <a:latin typeface="Arial"/>
                <a:cs typeface="Arial"/>
              </a:rPr>
              <a:t>e</a:t>
            </a:r>
            <a:r>
              <a:rPr sz="1600" b="1" spc="-95" dirty="0">
                <a:solidFill>
                  <a:srgbClr val="FFFFFF"/>
                </a:solidFill>
                <a:latin typeface="Arial"/>
                <a:cs typeface="Arial"/>
              </a:rPr>
              <a:t>c</a:t>
            </a:r>
            <a:r>
              <a:rPr sz="1600" b="1" spc="200" dirty="0">
                <a:solidFill>
                  <a:srgbClr val="FFFFFF"/>
                </a:solidFill>
                <a:latin typeface="Arial"/>
                <a:cs typeface="Arial"/>
              </a:rPr>
              <a:t>t</a:t>
            </a:r>
            <a:r>
              <a:rPr sz="1600" b="1" spc="-190" dirty="0">
                <a:solidFill>
                  <a:srgbClr val="FFFFFF"/>
                </a:solidFill>
                <a:latin typeface="Arial"/>
                <a:cs typeface="Arial"/>
              </a:rPr>
              <a:t> </a:t>
            </a:r>
            <a:r>
              <a:rPr sz="1600" b="1" spc="90" dirty="0">
                <a:solidFill>
                  <a:srgbClr val="FFFFFF"/>
                </a:solidFill>
                <a:latin typeface="Arial"/>
                <a:cs typeface="Arial"/>
              </a:rPr>
              <a:t>m</a:t>
            </a:r>
            <a:r>
              <a:rPr sz="1600" b="1" spc="25" dirty="0">
                <a:solidFill>
                  <a:srgbClr val="FFFFFF"/>
                </a:solidFill>
                <a:latin typeface="Arial"/>
                <a:cs typeface="Arial"/>
              </a:rPr>
              <a:t>a</a:t>
            </a:r>
            <a:r>
              <a:rPr sz="1600" b="1" dirty="0">
                <a:solidFill>
                  <a:srgbClr val="FFFFFF"/>
                </a:solidFill>
                <a:latin typeface="Arial"/>
                <a:cs typeface="Arial"/>
              </a:rPr>
              <a:t>n</a:t>
            </a:r>
            <a:r>
              <a:rPr sz="1600" b="1" spc="15" dirty="0">
                <a:solidFill>
                  <a:srgbClr val="FFFFFF"/>
                </a:solidFill>
                <a:latin typeface="Arial"/>
                <a:cs typeface="Arial"/>
              </a:rPr>
              <a:t>a</a:t>
            </a:r>
            <a:r>
              <a:rPr sz="1600" b="1" spc="-105" dirty="0">
                <a:solidFill>
                  <a:srgbClr val="FFFFFF"/>
                </a:solidFill>
                <a:latin typeface="Arial"/>
                <a:cs typeface="Arial"/>
              </a:rPr>
              <a:t>g</a:t>
            </a:r>
            <a:r>
              <a:rPr sz="1600" b="1" spc="20" dirty="0">
                <a:solidFill>
                  <a:srgbClr val="FFFFFF"/>
                </a:solidFill>
                <a:latin typeface="Arial"/>
                <a:cs typeface="Arial"/>
              </a:rPr>
              <a:t>e</a:t>
            </a:r>
            <a:r>
              <a:rPr sz="1600" b="1" spc="90" dirty="0">
                <a:solidFill>
                  <a:srgbClr val="FFFFFF"/>
                </a:solidFill>
                <a:latin typeface="Arial"/>
                <a:cs typeface="Arial"/>
              </a:rPr>
              <a:t>m</a:t>
            </a:r>
            <a:r>
              <a:rPr sz="1600" b="1" spc="20" dirty="0">
                <a:solidFill>
                  <a:srgbClr val="FFFFFF"/>
                </a:solidFill>
                <a:latin typeface="Arial"/>
                <a:cs typeface="Arial"/>
              </a:rPr>
              <a:t>e</a:t>
            </a:r>
            <a:r>
              <a:rPr sz="1600" b="1" dirty="0">
                <a:solidFill>
                  <a:srgbClr val="FFFFFF"/>
                </a:solidFill>
                <a:latin typeface="Arial"/>
                <a:cs typeface="Arial"/>
              </a:rPr>
              <a:t>n</a:t>
            </a:r>
            <a:r>
              <a:rPr sz="1600" b="1" spc="200" dirty="0">
                <a:solidFill>
                  <a:srgbClr val="FFFFFF"/>
                </a:solidFill>
                <a:latin typeface="Arial"/>
                <a:cs typeface="Arial"/>
              </a:rPr>
              <a:t>t</a:t>
            </a:r>
            <a:r>
              <a:rPr sz="1600" b="1" spc="-190" dirty="0">
                <a:solidFill>
                  <a:srgbClr val="FFFFFF"/>
                </a:solidFill>
                <a:latin typeface="Arial"/>
                <a:cs typeface="Arial"/>
              </a:rPr>
              <a:t> </a:t>
            </a:r>
            <a:r>
              <a:rPr sz="1600" b="1" spc="-10" dirty="0">
                <a:solidFill>
                  <a:srgbClr val="FFFFFF"/>
                </a:solidFill>
                <a:latin typeface="Arial"/>
                <a:cs typeface="Arial"/>
              </a:rPr>
              <a:t>i</a:t>
            </a:r>
            <a:r>
              <a:rPr sz="1600" b="1" spc="-25" dirty="0">
                <a:solidFill>
                  <a:srgbClr val="FFFFFF"/>
                </a:solidFill>
                <a:latin typeface="Arial"/>
                <a:cs typeface="Arial"/>
              </a:rPr>
              <a:t>s  </a:t>
            </a:r>
            <a:r>
              <a:rPr sz="1600" b="1" spc="-35" dirty="0">
                <a:solidFill>
                  <a:srgbClr val="FFFFFF"/>
                </a:solidFill>
                <a:latin typeface="Arial"/>
                <a:cs typeface="Arial"/>
              </a:rPr>
              <a:t>b</a:t>
            </a:r>
            <a:r>
              <a:rPr sz="1600" b="1" spc="20" dirty="0">
                <a:solidFill>
                  <a:srgbClr val="FFFFFF"/>
                </a:solidFill>
                <a:latin typeface="Arial"/>
                <a:cs typeface="Arial"/>
              </a:rPr>
              <a:t>a</a:t>
            </a:r>
            <a:r>
              <a:rPr sz="1600" b="1" spc="-125" dirty="0">
                <a:solidFill>
                  <a:srgbClr val="FFFFFF"/>
                </a:solidFill>
                <a:latin typeface="Arial"/>
                <a:cs typeface="Arial"/>
              </a:rPr>
              <a:t>s</a:t>
            </a:r>
            <a:r>
              <a:rPr sz="1600" b="1" spc="20" dirty="0">
                <a:solidFill>
                  <a:srgbClr val="FFFFFF"/>
                </a:solidFill>
                <a:latin typeface="Arial"/>
                <a:cs typeface="Arial"/>
              </a:rPr>
              <a:t>e</a:t>
            </a:r>
            <a:r>
              <a:rPr sz="1600" b="1" spc="50" dirty="0">
                <a:solidFill>
                  <a:srgbClr val="FFFFFF"/>
                </a:solidFill>
                <a:latin typeface="Arial"/>
                <a:cs typeface="Arial"/>
              </a:rPr>
              <a:t>d</a:t>
            </a:r>
            <a:r>
              <a:rPr sz="1600" b="1" spc="-190" dirty="0">
                <a:solidFill>
                  <a:srgbClr val="FFFFFF"/>
                </a:solidFill>
                <a:latin typeface="Arial"/>
                <a:cs typeface="Arial"/>
              </a:rPr>
              <a:t> </a:t>
            </a:r>
            <a:r>
              <a:rPr sz="1600" b="1" spc="-20" dirty="0">
                <a:solidFill>
                  <a:srgbClr val="FFFFFF"/>
                </a:solidFill>
                <a:latin typeface="Arial"/>
                <a:cs typeface="Arial"/>
              </a:rPr>
              <a:t>o</a:t>
            </a:r>
            <a:r>
              <a:rPr sz="1600" b="1" spc="65" dirty="0">
                <a:solidFill>
                  <a:srgbClr val="FFFFFF"/>
                </a:solidFill>
                <a:latin typeface="Arial"/>
                <a:cs typeface="Arial"/>
              </a:rPr>
              <a:t>n</a:t>
            </a:r>
            <a:r>
              <a:rPr sz="1600" b="1" spc="-190" dirty="0">
                <a:solidFill>
                  <a:srgbClr val="FFFFFF"/>
                </a:solidFill>
                <a:latin typeface="Arial"/>
                <a:cs typeface="Arial"/>
              </a:rPr>
              <a:t> </a:t>
            </a:r>
            <a:r>
              <a:rPr sz="1600" b="1" spc="25" dirty="0">
                <a:solidFill>
                  <a:srgbClr val="FFFFFF"/>
                </a:solidFill>
                <a:latin typeface="Arial"/>
                <a:cs typeface="Arial"/>
              </a:rPr>
              <a:t>a</a:t>
            </a:r>
            <a:r>
              <a:rPr sz="1600" b="1" spc="90" dirty="0">
                <a:solidFill>
                  <a:srgbClr val="FFFFFF"/>
                </a:solidFill>
                <a:latin typeface="Arial"/>
                <a:cs typeface="Arial"/>
              </a:rPr>
              <a:t>n</a:t>
            </a:r>
            <a:r>
              <a:rPr sz="1600" b="1" spc="-190" dirty="0">
                <a:solidFill>
                  <a:srgbClr val="FFFFFF"/>
                </a:solidFill>
                <a:latin typeface="Arial"/>
                <a:cs typeface="Arial"/>
              </a:rPr>
              <a:t> </a:t>
            </a:r>
            <a:r>
              <a:rPr sz="1600" b="1" spc="-5" dirty="0">
                <a:solidFill>
                  <a:srgbClr val="FFFFFF"/>
                </a:solidFill>
                <a:latin typeface="Arial"/>
                <a:cs typeface="Arial"/>
              </a:rPr>
              <a:t>i</a:t>
            </a:r>
            <a:r>
              <a:rPr sz="1600" b="1" spc="-45" dirty="0">
                <a:solidFill>
                  <a:srgbClr val="FFFFFF"/>
                </a:solidFill>
                <a:latin typeface="Arial"/>
                <a:cs typeface="Arial"/>
              </a:rPr>
              <a:t>nc</a:t>
            </a:r>
            <a:r>
              <a:rPr sz="1600" b="1" spc="45" dirty="0">
                <a:solidFill>
                  <a:srgbClr val="FFFFFF"/>
                </a:solidFill>
                <a:latin typeface="Arial"/>
                <a:cs typeface="Arial"/>
              </a:rPr>
              <a:t>r</a:t>
            </a:r>
            <a:r>
              <a:rPr sz="1600" b="1" spc="20" dirty="0">
                <a:solidFill>
                  <a:srgbClr val="FFFFFF"/>
                </a:solidFill>
                <a:latin typeface="Arial"/>
                <a:cs typeface="Arial"/>
              </a:rPr>
              <a:t>e</a:t>
            </a:r>
            <a:r>
              <a:rPr sz="1600" b="1" spc="90" dirty="0">
                <a:solidFill>
                  <a:srgbClr val="FFFFFF"/>
                </a:solidFill>
                <a:latin typeface="Arial"/>
                <a:cs typeface="Arial"/>
              </a:rPr>
              <a:t>m</a:t>
            </a:r>
            <a:r>
              <a:rPr sz="1600" b="1" spc="20" dirty="0">
                <a:solidFill>
                  <a:srgbClr val="FFFFFF"/>
                </a:solidFill>
                <a:latin typeface="Arial"/>
                <a:cs typeface="Arial"/>
              </a:rPr>
              <a:t>e</a:t>
            </a:r>
            <a:r>
              <a:rPr sz="1600" b="1" dirty="0">
                <a:solidFill>
                  <a:srgbClr val="FFFFFF"/>
                </a:solidFill>
                <a:latin typeface="Arial"/>
                <a:cs typeface="Arial"/>
              </a:rPr>
              <a:t>n</a:t>
            </a:r>
            <a:r>
              <a:rPr sz="1600" b="1" spc="130" dirty="0">
                <a:solidFill>
                  <a:srgbClr val="FFFFFF"/>
                </a:solidFill>
                <a:latin typeface="Arial"/>
                <a:cs typeface="Arial"/>
              </a:rPr>
              <a:t>t</a:t>
            </a:r>
            <a:r>
              <a:rPr sz="1600" b="1" spc="25" dirty="0">
                <a:solidFill>
                  <a:srgbClr val="FFFFFF"/>
                </a:solidFill>
                <a:latin typeface="Arial"/>
                <a:cs typeface="Arial"/>
              </a:rPr>
              <a:t>a</a:t>
            </a:r>
            <a:r>
              <a:rPr sz="1600" b="1" spc="-5" dirty="0">
                <a:solidFill>
                  <a:srgbClr val="FFFFFF"/>
                </a:solidFill>
                <a:latin typeface="Arial"/>
                <a:cs typeface="Arial"/>
              </a:rPr>
              <a:t>l</a:t>
            </a:r>
            <a:r>
              <a:rPr sz="1600" b="1" spc="50" dirty="0">
                <a:solidFill>
                  <a:srgbClr val="FFFFFF"/>
                </a:solidFill>
                <a:latin typeface="Arial"/>
                <a:cs typeface="Arial"/>
              </a:rPr>
              <a:t>,  </a:t>
            </a:r>
            <a:r>
              <a:rPr sz="1600" b="1" spc="-15" dirty="0">
                <a:solidFill>
                  <a:srgbClr val="FFFFFF"/>
                </a:solidFill>
                <a:latin typeface="Arial"/>
                <a:cs typeface="Arial"/>
              </a:rPr>
              <a:t>i</a:t>
            </a:r>
            <a:r>
              <a:rPr sz="1600" b="1" spc="30" dirty="0">
                <a:solidFill>
                  <a:srgbClr val="FFFFFF"/>
                </a:solidFill>
                <a:latin typeface="Arial"/>
                <a:cs typeface="Arial"/>
              </a:rPr>
              <a:t>t</a:t>
            </a:r>
            <a:r>
              <a:rPr sz="1600" b="1" spc="110" dirty="0">
                <a:solidFill>
                  <a:srgbClr val="FFFFFF"/>
                </a:solidFill>
                <a:latin typeface="Arial"/>
                <a:cs typeface="Arial"/>
              </a:rPr>
              <a:t>e</a:t>
            </a:r>
            <a:r>
              <a:rPr sz="1600" b="1" spc="25" dirty="0">
                <a:solidFill>
                  <a:srgbClr val="FFFFFF"/>
                </a:solidFill>
                <a:latin typeface="Arial"/>
                <a:cs typeface="Arial"/>
              </a:rPr>
              <a:t>r</a:t>
            </a:r>
            <a:r>
              <a:rPr sz="1600" b="1" spc="15" dirty="0">
                <a:solidFill>
                  <a:srgbClr val="FFFFFF"/>
                </a:solidFill>
                <a:latin typeface="Arial"/>
                <a:cs typeface="Arial"/>
              </a:rPr>
              <a:t>a</a:t>
            </a:r>
            <a:r>
              <a:rPr sz="1600" b="1" spc="135" dirty="0">
                <a:solidFill>
                  <a:srgbClr val="FFFFFF"/>
                </a:solidFill>
                <a:latin typeface="Arial"/>
                <a:cs typeface="Arial"/>
              </a:rPr>
              <a:t>t</a:t>
            </a:r>
            <a:r>
              <a:rPr sz="1600" b="1" spc="5" dirty="0">
                <a:solidFill>
                  <a:srgbClr val="FFFFFF"/>
                </a:solidFill>
                <a:latin typeface="Arial"/>
                <a:cs typeface="Arial"/>
              </a:rPr>
              <a:t>i</a:t>
            </a:r>
            <a:r>
              <a:rPr sz="1600" b="1" spc="-20" dirty="0">
                <a:solidFill>
                  <a:srgbClr val="FFFFFF"/>
                </a:solidFill>
                <a:latin typeface="Arial"/>
                <a:cs typeface="Arial"/>
              </a:rPr>
              <a:t>v</a:t>
            </a:r>
            <a:r>
              <a:rPr sz="1600" b="1" spc="95" dirty="0">
                <a:solidFill>
                  <a:srgbClr val="FFFFFF"/>
                </a:solidFill>
                <a:latin typeface="Arial"/>
                <a:cs typeface="Arial"/>
              </a:rPr>
              <a:t>e</a:t>
            </a:r>
            <a:r>
              <a:rPr sz="1600" b="1" spc="-190" dirty="0">
                <a:solidFill>
                  <a:srgbClr val="FFFFFF"/>
                </a:solidFill>
                <a:latin typeface="Arial"/>
                <a:cs typeface="Arial"/>
              </a:rPr>
              <a:t> </a:t>
            </a:r>
            <a:r>
              <a:rPr sz="1600" b="1" spc="25" dirty="0">
                <a:solidFill>
                  <a:srgbClr val="FFFFFF"/>
                </a:solidFill>
                <a:latin typeface="Arial"/>
                <a:cs typeface="Arial"/>
              </a:rPr>
              <a:t>a</a:t>
            </a:r>
            <a:r>
              <a:rPr sz="1600" b="1" spc="-25" dirty="0">
                <a:solidFill>
                  <a:srgbClr val="FFFFFF"/>
                </a:solidFill>
                <a:latin typeface="Arial"/>
                <a:cs typeface="Arial"/>
              </a:rPr>
              <a:t>pp</a:t>
            </a:r>
            <a:r>
              <a:rPr sz="1600" b="1" spc="45" dirty="0">
                <a:solidFill>
                  <a:srgbClr val="FFFFFF"/>
                </a:solidFill>
                <a:latin typeface="Arial"/>
                <a:cs typeface="Arial"/>
              </a:rPr>
              <a:t>r</a:t>
            </a:r>
            <a:r>
              <a:rPr sz="1600" b="1" spc="-45" dirty="0">
                <a:solidFill>
                  <a:srgbClr val="FFFFFF"/>
                </a:solidFill>
                <a:latin typeface="Arial"/>
                <a:cs typeface="Arial"/>
              </a:rPr>
              <a:t>o</a:t>
            </a:r>
            <a:r>
              <a:rPr sz="1600" b="1" spc="20" dirty="0">
                <a:solidFill>
                  <a:srgbClr val="FFFFFF"/>
                </a:solidFill>
                <a:latin typeface="Arial"/>
                <a:cs typeface="Arial"/>
              </a:rPr>
              <a:t>a</a:t>
            </a:r>
            <a:r>
              <a:rPr sz="1600" b="1" spc="-105" dirty="0">
                <a:solidFill>
                  <a:srgbClr val="FFFFFF"/>
                </a:solidFill>
                <a:latin typeface="Arial"/>
                <a:cs typeface="Arial"/>
              </a:rPr>
              <a:t>c</a:t>
            </a:r>
            <a:r>
              <a:rPr sz="1600" b="1" spc="90" dirty="0">
                <a:solidFill>
                  <a:srgbClr val="FFFFFF"/>
                </a:solidFill>
                <a:latin typeface="Arial"/>
                <a:cs typeface="Arial"/>
              </a:rPr>
              <a:t>h</a:t>
            </a:r>
            <a:endParaRPr sz="1600" dirty="0">
              <a:latin typeface="Arial"/>
              <a:cs typeface="Arial"/>
            </a:endParaRPr>
          </a:p>
          <a:p>
            <a:pPr marL="12700" marR="172720">
              <a:lnSpc>
                <a:spcPct val="121800"/>
              </a:lnSpc>
              <a:spcBef>
                <a:spcPts val="1290"/>
              </a:spcBef>
            </a:pPr>
            <a:r>
              <a:rPr sz="1400" spc="-20" dirty="0">
                <a:solidFill>
                  <a:srgbClr val="FFFFFF"/>
                </a:solidFill>
                <a:latin typeface="Roboto Lt"/>
                <a:cs typeface="Roboto Lt"/>
              </a:rPr>
              <a:t>Instead </a:t>
            </a:r>
            <a:r>
              <a:rPr sz="1400" dirty="0">
                <a:solidFill>
                  <a:srgbClr val="FFFFFF"/>
                </a:solidFill>
                <a:latin typeface="Roboto Lt"/>
                <a:cs typeface="Roboto Lt"/>
              </a:rPr>
              <a:t>of </a:t>
            </a:r>
            <a:r>
              <a:rPr sz="1400" spc="-40" dirty="0">
                <a:solidFill>
                  <a:srgbClr val="FFFFFF"/>
                </a:solidFill>
                <a:latin typeface="Roboto Lt"/>
                <a:cs typeface="Roboto Lt"/>
              </a:rPr>
              <a:t>in-depth </a:t>
            </a:r>
            <a:r>
              <a:rPr sz="1400" spc="-20" dirty="0">
                <a:solidFill>
                  <a:srgbClr val="FFFFFF"/>
                </a:solidFill>
                <a:latin typeface="Roboto Lt"/>
                <a:cs typeface="Roboto Lt"/>
              </a:rPr>
              <a:t>planning </a:t>
            </a:r>
            <a:r>
              <a:rPr sz="1400" spc="-10" dirty="0">
                <a:solidFill>
                  <a:srgbClr val="FFFFFF"/>
                </a:solidFill>
                <a:latin typeface="Roboto Lt"/>
                <a:cs typeface="Roboto Lt"/>
              </a:rPr>
              <a:t>at </a:t>
            </a:r>
            <a:r>
              <a:rPr sz="1400" spc="-20" dirty="0">
                <a:solidFill>
                  <a:srgbClr val="FFFFFF"/>
                </a:solidFill>
                <a:latin typeface="Roboto Lt"/>
                <a:cs typeface="Roboto Lt"/>
              </a:rPr>
              <a:t>the </a:t>
            </a:r>
            <a:r>
              <a:rPr sz="1400" spc="-15" dirty="0">
                <a:solidFill>
                  <a:srgbClr val="FFFFFF"/>
                </a:solidFill>
                <a:latin typeface="Roboto Lt"/>
                <a:cs typeface="Roboto Lt"/>
              </a:rPr>
              <a:t> </a:t>
            </a:r>
            <a:r>
              <a:rPr sz="1400" spc="-20" dirty="0">
                <a:solidFill>
                  <a:srgbClr val="FFFFFF"/>
                </a:solidFill>
                <a:latin typeface="Roboto Lt"/>
                <a:cs typeface="Roboto Lt"/>
              </a:rPr>
              <a:t>beginning </a:t>
            </a:r>
            <a:r>
              <a:rPr sz="1400" dirty="0">
                <a:solidFill>
                  <a:srgbClr val="FFFFFF"/>
                </a:solidFill>
                <a:latin typeface="Roboto Lt"/>
                <a:cs typeface="Roboto Lt"/>
              </a:rPr>
              <a:t>of </a:t>
            </a:r>
            <a:r>
              <a:rPr sz="1400" spc="-15" dirty="0">
                <a:solidFill>
                  <a:srgbClr val="FFFFFF"/>
                </a:solidFill>
                <a:latin typeface="Roboto Lt"/>
                <a:cs typeface="Roboto Lt"/>
              </a:rPr>
              <a:t>the project, Agile </a:t>
            </a:r>
            <a:r>
              <a:rPr sz="1400" spc="-10" dirty="0">
                <a:solidFill>
                  <a:srgbClr val="FFFFFF"/>
                </a:solidFill>
                <a:latin typeface="Roboto Lt"/>
                <a:cs typeface="Roboto Lt"/>
              </a:rPr>
              <a:t> </a:t>
            </a:r>
            <a:r>
              <a:rPr sz="1400" spc="-15" dirty="0">
                <a:solidFill>
                  <a:srgbClr val="FFFFFF"/>
                </a:solidFill>
                <a:latin typeface="Roboto Lt"/>
                <a:cs typeface="Roboto Lt"/>
              </a:rPr>
              <a:t>methodologies</a:t>
            </a:r>
            <a:r>
              <a:rPr sz="1400" spc="-50" dirty="0">
                <a:solidFill>
                  <a:srgbClr val="FFFFFF"/>
                </a:solidFill>
                <a:latin typeface="Roboto Lt"/>
                <a:cs typeface="Roboto Lt"/>
              </a:rPr>
              <a:t> </a:t>
            </a:r>
            <a:r>
              <a:rPr sz="1400" spc="-15" dirty="0">
                <a:solidFill>
                  <a:srgbClr val="FFFFFF"/>
                </a:solidFill>
                <a:latin typeface="Roboto Lt"/>
                <a:cs typeface="Roboto Lt"/>
              </a:rPr>
              <a:t>are</a:t>
            </a:r>
            <a:r>
              <a:rPr sz="1400" spc="-45" dirty="0">
                <a:solidFill>
                  <a:srgbClr val="FFFFFF"/>
                </a:solidFill>
                <a:latin typeface="Roboto Lt"/>
                <a:cs typeface="Roboto Lt"/>
              </a:rPr>
              <a:t> </a:t>
            </a:r>
            <a:r>
              <a:rPr sz="1400" spc="-15" dirty="0">
                <a:solidFill>
                  <a:srgbClr val="FFFFFF"/>
                </a:solidFill>
                <a:latin typeface="Roboto Lt"/>
                <a:cs typeface="Roboto Lt"/>
              </a:rPr>
              <a:t>open</a:t>
            </a:r>
            <a:r>
              <a:rPr sz="1400" spc="-45" dirty="0">
                <a:solidFill>
                  <a:srgbClr val="FFFFFF"/>
                </a:solidFill>
                <a:latin typeface="Roboto Lt"/>
                <a:cs typeface="Roboto Lt"/>
              </a:rPr>
              <a:t> </a:t>
            </a:r>
            <a:r>
              <a:rPr sz="1400" spc="-10" dirty="0">
                <a:solidFill>
                  <a:srgbClr val="FFFFFF"/>
                </a:solidFill>
                <a:latin typeface="Roboto Lt"/>
                <a:cs typeface="Roboto Lt"/>
              </a:rPr>
              <a:t>to</a:t>
            </a:r>
            <a:r>
              <a:rPr sz="1400" spc="-45" dirty="0">
                <a:solidFill>
                  <a:srgbClr val="FFFFFF"/>
                </a:solidFill>
                <a:latin typeface="Roboto Lt"/>
                <a:cs typeface="Roboto Lt"/>
              </a:rPr>
              <a:t> </a:t>
            </a:r>
            <a:r>
              <a:rPr sz="1400" spc="-20" dirty="0">
                <a:solidFill>
                  <a:srgbClr val="FFFFFF"/>
                </a:solidFill>
                <a:latin typeface="Roboto Lt"/>
                <a:cs typeface="Roboto Lt"/>
              </a:rPr>
              <a:t>changing </a:t>
            </a:r>
            <a:r>
              <a:rPr sz="1400" spc="-300" dirty="0">
                <a:solidFill>
                  <a:srgbClr val="FFFFFF"/>
                </a:solidFill>
                <a:latin typeface="Roboto Lt"/>
                <a:cs typeface="Roboto Lt"/>
              </a:rPr>
              <a:t> </a:t>
            </a:r>
            <a:r>
              <a:rPr sz="1400" spc="-20" dirty="0">
                <a:solidFill>
                  <a:srgbClr val="FFFFFF"/>
                </a:solidFill>
                <a:latin typeface="Roboto Lt"/>
                <a:cs typeface="Roboto Lt"/>
              </a:rPr>
              <a:t>requirements </a:t>
            </a:r>
            <a:r>
              <a:rPr sz="1400" spc="-15" dirty="0">
                <a:solidFill>
                  <a:srgbClr val="FFFFFF"/>
                </a:solidFill>
                <a:latin typeface="Roboto Lt"/>
                <a:cs typeface="Roboto Lt"/>
              </a:rPr>
              <a:t>over time </a:t>
            </a:r>
            <a:r>
              <a:rPr sz="1400" spc="-20" dirty="0">
                <a:solidFill>
                  <a:srgbClr val="FFFFFF"/>
                </a:solidFill>
                <a:latin typeface="Roboto Lt"/>
                <a:cs typeface="Roboto Lt"/>
              </a:rPr>
              <a:t>and </a:t>
            </a:r>
            <a:r>
              <a:rPr sz="1400" spc="-15" dirty="0">
                <a:solidFill>
                  <a:srgbClr val="FFFFFF"/>
                </a:solidFill>
                <a:latin typeface="Roboto Lt"/>
                <a:cs typeface="Roboto Lt"/>
              </a:rPr>
              <a:t> </a:t>
            </a:r>
            <a:r>
              <a:rPr sz="1400" spc="-20" dirty="0">
                <a:solidFill>
                  <a:srgbClr val="FFFFFF"/>
                </a:solidFill>
                <a:latin typeface="Roboto Lt"/>
                <a:cs typeface="Roboto Lt"/>
              </a:rPr>
              <a:t>encourages constant </a:t>
            </a:r>
            <a:r>
              <a:rPr sz="1400" spc="-15" dirty="0">
                <a:solidFill>
                  <a:srgbClr val="FFFFFF"/>
                </a:solidFill>
                <a:latin typeface="Roboto Lt"/>
                <a:cs typeface="Roboto Lt"/>
              </a:rPr>
              <a:t>feedback from </a:t>
            </a:r>
            <a:r>
              <a:rPr sz="1400" spc="-305" dirty="0">
                <a:solidFill>
                  <a:srgbClr val="FFFFFF"/>
                </a:solidFill>
                <a:latin typeface="Roboto Lt"/>
                <a:cs typeface="Roboto Lt"/>
              </a:rPr>
              <a:t> </a:t>
            </a:r>
            <a:r>
              <a:rPr sz="1400" spc="-15" dirty="0">
                <a:solidFill>
                  <a:srgbClr val="FFFFFF"/>
                </a:solidFill>
                <a:latin typeface="Roboto Lt"/>
                <a:cs typeface="Roboto Lt"/>
              </a:rPr>
              <a:t>the end </a:t>
            </a:r>
            <a:r>
              <a:rPr sz="1400" spc="-20" dirty="0">
                <a:solidFill>
                  <a:srgbClr val="FFFFFF"/>
                </a:solidFill>
                <a:latin typeface="Roboto Lt"/>
                <a:cs typeface="Roboto Lt"/>
              </a:rPr>
              <a:t>users. </a:t>
            </a:r>
            <a:r>
              <a:rPr sz="1400" spc="-15" dirty="0">
                <a:solidFill>
                  <a:srgbClr val="FFFFFF"/>
                </a:solidFill>
                <a:latin typeface="Roboto Lt"/>
                <a:cs typeface="Roboto Lt"/>
              </a:rPr>
              <a:t>The goal </a:t>
            </a:r>
            <a:r>
              <a:rPr sz="1400" dirty="0">
                <a:solidFill>
                  <a:srgbClr val="FFFFFF"/>
                </a:solidFill>
                <a:latin typeface="Roboto Lt"/>
                <a:cs typeface="Roboto Lt"/>
              </a:rPr>
              <a:t>of </a:t>
            </a:r>
            <a:r>
              <a:rPr sz="1400" spc="-20" dirty="0">
                <a:solidFill>
                  <a:srgbClr val="FFFFFF"/>
                </a:solidFill>
                <a:latin typeface="Roboto Lt"/>
                <a:cs typeface="Roboto Lt"/>
              </a:rPr>
              <a:t>each </a:t>
            </a:r>
            <a:r>
              <a:rPr sz="1400" spc="-15" dirty="0">
                <a:solidFill>
                  <a:srgbClr val="FFFFFF"/>
                </a:solidFill>
                <a:latin typeface="Roboto Lt"/>
                <a:cs typeface="Roboto Lt"/>
              </a:rPr>
              <a:t> </a:t>
            </a:r>
            <a:r>
              <a:rPr sz="1400" spc="-20" dirty="0">
                <a:solidFill>
                  <a:srgbClr val="FFFFFF"/>
                </a:solidFill>
                <a:latin typeface="Roboto Lt"/>
                <a:cs typeface="Roboto Lt"/>
              </a:rPr>
              <a:t>iteration </a:t>
            </a:r>
            <a:r>
              <a:rPr sz="1400" spc="-15" dirty="0">
                <a:solidFill>
                  <a:srgbClr val="FFFFFF"/>
                </a:solidFill>
                <a:latin typeface="Roboto Lt"/>
                <a:cs typeface="Roboto Lt"/>
              </a:rPr>
              <a:t>is </a:t>
            </a:r>
            <a:r>
              <a:rPr sz="1400" spc="-10" dirty="0">
                <a:solidFill>
                  <a:srgbClr val="FFFFFF"/>
                </a:solidFill>
                <a:latin typeface="Roboto Lt"/>
                <a:cs typeface="Roboto Lt"/>
              </a:rPr>
              <a:t>to </a:t>
            </a:r>
            <a:r>
              <a:rPr sz="1400" spc="-15" dirty="0">
                <a:solidFill>
                  <a:srgbClr val="FFFFFF"/>
                </a:solidFill>
                <a:latin typeface="Roboto Lt"/>
                <a:cs typeface="Roboto Lt"/>
              </a:rPr>
              <a:t>produce </a:t>
            </a:r>
            <a:r>
              <a:rPr sz="1400" spc="-5" dirty="0">
                <a:solidFill>
                  <a:srgbClr val="FFFFFF"/>
                </a:solidFill>
                <a:latin typeface="Roboto Lt"/>
                <a:cs typeface="Roboto Lt"/>
              </a:rPr>
              <a:t>a </a:t>
            </a:r>
            <a:r>
              <a:rPr sz="1400" spc="-20" dirty="0">
                <a:solidFill>
                  <a:srgbClr val="FFFFFF"/>
                </a:solidFill>
                <a:latin typeface="Roboto Lt"/>
                <a:cs typeface="Roboto Lt"/>
              </a:rPr>
              <a:t>working </a:t>
            </a:r>
            <a:r>
              <a:rPr sz="1400" spc="-15" dirty="0">
                <a:solidFill>
                  <a:srgbClr val="FFFFFF"/>
                </a:solidFill>
                <a:latin typeface="Roboto Lt"/>
                <a:cs typeface="Roboto Lt"/>
              </a:rPr>
              <a:t> </a:t>
            </a:r>
            <a:r>
              <a:rPr sz="1400" spc="-20" dirty="0">
                <a:solidFill>
                  <a:srgbClr val="FFFFFF"/>
                </a:solidFill>
                <a:latin typeface="Roboto Lt"/>
                <a:cs typeface="Roboto Lt"/>
              </a:rPr>
              <a:t>product.</a:t>
            </a:r>
            <a:endParaRPr sz="1400" dirty="0">
              <a:latin typeface="Roboto Lt"/>
              <a:cs typeface="Roboto Lt"/>
            </a:endParaRPr>
          </a:p>
        </p:txBody>
      </p:sp>
      <p:grpSp>
        <p:nvGrpSpPr>
          <p:cNvPr id="6" name="object 6"/>
          <p:cNvGrpSpPr/>
          <p:nvPr/>
        </p:nvGrpSpPr>
        <p:grpSpPr>
          <a:xfrm>
            <a:off x="4881843" y="701059"/>
            <a:ext cx="2999105" cy="2997835"/>
            <a:chOff x="4881843" y="701059"/>
            <a:chExt cx="2999105" cy="2997835"/>
          </a:xfrm>
        </p:grpSpPr>
        <p:sp>
          <p:nvSpPr>
            <p:cNvPr id="7" name="object 7"/>
            <p:cNvSpPr/>
            <p:nvPr/>
          </p:nvSpPr>
          <p:spPr>
            <a:xfrm>
              <a:off x="4881843" y="931270"/>
              <a:ext cx="1075055" cy="1249045"/>
            </a:xfrm>
            <a:custGeom>
              <a:avLst/>
              <a:gdLst/>
              <a:ahLst/>
              <a:cxnLst/>
              <a:rect l="l" t="t" r="r" b="b"/>
              <a:pathLst>
                <a:path w="1075054" h="1249045">
                  <a:moveTo>
                    <a:pt x="699884" y="0"/>
                  </a:moveTo>
                  <a:lnTo>
                    <a:pt x="658913" y="26782"/>
                  </a:lnTo>
                  <a:lnTo>
                    <a:pt x="618988" y="54796"/>
                  </a:lnTo>
                  <a:lnTo>
                    <a:pt x="580130" y="84006"/>
                  </a:lnTo>
                  <a:lnTo>
                    <a:pt x="542355" y="114378"/>
                  </a:lnTo>
                  <a:lnTo>
                    <a:pt x="505683" y="145879"/>
                  </a:lnTo>
                  <a:lnTo>
                    <a:pt x="470133" y="178473"/>
                  </a:lnTo>
                  <a:lnTo>
                    <a:pt x="435721" y="212127"/>
                  </a:lnTo>
                  <a:lnTo>
                    <a:pt x="402469" y="246807"/>
                  </a:lnTo>
                  <a:lnTo>
                    <a:pt x="370393" y="282478"/>
                  </a:lnTo>
                  <a:lnTo>
                    <a:pt x="339512" y="319107"/>
                  </a:lnTo>
                  <a:lnTo>
                    <a:pt x="309845" y="356658"/>
                  </a:lnTo>
                  <a:lnTo>
                    <a:pt x="281411" y="395099"/>
                  </a:lnTo>
                  <a:lnTo>
                    <a:pt x="254228" y="434394"/>
                  </a:lnTo>
                  <a:lnTo>
                    <a:pt x="228314" y="474510"/>
                  </a:lnTo>
                  <a:lnTo>
                    <a:pt x="203689" y="515412"/>
                  </a:lnTo>
                  <a:lnTo>
                    <a:pt x="180370" y="557067"/>
                  </a:lnTo>
                  <a:lnTo>
                    <a:pt x="158376" y="599439"/>
                  </a:lnTo>
                  <a:lnTo>
                    <a:pt x="137726" y="642496"/>
                  </a:lnTo>
                  <a:lnTo>
                    <a:pt x="118439" y="686202"/>
                  </a:lnTo>
                  <a:lnTo>
                    <a:pt x="100532" y="730524"/>
                  </a:lnTo>
                  <a:lnTo>
                    <a:pt x="84025" y="775427"/>
                  </a:lnTo>
                  <a:lnTo>
                    <a:pt x="68935" y="820877"/>
                  </a:lnTo>
                  <a:lnTo>
                    <a:pt x="55282" y="866840"/>
                  </a:lnTo>
                  <a:lnTo>
                    <a:pt x="43084" y="913283"/>
                  </a:lnTo>
                  <a:lnTo>
                    <a:pt x="32360" y="960170"/>
                  </a:lnTo>
                  <a:lnTo>
                    <a:pt x="23128" y="1007467"/>
                  </a:lnTo>
                  <a:lnTo>
                    <a:pt x="15407" y="1055141"/>
                  </a:lnTo>
                  <a:lnTo>
                    <a:pt x="9215" y="1103158"/>
                  </a:lnTo>
                  <a:lnTo>
                    <a:pt x="4570" y="1151482"/>
                  </a:lnTo>
                  <a:lnTo>
                    <a:pt x="1493" y="1200080"/>
                  </a:lnTo>
                  <a:lnTo>
                    <a:pt x="0" y="1248918"/>
                  </a:lnTo>
                  <a:lnTo>
                    <a:pt x="351993" y="1029601"/>
                  </a:lnTo>
                  <a:lnTo>
                    <a:pt x="722807" y="1234351"/>
                  </a:lnTo>
                  <a:lnTo>
                    <a:pt x="726643" y="1184812"/>
                  </a:lnTo>
                  <a:lnTo>
                    <a:pt x="733602" y="1135885"/>
                  </a:lnTo>
                  <a:lnTo>
                    <a:pt x="743609" y="1087705"/>
                  </a:lnTo>
                  <a:lnTo>
                    <a:pt x="756591" y="1040409"/>
                  </a:lnTo>
                  <a:lnTo>
                    <a:pt x="772476" y="994133"/>
                  </a:lnTo>
                  <a:lnTo>
                    <a:pt x="791189" y="949013"/>
                  </a:lnTo>
                  <a:lnTo>
                    <a:pt x="812658" y="905184"/>
                  </a:lnTo>
                  <a:lnTo>
                    <a:pt x="836808" y="862784"/>
                  </a:lnTo>
                  <a:lnTo>
                    <a:pt x="863567" y="821948"/>
                  </a:lnTo>
                  <a:lnTo>
                    <a:pt x="892861" y="782812"/>
                  </a:lnTo>
                  <a:lnTo>
                    <a:pt x="924617" y="745512"/>
                  </a:lnTo>
                  <a:lnTo>
                    <a:pt x="958761" y="710185"/>
                  </a:lnTo>
                  <a:lnTo>
                    <a:pt x="995219" y="676966"/>
                  </a:lnTo>
                  <a:lnTo>
                    <a:pt x="1033920" y="645991"/>
                  </a:lnTo>
                  <a:lnTo>
                    <a:pt x="1074788" y="617397"/>
                  </a:lnTo>
                  <a:lnTo>
                    <a:pt x="1066723" y="195656"/>
                  </a:lnTo>
                  <a:lnTo>
                    <a:pt x="699884" y="0"/>
                  </a:lnTo>
                  <a:close/>
                </a:path>
              </a:pathLst>
            </a:custGeom>
            <a:solidFill>
              <a:srgbClr val="B2C0CD"/>
            </a:solidFill>
          </p:spPr>
          <p:txBody>
            <a:bodyPr wrap="square" lIns="0" tIns="0" rIns="0" bIns="0" rtlCol="0"/>
            <a:lstStyle/>
            <a:p>
              <a:endParaRPr/>
            </a:p>
          </p:txBody>
        </p:sp>
        <p:sp>
          <p:nvSpPr>
            <p:cNvPr id="8" name="object 8"/>
            <p:cNvSpPr/>
            <p:nvPr/>
          </p:nvSpPr>
          <p:spPr>
            <a:xfrm>
              <a:off x="5648647" y="701059"/>
              <a:ext cx="1445895" cy="809625"/>
            </a:xfrm>
            <a:custGeom>
              <a:avLst/>
              <a:gdLst/>
              <a:ahLst/>
              <a:cxnLst/>
              <a:rect l="l" t="t" r="r" b="b"/>
              <a:pathLst>
                <a:path w="1445895" h="809625">
                  <a:moveTo>
                    <a:pt x="736424" y="0"/>
                  </a:moveTo>
                  <a:lnTo>
                    <a:pt x="688697" y="642"/>
                  </a:lnTo>
                  <a:lnTo>
                    <a:pt x="641015" y="2790"/>
                  </a:lnTo>
                  <a:lnTo>
                    <a:pt x="593418" y="6443"/>
                  </a:lnTo>
                  <a:lnTo>
                    <a:pt x="545944" y="11600"/>
                  </a:lnTo>
                  <a:lnTo>
                    <a:pt x="498631" y="18260"/>
                  </a:lnTo>
                  <a:lnTo>
                    <a:pt x="451520" y="26422"/>
                  </a:lnTo>
                  <a:lnTo>
                    <a:pt x="404648" y="36085"/>
                  </a:lnTo>
                  <a:lnTo>
                    <a:pt x="358055" y="47247"/>
                  </a:lnTo>
                  <a:lnTo>
                    <a:pt x="311779" y="59909"/>
                  </a:lnTo>
                  <a:lnTo>
                    <a:pt x="265860" y="74069"/>
                  </a:lnTo>
                  <a:lnTo>
                    <a:pt x="220335" y="89725"/>
                  </a:lnTo>
                  <a:lnTo>
                    <a:pt x="175245" y="106878"/>
                  </a:lnTo>
                  <a:lnTo>
                    <a:pt x="130627" y="125525"/>
                  </a:lnTo>
                  <a:lnTo>
                    <a:pt x="86521" y="145666"/>
                  </a:lnTo>
                  <a:lnTo>
                    <a:pt x="42966" y="167300"/>
                  </a:lnTo>
                  <a:lnTo>
                    <a:pt x="0" y="190426"/>
                  </a:lnTo>
                  <a:lnTo>
                    <a:pt x="365747" y="385523"/>
                  </a:lnTo>
                  <a:lnTo>
                    <a:pt x="373837" y="809119"/>
                  </a:lnTo>
                  <a:lnTo>
                    <a:pt x="418595" y="787671"/>
                  </a:lnTo>
                  <a:lnTo>
                    <a:pt x="464399" y="769231"/>
                  </a:lnTo>
                  <a:lnTo>
                    <a:pt x="511093" y="753805"/>
                  </a:lnTo>
                  <a:lnTo>
                    <a:pt x="558523" y="741397"/>
                  </a:lnTo>
                  <a:lnTo>
                    <a:pt x="606531" y="732011"/>
                  </a:lnTo>
                  <a:lnTo>
                    <a:pt x="654962" y="725651"/>
                  </a:lnTo>
                  <a:lnTo>
                    <a:pt x="703662" y="722322"/>
                  </a:lnTo>
                  <a:lnTo>
                    <a:pt x="752474" y="722028"/>
                  </a:lnTo>
                  <a:lnTo>
                    <a:pt x="801242" y="724774"/>
                  </a:lnTo>
                  <a:lnTo>
                    <a:pt x="849811" y="730563"/>
                  </a:lnTo>
                  <a:lnTo>
                    <a:pt x="898026" y="739401"/>
                  </a:lnTo>
                  <a:lnTo>
                    <a:pt x="945730" y="751292"/>
                  </a:lnTo>
                  <a:lnTo>
                    <a:pt x="992768" y="766239"/>
                  </a:lnTo>
                  <a:lnTo>
                    <a:pt x="1038984" y="784248"/>
                  </a:lnTo>
                  <a:lnTo>
                    <a:pt x="1084224" y="805322"/>
                  </a:lnTo>
                  <a:lnTo>
                    <a:pt x="1445348" y="587517"/>
                  </a:lnTo>
                  <a:lnTo>
                    <a:pt x="1431353" y="171770"/>
                  </a:lnTo>
                  <a:lnTo>
                    <a:pt x="1387608" y="149701"/>
                  </a:lnTo>
                  <a:lnTo>
                    <a:pt x="1343325" y="129154"/>
                  </a:lnTo>
                  <a:lnTo>
                    <a:pt x="1298544" y="110127"/>
                  </a:lnTo>
                  <a:lnTo>
                    <a:pt x="1253303" y="92619"/>
                  </a:lnTo>
                  <a:lnTo>
                    <a:pt x="1207641" y="76628"/>
                  </a:lnTo>
                  <a:lnTo>
                    <a:pt x="1161597" y="62155"/>
                  </a:lnTo>
                  <a:lnTo>
                    <a:pt x="1115211" y="49198"/>
                  </a:lnTo>
                  <a:lnTo>
                    <a:pt x="1068519" y="37756"/>
                  </a:lnTo>
                  <a:lnTo>
                    <a:pt x="1021562" y="27829"/>
                  </a:lnTo>
                  <a:lnTo>
                    <a:pt x="974379" y="19414"/>
                  </a:lnTo>
                  <a:lnTo>
                    <a:pt x="927008" y="12511"/>
                  </a:lnTo>
                  <a:lnTo>
                    <a:pt x="879488" y="7119"/>
                  </a:lnTo>
                  <a:lnTo>
                    <a:pt x="831858" y="3237"/>
                  </a:lnTo>
                  <a:lnTo>
                    <a:pt x="784157" y="864"/>
                  </a:lnTo>
                  <a:lnTo>
                    <a:pt x="736424" y="0"/>
                  </a:lnTo>
                  <a:close/>
                </a:path>
              </a:pathLst>
            </a:custGeom>
            <a:solidFill>
              <a:srgbClr val="E5EAEE"/>
            </a:solidFill>
          </p:spPr>
          <p:txBody>
            <a:bodyPr wrap="square" lIns="0" tIns="0" rIns="0" bIns="0" rtlCol="0"/>
            <a:lstStyle/>
            <a:p>
              <a:endParaRPr/>
            </a:p>
          </p:txBody>
        </p:sp>
        <p:sp>
          <p:nvSpPr>
            <p:cNvPr id="9" name="object 9"/>
            <p:cNvSpPr/>
            <p:nvPr/>
          </p:nvSpPr>
          <p:spPr>
            <a:xfrm>
              <a:off x="6805923" y="2219233"/>
              <a:ext cx="1075055" cy="1249045"/>
            </a:xfrm>
            <a:custGeom>
              <a:avLst/>
              <a:gdLst/>
              <a:ahLst/>
              <a:cxnLst/>
              <a:rect l="l" t="t" r="r" b="b"/>
              <a:pathLst>
                <a:path w="1075054" h="1249045">
                  <a:moveTo>
                    <a:pt x="1074801" y="0"/>
                  </a:moveTo>
                  <a:lnTo>
                    <a:pt x="722795" y="219303"/>
                  </a:lnTo>
                  <a:lnTo>
                    <a:pt x="351993" y="14566"/>
                  </a:lnTo>
                  <a:lnTo>
                    <a:pt x="348157" y="64103"/>
                  </a:lnTo>
                  <a:lnTo>
                    <a:pt x="341198" y="113028"/>
                  </a:lnTo>
                  <a:lnTo>
                    <a:pt x="331191" y="161206"/>
                  </a:lnTo>
                  <a:lnTo>
                    <a:pt x="318208" y="208501"/>
                  </a:lnTo>
                  <a:lnTo>
                    <a:pt x="302323" y="254776"/>
                  </a:lnTo>
                  <a:lnTo>
                    <a:pt x="283610" y="299895"/>
                  </a:lnTo>
                  <a:lnTo>
                    <a:pt x="262141" y="343723"/>
                  </a:lnTo>
                  <a:lnTo>
                    <a:pt x="237990" y="386123"/>
                  </a:lnTo>
                  <a:lnTo>
                    <a:pt x="211230" y="426960"/>
                  </a:lnTo>
                  <a:lnTo>
                    <a:pt x="181935" y="466097"/>
                  </a:lnTo>
                  <a:lnTo>
                    <a:pt x="150178" y="503397"/>
                  </a:lnTo>
                  <a:lnTo>
                    <a:pt x="116033" y="538726"/>
                  </a:lnTo>
                  <a:lnTo>
                    <a:pt x="79572" y="571947"/>
                  </a:lnTo>
                  <a:lnTo>
                    <a:pt x="40870" y="602923"/>
                  </a:lnTo>
                  <a:lnTo>
                    <a:pt x="0" y="631520"/>
                  </a:lnTo>
                  <a:lnTo>
                    <a:pt x="8077" y="1053274"/>
                  </a:lnTo>
                  <a:lnTo>
                    <a:pt x="374916" y="1248917"/>
                  </a:lnTo>
                  <a:lnTo>
                    <a:pt x="415887" y="1222133"/>
                  </a:lnTo>
                  <a:lnTo>
                    <a:pt x="455811" y="1194119"/>
                  </a:lnTo>
                  <a:lnTo>
                    <a:pt x="494670" y="1164908"/>
                  </a:lnTo>
                  <a:lnTo>
                    <a:pt x="532444" y="1134534"/>
                  </a:lnTo>
                  <a:lnTo>
                    <a:pt x="569116" y="1103033"/>
                  </a:lnTo>
                  <a:lnTo>
                    <a:pt x="604666" y="1070438"/>
                  </a:lnTo>
                  <a:lnTo>
                    <a:pt x="639077" y="1036783"/>
                  </a:lnTo>
                  <a:lnTo>
                    <a:pt x="672329" y="1002103"/>
                  </a:lnTo>
                  <a:lnTo>
                    <a:pt x="704405" y="966431"/>
                  </a:lnTo>
                  <a:lnTo>
                    <a:pt x="735285" y="929802"/>
                  </a:lnTo>
                  <a:lnTo>
                    <a:pt x="764952" y="892250"/>
                  </a:lnTo>
                  <a:lnTo>
                    <a:pt x="793385" y="853809"/>
                  </a:lnTo>
                  <a:lnTo>
                    <a:pt x="820568" y="814514"/>
                  </a:lnTo>
                  <a:lnTo>
                    <a:pt x="846482" y="774398"/>
                  </a:lnTo>
                  <a:lnTo>
                    <a:pt x="871107" y="733495"/>
                  </a:lnTo>
                  <a:lnTo>
                    <a:pt x="894425" y="691841"/>
                  </a:lnTo>
                  <a:lnTo>
                    <a:pt x="916419" y="649468"/>
                  </a:lnTo>
                  <a:lnTo>
                    <a:pt x="937068" y="606412"/>
                  </a:lnTo>
                  <a:lnTo>
                    <a:pt x="956356" y="562706"/>
                  </a:lnTo>
                  <a:lnTo>
                    <a:pt x="974263" y="518385"/>
                  </a:lnTo>
                  <a:lnTo>
                    <a:pt x="990770" y="473482"/>
                  </a:lnTo>
                  <a:lnTo>
                    <a:pt x="1005859" y="428032"/>
                  </a:lnTo>
                  <a:lnTo>
                    <a:pt x="1019512" y="382069"/>
                  </a:lnTo>
                  <a:lnTo>
                    <a:pt x="1031710" y="335628"/>
                  </a:lnTo>
                  <a:lnTo>
                    <a:pt x="1042435" y="288741"/>
                  </a:lnTo>
                  <a:lnTo>
                    <a:pt x="1051667" y="241444"/>
                  </a:lnTo>
                  <a:lnTo>
                    <a:pt x="1059389" y="193771"/>
                  </a:lnTo>
                  <a:lnTo>
                    <a:pt x="1065582" y="145756"/>
                  </a:lnTo>
                  <a:lnTo>
                    <a:pt x="1070227" y="97433"/>
                  </a:lnTo>
                  <a:lnTo>
                    <a:pt x="1073306" y="48836"/>
                  </a:lnTo>
                  <a:lnTo>
                    <a:pt x="1074801" y="0"/>
                  </a:lnTo>
                  <a:close/>
                </a:path>
              </a:pathLst>
            </a:custGeom>
            <a:solidFill>
              <a:srgbClr val="B2C0CD"/>
            </a:solidFill>
          </p:spPr>
          <p:txBody>
            <a:bodyPr wrap="square" lIns="0" tIns="0" rIns="0" bIns="0" rtlCol="0"/>
            <a:lstStyle/>
            <a:p>
              <a:endParaRPr/>
            </a:p>
          </p:txBody>
        </p:sp>
        <p:sp>
          <p:nvSpPr>
            <p:cNvPr id="10" name="object 10"/>
            <p:cNvSpPr/>
            <p:nvPr/>
          </p:nvSpPr>
          <p:spPr>
            <a:xfrm>
              <a:off x="4882769" y="910805"/>
              <a:ext cx="2997200" cy="2578100"/>
            </a:xfrm>
            <a:custGeom>
              <a:avLst/>
              <a:gdLst/>
              <a:ahLst/>
              <a:cxnLst/>
              <a:rect l="l" t="t" r="r" b="b"/>
              <a:pathLst>
                <a:path w="2997200" h="2578100">
                  <a:moveTo>
                    <a:pt x="1080617" y="1944471"/>
                  </a:moveTo>
                  <a:lnTo>
                    <a:pt x="1039101" y="1916074"/>
                  </a:lnTo>
                  <a:lnTo>
                    <a:pt x="999553" y="1885073"/>
                  </a:lnTo>
                  <a:lnTo>
                    <a:pt x="962113" y="1851583"/>
                  </a:lnTo>
                  <a:lnTo>
                    <a:pt x="926884" y="1815719"/>
                  </a:lnTo>
                  <a:lnTo>
                    <a:pt x="893991" y="1777593"/>
                  </a:lnTo>
                  <a:lnTo>
                    <a:pt x="863561" y="1737347"/>
                  </a:lnTo>
                  <a:lnTo>
                    <a:pt x="835723" y="1695056"/>
                  </a:lnTo>
                  <a:lnTo>
                    <a:pt x="811733" y="1653032"/>
                  </a:lnTo>
                  <a:lnTo>
                    <a:pt x="790460" y="1609712"/>
                  </a:lnTo>
                  <a:lnTo>
                    <a:pt x="771931" y="1565262"/>
                  </a:lnTo>
                  <a:lnTo>
                    <a:pt x="756208" y="1519821"/>
                  </a:lnTo>
                  <a:lnTo>
                    <a:pt x="743331" y="1473542"/>
                  </a:lnTo>
                  <a:lnTo>
                    <a:pt x="733348" y="1426552"/>
                  </a:lnTo>
                  <a:lnTo>
                    <a:pt x="726287" y="1379004"/>
                  </a:lnTo>
                  <a:lnTo>
                    <a:pt x="722198" y="1331048"/>
                  </a:lnTo>
                  <a:lnTo>
                    <a:pt x="353085" y="1127252"/>
                  </a:lnTo>
                  <a:lnTo>
                    <a:pt x="0" y="1347266"/>
                  </a:lnTo>
                  <a:lnTo>
                    <a:pt x="2832" y="1398295"/>
                  </a:lnTo>
                  <a:lnTo>
                    <a:pt x="7404" y="1449120"/>
                  </a:lnTo>
                  <a:lnTo>
                    <a:pt x="13728" y="1499730"/>
                  </a:lnTo>
                  <a:lnTo>
                    <a:pt x="21767" y="1550060"/>
                  </a:lnTo>
                  <a:lnTo>
                    <a:pt x="31521" y="1600073"/>
                  </a:lnTo>
                  <a:lnTo>
                    <a:pt x="42964" y="1649704"/>
                  </a:lnTo>
                  <a:lnTo>
                    <a:pt x="56095" y="1698929"/>
                  </a:lnTo>
                  <a:lnTo>
                    <a:pt x="70891" y="1747697"/>
                  </a:lnTo>
                  <a:lnTo>
                    <a:pt x="87337" y="1795957"/>
                  </a:lnTo>
                  <a:lnTo>
                    <a:pt x="105435" y="1843671"/>
                  </a:lnTo>
                  <a:lnTo>
                    <a:pt x="125158" y="1890788"/>
                  </a:lnTo>
                  <a:lnTo>
                    <a:pt x="146494" y="1937258"/>
                  </a:lnTo>
                  <a:lnTo>
                    <a:pt x="169418" y="1983041"/>
                  </a:lnTo>
                  <a:lnTo>
                    <a:pt x="193941" y="2028088"/>
                  </a:lnTo>
                  <a:lnTo>
                    <a:pt x="220040" y="2072347"/>
                  </a:lnTo>
                  <a:lnTo>
                    <a:pt x="248094" y="2116391"/>
                  </a:lnTo>
                  <a:lnTo>
                    <a:pt x="277596" y="2159343"/>
                  </a:lnTo>
                  <a:lnTo>
                    <a:pt x="308521" y="2201176"/>
                  </a:lnTo>
                  <a:lnTo>
                    <a:pt x="340829" y="2241867"/>
                  </a:lnTo>
                  <a:lnTo>
                    <a:pt x="374472" y="2281364"/>
                  </a:lnTo>
                  <a:lnTo>
                    <a:pt x="409435" y="2319655"/>
                  </a:lnTo>
                  <a:lnTo>
                    <a:pt x="445668" y="2356675"/>
                  </a:lnTo>
                  <a:lnTo>
                    <a:pt x="483146" y="2392413"/>
                  </a:lnTo>
                  <a:lnTo>
                    <a:pt x="521817" y="2426830"/>
                  </a:lnTo>
                  <a:lnTo>
                    <a:pt x="561644" y="2459888"/>
                  </a:lnTo>
                  <a:lnTo>
                    <a:pt x="602602" y="2491549"/>
                  </a:lnTo>
                  <a:lnTo>
                    <a:pt x="644652" y="2521775"/>
                  </a:lnTo>
                  <a:lnTo>
                    <a:pt x="687755" y="2550553"/>
                  </a:lnTo>
                  <a:lnTo>
                    <a:pt x="731875" y="2577820"/>
                  </a:lnTo>
                  <a:lnTo>
                    <a:pt x="717956" y="2163216"/>
                  </a:lnTo>
                  <a:lnTo>
                    <a:pt x="1080617" y="1944471"/>
                  </a:lnTo>
                  <a:close/>
                </a:path>
                <a:path w="2997200" h="2578100">
                  <a:moveTo>
                    <a:pt x="2997022" y="1230541"/>
                  </a:moveTo>
                  <a:lnTo>
                    <a:pt x="2994190" y="1179525"/>
                  </a:lnTo>
                  <a:lnTo>
                    <a:pt x="2989605" y="1128699"/>
                  </a:lnTo>
                  <a:lnTo>
                    <a:pt x="2983280" y="1078090"/>
                  </a:lnTo>
                  <a:lnTo>
                    <a:pt x="2975241" y="1027760"/>
                  </a:lnTo>
                  <a:lnTo>
                    <a:pt x="2965488" y="977747"/>
                  </a:lnTo>
                  <a:lnTo>
                    <a:pt x="2954045" y="928103"/>
                  </a:lnTo>
                  <a:lnTo>
                    <a:pt x="2940913" y="878878"/>
                  </a:lnTo>
                  <a:lnTo>
                    <a:pt x="2926118" y="830110"/>
                  </a:lnTo>
                  <a:lnTo>
                    <a:pt x="2909671" y="781850"/>
                  </a:lnTo>
                  <a:lnTo>
                    <a:pt x="2891574" y="734136"/>
                  </a:lnTo>
                  <a:lnTo>
                    <a:pt x="2871851" y="687019"/>
                  </a:lnTo>
                  <a:lnTo>
                    <a:pt x="2850515" y="640549"/>
                  </a:lnTo>
                  <a:lnTo>
                    <a:pt x="2827578" y="594766"/>
                  </a:lnTo>
                  <a:lnTo>
                    <a:pt x="2803067" y="549719"/>
                  </a:lnTo>
                  <a:lnTo>
                    <a:pt x="2776969" y="505447"/>
                  </a:lnTo>
                  <a:lnTo>
                    <a:pt x="2748915" y="461416"/>
                  </a:lnTo>
                  <a:lnTo>
                    <a:pt x="2719413" y="418465"/>
                  </a:lnTo>
                  <a:lnTo>
                    <a:pt x="2688488" y="376618"/>
                  </a:lnTo>
                  <a:lnTo>
                    <a:pt x="2656179" y="335940"/>
                  </a:lnTo>
                  <a:lnTo>
                    <a:pt x="2622537" y="296430"/>
                  </a:lnTo>
                  <a:lnTo>
                    <a:pt x="2587574" y="258152"/>
                  </a:lnTo>
                  <a:lnTo>
                    <a:pt x="2551341" y="221132"/>
                  </a:lnTo>
                  <a:lnTo>
                    <a:pt x="2513876" y="185394"/>
                  </a:lnTo>
                  <a:lnTo>
                    <a:pt x="2475204" y="150990"/>
                  </a:lnTo>
                  <a:lnTo>
                    <a:pt x="2435364" y="117932"/>
                  </a:lnTo>
                  <a:lnTo>
                    <a:pt x="2394407" y="86271"/>
                  </a:lnTo>
                  <a:lnTo>
                    <a:pt x="2352357" y="56045"/>
                  </a:lnTo>
                  <a:lnTo>
                    <a:pt x="2309253" y="27279"/>
                  </a:lnTo>
                  <a:lnTo>
                    <a:pt x="2265134" y="0"/>
                  </a:lnTo>
                  <a:lnTo>
                    <a:pt x="2279053" y="414616"/>
                  </a:lnTo>
                  <a:lnTo>
                    <a:pt x="1916391" y="633336"/>
                  </a:lnTo>
                  <a:lnTo>
                    <a:pt x="1957908" y="661746"/>
                  </a:lnTo>
                  <a:lnTo>
                    <a:pt x="1997443" y="692746"/>
                  </a:lnTo>
                  <a:lnTo>
                    <a:pt x="2034895" y="726236"/>
                  </a:lnTo>
                  <a:lnTo>
                    <a:pt x="2070125" y="762101"/>
                  </a:lnTo>
                  <a:lnTo>
                    <a:pt x="2103018" y="800214"/>
                  </a:lnTo>
                  <a:lnTo>
                    <a:pt x="2133435" y="840473"/>
                  </a:lnTo>
                  <a:lnTo>
                    <a:pt x="2161273" y="882751"/>
                  </a:lnTo>
                  <a:lnTo>
                    <a:pt x="2185263" y="924788"/>
                  </a:lnTo>
                  <a:lnTo>
                    <a:pt x="2206548" y="968108"/>
                  </a:lnTo>
                  <a:lnTo>
                    <a:pt x="2225078" y="1012558"/>
                  </a:lnTo>
                  <a:lnTo>
                    <a:pt x="2240800" y="1057998"/>
                  </a:lnTo>
                  <a:lnTo>
                    <a:pt x="2253678" y="1104277"/>
                  </a:lnTo>
                  <a:lnTo>
                    <a:pt x="2263673" y="1151267"/>
                  </a:lnTo>
                  <a:lnTo>
                    <a:pt x="2270734" y="1198816"/>
                  </a:lnTo>
                  <a:lnTo>
                    <a:pt x="2274824" y="1246771"/>
                  </a:lnTo>
                  <a:lnTo>
                    <a:pt x="2643924" y="1450568"/>
                  </a:lnTo>
                  <a:lnTo>
                    <a:pt x="2997022" y="1230541"/>
                  </a:lnTo>
                  <a:close/>
                </a:path>
              </a:pathLst>
            </a:custGeom>
            <a:solidFill>
              <a:srgbClr val="CCD5DD"/>
            </a:solidFill>
          </p:spPr>
          <p:txBody>
            <a:bodyPr wrap="square" lIns="0" tIns="0" rIns="0" bIns="0" rtlCol="0"/>
            <a:lstStyle/>
            <a:p>
              <a:endParaRPr/>
            </a:p>
          </p:txBody>
        </p:sp>
        <p:sp>
          <p:nvSpPr>
            <p:cNvPr id="11" name="object 11"/>
            <p:cNvSpPr/>
            <p:nvPr/>
          </p:nvSpPr>
          <p:spPr>
            <a:xfrm>
              <a:off x="5668571" y="2889252"/>
              <a:ext cx="1445895" cy="809625"/>
            </a:xfrm>
            <a:custGeom>
              <a:avLst/>
              <a:gdLst/>
              <a:ahLst/>
              <a:cxnLst/>
              <a:rect l="l" t="t" r="r" b="b"/>
              <a:pathLst>
                <a:path w="1445895" h="809625">
                  <a:moveTo>
                    <a:pt x="1071499" y="0"/>
                  </a:moveTo>
                  <a:lnTo>
                    <a:pt x="1026741" y="21445"/>
                  </a:lnTo>
                  <a:lnTo>
                    <a:pt x="980937" y="39882"/>
                  </a:lnTo>
                  <a:lnTo>
                    <a:pt x="934243" y="55306"/>
                  </a:lnTo>
                  <a:lnTo>
                    <a:pt x="886815" y="67712"/>
                  </a:lnTo>
                  <a:lnTo>
                    <a:pt x="838808" y="77096"/>
                  </a:lnTo>
                  <a:lnTo>
                    <a:pt x="790377" y="83453"/>
                  </a:lnTo>
                  <a:lnTo>
                    <a:pt x="741679" y="86780"/>
                  </a:lnTo>
                  <a:lnTo>
                    <a:pt x="692869" y="87072"/>
                  </a:lnTo>
                  <a:lnTo>
                    <a:pt x="644102" y="84325"/>
                  </a:lnTo>
                  <a:lnTo>
                    <a:pt x="595534" y="78533"/>
                  </a:lnTo>
                  <a:lnTo>
                    <a:pt x="547320" y="69694"/>
                  </a:lnTo>
                  <a:lnTo>
                    <a:pt x="499617" y="57803"/>
                  </a:lnTo>
                  <a:lnTo>
                    <a:pt x="452579" y="42855"/>
                  </a:lnTo>
                  <a:lnTo>
                    <a:pt x="406363" y="24846"/>
                  </a:lnTo>
                  <a:lnTo>
                    <a:pt x="361124" y="3771"/>
                  </a:lnTo>
                  <a:lnTo>
                    <a:pt x="0" y="221602"/>
                  </a:lnTo>
                  <a:lnTo>
                    <a:pt x="13995" y="637336"/>
                  </a:lnTo>
                  <a:lnTo>
                    <a:pt x="57740" y="659405"/>
                  </a:lnTo>
                  <a:lnTo>
                    <a:pt x="102023" y="679952"/>
                  </a:lnTo>
                  <a:lnTo>
                    <a:pt x="146804" y="698979"/>
                  </a:lnTo>
                  <a:lnTo>
                    <a:pt x="192045" y="716487"/>
                  </a:lnTo>
                  <a:lnTo>
                    <a:pt x="237707" y="732477"/>
                  </a:lnTo>
                  <a:lnTo>
                    <a:pt x="283750" y="746950"/>
                  </a:lnTo>
                  <a:lnTo>
                    <a:pt x="330137" y="759907"/>
                  </a:lnTo>
                  <a:lnTo>
                    <a:pt x="376829" y="771349"/>
                  </a:lnTo>
                  <a:lnTo>
                    <a:pt x="423785" y="781277"/>
                  </a:lnTo>
                  <a:lnTo>
                    <a:pt x="470969" y="789692"/>
                  </a:lnTo>
                  <a:lnTo>
                    <a:pt x="518340" y="796595"/>
                  </a:lnTo>
                  <a:lnTo>
                    <a:pt x="565860" y="801987"/>
                  </a:lnTo>
                  <a:lnTo>
                    <a:pt x="613490" y="805869"/>
                  </a:lnTo>
                  <a:lnTo>
                    <a:pt x="661191" y="808242"/>
                  </a:lnTo>
                  <a:lnTo>
                    <a:pt x="708924" y="809106"/>
                  </a:lnTo>
                  <a:lnTo>
                    <a:pt x="756651" y="808464"/>
                  </a:lnTo>
                  <a:lnTo>
                    <a:pt x="804333" y="806316"/>
                  </a:lnTo>
                  <a:lnTo>
                    <a:pt x="851930" y="802663"/>
                  </a:lnTo>
                  <a:lnTo>
                    <a:pt x="899404" y="797506"/>
                  </a:lnTo>
                  <a:lnTo>
                    <a:pt x="946716" y="790846"/>
                  </a:lnTo>
                  <a:lnTo>
                    <a:pt x="993828" y="782684"/>
                  </a:lnTo>
                  <a:lnTo>
                    <a:pt x="1040700" y="773021"/>
                  </a:lnTo>
                  <a:lnTo>
                    <a:pt x="1087293" y="761859"/>
                  </a:lnTo>
                  <a:lnTo>
                    <a:pt x="1133569" y="749197"/>
                  </a:lnTo>
                  <a:lnTo>
                    <a:pt x="1179488" y="735037"/>
                  </a:lnTo>
                  <a:lnTo>
                    <a:pt x="1225013" y="719381"/>
                  </a:lnTo>
                  <a:lnTo>
                    <a:pt x="1270103" y="702228"/>
                  </a:lnTo>
                  <a:lnTo>
                    <a:pt x="1314721" y="683581"/>
                  </a:lnTo>
                  <a:lnTo>
                    <a:pt x="1358827" y="663440"/>
                  </a:lnTo>
                  <a:lnTo>
                    <a:pt x="1402382" y="641806"/>
                  </a:lnTo>
                  <a:lnTo>
                    <a:pt x="1445348" y="618680"/>
                  </a:lnTo>
                  <a:lnTo>
                    <a:pt x="1079601" y="423583"/>
                  </a:lnTo>
                  <a:lnTo>
                    <a:pt x="1071499" y="0"/>
                  </a:lnTo>
                  <a:close/>
                </a:path>
              </a:pathLst>
            </a:custGeom>
            <a:solidFill>
              <a:srgbClr val="E5EAEE"/>
            </a:solidFill>
          </p:spPr>
          <p:txBody>
            <a:bodyPr wrap="square" lIns="0" tIns="0" rIns="0" bIns="0" rtlCol="0"/>
            <a:lstStyle/>
            <a:p>
              <a:endParaRPr/>
            </a:p>
          </p:txBody>
        </p:sp>
      </p:grpSp>
      <p:sp>
        <p:nvSpPr>
          <p:cNvPr id="12" name="object 12"/>
          <p:cNvSpPr txBox="1"/>
          <p:nvPr/>
        </p:nvSpPr>
        <p:spPr>
          <a:xfrm>
            <a:off x="7089725" y="2777252"/>
            <a:ext cx="433070" cy="172085"/>
          </a:xfrm>
          <a:prstGeom prst="rect">
            <a:avLst/>
          </a:prstGeom>
        </p:spPr>
        <p:txBody>
          <a:bodyPr vert="horz" wrap="square" lIns="0" tIns="13970" rIns="0" bIns="0" rtlCol="0">
            <a:spAutoFit/>
          </a:bodyPr>
          <a:lstStyle/>
          <a:p>
            <a:pPr marL="12700">
              <a:lnSpc>
                <a:spcPct val="100000"/>
              </a:lnSpc>
              <a:spcBef>
                <a:spcPts val="110"/>
              </a:spcBef>
            </a:pPr>
            <a:r>
              <a:rPr sz="950" b="1" dirty="0">
                <a:solidFill>
                  <a:srgbClr val="333333"/>
                </a:solidFill>
                <a:latin typeface="Arial"/>
                <a:cs typeface="Arial"/>
              </a:rPr>
              <a:t>Design</a:t>
            </a:r>
            <a:endParaRPr sz="950">
              <a:latin typeface="Arial"/>
              <a:cs typeface="Arial"/>
            </a:endParaRPr>
          </a:p>
        </p:txBody>
      </p:sp>
      <p:sp>
        <p:nvSpPr>
          <p:cNvPr id="13" name="object 13"/>
          <p:cNvSpPr txBox="1"/>
          <p:nvPr/>
        </p:nvSpPr>
        <p:spPr>
          <a:xfrm>
            <a:off x="5950689" y="3240280"/>
            <a:ext cx="512445" cy="172085"/>
          </a:xfrm>
          <a:prstGeom prst="rect">
            <a:avLst/>
          </a:prstGeom>
        </p:spPr>
        <p:txBody>
          <a:bodyPr vert="horz" wrap="square" lIns="0" tIns="13970" rIns="0" bIns="0" rtlCol="0">
            <a:spAutoFit/>
          </a:bodyPr>
          <a:lstStyle/>
          <a:p>
            <a:pPr marL="12700">
              <a:lnSpc>
                <a:spcPct val="100000"/>
              </a:lnSpc>
              <a:spcBef>
                <a:spcPts val="110"/>
              </a:spcBef>
            </a:pPr>
            <a:r>
              <a:rPr sz="950" b="1" spc="15" dirty="0">
                <a:solidFill>
                  <a:srgbClr val="333333"/>
                </a:solidFill>
                <a:latin typeface="Arial"/>
                <a:cs typeface="Arial"/>
              </a:rPr>
              <a:t>D</a:t>
            </a:r>
            <a:r>
              <a:rPr sz="950" b="1" spc="-5" dirty="0">
                <a:solidFill>
                  <a:srgbClr val="333333"/>
                </a:solidFill>
                <a:latin typeface="Arial"/>
                <a:cs typeface="Arial"/>
              </a:rPr>
              <a:t>e</a:t>
            </a:r>
            <a:r>
              <a:rPr sz="950" b="1" spc="10" dirty="0">
                <a:solidFill>
                  <a:srgbClr val="333333"/>
                </a:solidFill>
                <a:latin typeface="Arial"/>
                <a:cs typeface="Arial"/>
              </a:rPr>
              <a:t>v</a:t>
            </a:r>
            <a:r>
              <a:rPr sz="950" b="1" spc="40" dirty="0">
                <a:solidFill>
                  <a:srgbClr val="333333"/>
                </a:solidFill>
                <a:latin typeface="Arial"/>
                <a:cs typeface="Arial"/>
              </a:rPr>
              <a:t>e</a:t>
            </a:r>
            <a:r>
              <a:rPr sz="950" b="1" spc="5" dirty="0">
                <a:solidFill>
                  <a:srgbClr val="333333"/>
                </a:solidFill>
                <a:latin typeface="Arial"/>
                <a:cs typeface="Arial"/>
              </a:rPr>
              <a:t>lo</a:t>
            </a:r>
            <a:r>
              <a:rPr sz="950" b="1" spc="35" dirty="0">
                <a:solidFill>
                  <a:srgbClr val="333333"/>
                </a:solidFill>
                <a:latin typeface="Arial"/>
                <a:cs typeface="Arial"/>
              </a:rPr>
              <a:t>p</a:t>
            </a:r>
            <a:endParaRPr sz="950">
              <a:latin typeface="Arial"/>
              <a:cs typeface="Arial"/>
            </a:endParaRPr>
          </a:p>
        </p:txBody>
      </p:sp>
      <p:sp>
        <p:nvSpPr>
          <p:cNvPr id="14" name="object 14"/>
          <p:cNvSpPr txBox="1"/>
          <p:nvPr/>
        </p:nvSpPr>
        <p:spPr>
          <a:xfrm>
            <a:off x="5099163" y="2547547"/>
            <a:ext cx="492759" cy="172085"/>
          </a:xfrm>
          <a:prstGeom prst="rect">
            <a:avLst/>
          </a:prstGeom>
        </p:spPr>
        <p:txBody>
          <a:bodyPr vert="horz" wrap="square" lIns="0" tIns="13970" rIns="0" bIns="0" rtlCol="0">
            <a:spAutoFit/>
          </a:bodyPr>
          <a:lstStyle/>
          <a:p>
            <a:pPr marL="12700">
              <a:lnSpc>
                <a:spcPct val="100000"/>
              </a:lnSpc>
              <a:spcBef>
                <a:spcPts val="110"/>
              </a:spcBef>
            </a:pPr>
            <a:r>
              <a:rPr sz="950" b="1" spc="-80" dirty="0">
                <a:solidFill>
                  <a:srgbClr val="333333"/>
                </a:solidFill>
                <a:latin typeface="Arial"/>
                <a:cs typeface="Arial"/>
              </a:rPr>
              <a:t>R</a:t>
            </a:r>
            <a:r>
              <a:rPr sz="950" b="1" spc="40" dirty="0">
                <a:solidFill>
                  <a:srgbClr val="333333"/>
                </a:solidFill>
                <a:latin typeface="Arial"/>
                <a:cs typeface="Arial"/>
              </a:rPr>
              <a:t>e</a:t>
            </a:r>
            <a:r>
              <a:rPr sz="950" b="1" spc="25" dirty="0">
                <a:solidFill>
                  <a:srgbClr val="333333"/>
                </a:solidFill>
                <a:latin typeface="Arial"/>
                <a:cs typeface="Arial"/>
              </a:rPr>
              <a:t>le</a:t>
            </a:r>
            <a:r>
              <a:rPr sz="950" b="1" spc="35" dirty="0">
                <a:solidFill>
                  <a:srgbClr val="333333"/>
                </a:solidFill>
                <a:latin typeface="Arial"/>
                <a:cs typeface="Arial"/>
              </a:rPr>
              <a:t>a</a:t>
            </a:r>
            <a:r>
              <a:rPr sz="950" b="1" spc="-50" dirty="0">
                <a:solidFill>
                  <a:srgbClr val="333333"/>
                </a:solidFill>
                <a:latin typeface="Arial"/>
                <a:cs typeface="Arial"/>
              </a:rPr>
              <a:t>s</a:t>
            </a:r>
            <a:r>
              <a:rPr sz="950" b="1" spc="65" dirty="0">
                <a:solidFill>
                  <a:srgbClr val="333333"/>
                </a:solidFill>
                <a:latin typeface="Arial"/>
                <a:cs typeface="Arial"/>
              </a:rPr>
              <a:t>e</a:t>
            </a:r>
            <a:endParaRPr sz="950">
              <a:latin typeface="Arial"/>
              <a:cs typeface="Arial"/>
            </a:endParaRPr>
          </a:p>
        </p:txBody>
      </p:sp>
      <p:sp>
        <p:nvSpPr>
          <p:cNvPr id="15" name="object 15"/>
          <p:cNvSpPr txBox="1"/>
          <p:nvPr/>
        </p:nvSpPr>
        <p:spPr>
          <a:xfrm>
            <a:off x="5200930" y="1392600"/>
            <a:ext cx="512445" cy="295910"/>
          </a:xfrm>
          <a:prstGeom prst="rect">
            <a:avLst/>
          </a:prstGeom>
        </p:spPr>
        <p:txBody>
          <a:bodyPr vert="horz" wrap="square" lIns="0" tIns="34925" rIns="0" bIns="0" rtlCol="0">
            <a:spAutoFit/>
          </a:bodyPr>
          <a:lstStyle/>
          <a:p>
            <a:pPr marL="12700" marR="5080" indent="15240">
              <a:lnSpc>
                <a:spcPts val="980"/>
              </a:lnSpc>
              <a:spcBef>
                <a:spcPts val="275"/>
              </a:spcBef>
            </a:pPr>
            <a:r>
              <a:rPr sz="950" b="1" spc="-45" dirty="0">
                <a:solidFill>
                  <a:srgbClr val="333333"/>
                </a:solidFill>
                <a:latin typeface="Arial"/>
                <a:cs typeface="Arial"/>
              </a:rPr>
              <a:t>T</a:t>
            </a:r>
            <a:r>
              <a:rPr sz="950" b="1" spc="20" dirty="0">
                <a:solidFill>
                  <a:srgbClr val="333333"/>
                </a:solidFill>
                <a:latin typeface="Arial"/>
                <a:cs typeface="Arial"/>
              </a:rPr>
              <a:t>r</a:t>
            </a:r>
            <a:r>
              <a:rPr sz="950" b="1" spc="55" dirty="0">
                <a:solidFill>
                  <a:srgbClr val="333333"/>
                </a:solidFill>
                <a:latin typeface="Arial"/>
                <a:cs typeface="Arial"/>
              </a:rPr>
              <a:t>a</a:t>
            </a:r>
            <a:r>
              <a:rPr sz="950" b="1" spc="-40" dirty="0">
                <a:solidFill>
                  <a:srgbClr val="333333"/>
                </a:solidFill>
                <a:latin typeface="Arial"/>
                <a:cs typeface="Arial"/>
              </a:rPr>
              <a:t>c</a:t>
            </a:r>
            <a:r>
              <a:rPr sz="950" b="1" spc="100" dirty="0">
                <a:solidFill>
                  <a:srgbClr val="333333"/>
                </a:solidFill>
                <a:latin typeface="Arial"/>
                <a:cs typeface="Arial"/>
              </a:rPr>
              <a:t>k</a:t>
            </a:r>
            <a:r>
              <a:rPr sz="950" b="1" spc="-95" dirty="0">
                <a:solidFill>
                  <a:srgbClr val="333333"/>
                </a:solidFill>
                <a:latin typeface="Arial"/>
                <a:cs typeface="Arial"/>
              </a:rPr>
              <a:t> </a:t>
            </a:r>
            <a:r>
              <a:rPr sz="950" b="1" spc="45" dirty="0">
                <a:solidFill>
                  <a:srgbClr val="333333"/>
                </a:solidFill>
                <a:latin typeface="Arial"/>
                <a:cs typeface="Arial"/>
              </a:rPr>
              <a:t>&amp;  </a:t>
            </a:r>
            <a:r>
              <a:rPr sz="950" b="1" spc="105" dirty="0">
                <a:solidFill>
                  <a:srgbClr val="333333"/>
                </a:solidFill>
                <a:latin typeface="Arial"/>
                <a:cs typeface="Arial"/>
              </a:rPr>
              <a:t>M</a:t>
            </a:r>
            <a:r>
              <a:rPr sz="950" b="1" dirty="0">
                <a:solidFill>
                  <a:srgbClr val="333333"/>
                </a:solidFill>
                <a:latin typeface="Arial"/>
                <a:cs typeface="Arial"/>
              </a:rPr>
              <a:t>o</a:t>
            </a:r>
            <a:r>
              <a:rPr sz="950" b="1" spc="45" dirty="0">
                <a:solidFill>
                  <a:srgbClr val="333333"/>
                </a:solidFill>
                <a:latin typeface="Arial"/>
                <a:cs typeface="Arial"/>
              </a:rPr>
              <a:t>n</a:t>
            </a:r>
            <a:r>
              <a:rPr sz="950" b="1" spc="-5" dirty="0">
                <a:solidFill>
                  <a:srgbClr val="333333"/>
                </a:solidFill>
                <a:latin typeface="Arial"/>
                <a:cs typeface="Arial"/>
              </a:rPr>
              <a:t>i</a:t>
            </a:r>
            <a:r>
              <a:rPr sz="950" b="1" spc="45" dirty="0">
                <a:solidFill>
                  <a:srgbClr val="333333"/>
                </a:solidFill>
                <a:latin typeface="Arial"/>
                <a:cs typeface="Arial"/>
              </a:rPr>
              <a:t>to</a:t>
            </a:r>
            <a:r>
              <a:rPr sz="950" b="1" spc="80" dirty="0">
                <a:solidFill>
                  <a:srgbClr val="333333"/>
                </a:solidFill>
                <a:latin typeface="Arial"/>
                <a:cs typeface="Arial"/>
              </a:rPr>
              <a:t>r</a:t>
            </a:r>
            <a:endParaRPr sz="950">
              <a:latin typeface="Arial"/>
              <a:cs typeface="Arial"/>
            </a:endParaRPr>
          </a:p>
        </p:txBody>
      </p:sp>
      <p:sp>
        <p:nvSpPr>
          <p:cNvPr id="16" name="object 16"/>
          <p:cNvSpPr/>
          <p:nvPr/>
        </p:nvSpPr>
        <p:spPr>
          <a:xfrm>
            <a:off x="6108339" y="587811"/>
            <a:ext cx="316230" cy="316230"/>
          </a:xfrm>
          <a:custGeom>
            <a:avLst/>
            <a:gdLst/>
            <a:ahLst/>
            <a:cxnLst/>
            <a:rect l="l" t="t" r="r" b="b"/>
            <a:pathLst>
              <a:path w="316229" h="316230">
                <a:moveTo>
                  <a:pt x="157810" y="0"/>
                </a:moveTo>
                <a:lnTo>
                  <a:pt x="107933" y="8044"/>
                </a:lnTo>
                <a:lnTo>
                  <a:pt x="64613" y="30446"/>
                </a:lnTo>
                <a:lnTo>
                  <a:pt x="30450" y="64605"/>
                </a:lnTo>
                <a:lnTo>
                  <a:pt x="8046" y="107921"/>
                </a:lnTo>
                <a:lnTo>
                  <a:pt x="0" y="157797"/>
                </a:lnTo>
                <a:lnTo>
                  <a:pt x="8046" y="207679"/>
                </a:lnTo>
                <a:lnTo>
                  <a:pt x="30450" y="250999"/>
                </a:lnTo>
                <a:lnTo>
                  <a:pt x="64613" y="285160"/>
                </a:lnTo>
                <a:lnTo>
                  <a:pt x="107933" y="307562"/>
                </a:lnTo>
                <a:lnTo>
                  <a:pt x="157810" y="315607"/>
                </a:lnTo>
                <a:lnTo>
                  <a:pt x="207685" y="307562"/>
                </a:lnTo>
                <a:lnTo>
                  <a:pt x="251002" y="285160"/>
                </a:lnTo>
                <a:lnTo>
                  <a:pt x="285161" y="250999"/>
                </a:lnTo>
                <a:lnTo>
                  <a:pt x="307562" y="207679"/>
                </a:lnTo>
                <a:lnTo>
                  <a:pt x="315607" y="157797"/>
                </a:lnTo>
                <a:lnTo>
                  <a:pt x="307562" y="107921"/>
                </a:lnTo>
                <a:lnTo>
                  <a:pt x="285161" y="64605"/>
                </a:lnTo>
                <a:lnTo>
                  <a:pt x="251002" y="30446"/>
                </a:lnTo>
                <a:lnTo>
                  <a:pt x="207685" y="8044"/>
                </a:lnTo>
                <a:lnTo>
                  <a:pt x="157810" y="0"/>
                </a:lnTo>
                <a:close/>
              </a:path>
            </a:pathLst>
          </a:custGeom>
          <a:solidFill>
            <a:srgbClr val="002F59"/>
          </a:solidFill>
        </p:spPr>
        <p:txBody>
          <a:bodyPr wrap="square" lIns="0" tIns="0" rIns="0" bIns="0" rtlCol="0"/>
          <a:lstStyle/>
          <a:p>
            <a:endParaRPr/>
          </a:p>
        </p:txBody>
      </p:sp>
      <p:sp>
        <p:nvSpPr>
          <p:cNvPr id="17" name="object 17"/>
          <p:cNvSpPr txBox="1"/>
          <p:nvPr/>
        </p:nvSpPr>
        <p:spPr>
          <a:xfrm>
            <a:off x="6104349" y="596671"/>
            <a:ext cx="878840" cy="572770"/>
          </a:xfrm>
          <a:prstGeom prst="rect">
            <a:avLst/>
          </a:prstGeom>
        </p:spPr>
        <p:txBody>
          <a:bodyPr vert="horz" wrap="square" lIns="0" tIns="16510" rIns="0" bIns="0" rtlCol="0">
            <a:spAutoFit/>
          </a:bodyPr>
          <a:lstStyle/>
          <a:p>
            <a:pPr marL="89535">
              <a:lnSpc>
                <a:spcPct val="100000"/>
              </a:lnSpc>
              <a:spcBef>
                <a:spcPts val="130"/>
              </a:spcBef>
            </a:pPr>
            <a:r>
              <a:rPr sz="1600" b="1" spc="65" dirty="0">
                <a:solidFill>
                  <a:srgbClr val="FFFFFF"/>
                </a:solidFill>
                <a:latin typeface="Arial"/>
                <a:cs typeface="Arial"/>
              </a:rPr>
              <a:t>1</a:t>
            </a:r>
            <a:endParaRPr sz="1600">
              <a:latin typeface="Arial"/>
              <a:cs typeface="Arial"/>
            </a:endParaRPr>
          </a:p>
          <a:p>
            <a:pPr marL="12700">
              <a:lnSpc>
                <a:spcPct val="100000"/>
              </a:lnSpc>
              <a:spcBef>
                <a:spcPts val="1210"/>
              </a:spcBef>
            </a:pPr>
            <a:r>
              <a:rPr sz="950" b="1" spc="25" dirty="0">
                <a:solidFill>
                  <a:srgbClr val="333333"/>
                </a:solidFill>
                <a:latin typeface="Arial"/>
                <a:cs typeface="Arial"/>
              </a:rPr>
              <a:t>Requirements</a:t>
            </a:r>
            <a:endParaRPr sz="950">
              <a:latin typeface="Arial"/>
              <a:cs typeface="Arial"/>
            </a:endParaRPr>
          </a:p>
        </p:txBody>
      </p:sp>
      <p:sp>
        <p:nvSpPr>
          <p:cNvPr id="18" name="object 18"/>
          <p:cNvSpPr/>
          <p:nvPr/>
        </p:nvSpPr>
        <p:spPr>
          <a:xfrm>
            <a:off x="7441479" y="1240120"/>
            <a:ext cx="315595" cy="316230"/>
          </a:xfrm>
          <a:custGeom>
            <a:avLst/>
            <a:gdLst/>
            <a:ahLst/>
            <a:cxnLst/>
            <a:rect l="l" t="t" r="r" b="b"/>
            <a:pathLst>
              <a:path w="315595" h="316230">
                <a:moveTo>
                  <a:pt x="157797" y="0"/>
                </a:moveTo>
                <a:lnTo>
                  <a:pt x="107921" y="8044"/>
                </a:lnTo>
                <a:lnTo>
                  <a:pt x="64605" y="30446"/>
                </a:lnTo>
                <a:lnTo>
                  <a:pt x="30446" y="64605"/>
                </a:lnTo>
                <a:lnTo>
                  <a:pt x="8044" y="107921"/>
                </a:lnTo>
                <a:lnTo>
                  <a:pt x="0" y="157797"/>
                </a:lnTo>
                <a:lnTo>
                  <a:pt x="8044" y="207679"/>
                </a:lnTo>
                <a:lnTo>
                  <a:pt x="30446" y="250999"/>
                </a:lnTo>
                <a:lnTo>
                  <a:pt x="64605" y="285160"/>
                </a:lnTo>
                <a:lnTo>
                  <a:pt x="107921" y="307562"/>
                </a:lnTo>
                <a:lnTo>
                  <a:pt x="157797" y="315607"/>
                </a:lnTo>
                <a:lnTo>
                  <a:pt x="207673" y="307562"/>
                </a:lnTo>
                <a:lnTo>
                  <a:pt x="250989" y="285160"/>
                </a:lnTo>
                <a:lnTo>
                  <a:pt x="285148" y="250999"/>
                </a:lnTo>
                <a:lnTo>
                  <a:pt x="307550" y="207679"/>
                </a:lnTo>
                <a:lnTo>
                  <a:pt x="315594" y="157797"/>
                </a:lnTo>
                <a:lnTo>
                  <a:pt x="307550" y="107921"/>
                </a:lnTo>
                <a:lnTo>
                  <a:pt x="285148" y="64605"/>
                </a:lnTo>
                <a:lnTo>
                  <a:pt x="250989" y="30446"/>
                </a:lnTo>
                <a:lnTo>
                  <a:pt x="207673" y="8044"/>
                </a:lnTo>
                <a:lnTo>
                  <a:pt x="157797" y="0"/>
                </a:lnTo>
                <a:close/>
              </a:path>
            </a:pathLst>
          </a:custGeom>
          <a:solidFill>
            <a:srgbClr val="002F59"/>
          </a:solidFill>
        </p:spPr>
        <p:txBody>
          <a:bodyPr wrap="square" lIns="0" tIns="0" rIns="0" bIns="0" rtlCol="0"/>
          <a:lstStyle/>
          <a:p>
            <a:endParaRPr/>
          </a:p>
        </p:txBody>
      </p:sp>
      <p:sp>
        <p:nvSpPr>
          <p:cNvPr id="19" name="object 19"/>
          <p:cNvSpPr txBox="1"/>
          <p:nvPr/>
        </p:nvSpPr>
        <p:spPr>
          <a:xfrm>
            <a:off x="7297232" y="1248980"/>
            <a:ext cx="375920" cy="597535"/>
          </a:xfrm>
          <a:prstGeom prst="rect">
            <a:avLst/>
          </a:prstGeom>
        </p:spPr>
        <p:txBody>
          <a:bodyPr vert="horz" wrap="square" lIns="0" tIns="16510" rIns="0" bIns="0" rtlCol="0">
            <a:spAutoFit/>
          </a:bodyPr>
          <a:lstStyle/>
          <a:p>
            <a:pPr marL="241300">
              <a:lnSpc>
                <a:spcPct val="100000"/>
              </a:lnSpc>
              <a:spcBef>
                <a:spcPts val="130"/>
              </a:spcBef>
            </a:pPr>
            <a:r>
              <a:rPr sz="1600" b="1" spc="65" dirty="0">
                <a:solidFill>
                  <a:srgbClr val="FFFFFF"/>
                </a:solidFill>
                <a:latin typeface="Arial"/>
                <a:cs typeface="Arial"/>
              </a:rPr>
              <a:t>2</a:t>
            </a:r>
            <a:endParaRPr sz="1600">
              <a:latin typeface="Arial"/>
              <a:cs typeface="Arial"/>
            </a:endParaRPr>
          </a:p>
          <a:p>
            <a:pPr marL="12700">
              <a:lnSpc>
                <a:spcPct val="100000"/>
              </a:lnSpc>
              <a:spcBef>
                <a:spcPts val="1410"/>
              </a:spcBef>
            </a:pPr>
            <a:r>
              <a:rPr sz="950" b="1" spc="10" dirty="0">
                <a:solidFill>
                  <a:srgbClr val="333333"/>
                </a:solidFill>
                <a:latin typeface="Arial"/>
                <a:cs typeface="Arial"/>
              </a:rPr>
              <a:t>Plan</a:t>
            </a:r>
            <a:endParaRPr sz="950">
              <a:latin typeface="Arial"/>
              <a:cs typeface="Arial"/>
            </a:endParaRPr>
          </a:p>
        </p:txBody>
      </p:sp>
      <p:sp>
        <p:nvSpPr>
          <p:cNvPr id="20" name="object 20"/>
          <p:cNvSpPr/>
          <p:nvPr/>
        </p:nvSpPr>
        <p:spPr>
          <a:xfrm>
            <a:off x="7564182" y="2573644"/>
            <a:ext cx="316230" cy="316230"/>
          </a:xfrm>
          <a:custGeom>
            <a:avLst/>
            <a:gdLst/>
            <a:ahLst/>
            <a:cxnLst/>
            <a:rect l="l" t="t" r="r" b="b"/>
            <a:pathLst>
              <a:path w="316229" h="316230">
                <a:moveTo>
                  <a:pt x="157810" y="0"/>
                </a:moveTo>
                <a:lnTo>
                  <a:pt x="107933" y="8044"/>
                </a:lnTo>
                <a:lnTo>
                  <a:pt x="64613" y="30446"/>
                </a:lnTo>
                <a:lnTo>
                  <a:pt x="30450" y="64605"/>
                </a:lnTo>
                <a:lnTo>
                  <a:pt x="8046" y="107921"/>
                </a:lnTo>
                <a:lnTo>
                  <a:pt x="0" y="157797"/>
                </a:lnTo>
                <a:lnTo>
                  <a:pt x="8046" y="207679"/>
                </a:lnTo>
                <a:lnTo>
                  <a:pt x="30450" y="250999"/>
                </a:lnTo>
                <a:lnTo>
                  <a:pt x="64613" y="285160"/>
                </a:lnTo>
                <a:lnTo>
                  <a:pt x="107933" y="307562"/>
                </a:lnTo>
                <a:lnTo>
                  <a:pt x="157810" y="315607"/>
                </a:lnTo>
                <a:lnTo>
                  <a:pt x="207685" y="307562"/>
                </a:lnTo>
                <a:lnTo>
                  <a:pt x="251002" y="285160"/>
                </a:lnTo>
                <a:lnTo>
                  <a:pt x="285161" y="250999"/>
                </a:lnTo>
                <a:lnTo>
                  <a:pt x="307562" y="207679"/>
                </a:lnTo>
                <a:lnTo>
                  <a:pt x="315607" y="157797"/>
                </a:lnTo>
                <a:lnTo>
                  <a:pt x="307562" y="107921"/>
                </a:lnTo>
                <a:lnTo>
                  <a:pt x="285161" y="64605"/>
                </a:lnTo>
                <a:lnTo>
                  <a:pt x="251002" y="30446"/>
                </a:lnTo>
                <a:lnTo>
                  <a:pt x="207685" y="8044"/>
                </a:lnTo>
                <a:lnTo>
                  <a:pt x="157810" y="0"/>
                </a:lnTo>
                <a:close/>
              </a:path>
            </a:pathLst>
          </a:custGeom>
          <a:solidFill>
            <a:srgbClr val="002F59"/>
          </a:solidFill>
        </p:spPr>
        <p:txBody>
          <a:bodyPr wrap="square" lIns="0" tIns="0" rIns="0" bIns="0" rtlCol="0"/>
          <a:lstStyle/>
          <a:p>
            <a:endParaRPr/>
          </a:p>
        </p:txBody>
      </p:sp>
      <p:sp>
        <p:nvSpPr>
          <p:cNvPr id="21" name="object 21"/>
          <p:cNvSpPr txBox="1"/>
          <p:nvPr/>
        </p:nvSpPr>
        <p:spPr>
          <a:xfrm>
            <a:off x="7652840" y="2582505"/>
            <a:ext cx="147320" cy="274320"/>
          </a:xfrm>
          <a:prstGeom prst="rect">
            <a:avLst/>
          </a:prstGeom>
        </p:spPr>
        <p:txBody>
          <a:bodyPr vert="horz" wrap="square" lIns="0" tIns="16510" rIns="0" bIns="0" rtlCol="0">
            <a:spAutoFit/>
          </a:bodyPr>
          <a:lstStyle/>
          <a:p>
            <a:pPr marL="12700">
              <a:lnSpc>
                <a:spcPct val="100000"/>
              </a:lnSpc>
              <a:spcBef>
                <a:spcPts val="130"/>
              </a:spcBef>
            </a:pPr>
            <a:r>
              <a:rPr sz="1600" b="1" spc="65" dirty="0">
                <a:solidFill>
                  <a:srgbClr val="FFFFFF"/>
                </a:solidFill>
                <a:latin typeface="Arial"/>
                <a:cs typeface="Arial"/>
              </a:rPr>
              <a:t>3</a:t>
            </a:r>
            <a:endParaRPr sz="1600">
              <a:latin typeface="Arial"/>
              <a:cs typeface="Arial"/>
            </a:endParaRPr>
          </a:p>
        </p:txBody>
      </p:sp>
      <p:sp>
        <p:nvSpPr>
          <p:cNvPr id="22" name="object 22"/>
          <p:cNvSpPr/>
          <p:nvPr/>
        </p:nvSpPr>
        <p:spPr>
          <a:xfrm>
            <a:off x="4969706" y="2882167"/>
            <a:ext cx="316230" cy="316230"/>
          </a:xfrm>
          <a:custGeom>
            <a:avLst/>
            <a:gdLst/>
            <a:ahLst/>
            <a:cxnLst/>
            <a:rect l="l" t="t" r="r" b="b"/>
            <a:pathLst>
              <a:path w="316229" h="316230">
                <a:moveTo>
                  <a:pt x="157810" y="0"/>
                </a:moveTo>
                <a:lnTo>
                  <a:pt x="107933" y="8044"/>
                </a:lnTo>
                <a:lnTo>
                  <a:pt x="64613" y="30446"/>
                </a:lnTo>
                <a:lnTo>
                  <a:pt x="30450" y="64605"/>
                </a:lnTo>
                <a:lnTo>
                  <a:pt x="8046" y="107921"/>
                </a:lnTo>
                <a:lnTo>
                  <a:pt x="0" y="157797"/>
                </a:lnTo>
                <a:lnTo>
                  <a:pt x="8046" y="207679"/>
                </a:lnTo>
                <a:lnTo>
                  <a:pt x="30450" y="250999"/>
                </a:lnTo>
                <a:lnTo>
                  <a:pt x="64613" y="285160"/>
                </a:lnTo>
                <a:lnTo>
                  <a:pt x="107933" y="307562"/>
                </a:lnTo>
                <a:lnTo>
                  <a:pt x="157810" y="315607"/>
                </a:lnTo>
                <a:lnTo>
                  <a:pt x="207685" y="307562"/>
                </a:lnTo>
                <a:lnTo>
                  <a:pt x="251002" y="285160"/>
                </a:lnTo>
                <a:lnTo>
                  <a:pt x="285161" y="250999"/>
                </a:lnTo>
                <a:lnTo>
                  <a:pt x="307562" y="207679"/>
                </a:lnTo>
                <a:lnTo>
                  <a:pt x="315607" y="157797"/>
                </a:lnTo>
                <a:lnTo>
                  <a:pt x="307562" y="107921"/>
                </a:lnTo>
                <a:lnTo>
                  <a:pt x="285161" y="64605"/>
                </a:lnTo>
                <a:lnTo>
                  <a:pt x="251002" y="30446"/>
                </a:lnTo>
                <a:lnTo>
                  <a:pt x="207685" y="8044"/>
                </a:lnTo>
                <a:lnTo>
                  <a:pt x="157810" y="0"/>
                </a:lnTo>
                <a:close/>
              </a:path>
            </a:pathLst>
          </a:custGeom>
          <a:solidFill>
            <a:srgbClr val="002F59"/>
          </a:solidFill>
        </p:spPr>
        <p:txBody>
          <a:bodyPr wrap="square" lIns="0" tIns="0" rIns="0" bIns="0" rtlCol="0"/>
          <a:lstStyle/>
          <a:p>
            <a:endParaRPr/>
          </a:p>
        </p:txBody>
      </p:sp>
      <p:sp>
        <p:nvSpPr>
          <p:cNvPr id="23" name="object 23"/>
          <p:cNvSpPr txBox="1"/>
          <p:nvPr/>
        </p:nvSpPr>
        <p:spPr>
          <a:xfrm>
            <a:off x="5058365" y="2891029"/>
            <a:ext cx="147320" cy="274320"/>
          </a:xfrm>
          <a:prstGeom prst="rect">
            <a:avLst/>
          </a:prstGeom>
        </p:spPr>
        <p:txBody>
          <a:bodyPr vert="horz" wrap="square" lIns="0" tIns="16510" rIns="0" bIns="0" rtlCol="0">
            <a:spAutoFit/>
          </a:bodyPr>
          <a:lstStyle/>
          <a:p>
            <a:pPr marL="12700">
              <a:lnSpc>
                <a:spcPct val="100000"/>
              </a:lnSpc>
              <a:spcBef>
                <a:spcPts val="130"/>
              </a:spcBef>
            </a:pPr>
            <a:r>
              <a:rPr sz="1600" b="1" spc="65" dirty="0">
                <a:solidFill>
                  <a:srgbClr val="FFFFFF"/>
                </a:solidFill>
                <a:latin typeface="Arial"/>
                <a:cs typeface="Arial"/>
              </a:rPr>
              <a:t>5</a:t>
            </a:r>
            <a:endParaRPr sz="1600">
              <a:latin typeface="Arial"/>
              <a:cs typeface="Arial"/>
            </a:endParaRPr>
          </a:p>
        </p:txBody>
      </p:sp>
      <p:sp>
        <p:nvSpPr>
          <p:cNvPr id="24" name="object 24"/>
          <p:cNvSpPr/>
          <p:nvPr/>
        </p:nvSpPr>
        <p:spPr>
          <a:xfrm>
            <a:off x="4834983" y="1502663"/>
            <a:ext cx="316230" cy="316230"/>
          </a:xfrm>
          <a:custGeom>
            <a:avLst/>
            <a:gdLst/>
            <a:ahLst/>
            <a:cxnLst/>
            <a:rect l="l" t="t" r="r" b="b"/>
            <a:pathLst>
              <a:path w="316229" h="316230">
                <a:moveTo>
                  <a:pt x="157810" y="0"/>
                </a:moveTo>
                <a:lnTo>
                  <a:pt x="107933" y="8044"/>
                </a:lnTo>
                <a:lnTo>
                  <a:pt x="64613" y="30446"/>
                </a:lnTo>
                <a:lnTo>
                  <a:pt x="30450" y="64605"/>
                </a:lnTo>
                <a:lnTo>
                  <a:pt x="8046" y="107921"/>
                </a:lnTo>
                <a:lnTo>
                  <a:pt x="0" y="157797"/>
                </a:lnTo>
                <a:lnTo>
                  <a:pt x="8046" y="207679"/>
                </a:lnTo>
                <a:lnTo>
                  <a:pt x="30450" y="250999"/>
                </a:lnTo>
                <a:lnTo>
                  <a:pt x="64613" y="285160"/>
                </a:lnTo>
                <a:lnTo>
                  <a:pt x="107933" y="307562"/>
                </a:lnTo>
                <a:lnTo>
                  <a:pt x="157810" y="315607"/>
                </a:lnTo>
                <a:lnTo>
                  <a:pt x="207685" y="307562"/>
                </a:lnTo>
                <a:lnTo>
                  <a:pt x="251002" y="285160"/>
                </a:lnTo>
                <a:lnTo>
                  <a:pt x="285161" y="250999"/>
                </a:lnTo>
                <a:lnTo>
                  <a:pt x="307562" y="207679"/>
                </a:lnTo>
                <a:lnTo>
                  <a:pt x="315607" y="157797"/>
                </a:lnTo>
                <a:lnTo>
                  <a:pt x="307562" y="107921"/>
                </a:lnTo>
                <a:lnTo>
                  <a:pt x="285161" y="64605"/>
                </a:lnTo>
                <a:lnTo>
                  <a:pt x="251002" y="30446"/>
                </a:lnTo>
                <a:lnTo>
                  <a:pt x="207685" y="8044"/>
                </a:lnTo>
                <a:lnTo>
                  <a:pt x="157810" y="0"/>
                </a:lnTo>
                <a:close/>
              </a:path>
            </a:pathLst>
          </a:custGeom>
          <a:solidFill>
            <a:srgbClr val="002F59"/>
          </a:solidFill>
        </p:spPr>
        <p:txBody>
          <a:bodyPr wrap="square" lIns="0" tIns="0" rIns="0" bIns="0" rtlCol="0"/>
          <a:lstStyle/>
          <a:p>
            <a:endParaRPr/>
          </a:p>
        </p:txBody>
      </p:sp>
      <p:sp>
        <p:nvSpPr>
          <p:cNvPr id="25" name="object 25"/>
          <p:cNvSpPr txBox="1"/>
          <p:nvPr/>
        </p:nvSpPr>
        <p:spPr>
          <a:xfrm>
            <a:off x="4923642" y="1511524"/>
            <a:ext cx="147320" cy="274320"/>
          </a:xfrm>
          <a:prstGeom prst="rect">
            <a:avLst/>
          </a:prstGeom>
        </p:spPr>
        <p:txBody>
          <a:bodyPr vert="horz" wrap="square" lIns="0" tIns="16510" rIns="0" bIns="0" rtlCol="0">
            <a:spAutoFit/>
          </a:bodyPr>
          <a:lstStyle/>
          <a:p>
            <a:pPr marL="12700">
              <a:lnSpc>
                <a:spcPct val="100000"/>
              </a:lnSpc>
              <a:spcBef>
                <a:spcPts val="130"/>
              </a:spcBef>
            </a:pPr>
            <a:r>
              <a:rPr sz="1600" b="1" spc="65" dirty="0">
                <a:solidFill>
                  <a:srgbClr val="FFFFFF"/>
                </a:solidFill>
                <a:latin typeface="Arial"/>
                <a:cs typeface="Arial"/>
              </a:rPr>
              <a:t>6</a:t>
            </a:r>
            <a:endParaRPr sz="1600">
              <a:latin typeface="Arial"/>
              <a:cs typeface="Arial"/>
            </a:endParaRPr>
          </a:p>
        </p:txBody>
      </p:sp>
      <p:sp>
        <p:nvSpPr>
          <p:cNvPr id="26" name="object 26"/>
          <p:cNvSpPr/>
          <p:nvPr/>
        </p:nvSpPr>
        <p:spPr>
          <a:xfrm>
            <a:off x="6448331" y="3468145"/>
            <a:ext cx="316230" cy="316230"/>
          </a:xfrm>
          <a:custGeom>
            <a:avLst/>
            <a:gdLst/>
            <a:ahLst/>
            <a:cxnLst/>
            <a:rect l="l" t="t" r="r" b="b"/>
            <a:pathLst>
              <a:path w="316229" h="316229">
                <a:moveTo>
                  <a:pt x="157810" y="0"/>
                </a:moveTo>
                <a:lnTo>
                  <a:pt x="107933" y="8044"/>
                </a:lnTo>
                <a:lnTo>
                  <a:pt x="64613" y="30446"/>
                </a:lnTo>
                <a:lnTo>
                  <a:pt x="30450" y="64605"/>
                </a:lnTo>
                <a:lnTo>
                  <a:pt x="8046" y="107921"/>
                </a:lnTo>
                <a:lnTo>
                  <a:pt x="0" y="157797"/>
                </a:lnTo>
                <a:lnTo>
                  <a:pt x="8046" y="207679"/>
                </a:lnTo>
                <a:lnTo>
                  <a:pt x="30450" y="250999"/>
                </a:lnTo>
                <a:lnTo>
                  <a:pt x="64613" y="285160"/>
                </a:lnTo>
                <a:lnTo>
                  <a:pt x="107933" y="307562"/>
                </a:lnTo>
                <a:lnTo>
                  <a:pt x="157810" y="315607"/>
                </a:lnTo>
                <a:lnTo>
                  <a:pt x="207685" y="307562"/>
                </a:lnTo>
                <a:lnTo>
                  <a:pt x="251002" y="285160"/>
                </a:lnTo>
                <a:lnTo>
                  <a:pt x="285161" y="250999"/>
                </a:lnTo>
                <a:lnTo>
                  <a:pt x="307562" y="207679"/>
                </a:lnTo>
                <a:lnTo>
                  <a:pt x="315607" y="157797"/>
                </a:lnTo>
                <a:lnTo>
                  <a:pt x="307562" y="107921"/>
                </a:lnTo>
                <a:lnTo>
                  <a:pt x="285161" y="64605"/>
                </a:lnTo>
                <a:lnTo>
                  <a:pt x="251002" y="30446"/>
                </a:lnTo>
                <a:lnTo>
                  <a:pt x="207685" y="8044"/>
                </a:lnTo>
                <a:lnTo>
                  <a:pt x="157810" y="0"/>
                </a:lnTo>
                <a:close/>
              </a:path>
            </a:pathLst>
          </a:custGeom>
          <a:solidFill>
            <a:srgbClr val="002F59"/>
          </a:solidFill>
        </p:spPr>
        <p:txBody>
          <a:bodyPr wrap="square" lIns="0" tIns="0" rIns="0" bIns="0" rtlCol="0"/>
          <a:lstStyle/>
          <a:p>
            <a:endParaRPr/>
          </a:p>
        </p:txBody>
      </p:sp>
      <p:sp>
        <p:nvSpPr>
          <p:cNvPr id="27" name="object 27"/>
          <p:cNvSpPr txBox="1"/>
          <p:nvPr/>
        </p:nvSpPr>
        <p:spPr>
          <a:xfrm>
            <a:off x="6524798" y="3477007"/>
            <a:ext cx="147320" cy="274320"/>
          </a:xfrm>
          <a:prstGeom prst="rect">
            <a:avLst/>
          </a:prstGeom>
        </p:spPr>
        <p:txBody>
          <a:bodyPr vert="horz" wrap="square" lIns="0" tIns="16510" rIns="0" bIns="0" rtlCol="0">
            <a:spAutoFit/>
          </a:bodyPr>
          <a:lstStyle/>
          <a:p>
            <a:pPr marL="12700">
              <a:lnSpc>
                <a:spcPct val="100000"/>
              </a:lnSpc>
              <a:spcBef>
                <a:spcPts val="130"/>
              </a:spcBef>
            </a:pPr>
            <a:r>
              <a:rPr sz="1600" b="1" spc="65" dirty="0">
                <a:solidFill>
                  <a:srgbClr val="FFFFFF"/>
                </a:solidFill>
                <a:latin typeface="Arial"/>
                <a:cs typeface="Arial"/>
              </a:rPr>
              <a:t>4</a:t>
            </a:r>
            <a:endParaRPr sz="1600">
              <a:latin typeface="Arial"/>
              <a:cs typeface="Arial"/>
            </a:endParaRPr>
          </a:p>
        </p:txBody>
      </p:sp>
      <p:sp>
        <p:nvSpPr>
          <p:cNvPr id="28" name="object 28"/>
          <p:cNvSpPr txBox="1"/>
          <p:nvPr/>
        </p:nvSpPr>
        <p:spPr>
          <a:xfrm>
            <a:off x="5747019" y="1939267"/>
            <a:ext cx="1275080" cy="462915"/>
          </a:xfrm>
          <a:prstGeom prst="rect">
            <a:avLst/>
          </a:prstGeom>
        </p:spPr>
        <p:txBody>
          <a:bodyPr vert="horz" wrap="square" lIns="0" tIns="38735" rIns="0" bIns="0" rtlCol="0">
            <a:spAutoFit/>
          </a:bodyPr>
          <a:lstStyle/>
          <a:p>
            <a:pPr marL="12700" marR="5080" indent="387985">
              <a:lnSpc>
                <a:spcPts val="1630"/>
              </a:lnSpc>
              <a:spcBef>
                <a:spcPts val="305"/>
              </a:spcBef>
            </a:pPr>
            <a:r>
              <a:rPr sz="1500" b="1" spc="-5" dirty="0">
                <a:solidFill>
                  <a:srgbClr val="333333"/>
                </a:solidFill>
                <a:latin typeface="Arial"/>
                <a:cs typeface="Arial"/>
              </a:rPr>
              <a:t>Agile </a:t>
            </a:r>
            <a:r>
              <a:rPr sz="1500" b="1" dirty="0">
                <a:solidFill>
                  <a:srgbClr val="333333"/>
                </a:solidFill>
                <a:latin typeface="Arial"/>
                <a:cs typeface="Arial"/>
              </a:rPr>
              <a:t> </a:t>
            </a:r>
            <a:r>
              <a:rPr sz="1500" b="1" spc="-40" dirty="0">
                <a:solidFill>
                  <a:srgbClr val="333333"/>
                </a:solidFill>
                <a:latin typeface="Arial"/>
                <a:cs typeface="Arial"/>
              </a:rPr>
              <a:t>D</a:t>
            </a:r>
            <a:r>
              <a:rPr sz="1500" b="1" spc="15" dirty="0">
                <a:solidFill>
                  <a:srgbClr val="333333"/>
                </a:solidFill>
                <a:latin typeface="Arial"/>
                <a:cs typeface="Arial"/>
              </a:rPr>
              <a:t>e</a:t>
            </a:r>
            <a:r>
              <a:rPr sz="1500" b="1" dirty="0">
                <a:solidFill>
                  <a:srgbClr val="333333"/>
                </a:solidFill>
                <a:latin typeface="Arial"/>
                <a:cs typeface="Arial"/>
              </a:rPr>
              <a:t>v</a:t>
            </a:r>
            <a:r>
              <a:rPr sz="1500" b="1" spc="40" dirty="0">
                <a:solidFill>
                  <a:srgbClr val="333333"/>
                </a:solidFill>
                <a:latin typeface="Arial"/>
                <a:cs typeface="Arial"/>
              </a:rPr>
              <a:t>e</a:t>
            </a:r>
            <a:r>
              <a:rPr sz="1500" b="1" spc="-30" dirty="0">
                <a:solidFill>
                  <a:srgbClr val="333333"/>
                </a:solidFill>
                <a:latin typeface="Arial"/>
                <a:cs typeface="Arial"/>
              </a:rPr>
              <a:t>l</a:t>
            </a:r>
            <a:r>
              <a:rPr sz="1500" b="1" spc="20" dirty="0">
                <a:solidFill>
                  <a:srgbClr val="333333"/>
                </a:solidFill>
                <a:latin typeface="Arial"/>
                <a:cs typeface="Arial"/>
              </a:rPr>
              <a:t>o</a:t>
            </a:r>
            <a:r>
              <a:rPr sz="1500" b="1" spc="-10" dirty="0">
                <a:solidFill>
                  <a:srgbClr val="333333"/>
                </a:solidFill>
                <a:latin typeface="Arial"/>
                <a:cs typeface="Arial"/>
              </a:rPr>
              <a:t>p</a:t>
            </a:r>
            <a:r>
              <a:rPr sz="1500" b="1" spc="110" dirty="0">
                <a:solidFill>
                  <a:srgbClr val="333333"/>
                </a:solidFill>
                <a:latin typeface="Arial"/>
                <a:cs typeface="Arial"/>
              </a:rPr>
              <a:t>m</a:t>
            </a:r>
            <a:r>
              <a:rPr sz="1500" b="1" spc="40" dirty="0">
                <a:solidFill>
                  <a:srgbClr val="333333"/>
                </a:solidFill>
                <a:latin typeface="Arial"/>
                <a:cs typeface="Arial"/>
              </a:rPr>
              <a:t>e</a:t>
            </a:r>
            <a:r>
              <a:rPr sz="1500" b="1" spc="25" dirty="0">
                <a:solidFill>
                  <a:srgbClr val="333333"/>
                </a:solidFill>
                <a:latin typeface="Arial"/>
                <a:cs typeface="Arial"/>
              </a:rPr>
              <a:t>n</a:t>
            </a:r>
            <a:r>
              <a:rPr sz="1500" b="1" spc="195" dirty="0">
                <a:solidFill>
                  <a:srgbClr val="333333"/>
                </a:solidFill>
                <a:latin typeface="Arial"/>
                <a:cs typeface="Arial"/>
              </a:rPr>
              <a:t>t</a:t>
            </a:r>
            <a:endParaRPr sz="1500">
              <a:latin typeface="Arial"/>
              <a:cs typeface="Arial"/>
            </a:endParaRPr>
          </a:p>
        </p:txBody>
      </p:sp>
      <p:sp>
        <p:nvSpPr>
          <p:cNvPr id="29" name="Footer Placeholder 28">
            <a:extLst>
              <a:ext uri="{FF2B5EF4-FFF2-40B4-BE49-F238E27FC236}">
                <a16:creationId xmlns:a16="http://schemas.microsoft.com/office/drawing/2014/main" id="{FF9BA26A-084B-EC36-09B7-EDBC62C79559}"/>
              </a:ext>
            </a:extLst>
          </p:cNvPr>
          <p:cNvSpPr>
            <a:spLocks noGrp="1"/>
          </p:cNvSpPr>
          <p:nvPr>
            <p:ph type="ftr" sz="quarter" idx="5"/>
          </p:nvPr>
        </p:nvSpPr>
        <p:spPr>
          <a:xfrm>
            <a:off x="6634705" y="5571421"/>
            <a:ext cx="1627504" cy="153888"/>
          </a:xfrm>
        </p:spPr>
        <p:txBody>
          <a:bodyPr/>
          <a:lstStyle/>
          <a:p>
            <a:pPr marL="12700" algn="r">
              <a:lnSpc>
                <a:spcPct val="100000"/>
              </a:lnSpc>
              <a:spcBef>
                <a:spcPts val="25"/>
              </a:spcBef>
            </a:pPr>
            <a:r>
              <a:rPr lang="en-MY" spc="-25" dirty="0"/>
              <a:t>Agile Methodology</a:t>
            </a:r>
            <a:endParaRPr lang="en-MY" dirty="0"/>
          </a:p>
        </p:txBody>
      </p:sp>
      <p:sp>
        <p:nvSpPr>
          <p:cNvPr id="30" name="Slide Number Placeholder 29">
            <a:extLst>
              <a:ext uri="{FF2B5EF4-FFF2-40B4-BE49-F238E27FC236}">
                <a16:creationId xmlns:a16="http://schemas.microsoft.com/office/drawing/2014/main" id="{4ABB34B7-E067-8244-A5FA-E7431613A714}"/>
              </a:ext>
            </a:extLst>
          </p:cNvPr>
          <p:cNvSpPr>
            <a:spLocks noGrp="1"/>
          </p:cNvSpPr>
          <p:nvPr>
            <p:ph type="sldNum" sz="quarter" idx="7"/>
          </p:nvPr>
        </p:nvSpPr>
        <p:spPr/>
        <p:txBody>
          <a:bodyPr/>
          <a:lstStyle/>
          <a:p>
            <a:pPr marL="38100">
              <a:lnSpc>
                <a:spcPct val="100000"/>
              </a:lnSpc>
              <a:spcBef>
                <a:spcPts val="190"/>
              </a:spcBef>
            </a:pPr>
            <a:fld id="{81D60167-4931-47E6-BA6A-407CBD079E47}" type="slidenum">
              <a:rPr lang="en-MY" spc="35" smtClean="0"/>
              <a:t>5</a:t>
            </a:fld>
            <a:endParaRPr lang="en-MY" spc="3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1490980"/>
          </a:xfrm>
          <a:custGeom>
            <a:avLst/>
            <a:gdLst/>
            <a:ahLst/>
            <a:cxnLst/>
            <a:rect l="l" t="t" r="r" b="b"/>
            <a:pathLst>
              <a:path w="9144000" h="1490980">
                <a:moveTo>
                  <a:pt x="9144000" y="0"/>
                </a:moveTo>
                <a:lnTo>
                  <a:pt x="0" y="0"/>
                </a:lnTo>
                <a:lnTo>
                  <a:pt x="0" y="1490472"/>
                </a:lnTo>
                <a:lnTo>
                  <a:pt x="9144000" y="1490472"/>
                </a:lnTo>
                <a:lnTo>
                  <a:pt x="9144000" y="0"/>
                </a:lnTo>
                <a:close/>
              </a:path>
            </a:pathLst>
          </a:custGeom>
          <a:solidFill>
            <a:srgbClr val="002F59"/>
          </a:solidFill>
        </p:spPr>
        <p:txBody>
          <a:bodyPr wrap="square" lIns="0" tIns="0" rIns="0" bIns="0" rtlCol="0"/>
          <a:lstStyle/>
          <a:p>
            <a:endParaRPr/>
          </a:p>
        </p:txBody>
      </p:sp>
      <p:sp>
        <p:nvSpPr>
          <p:cNvPr id="3" name="object 3"/>
          <p:cNvSpPr txBox="1">
            <a:spLocks noGrp="1"/>
          </p:cNvSpPr>
          <p:nvPr>
            <p:ph type="title"/>
          </p:nvPr>
        </p:nvSpPr>
        <p:spPr>
          <a:xfrm>
            <a:off x="526368" y="424576"/>
            <a:ext cx="4797425" cy="711200"/>
          </a:xfrm>
          <a:prstGeom prst="rect">
            <a:avLst/>
          </a:prstGeom>
        </p:spPr>
        <p:txBody>
          <a:bodyPr vert="horz" wrap="square" lIns="0" tIns="12700" rIns="0" bIns="0" rtlCol="0">
            <a:spAutoFit/>
          </a:bodyPr>
          <a:lstStyle/>
          <a:p>
            <a:pPr marL="12700">
              <a:lnSpc>
                <a:spcPct val="100000"/>
              </a:lnSpc>
              <a:spcBef>
                <a:spcPts val="100"/>
              </a:spcBef>
            </a:pPr>
            <a:r>
              <a:rPr spc="-245" dirty="0"/>
              <a:t>1</a:t>
            </a:r>
            <a:r>
              <a:rPr spc="130" dirty="0"/>
              <a:t>2</a:t>
            </a:r>
            <a:r>
              <a:rPr spc="-535" dirty="0"/>
              <a:t> </a:t>
            </a:r>
            <a:r>
              <a:rPr spc="-150" dirty="0"/>
              <a:t>A</a:t>
            </a:r>
            <a:r>
              <a:rPr spc="-280" dirty="0"/>
              <a:t>g</a:t>
            </a:r>
            <a:r>
              <a:rPr spc="-55" dirty="0"/>
              <a:t>i</a:t>
            </a:r>
            <a:r>
              <a:rPr spc="-110" dirty="0"/>
              <a:t>l</a:t>
            </a:r>
            <a:r>
              <a:rPr spc="320" dirty="0"/>
              <a:t>e</a:t>
            </a:r>
            <a:r>
              <a:rPr spc="-535" dirty="0"/>
              <a:t> </a:t>
            </a:r>
            <a:r>
              <a:rPr spc="-455" dirty="0"/>
              <a:t>P</a:t>
            </a:r>
            <a:r>
              <a:rPr spc="105" dirty="0"/>
              <a:t>r</a:t>
            </a:r>
            <a:r>
              <a:rPr spc="-55" dirty="0"/>
              <a:t>i</a:t>
            </a:r>
            <a:r>
              <a:rPr spc="-175" dirty="0"/>
              <a:t>n</a:t>
            </a:r>
            <a:r>
              <a:rPr spc="-150" dirty="0"/>
              <a:t>c</a:t>
            </a:r>
            <a:r>
              <a:rPr spc="-55" dirty="0"/>
              <a:t>i</a:t>
            </a:r>
            <a:r>
              <a:rPr spc="-105" dirty="0"/>
              <a:t>p</a:t>
            </a:r>
            <a:r>
              <a:rPr spc="-110" dirty="0"/>
              <a:t>l</a:t>
            </a:r>
            <a:r>
              <a:rPr spc="40" dirty="0"/>
              <a:t>e</a:t>
            </a:r>
            <a:r>
              <a:rPr spc="-105" dirty="0"/>
              <a:t>s</a:t>
            </a:r>
          </a:p>
        </p:txBody>
      </p:sp>
      <p:sp>
        <p:nvSpPr>
          <p:cNvPr id="4" name="object 4"/>
          <p:cNvSpPr txBox="1"/>
          <p:nvPr/>
        </p:nvSpPr>
        <p:spPr>
          <a:xfrm>
            <a:off x="5594094" y="597733"/>
            <a:ext cx="3321306" cy="464614"/>
          </a:xfrm>
          <a:prstGeom prst="rect">
            <a:avLst/>
          </a:prstGeom>
        </p:spPr>
        <p:txBody>
          <a:bodyPr vert="horz" wrap="square" lIns="0" tIns="12700" rIns="0" bIns="0" rtlCol="0">
            <a:spAutoFit/>
          </a:bodyPr>
          <a:lstStyle/>
          <a:p>
            <a:pPr marL="12700" marR="5080">
              <a:lnSpc>
                <a:spcPct val="109000"/>
              </a:lnSpc>
              <a:spcBef>
                <a:spcPts val="100"/>
              </a:spcBef>
            </a:pPr>
            <a:r>
              <a:rPr sz="1400" spc="-20" dirty="0">
                <a:solidFill>
                  <a:srgbClr val="FFFFFF"/>
                </a:solidFill>
                <a:latin typeface="Roboto Lt"/>
                <a:cs typeface="Roboto Lt"/>
              </a:rPr>
              <a:t>T</a:t>
            </a:r>
            <a:r>
              <a:rPr sz="1400" spc="-40" dirty="0">
                <a:solidFill>
                  <a:srgbClr val="FFFFFF"/>
                </a:solidFill>
                <a:latin typeface="Roboto Lt"/>
                <a:cs typeface="Roboto Lt"/>
              </a:rPr>
              <a:t>h</a:t>
            </a:r>
            <a:r>
              <a:rPr sz="1400" dirty="0">
                <a:solidFill>
                  <a:srgbClr val="FFFFFF"/>
                </a:solidFill>
                <a:latin typeface="Roboto Lt"/>
                <a:cs typeface="Roboto Lt"/>
              </a:rPr>
              <a:t>e</a:t>
            </a:r>
            <a:r>
              <a:rPr sz="1400" spc="-30" dirty="0">
                <a:solidFill>
                  <a:srgbClr val="FFFFFF"/>
                </a:solidFill>
                <a:latin typeface="Roboto Lt"/>
                <a:cs typeface="Roboto Lt"/>
              </a:rPr>
              <a:t> </a:t>
            </a:r>
            <a:r>
              <a:rPr sz="1400" spc="-20" dirty="0">
                <a:solidFill>
                  <a:srgbClr val="FFFFFF"/>
                </a:solidFill>
                <a:latin typeface="Roboto Lt"/>
                <a:cs typeface="Roboto Lt"/>
              </a:rPr>
              <a:t>A</a:t>
            </a:r>
            <a:r>
              <a:rPr sz="1400" spc="-35" dirty="0">
                <a:solidFill>
                  <a:srgbClr val="FFFFFF"/>
                </a:solidFill>
                <a:latin typeface="Roboto Lt"/>
                <a:cs typeface="Roboto Lt"/>
              </a:rPr>
              <a:t>g</a:t>
            </a:r>
            <a:r>
              <a:rPr sz="1400" spc="-40" dirty="0">
                <a:solidFill>
                  <a:srgbClr val="FFFFFF"/>
                </a:solidFill>
                <a:latin typeface="Roboto Lt"/>
                <a:cs typeface="Roboto Lt"/>
              </a:rPr>
              <a:t>i</a:t>
            </a:r>
            <a:r>
              <a:rPr sz="1400" spc="-30" dirty="0">
                <a:solidFill>
                  <a:srgbClr val="FFFFFF"/>
                </a:solidFill>
                <a:latin typeface="Roboto Lt"/>
                <a:cs typeface="Roboto Lt"/>
              </a:rPr>
              <a:t>l</a:t>
            </a:r>
            <a:r>
              <a:rPr sz="1400" dirty="0">
                <a:solidFill>
                  <a:srgbClr val="FFFFFF"/>
                </a:solidFill>
                <a:latin typeface="Roboto Lt"/>
                <a:cs typeface="Roboto Lt"/>
              </a:rPr>
              <a:t>e</a:t>
            </a:r>
            <a:r>
              <a:rPr sz="1400" spc="-30" dirty="0">
                <a:solidFill>
                  <a:srgbClr val="FFFFFF"/>
                </a:solidFill>
                <a:latin typeface="Roboto Lt"/>
                <a:cs typeface="Roboto Lt"/>
              </a:rPr>
              <a:t> </a:t>
            </a:r>
            <a:r>
              <a:rPr sz="1400" spc="-25" dirty="0">
                <a:solidFill>
                  <a:srgbClr val="FFFFFF"/>
                </a:solidFill>
                <a:latin typeface="Roboto Lt"/>
                <a:cs typeface="Roboto Lt"/>
              </a:rPr>
              <a:t>M</a:t>
            </a:r>
            <a:r>
              <a:rPr sz="1400" spc="-35" dirty="0">
                <a:solidFill>
                  <a:srgbClr val="FFFFFF"/>
                </a:solidFill>
                <a:latin typeface="Roboto Lt"/>
                <a:cs typeface="Roboto Lt"/>
              </a:rPr>
              <a:t>a</a:t>
            </a:r>
            <a:r>
              <a:rPr sz="1400" spc="-45" dirty="0">
                <a:solidFill>
                  <a:srgbClr val="FFFFFF"/>
                </a:solidFill>
                <a:latin typeface="Roboto Lt"/>
                <a:cs typeface="Roboto Lt"/>
              </a:rPr>
              <a:t>n</a:t>
            </a:r>
            <a:r>
              <a:rPr sz="1400" spc="-35" dirty="0">
                <a:solidFill>
                  <a:srgbClr val="FFFFFF"/>
                </a:solidFill>
                <a:latin typeface="Roboto Lt"/>
                <a:cs typeface="Roboto Lt"/>
              </a:rPr>
              <a:t>i</a:t>
            </a:r>
            <a:r>
              <a:rPr sz="1400" spc="-45" dirty="0">
                <a:solidFill>
                  <a:srgbClr val="FFFFFF"/>
                </a:solidFill>
                <a:latin typeface="Roboto Lt"/>
                <a:cs typeface="Roboto Lt"/>
              </a:rPr>
              <a:t>f</a:t>
            </a:r>
            <a:r>
              <a:rPr sz="1400" spc="-30" dirty="0">
                <a:solidFill>
                  <a:srgbClr val="FFFFFF"/>
                </a:solidFill>
                <a:latin typeface="Roboto Lt"/>
                <a:cs typeface="Roboto Lt"/>
              </a:rPr>
              <a:t>es</a:t>
            </a:r>
            <a:r>
              <a:rPr sz="1400" spc="-60" dirty="0">
                <a:solidFill>
                  <a:srgbClr val="FFFFFF"/>
                </a:solidFill>
                <a:latin typeface="Roboto Lt"/>
                <a:cs typeface="Roboto Lt"/>
              </a:rPr>
              <a:t>t</a:t>
            </a:r>
            <a:r>
              <a:rPr sz="1400" dirty="0">
                <a:solidFill>
                  <a:srgbClr val="FFFFFF"/>
                </a:solidFill>
                <a:latin typeface="Roboto Lt"/>
                <a:cs typeface="Roboto Lt"/>
              </a:rPr>
              <a:t>o</a:t>
            </a:r>
            <a:r>
              <a:rPr sz="1400" spc="-30" dirty="0">
                <a:solidFill>
                  <a:srgbClr val="FFFFFF"/>
                </a:solidFill>
                <a:latin typeface="Roboto Lt"/>
                <a:cs typeface="Roboto Lt"/>
              </a:rPr>
              <a:t> </a:t>
            </a:r>
            <a:r>
              <a:rPr sz="1400" spc="-40" dirty="0">
                <a:solidFill>
                  <a:srgbClr val="FFFFFF"/>
                </a:solidFill>
                <a:latin typeface="Roboto Lt"/>
                <a:cs typeface="Roboto Lt"/>
              </a:rPr>
              <a:t>li</a:t>
            </a:r>
            <a:r>
              <a:rPr sz="1400" spc="-30" dirty="0">
                <a:solidFill>
                  <a:srgbClr val="FFFFFF"/>
                </a:solidFill>
                <a:latin typeface="Roboto Lt"/>
                <a:cs typeface="Roboto Lt"/>
              </a:rPr>
              <a:t>s</a:t>
            </a:r>
            <a:r>
              <a:rPr sz="1400" spc="-40" dirty="0">
                <a:solidFill>
                  <a:srgbClr val="FFFFFF"/>
                </a:solidFill>
                <a:latin typeface="Roboto Lt"/>
                <a:cs typeface="Roboto Lt"/>
              </a:rPr>
              <a:t>t</a:t>
            </a:r>
            <a:r>
              <a:rPr sz="1400" spc="-5" dirty="0">
                <a:solidFill>
                  <a:srgbClr val="FFFFFF"/>
                </a:solidFill>
                <a:latin typeface="Roboto Lt"/>
                <a:cs typeface="Roboto Lt"/>
              </a:rPr>
              <a:t>s</a:t>
            </a:r>
            <a:r>
              <a:rPr sz="1400" spc="-30" dirty="0">
                <a:solidFill>
                  <a:srgbClr val="FFFFFF"/>
                </a:solidFill>
                <a:latin typeface="Roboto Lt"/>
                <a:cs typeface="Roboto Lt"/>
              </a:rPr>
              <a:t> </a:t>
            </a:r>
            <a:r>
              <a:rPr sz="1400" spc="-110" dirty="0">
                <a:solidFill>
                  <a:srgbClr val="FFFFFF"/>
                </a:solidFill>
                <a:latin typeface="Roboto Lt"/>
                <a:cs typeface="Roboto Lt"/>
              </a:rPr>
              <a:t>1</a:t>
            </a:r>
            <a:r>
              <a:rPr sz="1400" dirty="0">
                <a:solidFill>
                  <a:srgbClr val="FFFFFF"/>
                </a:solidFill>
                <a:latin typeface="Roboto Lt"/>
                <a:cs typeface="Roboto Lt"/>
              </a:rPr>
              <a:t>2</a:t>
            </a:r>
            <a:r>
              <a:rPr sz="1400" spc="-30" dirty="0">
                <a:solidFill>
                  <a:srgbClr val="FFFFFF"/>
                </a:solidFill>
                <a:latin typeface="Roboto Lt"/>
                <a:cs typeface="Roboto Lt"/>
              </a:rPr>
              <a:t> p</a:t>
            </a:r>
            <a:r>
              <a:rPr sz="1400" spc="-35" dirty="0">
                <a:solidFill>
                  <a:srgbClr val="FFFFFF"/>
                </a:solidFill>
                <a:latin typeface="Roboto Lt"/>
                <a:cs typeface="Roboto Lt"/>
              </a:rPr>
              <a:t>ri</a:t>
            </a:r>
            <a:r>
              <a:rPr sz="1400" spc="-30" dirty="0">
                <a:solidFill>
                  <a:srgbClr val="FFFFFF"/>
                </a:solidFill>
                <a:latin typeface="Roboto Lt"/>
                <a:cs typeface="Roboto Lt"/>
              </a:rPr>
              <a:t>n</a:t>
            </a:r>
            <a:r>
              <a:rPr sz="1400" spc="-25" dirty="0">
                <a:solidFill>
                  <a:srgbClr val="FFFFFF"/>
                </a:solidFill>
                <a:latin typeface="Roboto Lt"/>
                <a:cs typeface="Roboto Lt"/>
              </a:rPr>
              <a:t>c</a:t>
            </a:r>
            <a:r>
              <a:rPr sz="1400" spc="-35" dirty="0">
                <a:solidFill>
                  <a:srgbClr val="FFFFFF"/>
                </a:solidFill>
                <a:latin typeface="Roboto Lt"/>
                <a:cs typeface="Roboto Lt"/>
              </a:rPr>
              <a:t>ip</a:t>
            </a:r>
            <a:r>
              <a:rPr sz="1400" spc="-30" dirty="0">
                <a:solidFill>
                  <a:srgbClr val="FFFFFF"/>
                </a:solidFill>
                <a:latin typeface="Roboto Lt"/>
                <a:cs typeface="Roboto Lt"/>
              </a:rPr>
              <a:t>le</a:t>
            </a:r>
            <a:r>
              <a:rPr sz="1400" spc="-5" dirty="0">
                <a:solidFill>
                  <a:srgbClr val="FFFFFF"/>
                </a:solidFill>
                <a:latin typeface="Roboto Lt"/>
                <a:cs typeface="Roboto Lt"/>
              </a:rPr>
              <a:t>s</a:t>
            </a:r>
            <a:r>
              <a:rPr sz="1400" spc="-30" dirty="0">
                <a:solidFill>
                  <a:srgbClr val="FFFFFF"/>
                </a:solidFill>
                <a:latin typeface="Roboto Lt"/>
                <a:cs typeface="Roboto Lt"/>
              </a:rPr>
              <a:t> </a:t>
            </a:r>
            <a:r>
              <a:rPr sz="1400" spc="-60" dirty="0">
                <a:solidFill>
                  <a:srgbClr val="FFFFFF"/>
                </a:solidFill>
                <a:latin typeface="Roboto Lt"/>
                <a:cs typeface="Roboto Lt"/>
              </a:rPr>
              <a:t>t</a:t>
            </a:r>
            <a:r>
              <a:rPr sz="1400" dirty="0">
                <a:solidFill>
                  <a:srgbClr val="FFFFFF"/>
                </a:solidFill>
                <a:latin typeface="Roboto Lt"/>
                <a:cs typeface="Roboto Lt"/>
              </a:rPr>
              <a:t>o  </a:t>
            </a:r>
            <a:r>
              <a:rPr sz="1400" spc="-25" dirty="0">
                <a:solidFill>
                  <a:srgbClr val="FFFFFF"/>
                </a:solidFill>
                <a:latin typeface="Roboto Lt"/>
                <a:cs typeface="Roboto Lt"/>
              </a:rPr>
              <a:t>guide</a:t>
            </a:r>
            <a:r>
              <a:rPr sz="1400" spc="-35" dirty="0">
                <a:solidFill>
                  <a:srgbClr val="FFFFFF"/>
                </a:solidFill>
                <a:latin typeface="Roboto Lt"/>
                <a:cs typeface="Roboto Lt"/>
              </a:rPr>
              <a:t> </a:t>
            </a:r>
            <a:r>
              <a:rPr sz="1400" spc="-30" dirty="0">
                <a:solidFill>
                  <a:srgbClr val="FFFFFF"/>
                </a:solidFill>
                <a:latin typeface="Roboto Lt"/>
                <a:cs typeface="Roboto Lt"/>
              </a:rPr>
              <a:t>teams</a:t>
            </a:r>
            <a:r>
              <a:rPr sz="1400" spc="-35" dirty="0">
                <a:solidFill>
                  <a:srgbClr val="FFFFFF"/>
                </a:solidFill>
                <a:latin typeface="Roboto Lt"/>
                <a:cs typeface="Roboto Lt"/>
              </a:rPr>
              <a:t> </a:t>
            </a:r>
            <a:r>
              <a:rPr sz="1400" spc="-15" dirty="0">
                <a:solidFill>
                  <a:srgbClr val="FFFFFF"/>
                </a:solidFill>
                <a:latin typeface="Roboto Lt"/>
                <a:cs typeface="Roboto Lt"/>
              </a:rPr>
              <a:t>on</a:t>
            </a:r>
            <a:r>
              <a:rPr sz="1400" spc="-30" dirty="0">
                <a:solidFill>
                  <a:srgbClr val="FFFFFF"/>
                </a:solidFill>
                <a:latin typeface="Roboto Lt"/>
                <a:cs typeface="Roboto Lt"/>
              </a:rPr>
              <a:t> how</a:t>
            </a:r>
            <a:r>
              <a:rPr sz="1400" spc="-35" dirty="0">
                <a:solidFill>
                  <a:srgbClr val="FFFFFF"/>
                </a:solidFill>
                <a:latin typeface="Roboto Lt"/>
                <a:cs typeface="Roboto Lt"/>
              </a:rPr>
              <a:t> </a:t>
            </a:r>
            <a:r>
              <a:rPr sz="1400" spc="-30" dirty="0">
                <a:solidFill>
                  <a:srgbClr val="FFFFFF"/>
                </a:solidFill>
                <a:latin typeface="Roboto Lt"/>
                <a:cs typeface="Roboto Lt"/>
              </a:rPr>
              <a:t>to execute</a:t>
            </a:r>
            <a:r>
              <a:rPr sz="1400" spc="-35" dirty="0">
                <a:solidFill>
                  <a:srgbClr val="FFFFFF"/>
                </a:solidFill>
                <a:latin typeface="Roboto Lt"/>
                <a:cs typeface="Roboto Lt"/>
              </a:rPr>
              <a:t> </a:t>
            </a:r>
            <a:r>
              <a:rPr sz="1400" spc="-30" dirty="0">
                <a:solidFill>
                  <a:srgbClr val="FFFFFF"/>
                </a:solidFill>
                <a:latin typeface="Roboto Lt"/>
                <a:cs typeface="Roboto Lt"/>
              </a:rPr>
              <a:t>with</a:t>
            </a:r>
            <a:r>
              <a:rPr sz="1400" spc="-35" dirty="0">
                <a:solidFill>
                  <a:srgbClr val="FFFFFF"/>
                </a:solidFill>
                <a:latin typeface="Roboto Lt"/>
                <a:cs typeface="Roboto Lt"/>
              </a:rPr>
              <a:t> </a:t>
            </a:r>
            <a:r>
              <a:rPr sz="1400" spc="-25" dirty="0">
                <a:solidFill>
                  <a:srgbClr val="FFFFFF"/>
                </a:solidFill>
                <a:latin typeface="Roboto Lt"/>
                <a:cs typeface="Roboto Lt"/>
              </a:rPr>
              <a:t>agility:</a:t>
            </a:r>
            <a:endParaRPr sz="1400" dirty="0">
              <a:latin typeface="Roboto Lt"/>
              <a:cs typeface="Roboto Lt"/>
            </a:endParaRPr>
          </a:p>
        </p:txBody>
      </p:sp>
      <p:grpSp>
        <p:nvGrpSpPr>
          <p:cNvPr id="5" name="object 5"/>
          <p:cNvGrpSpPr/>
          <p:nvPr/>
        </p:nvGrpSpPr>
        <p:grpSpPr>
          <a:xfrm>
            <a:off x="419100" y="1490472"/>
            <a:ext cx="8305800" cy="1941195"/>
            <a:chOff x="419100" y="1490472"/>
            <a:chExt cx="8305800" cy="1941195"/>
          </a:xfrm>
        </p:grpSpPr>
        <p:sp>
          <p:nvSpPr>
            <p:cNvPr id="6" name="object 6"/>
            <p:cNvSpPr/>
            <p:nvPr/>
          </p:nvSpPr>
          <p:spPr>
            <a:xfrm>
              <a:off x="5956300" y="1490472"/>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D8DFE6"/>
            </a:solidFill>
          </p:spPr>
          <p:txBody>
            <a:bodyPr wrap="square" lIns="0" tIns="0" rIns="0" bIns="0" rtlCol="0"/>
            <a:lstStyle/>
            <a:p>
              <a:endParaRPr/>
            </a:p>
          </p:txBody>
        </p:sp>
        <p:sp>
          <p:nvSpPr>
            <p:cNvPr id="7" name="object 7"/>
            <p:cNvSpPr/>
            <p:nvPr/>
          </p:nvSpPr>
          <p:spPr>
            <a:xfrm>
              <a:off x="419100" y="1490472"/>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F2F4F6"/>
            </a:solidFill>
          </p:spPr>
          <p:txBody>
            <a:bodyPr wrap="square" lIns="0" tIns="0" rIns="0" bIns="0" rtlCol="0"/>
            <a:lstStyle/>
            <a:p>
              <a:endParaRPr/>
            </a:p>
          </p:txBody>
        </p:sp>
        <p:sp>
          <p:nvSpPr>
            <p:cNvPr id="8" name="object 8"/>
            <p:cNvSpPr/>
            <p:nvPr/>
          </p:nvSpPr>
          <p:spPr>
            <a:xfrm>
              <a:off x="3187700" y="1490472"/>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E5EAEE"/>
            </a:solidFill>
          </p:spPr>
          <p:txBody>
            <a:bodyPr wrap="square" lIns="0" tIns="0" rIns="0" bIns="0" rtlCol="0"/>
            <a:lstStyle/>
            <a:p>
              <a:endParaRPr/>
            </a:p>
          </p:txBody>
        </p:sp>
      </p:grpSp>
      <p:sp>
        <p:nvSpPr>
          <p:cNvPr id="9" name="object 9"/>
          <p:cNvSpPr txBox="1"/>
          <p:nvPr/>
        </p:nvSpPr>
        <p:spPr>
          <a:xfrm>
            <a:off x="653044" y="1617723"/>
            <a:ext cx="3079750" cy="610235"/>
          </a:xfrm>
          <a:prstGeom prst="rect">
            <a:avLst/>
          </a:prstGeom>
        </p:spPr>
        <p:txBody>
          <a:bodyPr vert="horz" wrap="square" lIns="0" tIns="17145" rIns="0" bIns="0" rtlCol="0">
            <a:spAutoFit/>
          </a:bodyPr>
          <a:lstStyle/>
          <a:p>
            <a:pPr marL="12700">
              <a:lnSpc>
                <a:spcPct val="100000"/>
              </a:lnSpc>
              <a:spcBef>
                <a:spcPts val="135"/>
              </a:spcBef>
              <a:tabLst>
                <a:tab pos="2780665" algn="l"/>
              </a:tabLst>
            </a:pPr>
            <a:r>
              <a:rPr sz="3800" b="1" spc="130" dirty="0">
                <a:solidFill>
                  <a:srgbClr val="002F59"/>
                </a:solidFill>
                <a:latin typeface="Arial"/>
                <a:cs typeface="Arial"/>
              </a:rPr>
              <a:t>1	2</a:t>
            </a:r>
            <a:endParaRPr sz="3800">
              <a:latin typeface="Arial"/>
              <a:cs typeface="Arial"/>
            </a:endParaRPr>
          </a:p>
        </p:txBody>
      </p:sp>
      <p:sp>
        <p:nvSpPr>
          <p:cNvPr id="10" name="object 10"/>
          <p:cNvSpPr txBox="1"/>
          <p:nvPr/>
        </p:nvSpPr>
        <p:spPr>
          <a:xfrm>
            <a:off x="1185002" y="1710568"/>
            <a:ext cx="1768012" cy="1598579"/>
          </a:xfrm>
          <a:prstGeom prst="rect">
            <a:avLst/>
          </a:prstGeom>
        </p:spPr>
        <p:txBody>
          <a:bodyPr vert="horz" wrap="square" lIns="0" tIns="52705" rIns="0" bIns="0" rtlCol="0">
            <a:spAutoFit/>
          </a:bodyPr>
          <a:lstStyle/>
          <a:p>
            <a:pPr marL="12700" marR="243204">
              <a:lnSpc>
                <a:spcPts val="1570"/>
              </a:lnSpc>
              <a:spcBef>
                <a:spcPts val="415"/>
              </a:spcBef>
            </a:pPr>
            <a:r>
              <a:rPr sz="1600" b="1" dirty="0">
                <a:solidFill>
                  <a:srgbClr val="333333"/>
                </a:solidFill>
                <a:latin typeface="Arial"/>
                <a:cs typeface="Arial"/>
              </a:rPr>
              <a:t>Satisfy the  customer</a:t>
            </a:r>
            <a:endParaRPr sz="1600" dirty="0">
              <a:latin typeface="Arial"/>
              <a:cs typeface="Arial"/>
            </a:endParaRPr>
          </a:p>
          <a:p>
            <a:pPr marL="12700" marR="5080">
              <a:lnSpc>
                <a:spcPct val="120700"/>
              </a:lnSpc>
              <a:spcBef>
                <a:spcPts val="320"/>
              </a:spcBef>
            </a:pPr>
            <a:r>
              <a:rPr sz="1200" dirty="0">
                <a:solidFill>
                  <a:srgbClr val="333333"/>
                </a:solidFill>
                <a:latin typeface="Roboto Lt"/>
                <a:cs typeface="Roboto Lt"/>
              </a:rPr>
              <a:t>Our highest priority is to  satisfy the customer  through early and  continuous delivery of  valuable software.</a:t>
            </a:r>
            <a:endParaRPr sz="1200" dirty="0">
              <a:latin typeface="Roboto Lt"/>
              <a:cs typeface="Roboto Lt"/>
            </a:endParaRPr>
          </a:p>
        </p:txBody>
      </p:sp>
      <p:sp>
        <p:nvSpPr>
          <p:cNvPr id="11" name="object 11"/>
          <p:cNvSpPr txBox="1"/>
          <p:nvPr/>
        </p:nvSpPr>
        <p:spPr>
          <a:xfrm>
            <a:off x="3953603" y="1710568"/>
            <a:ext cx="1913797" cy="1580304"/>
          </a:xfrm>
          <a:prstGeom prst="rect">
            <a:avLst/>
          </a:prstGeom>
        </p:spPr>
        <p:txBody>
          <a:bodyPr vert="horz" wrap="square" lIns="0" tIns="52705" rIns="0" bIns="0" rtlCol="0">
            <a:spAutoFit/>
          </a:bodyPr>
          <a:lstStyle/>
          <a:p>
            <a:pPr marL="12700" marR="71755">
              <a:lnSpc>
                <a:spcPts val="1570"/>
              </a:lnSpc>
              <a:spcBef>
                <a:spcPts val="415"/>
              </a:spcBef>
            </a:pPr>
            <a:r>
              <a:rPr sz="1600" b="1" dirty="0">
                <a:solidFill>
                  <a:srgbClr val="333333"/>
                </a:solidFill>
                <a:latin typeface="Arial"/>
                <a:cs typeface="Arial"/>
              </a:rPr>
              <a:t>Welcome  changing  requirements</a:t>
            </a:r>
            <a:endParaRPr sz="1600" dirty="0">
              <a:latin typeface="Arial"/>
              <a:cs typeface="Arial"/>
            </a:endParaRPr>
          </a:p>
          <a:p>
            <a:pPr marL="12700" marR="5080">
              <a:lnSpc>
                <a:spcPct val="120700"/>
              </a:lnSpc>
              <a:spcBef>
                <a:spcPts val="325"/>
              </a:spcBef>
            </a:pPr>
            <a:r>
              <a:rPr sz="1200" dirty="0">
                <a:solidFill>
                  <a:srgbClr val="333333"/>
                </a:solidFill>
                <a:latin typeface="Roboto Lt"/>
                <a:cs typeface="Roboto Lt"/>
              </a:rPr>
              <a:t>Even late in development.  Agile processes harness  change for the customer’s  competitive advantage.</a:t>
            </a:r>
            <a:endParaRPr sz="1200" dirty="0">
              <a:latin typeface="Roboto Lt"/>
              <a:cs typeface="Roboto Lt"/>
            </a:endParaRPr>
          </a:p>
        </p:txBody>
      </p:sp>
      <p:sp>
        <p:nvSpPr>
          <p:cNvPr id="12" name="object 12"/>
          <p:cNvSpPr txBox="1"/>
          <p:nvPr/>
        </p:nvSpPr>
        <p:spPr>
          <a:xfrm>
            <a:off x="6722205" y="1710568"/>
            <a:ext cx="1768751" cy="1580304"/>
          </a:xfrm>
          <a:prstGeom prst="rect">
            <a:avLst/>
          </a:prstGeom>
        </p:spPr>
        <p:txBody>
          <a:bodyPr vert="horz" wrap="square" lIns="0" tIns="52705" rIns="0" bIns="0" rtlCol="0">
            <a:spAutoFit/>
          </a:bodyPr>
          <a:lstStyle/>
          <a:p>
            <a:pPr marL="12700" marR="5080">
              <a:lnSpc>
                <a:spcPts val="1570"/>
              </a:lnSpc>
              <a:spcBef>
                <a:spcPts val="415"/>
              </a:spcBef>
            </a:pPr>
            <a:r>
              <a:rPr sz="1600" b="1" dirty="0">
                <a:solidFill>
                  <a:srgbClr val="333333"/>
                </a:solidFill>
                <a:latin typeface="Arial"/>
                <a:cs typeface="Arial"/>
              </a:rPr>
              <a:t>Deliver working  software  frequently</a:t>
            </a:r>
            <a:endParaRPr sz="1600" dirty="0">
              <a:latin typeface="Arial"/>
              <a:cs typeface="Arial"/>
            </a:endParaRPr>
          </a:p>
          <a:p>
            <a:pPr marL="12700" marR="57785">
              <a:lnSpc>
                <a:spcPct val="120700"/>
              </a:lnSpc>
              <a:spcBef>
                <a:spcPts val="325"/>
              </a:spcBef>
            </a:pPr>
            <a:r>
              <a:rPr lang="en-US" sz="1200" dirty="0">
                <a:solidFill>
                  <a:srgbClr val="333333"/>
                </a:solidFill>
                <a:latin typeface="Roboto Lt"/>
                <a:cs typeface="Roboto Lt"/>
              </a:rPr>
              <a:t>F</a:t>
            </a:r>
            <a:r>
              <a:rPr sz="1200" dirty="0">
                <a:solidFill>
                  <a:srgbClr val="333333"/>
                </a:solidFill>
                <a:latin typeface="Roboto Lt"/>
                <a:cs typeface="Roboto Lt"/>
              </a:rPr>
              <a:t>rom a couple of weeks to a  couple of months, with  preference to the shorter  timescale.</a:t>
            </a:r>
            <a:endParaRPr sz="1200" dirty="0">
              <a:latin typeface="Roboto Lt"/>
              <a:cs typeface="Roboto Lt"/>
            </a:endParaRPr>
          </a:p>
        </p:txBody>
      </p:sp>
      <p:sp>
        <p:nvSpPr>
          <p:cNvPr id="13" name="object 13"/>
          <p:cNvSpPr txBox="1"/>
          <p:nvPr/>
        </p:nvSpPr>
        <p:spPr>
          <a:xfrm>
            <a:off x="6190246" y="1617723"/>
            <a:ext cx="311150" cy="610235"/>
          </a:xfrm>
          <a:prstGeom prst="rect">
            <a:avLst/>
          </a:prstGeom>
        </p:spPr>
        <p:txBody>
          <a:bodyPr vert="horz" wrap="square" lIns="0" tIns="17145" rIns="0" bIns="0" rtlCol="0">
            <a:spAutoFit/>
          </a:bodyPr>
          <a:lstStyle/>
          <a:p>
            <a:pPr marL="12700">
              <a:lnSpc>
                <a:spcPct val="100000"/>
              </a:lnSpc>
              <a:spcBef>
                <a:spcPts val="135"/>
              </a:spcBef>
            </a:pPr>
            <a:r>
              <a:rPr sz="3800" b="1" spc="130" dirty="0">
                <a:solidFill>
                  <a:srgbClr val="002F59"/>
                </a:solidFill>
                <a:latin typeface="Arial"/>
                <a:cs typeface="Arial"/>
              </a:rPr>
              <a:t>3</a:t>
            </a:r>
            <a:endParaRPr sz="3800">
              <a:latin typeface="Arial"/>
              <a:cs typeface="Arial"/>
            </a:endParaRPr>
          </a:p>
        </p:txBody>
      </p:sp>
      <p:grpSp>
        <p:nvGrpSpPr>
          <p:cNvPr id="14" name="object 14"/>
          <p:cNvGrpSpPr/>
          <p:nvPr/>
        </p:nvGrpSpPr>
        <p:grpSpPr>
          <a:xfrm>
            <a:off x="419100" y="3431285"/>
            <a:ext cx="8305800" cy="1941195"/>
            <a:chOff x="419100" y="3431285"/>
            <a:chExt cx="8305800" cy="1941195"/>
          </a:xfrm>
        </p:grpSpPr>
        <p:sp>
          <p:nvSpPr>
            <p:cNvPr id="15" name="object 15"/>
            <p:cNvSpPr/>
            <p:nvPr/>
          </p:nvSpPr>
          <p:spPr>
            <a:xfrm>
              <a:off x="5956300" y="3431285"/>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B2C0CD"/>
            </a:solidFill>
          </p:spPr>
          <p:txBody>
            <a:bodyPr wrap="square" lIns="0" tIns="0" rIns="0" bIns="0" rtlCol="0"/>
            <a:lstStyle/>
            <a:p>
              <a:endParaRPr/>
            </a:p>
          </p:txBody>
        </p:sp>
        <p:sp>
          <p:nvSpPr>
            <p:cNvPr id="16" name="object 16"/>
            <p:cNvSpPr/>
            <p:nvPr/>
          </p:nvSpPr>
          <p:spPr>
            <a:xfrm>
              <a:off x="419100" y="3431285"/>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CCD5DD"/>
            </a:solidFill>
          </p:spPr>
          <p:txBody>
            <a:bodyPr wrap="square" lIns="0" tIns="0" rIns="0" bIns="0" rtlCol="0"/>
            <a:lstStyle/>
            <a:p>
              <a:endParaRPr/>
            </a:p>
          </p:txBody>
        </p:sp>
        <p:sp>
          <p:nvSpPr>
            <p:cNvPr id="17" name="object 17"/>
            <p:cNvSpPr/>
            <p:nvPr/>
          </p:nvSpPr>
          <p:spPr>
            <a:xfrm>
              <a:off x="3187700" y="3431285"/>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BFCBD5"/>
            </a:solidFill>
          </p:spPr>
          <p:txBody>
            <a:bodyPr wrap="square" lIns="0" tIns="0" rIns="0" bIns="0" rtlCol="0"/>
            <a:lstStyle/>
            <a:p>
              <a:endParaRPr/>
            </a:p>
          </p:txBody>
        </p:sp>
      </p:grpSp>
      <p:sp>
        <p:nvSpPr>
          <p:cNvPr id="18" name="object 18"/>
          <p:cNvSpPr txBox="1"/>
          <p:nvPr/>
        </p:nvSpPr>
        <p:spPr>
          <a:xfrm>
            <a:off x="653044" y="3571237"/>
            <a:ext cx="311150" cy="610235"/>
          </a:xfrm>
          <a:prstGeom prst="rect">
            <a:avLst/>
          </a:prstGeom>
        </p:spPr>
        <p:txBody>
          <a:bodyPr vert="horz" wrap="square" lIns="0" tIns="17145" rIns="0" bIns="0" rtlCol="0">
            <a:spAutoFit/>
          </a:bodyPr>
          <a:lstStyle/>
          <a:p>
            <a:pPr marL="12700">
              <a:lnSpc>
                <a:spcPct val="100000"/>
              </a:lnSpc>
              <a:spcBef>
                <a:spcPts val="135"/>
              </a:spcBef>
            </a:pPr>
            <a:r>
              <a:rPr sz="3800" b="1" spc="130" dirty="0">
                <a:solidFill>
                  <a:srgbClr val="002F59"/>
                </a:solidFill>
                <a:latin typeface="Arial"/>
                <a:cs typeface="Arial"/>
              </a:rPr>
              <a:t>4</a:t>
            </a:r>
            <a:endParaRPr sz="3800">
              <a:latin typeface="Arial"/>
              <a:cs typeface="Arial"/>
            </a:endParaRPr>
          </a:p>
        </p:txBody>
      </p:sp>
      <p:sp>
        <p:nvSpPr>
          <p:cNvPr id="22" name="object 22"/>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6</a:t>
            </a:r>
            <a:endParaRPr spc="35" dirty="0"/>
          </a:p>
        </p:txBody>
      </p:sp>
      <p:sp>
        <p:nvSpPr>
          <p:cNvPr id="23" name="object 23"/>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spc="-25" dirty="0"/>
              <a:t>A</a:t>
            </a:r>
            <a:r>
              <a:rPr spc="-40" dirty="0"/>
              <a:t>g</a:t>
            </a:r>
            <a:r>
              <a:rPr spc="-45" dirty="0"/>
              <a:t>i</a:t>
            </a:r>
            <a:r>
              <a:rPr spc="-35" dirty="0"/>
              <a:t>l</a:t>
            </a:r>
            <a:r>
              <a:rPr dirty="0"/>
              <a:t>e</a:t>
            </a:r>
            <a:r>
              <a:rPr spc="-60" dirty="0"/>
              <a:t> </a:t>
            </a:r>
            <a:r>
              <a:rPr lang="en-US" spc="-35" dirty="0"/>
              <a:t>Methodology</a:t>
            </a:r>
            <a:endParaRPr dirty="0"/>
          </a:p>
        </p:txBody>
      </p:sp>
      <p:sp>
        <p:nvSpPr>
          <p:cNvPr id="19" name="object 19"/>
          <p:cNvSpPr txBox="1"/>
          <p:nvPr/>
        </p:nvSpPr>
        <p:spPr>
          <a:xfrm>
            <a:off x="1185002" y="3663275"/>
            <a:ext cx="1614344" cy="1285608"/>
          </a:xfrm>
          <a:prstGeom prst="rect">
            <a:avLst/>
          </a:prstGeom>
        </p:spPr>
        <p:txBody>
          <a:bodyPr vert="horz" wrap="square" lIns="0" tIns="53340" rIns="0" bIns="0" rtlCol="0">
            <a:spAutoFit/>
          </a:bodyPr>
          <a:lstStyle/>
          <a:p>
            <a:pPr marL="12700" marR="509905">
              <a:lnSpc>
                <a:spcPts val="1600"/>
              </a:lnSpc>
              <a:spcBef>
                <a:spcPts val="420"/>
              </a:spcBef>
            </a:pPr>
            <a:r>
              <a:rPr b="1" dirty="0">
                <a:solidFill>
                  <a:srgbClr val="333333"/>
                </a:solidFill>
                <a:latin typeface="Arial"/>
                <a:cs typeface="Arial"/>
              </a:rPr>
              <a:t>Work  together</a:t>
            </a:r>
            <a:endParaRPr dirty="0">
              <a:latin typeface="Arial"/>
              <a:cs typeface="Arial"/>
            </a:endParaRPr>
          </a:p>
          <a:p>
            <a:pPr marL="12700" marR="5080">
              <a:lnSpc>
                <a:spcPct val="108300"/>
              </a:lnSpc>
              <a:spcBef>
                <a:spcPts val="330"/>
              </a:spcBef>
            </a:pPr>
            <a:r>
              <a:rPr sz="1200" dirty="0">
                <a:solidFill>
                  <a:srgbClr val="333333"/>
                </a:solidFill>
                <a:latin typeface="Roboto Lt"/>
                <a:cs typeface="Roboto Lt"/>
              </a:rPr>
              <a:t>Business people and  developers must work  together daily throughout  the project.</a:t>
            </a:r>
            <a:endParaRPr sz="1200" dirty="0">
              <a:latin typeface="Roboto Lt"/>
              <a:cs typeface="Roboto Lt"/>
            </a:endParaRPr>
          </a:p>
        </p:txBody>
      </p:sp>
      <p:sp>
        <p:nvSpPr>
          <p:cNvPr id="20" name="object 20"/>
          <p:cNvSpPr txBox="1"/>
          <p:nvPr/>
        </p:nvSpPr>
        <p:spPr>
          <a:xfrm>
            <a:off x="3421644" y="3664082"/>
            <a:ext cx="2380247" cy="1488228"/>
          </a:xfrm>
          <a:prstGeom prst="rect">
            <a:avLst/>
          </a:prstGeom>
        </p:spPr>
        <p:txBody>
          <a:bodyPr vert="horz" wrap="square" lIns="0" tIns="0" rIns="0" bIns="0" rtlCol="0">
            <a:spAutoFit/>
          </a:bodyPr>
          <a:lstStyle/>
          <a:p>
            <a:pPr marL="12700">
              <a:lnSpc>
                <a:spcPts val="2065"/>
              </a:lnSpc>
              <a:tabLst>
                <a:tab pos="544195" algn="l"/>
              </a:tabLst>
            </a:pPr>
            <a:r>
              <a:rPr sz="6000" b="1" baseline="-22660" dirty="0">
                <a:solidFill>
                  <a:srgbClr val="002F59"/>
                </a:solidFill>
                <a:latin typeface="Arial"/>
                <a:cs typeface="Arial"/>
              </a:rPr>
              <a:t>5	</a:t>
            </a:r>
            <a:r>
              <a:rPr sz="1600" b="1" dirty="0">
                <a:solidFill>
                  <a:srgbClr val="333333"/>
                </a:solidFill>
                <a:latin typeface="Arial"/>
                <a:cs typeface="Arial"/>
              </a:rPr>
              <a:t>Build projects</a:t>
            </a:r>
            <a:endParaRPr sz="1600" dirty="0">
              <a:latin typeface="Arial"/>
              <a:cs typeface="Arial"/>
            </a:endParaRPr>
          </a:p>
          <a:p>
            <a:pPr marL="544195">
              <a:lnSpc>
                <a:spcPts val="1350"/>
              </a:lnSpc>
            </a:pPr>
            <a:r>
              <a:rPr sz="1600" b="1" dirty="0">
                <a:solidFill>
                  <a:srgbClr val="333333"/>
                </a:solidFill>
                <a:latin typeface="Arial"/>
                <a:cs typeface="Arial"/>
              </a:rPr>
              <a:t>around motivated</a:t>
            </a:r>
            <a:endParaRPr sz="1600" dirty="0">
              <a:latin typeface="Arial"/>
              <a:cs typeface="Arial"/>
            </a:endParaRPr>
          </a:p>
          <a:p>
            <a:pPr marL="544195">
              <a:lnSpc>
                <a:spcPts val="1714"/>
              </a:lnSpc>
            </a:pPr>
            <a:r>
              <a:rPr sz="1600" b="1" dirty="0">
                <a:solidFill>
                  <a:srgbClr val="333333"/>
                </a:solidFill>
                <a:latin typeface="Arial"/>
                <a:cs typeface="Arial"/>
              </a:rPr>
              <a:t>individuals</a:t>
            </a:r>
            <a:endParaRPr sz="1600" dirty="0">
              <a:latin typeface="Arial"/>
              <a:cs typeface="Arial"/>
            </a:endParaRPr>
          </a:p>
          <a:p>
            <a:pPr marL="544195" marR="46990">
              <a:lnSpc>
                <a:spcPct val="108300"/>
              </a:lnSpc>
              <a:spcBef>
                <a:spcPts val="330"/>
              </a:spcBef>
            </a:pPr>
            <a:r>
              <a:rPr sz="1200" dirty="0">
                <a:solidFill>
                  <a:srgbClr val="333333"/>
                </a:solidFill>
                <a:latin typeface="Roboto Lt"/>
                <a:cs typeface="Roboto Lt"/>
              </a:rPr>
              <a:t>Give them the environment and  support they need, and trust  them to get the job done.</a:t>
            </a:r>
            <a:endParaRPr sz="1200" dirty="0">
              <a:latin typeface="Roboto Lt"/>
              <a:cs typeface="Roboto Lt"/>
            </a:endParaRPr>
          </a:p>
        </p:txBody>
      </p:sp>
      <p:sp>
        <p:nvSpPr>
          <p:cNvPr id="21" name="object 21"/>
          <p:cNvSpPr txBox="1"/>
          <p:nvPr/>
        </p:nvSpPr>
        <p:spPr>
          <a:xfrm>
            <a:off x="6190246" y="3664082"/>
            <a:ext cx="2146300" cy="1482457"/>
          </a:xfrm>
          <a:prstGeom prst="rect">
            <a:avLst/>
          </a:prstGeom>
        </p:spPr>
        <p:txBody>
          <a:bodyPr vert="horz" wrap="square" lIns="0" tIns="0" rIns="0" bIns="0" rtlCol="0">
            <a:spAutoFit/>
          </a:bodyPr>
          <a:lstStyle/>
          <a:p>
            <a:pPr marL="12700">
              <a:lnSpc>
                <a:spcPts val="2065"/>
              </a:lnSpc>
              <a:tabLst>
                <a:tab pos="544195" algn="l"/>
              </a:tabLst>
            </a:pPr>
            <a:r>
              <a:rPr sz="6000" b="1" baseline="-22660" dirty="0">
                <a:solidFill>
                  <a:srgbClr val="002F59"/>
                </a:solidFill>
                <a:latin typeface="Arial"/>
                <a:cs typeface="Arial"/>
              </a:rPr>
              <a:t>6	</a:t>
            </a:r>
            <a:r>
              <a:rPr sz="1600" b="1" dirty="0">
                <a:solidFill>
                  <a:srgbClr val="333333"/>
                </a:solidFill>
                <a:latin typeface="Arial"/>
                <a:cs typeface="Arial"/>
              </a:rPr>
              <a:t>Face-to-face</a:t>
            </a:r>
            <a:endParaRPr sz="1600" dirty="0">
              <a:latin typeface="Arial"/>
              <a:cs typeface="Arial"/>
            </a:endParaRPr>
          </a:p>
          <a:p>
            <a:pPr marL="544195">
              <a:lnSpc>
                <a:spcPts val="1490"/>
              </a:lnSpc>
            </a:pPr>
            <a:r>
              <a:rPr sz="1600" b="1" dirty="0">
                <a:solidFill>
                  <a:srgbClr val="333333"/>
                </a:solidFill>
                <a:latin typeface="Arial"/>
                <a:cs typeface="Arial"/>
              </a:rPr>
              <a:t>conversation</a:t>
            </a:r>
            <a:endParaRPr lang="en-MY" sz="1600" b="1" dirty="0">
              <a:solidFill>
                <a:srgbClr val="333333"/>
              </a:solidFill>
              <a:latin typeface="Arial"/>
              <a:cs typeface="Arial"/>
            </a:endParaRPr>
          </a:p>
          <a:p>
            <a:pPr marL="544195" marR="5080">
              <a:lnSpc>
                <a:spcPct val="108300"/>
              </a:lnSpc>
              <a:spcBef>
                <a:spcPts val="330"/>
              </a:spcBef>
            </a:pPr>
            <a:r>
              <a:rPr lang="en-US" sz="1200" dirty="0">
                <a:solidFill>
                  <a:srgbClr val="333333"/>
                </a:solidFill>
                <a:latin typeface="Roboto Lt"/>
                <a:cs typeface="Roboto Lt"/>
              </a:rPr>
              <a:t>The most efficient way to communicate within a development team is face-to-face conversation</a:t>
            </a:r>
            <a:r>
              <a:rPr lang="en-US" sz="1050" dirty="0">
                <a:solidFill>
                  <a:srgbClr val="333333"/>
                </a:solidFill>
                <a:latin typeface="Roboto Lt"/>
                <a:cs typeface="Roboto Lt"/>
              </a:rPr>
              <a:t>.</a:t>
            </a:r>
            <a:endParaRPr lang="en-US" sz="1050" dirty="0">
              <a:latin typeface="Roboto Lt"/>
              <a:cs typeface="Roboto 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1490980"/>
          </a:xfrm>
          <a:custGeom>
            <a:avLst/>
            <a:gdLst/>
            <a:ahLst/>
            <a:cxnLst/>
            <a:rect l="l" t="t" r="r" b="b"/>
            <a:pathLst>
              <a:path w="9144000" h="1490980">
                <a:moveTo>
                  <a:pt x="9144000" y="0"/>
                </a:moveTo>
                <a:lnTo>
                  <a:pt x="0" y="0"/>
                </a:lnTo>
                <a:lnTo>
                  <a:pt x="0" y="1490472"/>
                </a:lnTo>
                <a:lnTo>
                  <a:pt x="9144000" y="1490472"/>
                </a:lnTo>
                <a:lnTo>
                  <a:pt x="9144000" y="0"/>
                </a:lnTo>
                <a:close/>
              </a:path>
            </a:pathLst>
          </a:custGeom>
          <a:solidFill>
            <a:srgbClr val="002F59"/>
          </a:solidFill>
        </p:spPr>
        <p:txBody>
          <a:bodyPr wrap="square" lIns="0" tIns="0" rIns="0" bIns="0" rtlCol="0"/>
          <a:lstStyle/>
          <a:p>
            <a:endParaRPr/>
          </a:p>
        </p:txBody>
      </p:sp>
      <p:sp>
        <p:nvSpPr>
          <p:cNvPr id="3" name="object 3"/>
          <p:cNvSpPr txBox="1">
            <a:spLocks noGrp="1"/>
          </p:cNvSpPr>
          <p:nvPr>
            <p:ph type="title"/>
          </p:nvPr>
        </p:nvSpPr>
        <p:spPr>
          <a:xfrm>
            <a:off x="526368" y="411876"/>
            <a:ext cx="4797425" cy="711200"/>
          </a:xfrm>
          <a:prstGeom prst="rect">
            <a:avLst/>
          </a:prstGeom>
        </p:spPr>
        <p:txBody>
          <a:bodyPr vert="horz" wrap="square" lIns="0" tIns="12700" rIns="0" bIns="0" rtlCol="0">
            <a:spAutoFit/>
          </a:bodyPr>
          <a:lstStyle/>
          <a:p>
            <a:pPr marL="12700">
              <a:lnSpc>
                <a:spcPct val="100000"/>
              </a:lnSpc>
              <a:spcBef>
                <a:spcPts val="100"/>
              </a:spcBef>
            </a:pPr>
            <a:r>
              <a:rPr spc="-245" dirty="0"/>
              <a:t>1</a:t>
            </a:r>
            <a:r>
              <a:rPr spc="130" dirty="0"/>
              <a:t>2</a:t>
            </a:r>
            <a:r>
              <a:rPr spc="-535" dirty="0"/>
              <a:t> </a:t>
            </a:r>
            <a:r>
              <a:rPr spc="-150" dirty="0"/>
              <a:t>A</a:t>
            </a:r>
            <a:r>
              <a:rPr spc="-280" dirty="0"/>
              <a:t>g</a:t>
            </a:r>
            <a:r>
              <a:rPr spc="-55" dirty="0"/>
              <a:t>i</a:t>
            </a:r>
            <a:r>
              <a:rPr spc="-110" dirty="0"/>
              <a:t>l</a:t>
            </a:r>
            <a:r>
              <a:rPr spc="320" dirty="0"/>
              <a:t>e</a:t>
            </a:r>
            <a:r>
              <a:rPr spc="-535" dirty="0"/>
              <a:t> </a:t>
            </a:r>
            <a:r>
              <a:rPr spc="-455" dirty="0"/>
              <a:t>P</a:t>
            </a:r>
            <a:r>
              <a:rPr spc="105" dirty="0"/>
              <a:t>r</a:t>
            </a:r>
            <a:r>
              <a:rPr spc="-55" dirty="0"/>
              <a:t>i</a:t>
            </a:r>
            <a:r>
              <a:rPr spc="-175" dirty="0"/>
              <a:t>n</a:t>
            </a:r>
            <a:r>
              <a:rPr spc="-150" dirty="0"/>
              <a:t>c</a:t>
            </a:r>
            <a:r>
              <a:rPr spc="-55" dirty="0"/>
              <a:t>i</a:t>
            </a:r>
            <a:r>
              <a:rPr spc="-105" dirty="0"/>
              <a:t>p</a:t>
            </a:r>
            <a:r>
              <a:rPr spc="-110" dirty="0"/>
              <a:t>l</a:t>
            </a:r>
            <a:r>
              <a:rPr spc="40" dirty="0"/>
              <a:t>e</a:t>
            </a:r>
            <a:r>
              <a:rPr spc="-105" dirty="0"/>
              <a:t>s</a:t>
            </a:r>
          </a:p>
        </p:txBody>
      </p:sp>
      <p:grpSp>
        <p:nvGrpSpPr>
          <p:cNvPr id="4" name="object 4"/>
          <p:cNvGrpSpPr/>
          <p:nvPr/>
        </p:nvGrpSpPr>
        <p:grpSpPr>
          <a:xfrm>
            <a:off x="419100" y="1490472"/>
            <a:ext cx="8305800" cy="1941195"/>
            <a:chOff x="419100" y="1490472"/>
            <a:chExt cx="8305800" cy="1941195"/>
          </a:xfrm>
        </p:grpSpPr>
        <p:sp>
          <p:nvSpPr>
            <p:cNvPr id="5" name="object 5"/>
            <p:cNvSpPr/>
            <p:nvPr/>
          </p:nvSpPr>
          <p:spPr>
            <a:xfrm>
              <a:off x="5956300" y="1490472"/>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D8DFE6"/>
            </a:solidFill>
          </p:spPr>
          <p:txBody>
            <a:bodyPr wrap="square" lIns="0" tIns="0" rIns="0" bIns="0" rtlCol="0"/>
            <a:lstStyle/>
            <a:p>
              <a:endParaRPr/>
            </a:p>
          </p:txBody>
        </p:sp>
        <p:sp>
          <p:nvSpPr>
            <p:cNvPr id="6" name="object 6"/>
            <p:cNvSpPr/>
            <p:nvPr/>
          </p:nvSpPr>
          <p:spPr>
            <a:xfrm>
              <a:off x="419100" y="1490472"/>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F2F4F6"/>
            </a:solidFill>
          </p:spPr>
          <p:txBody>
            <a:bodyPr wrap="square" lIns="0" tIns="0" rIns="0" bIns="0" rtlCol="0"/>
            <a:lstStyle/>
            <a:p>
              <a:endParaRPr/>
            </a:p>
          </p:txBody>
        </p:sp>
        <p:sp>
          <p:nvSpPr>
            <p:cNvPr id="7" name="object 7"/>
            <p:cNvSpPr/>
            <p:nvPr/>
          </p:nvSpPr>
          <p:spPr>
            <a:xfrm>
              <a:off x="3187700" y="1490472"/>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E5EAEE"/>
            </a:solidFill>
          </p:spPr>
          <p:txBody>
            <a:bodyPr wrap="square" lIns="0" tIns="0" rIns="0" bIns="0" rtlCol="0"/>
            <a:lstStyle/>
            <a:p>
              <a:endParaRPr/>
            </a:p>
          </p:txBody>
        </p:sp>
      </p:grpSp>
      <p:sp>
        <p:nvSpPr>
          <p:cNvPr id="8" name="object 8"/>
          <p:cNvSpPr txBox="1"/>
          <p:nvPr/>
        </p:nvSpPr>
        <p:spPr>
          <a:xfrm>
            <a:off x="653044" y="1617723"/>
            <a:ext cx="3079750" cy="610235"/>
          </a:xfrm>
          <a:prstGeom prst="rect">
            <a:avLst/>
          </a:prstGeom>
        </p:spPr>
        <p:txBody>
          <a:bodyPr vert="horz" wrap="square" lIns="0" tIns="17145" rIns="0" bIns="0" rtlCol="0">
            <a:spAutoFit/>
          </a:bodyPr>
          <a:lstStyle/>
          <a:p>
            <a:pPr marL="12700">
              <a:lnSpc>
                <a:spcPct val="100000"/>
              </a:lnSpc>
              <a:spcBef>
                <a:spcPts val="135"/>
              </a:spcBef>
              <a:tabLst>
                <a:tab pos="2780665" algn="l"/>
              </a:tabLst>
            </a:pPr>
            <a:r>
              <a:rPr sz="3800" b="1" spc="130" dirty="0">
                <a:solidFill>
                  <a:srgbClr val="002F59"/>
                </a:solidFill>
                <a:latin typeface="Arial"/>
                <a:cs typeface="Arial"/>
              </a:rPr>
              <a:t>7	8</a:t>
            </a:r>
            <a:endParaRPr sz="3800">
              <a:latin typeface="Arial"/>
              <a:cs typeface="Arial"/>
            </a:endParaRPr>
          </a:p>
        </p:txBody>
      </p:sp>
      <p:sp>
        <p:nvSpPr>
          <p:cNvPr id="9" name="object 9"/>
          <p:cNvSpPr txBox="1"/>
          <p:nvPr/>
        </p:nvSpPr>
        <p:spPr>
          <a:xfrm>
            <a:off x="1185002" y="1710568"/>
            <a:ext cx="1610360" cy="1356846"/>
          </a:xfrm>
          <a:prstGeom prst="rect">
            <a:avLst/>
          </a:prstGeom>
        </p:spPr>
        <p:txBody>
          <a:bodyPr vert="horz" wrap="square" lIns="0" tIns="52705" rIns="0" bIns="0" rtlCol="0">
            <a:spAutoFit/>
          </a:bodyPr>
          <a:lstStyle/>
          <a:p>
            <a:pPr marL="12700" marR="716280" algn="just">
              <a:lnSpc>
                <a:spcPts val="1570"/>
              </a:lnSpc>
              <a:spcBef>
                <a:spcPts val="415"/>
              </a:spcBef>
            </a:pPr>
            <a:r>
              <a:rPr sz="1550" b="1" dirty="0">
                <a:solidFill>
                  <a:srgbClr val="333333"/>
                </a:solidFill>
                <a:latin typeface="Arial"/>
                <a:cs typeface="Arial"/>
              </a:rPr>
              <a:t>Focus on  working  software</a:t>
            </a:r>
            <a:endParaRPr sz="1550" dirty="0">
              <a:latin typeface="Arial"/>
              <a:cs typeface="Arial"/>
            </a:endParaRPr>
          </a:p>
          <a:p>
            <a:pPr marL="12700" marR="5080">
              <a:lnSpc>
                <a:spcPct val="120700"/>
              </a:lnSpc>
              <a:spcBef>
                <a:spcPts val="325"/>
              </a:spcBef>
            </a:pPr>
            <a:r>
              <a:rPr sz="1200" dirty="0">
                <a:solidFill>
                  <a:srgbClr val="333333"/>
                </a:solidFill>
                <a:latin typeface="Roboto Lt"/>
                <a:cs typeface="Roboto Lt"/>
              </a:rPr>
              <a:t>Working software is the  primary measure of progress</a:t>
            </a:r>
            <a:r>
              <a:rPr sz="950" dirty="0">
                <a:solidFill>
                  <a:srgbClr val="333333"/>
                </a:solidFill>
                <a:latin typeface="Roboto Lt"/>
                <a:cs typeface="Roboto Lt"/>
              </a:rPr>
              <a:t>.</a:t>
            </a:r>
            <a:endParaRPr sz="950" dirty="0">
              <a:latin typeface="Roboto Lt"/>
              <a:cs typeface="Roboto Lt"/>
            </a:endParaRPr>
          </a:p>
        </p:txBody>
      </p:sp>
      <p:sp>
        <p:nvSpPr>
          <p:cNvPr id="10" name="object 10"/>
          <p:cNvSpPr txBox="1"/>
          <p:nvPr/>
        </p:nvSpPr>
        <p:spPr>
          <a:xfrm>
            <a:off x="3953604" y="1710568"/>
            <a:ext cx="1917184" cy="1580304"/>
          </a:xfrm>
          <a:prstGeom prst="rect">
            <a:avLst/>
          </a:prstGeom>
        </p:spPr>
        <p:txBody>
          <a:bodyPr vert="horz" wrap="square" lIns="0" tIns="52705" rIns="0" bIns="0" rtlCol="0">
            <a:spAutoFit/>
          </a:bodyPr>
          <a:lstStyle/>
          <a:p>
            <a:pPr marL="12700" marR="443230">
              <a:lnSpc>
                <a:spcPts val="1570"/>
              </a:lnSpc>
              <a:spcBef>
                <a:spcPts val="415"/>
              </a:spcBef>
            </a:pPr>
            <a:r>
              <a:rPr sz="1550" b="1" dirty="0">
                <a:solidFill>
                  <a:srgbClr val="333333"/>
                </a:solidFill>
                <a:latin typeface="Arial"/>
                <a:cs typeface="Arial"/>
              </a:rPr>
              <a:t>Promote  sustainable  development</a:t>
            </a:r>
            <a:endParaRPr sz="1550" dirty="0">
              <a:latin typeface="Arial"/>
              <a:cs typeface="Arial"/>
            </a:endParaRPr>
          </a:p>
          <a:p>
            <a:pPr marL="12700" marR="5080">
              <a:lnSpc>
                <a:spcPct val="120700"/>
              </a:lnSpc>
              <a:spcBef>
                <a:spcPts val="325"/>
              </a:spcBef>
            </a:pPr>
            <a:r>
              <a:rPr lang="en-US" sz="1200" dirty="0">
                <a:solidFill>
                  <a:srgbClr val="333333"/>
                </a:solidFill>
                <a:latin typeface="Roboto Lt"/>
                <a:cs typeface="Roboto Lt"/>
              </a:rPr>
              <a:t>Allowing sponsors, developers, and users to maintain a constant pace indefinitely.</a:t>
            </a:r>
            <a:endParaRPr sz="1200" dirty="0">
              <a:latin typeface="Roboto Lt"/>
              <a:cs typeface="Roboto Lt"/>
            </a:endParaRPr>
          </a:p>
        </p:txBody>
      </p:sp>
      <p:sp>
        <p:nvSpPr>
          <p:cNvPr id="11" name="object 11"/>
          <p:cNvSpPr txBox="1"/>
          <p:nvPr/>
        </p:nvSpPr>
        <p:spPr>
          <a:xfrm>
            <a:off x="6722205" y="1710568"/>
            <a:ext cx="1635125" cy="1580304"/>
          </a:xfrm>
          <a:prstGeom prst="rect">
            <a:avLst/>
          </a:prstGeom>
        </p:spPr>
        <p:txBody>
          <a:bodyPr vert="horz" wrap="square" lIns="0" tIns="52705" rIns="0" bIns="0" rtlCol="0">
            <a:spAutoFit/>
          </a:bodyPr>
          <a:lstStyle/>
          <a:p>
            <a:pPr marL="12700" marR="599440">
              <a:lnSpc>
                <a:spcPts val="1570"/>
              </a:lnSpc>
              <a:spcBef>
                <a:spcPts val="415"/>
              </a:spcBef>
            </a:pPr>
            <a:r>
              <a:rPr sz="1550" b="1" dirty="0">
                <a:solidFill>
                  <a:srgbClr val="333333"/>
                </a:solidFill>
                <a:latin typeface="Arial"/>
                <a:cs typeface="Arial"/>
              </a:rPr>
              <a:t>Ensure  technical  excellence</a:t>
            </a:r>
            <a:endParaRPr sz="1550" dirty="0">
              <a:latin typeface="Arial"/>
              <a:cs typeface="Arial"/>
            </a:endParaRPr>
          </a:p>
          <a:p>
            <a:pPr marL="12700" marR="5080">
              <a:lnSpc>
                <a:spcPct val="120700"/>
              </a:lnSpc>
              <a:spcBef>
                <a:spcPts val="325"/>
              </a:spcBef>
            </a:pPr>
            <a:r>
              <a:rPr sz="1200" dirty="0">
                <a:solidFill>
                  <a:srgbClr val="333333"/>
                </a:solidFill>
                <a:latin typeface="Roboto Lt"/>
                <a:cs typeface="Roboto Lt"/>
              </a:rPr>
              <a:t>Continuous attention to  technical excellence and good  design enhances agility.</a:t>
            </a:r>
            <a:endParaRPr sz="1200" dirty="0">
              <a:latin typeface="Roboto Lt"/>
              <a:cs typeface="Roboto Lt"/>
            </a:endParaRPr>
          </a:p>
        </p:txBody>
      </p:sp>
      <p:sp>
        <p:nvSpPr>
          <p:cNvPr id="12" name="object 12"/>
          <p:cNvSpPr txBox="1"/>
          <p:nvPr/>
        </p:nvSpPr>
        <p:spPr>
          <a:xfrm>
            <a:off x="6190246" y="1617723"/>
            <a:ext cx="311150" cy="610235"/>
          </a:xfrm>
          <a:prstGeom prst="rect">
            <a:avLst/>
          </a:prstGeom>
        </p:spPr>
        <p:txBody>
          <a:bodyPr vert="horz" wrap="square" lIns="0" tIns="17145" rIns="0" bIns="0" rtlCol="0">
            <a:spAutoFit/>
          </a:bodyPr>
          <a:lstStyle/>
          <a:p>
            <a:pPr marL="12700">
              <a:lnSpc>
                <a:spcPct val="100000"/>
              </a:lnSpc>
              <a:spcBef>
                <a:spcPts val="135"/>
              </a:spcBef>
            </a:pPr>
            <a:r>
              <a:rPr sz="3800" b="1" spc="130" dirty="0">
                <a:solidFill>
                  <a:srgbClr val="002F59"/>
                </a:solidFill>
                <a:latin typeface="Arial"/>
                <a:cs typeface="Arial"/>
              </a:rPr>
              <a:t>9</a:t>
            </a:r>
            <a:endParaRPr sz="3800">
              <a:latin typeface="Arial"/>
              <a:cs typeface="Arial"/>
            </a:endParaRPr>
          </a:p>
        </p:txBody>
      </p:sp>
      <p:grpSp>
        <p:nvGrpSpPr>
          <p:cNvPr id="13" name="object 13"/>
          <p:cNvGrpSpPr/>
          <p:nvPr/>
        </p:nvGrpSpPr>
        <p:grpSpPr>
          <a:xfrm>
            <a:off x="419100" y="3431285"/>
            <a:ext cx="8305800" cy="1941195"/>
            <a:chOff x="419100" y="3431285"/>
            <a:chExt cx="8305800" cy="1941195"/>
          </a:xfrm>
        </p:grpSpPr>
        <p:sp>
          <p:nvSpPr>
            <p:cNvPr id="14" name="object 14"/>
            <p:cNvSpPr/>
            <p:nvPr/>
          </p:nvSpPr>
          <p:spPr>
            <a:xfrm>
              <a:off x="5956300" y="3431285"/>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B2C0CD"/>
            </a:solidFill>
          </p:spPr>
          <p:txBody>
            <a:bodyPr wrap="square" lIns="0" tIns="0" rIns="0" bIns="0" rtlCol="0"/>
            <a:lstStyle/>
            <a:p>
              <a:endParaRPr/>
            </a:p>
          </p:txBody>
        </p:sp>
        <p:sp>
          <p:nvSpPr>
            <p:cNvPr id="15" name="object 15"/>
            <p:cNvSpPr/>
            <p:nvPr/>
          </p:nvSpPr>
          <p:spPr>
            <a:xfrm>
              <a:off x="419100" y="3431285"/>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CCD5DD"/>
            </a:solidFill>
          </p:spPr>
          <p:txBody>
            <a:bodyPr wrap="square" lIns="0" tIns="0" rIns="0" bIns="0" rtlCol="0"/>
            <a:lstStyle/>
            <a:p>
              <a:endParaRPr/>
            </a:p>
          </p:txBody>
        </p:sp>
        <p:sp>
          <p:nvSpPr>
            <p:cNvPr id="16" name="object 16"/>
            <p:cNvSpPr/>
            <p:nvPr/>
          </p:nvSpPr>
          <p:spPr>
            <a:xfrm>
              <a:off x="3187700" y="3431285"/>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BFCBD5"/>
            </a:solidFill>
          </p:spPr>
          <p:txBody>
            <a:bodyPr wrap="square" lIns="0" tIns="0" rIns="0" bIns="0" rtlCol="0"/>
            <a:lstStyle/>
            <a:p>
              <a:endParaRPr/>
            </a:p>
          </p:txBody>
        </p:sp>
      </p:grpSp>
      <p:sp>
        <p:nvSpPr>
          <p:cNvPr id="17" name="object 17"/>
          <p:cNvSpPr txBox="1"/>
          <p:nvPr/>
        </p:nvSpPr>
        <p:spPr>
          <a:xfrm>
            <a:off x="526968" y="3571237"/>
            <a:ext cx="550545" cy="610235"/>
          </a:xfrm>
          <a:prstGeom prst="rect">
            <a:avLst/>
          </a:prstGeom>
        </p:spPr>
        <p:txBody>
          <a:bodyPr vert="horz" wrap="square" lIns="0" tIns="17145" rIns="0" bIns="0" rtlCol="0">
            <a:spAutoFit/>
          </a:bodyPr>
          <a:lstStyle/>
          <a:p>
            <a:pPr marL="12700">
              <a:lnSpc>
                <a:spcPct val="100000"/>
              </a:lnSpc>
              <a:spcBef>
                <a:spcPts val="135"/>
              </a:spcBef>
            </a:pPr>
            <a:r>
              <a:rPr sz="3800" b="1" spc="-135" dirty="0">
                <a:solidFill>
                  <a:srgbClr val="002F59"/>
                </a:solidFill>
                <a:latin typeface="Arial"/>
                <a:cs typeface="Arial"/>
              </a:rPr>
              <a:t>10</a:t>
            </a:r>
            <a:endParaRPr sz="3800">
              <a:latin typeface="Arial"/>
              <a:cs typeface="Arial"/>
            </a:endParaRPr>
          </a:p>
        </p:txBody>
      </p:sp>
      <p:sp>
        <p:nvSpPr>
          <p:cNvPr id="22" name="object 22"/>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7</a:t>
            </a:r>
            <a:endParaRPr spc="35" dirty="0"/>
          </a:p>
        </p:txBody>
      </p:sp>
      <p:sp>
        <p:nvSpPr>
          <p:cNvPr id="23" name="object 23"/>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a:t>
            </a:r>
            <a:r>
              <a:rPr lang="en-MY" spc="-40" dirty="0"/>
              <a:t>g</a:t>
            </a:r>
            <a:r>
              <a:rPr lang="en-MY" spc="-45" dirty="0"/>
              <a:t>i</a:t>
            </a:r>
            <a:r>
              <a:rPr lang="en-MY" spc="-35" dirty="0"/>
              <a:t>l</a:t>
            </a:r>
            <a:r>
              <a:rPr lang="en-MY" dirty="0"/>
              <a:t>e</a:t>
            </a:r>
            <a:r>
              <a:rPr lang="en-MY" spc="-60" dirty="0"/>
              <a:t> </a:t>
            </a:r>
            <a:r>
              <a:rPr lang="en-MY" spc="-35" dirty="0"/>
              <a:t>Methodology</a:t>
            </a:r>
            <a:endParaRPr dirty="0"/>
          </a:p>
        </p:txBody>
      </p:sp>
      <p:sp>
        <p:nvSpPr>
          <p:cNvPr id="18" name="object 18"/>
          <p:cNvSpPr txBox="1"/>
          <p:nvPr/>
        </p:nvSpPr>
        <p:spPr>
          <a:xfrm>
            <a:off x="3301777" y="3571237"/>
            <a:ext cx="537845" cy="610235"/>
          </a:xfrm>
          <a:prstGeom prst="rect">
            <a:avLst/>
          </a:prstGeom>
        </p:spPr>
        <p:txBody>
          <a:bodyPr vert="horz" wrap="square" lIns="0" tIns="17145" rIns="0" bIns="0" rtlCol="0">
            <a:spAutoFit/>
          </a:bodyPr>
          <a:lstStyle/>
          <a:p>
            <a:pPr marL="12700">
              <a:lnSpc>
                <a:spcPct val="100000"/>
              </a:lnSpc>
              <a:spcBef>
                <a:spcPts val="135"/>
              </a:spcBef>
            </a:pPr>
            <a:r>
              <a:rPr sz="3800" b="1" spc="-235" dirty="0">
                <a:solidFill>
                  <a:srgbClr val="002F59"/>
                </a:solidFill>
                <a:latin typeface="Arial"/>
                <a:cs typeface="Arial"/>
              </a:rPr>
              <a:t>11</a:t>
            </a:r>
            <a:endParaRPr sz="3800">
              <a:latin typeface="Arial"/>
              <a:cs typeface="Arial"/>
            </a:endParaRPr>
          </a:p>
        </p:txBody>
      </p:sp>
      <p:sp>
        <p:nvSpPr>
          <p:cNvPr id="19" name="object 19"/>
          <p:cNvSpPr txBox="1"/>
          <p:nvPr/>
        </p:nvSpPr>
        <p:spPr>
          <a:xfrm>
            <a:off x="1185002" y="3558205"/>
            <a:ext cx="1688572" cy="1049070"/>
          </a:xfrm>
          <a:prstGeom prst="rect">
            <a:avLst/>
          </a:prstGeom>
        </p:spPr>
        <p:txBody>
          <a:bodyPr vert="horz" wrap="square" lIns="0" tIns="121285" rIns="0" bIns="0" rtlCol="0">
            <a:spAutoFit/>
          </a:bodyPr>
          <a:lstStyle/>
          <a:p>
            <a:pPr marL="12700">
              <a:lnSpc>
                <a:spcPct val="100000"/>
              </a:lnSpc>
              <a:spcBef>
                <a:spcPts val="955"/>
              </a:spcBef>
            </a:pPr>
            <a:r>
              <a:rPr sz="1550" b="1" dirty="0">
                <a:solidFill>
                  <a:srgbClr val="333333"/>
                </a:solidFill>
                <a:latin typeface="Arial"/>
                <a:cs typeface="Arial"/>
              </a:rPr>
              <a:t>Simplicity</a:t>
            </a:r>
            <a:endParaRPr sz="1550" dirty="0">
              <a:latin typeface="Arial"/>
              <a:cs typeface="Arial"/>
            </a:endParaRPr>
          </a:p>
          <a:p>
            <a:pPr marL="12700" marR="5080">
              <a:lnSpc>
                <a:spcPct val="120700"/>
              </a:lnSpc>
              <a:spcBef>
                <a:spcPts val="325"/>
              </a:spcBef>
            </a:pPr>
            <a:r>
              <a:rPr sz="1200" dirty="0">
                <a:solidFill>
                  <a:srgbClr val="333333"/>
                </a:solidFill>
                <a:latin typeface="Roboto Lt"/>
                <a:cs typeface="Roboto Lt"/>
              </a:rPr>
              <a:t>The art of maximizing the  amount of work not done</a:t>
            </a:r>
            <a:r>
              <a:rPr lang="en-US" sz="1200" dirty="0">
                <a:latin typeface="Roboto Lt"/>
                <a:cs typeface="Roboto Lt"/>
              </a:rPr>
              <a:t> </a:t>
            </a:r>
            <a:r>
              <a:rPr sz="1200" dirty="0">
                <a:solidFill>
                  <a:srgbClr val="333333"/>
                </a:solidFill>
                <a:latin typeface="Roboto Lt"/>
                <a:cs typeface="Roboto Lt"/>
              </a:rPr>
              <a:t>– is essential.</a:t>
            </a:r>
            <a:endParaRPr sz="1200" dirty="0">
              <a:latin typeface="Roboto Lt"/>
              <a:cs typeface="Roboto Lt"/>
            </a:endParaRPr>
          </a:p>
        </p:txBody>
      </p:sp>
      <p:sp>
        <p:nvSpPr>
          <p:cNvPr id="20" name="object 20"/>
          <p:cNvSpPr txBox="1"/>
          <p:nvPr/>
        </p:nvSpPr>
        <p:spPr>
          <a:xfrm>
            <a:off x="3953604" y="3664082"/>
            <a:ext cx="1761396" cy="1402691"/>
          </a:xfrm>
          <a:prstGeom prst="rect">
            <a:avLst/>
          </a:prstGeom>
        </p:spPr>
        <p:txBody>
          <a:bodyPr vert="horz" wrap="square" lIns="0" tIns="29209" rIns="0" bIns="0" rtlCol="0">
            <a:spAutoFit/>
          </a:bodyPr>
          <a:lstStyle/>
          <a:p>
            <a:pPr marL="12700" marR="82550">
              <a:lnSpc>
                <a:spcPts val="1800"/>
              </a:lnSpc>
              <a:spcBef>
                <a:spcPts val="229"/>
              </a:spcBef>
            </a:pPr>
            <a:r>
              <a:rPr sz="1550" b="1" dirty="0">
                <a:solidFill>
                  <a:srgbClr val="333333"/>
                </a:solidFill>
                <a:latin typeface="Arial"/>
                <a:cs typeface="Arial"/>
              </a:rPr>
              <a:t>Self-organizing  teams</a:t>
            </a:r>
            <a:endParaRPr sz="1550" dirty="0">
              <a:latin typeface="Arial"/>
              <a:cs typeface="Arial"/>
            </a:endParaRPr>
          </a:p>
          <a:p>
            <a:pPr marL="12700" marR="5080">
              <a:lnSpc>
                <a:spcPct val="120700"/>
              </a:lnSpc>
              <a:spcBef>
                <a:spcPts val="275"/>
              </a:spcBef>
            </a:pPr>
            <a:r>
              <a:rPr sz="1200" dirty="0">
                <a:solidFill>
                  <a:srgbClr val="333333"/>
                </a:solidFill>
                <a:latin typeface="Roboto Lt"/>
                <a:cs typeface="Roboto Lt"/>
              </a:rPr>
              <a:t>The best architectures,  requirements, and designs  emerge from self-organizing  teams.</a:t>
            </a:r>
            <a:endParaRPr sz="1200" dirty="0">
              <a:latin typeface="Roboto Lt"/>
              <a:cs typeface="Roboto Lt"/>
            </a:endParaRPr>
          </a:p>
        </p:txBody>
      </p:sp>
      <p:sp>
        <p:nvSpPr>
          <p:cNvPr id="21" name="object 21"/>
          <p:cNvSpPr txBox="1"/>
          <p:nvPr/>
        </p:nvSpPr>
        <p:spPr>
          <a:xfrm>
            <a:off x="6041812" y="3376915"/>
            <a:ext cx="2459336" cy="1659813"/>
          </a:xfrm>
          <a:prstGeom prst="rect">
            <a:avLst/>
          </a:prstGeom>
        </p:spPr>
        <p:txBody>
          <a:bodyPr vert="horz" wrap="square" lIns="0" tIns="17145" rIns="0" bIns="0" rtlCol="0">
            <a:spAutoFit/>
          </a:bodyPr>
          <a:lstStyle/>
          <a:p>
            <a:pPr marL="38100">
              <a:lnSpc>
                <a:spcPts val="4190"/>
              </a:lnSpc>
              <a:spcBef>
                <a:spcPts val="135"/>
              </a:spcBef>
            </a:pPr>
            <a:r>
              <a:rPr sz="5700" b="1" baseline="-22660" dirty="0">
                <a:solidFill>
                  <a:srgbClr val="002F59"/>
                </a:solidFill>
                <a:latin typeface="Arial"/>
                <a:cs typeface="Arial"/>
              </a:rPr>
              <a:t>12 </a:t>
            </a:r>
            <a:r>
              <a:rPr sz="1550" b="1" dirty="0">
                <a:solidFill>
                  <a:srgbClr val="333333"/>
                </a:solidFill>
                <a:latin typeface="Arial"/>
                <a:cs typeface="Arial"/>
              </a:rPr>
              <a:t>Reflect and</a:t>
            </a:r>
            <a:endParaRPr sz="1550" dirty="0">
              <a:latin typeface="Arial"/>
              <a:cs typeface="Arial"/>
            </a:endParaRPr>
          </a:p>
          <a:p>
            <a:pPr marL="692785">
              <a:lnSpc>
                <a:spcPts val="1490"/>
              </a:lnSpc>
            </a:pPr>
            <a:r>
              <a:rPr sz="1550" b="1" dirty="0">
                <a:solidFill>
                  <a:srgbClr val="333333"/>
                </a:solidFill>
                <a:latin typeface="Arial"/>
                <a:cs typeface="Arial"/>
              </a:rPr>
              <a:t>adjustment</a:t>
            </a:r>
            <a:endParaRPr sz="1550" dirty="0">
              <a:latin typeface="Arial"/>
              <a:cs typeface="Arial"/>
            </a:endParaRPr>
          </a:p>
          <a:p>
            <a:pPr marL="692785" marR="30480">
              <a:lnSpc>
                <a:spcPct val="120700"/>
              </a:lnSpc>
              <a:spcBef>
                <a:spcPts val="320"/>
              </a:spcBef>
            </a:pPr>
            <a:r>
              <a:rPr lang="en-US" sz="1200" dirty="0">
                <a:solidFill>
                  <a:srgbClr val="333333"/>
                </a:solidFill>
                <a:latin typeface="Roboto Lt"/>
                <a:cs typeface="Roboto Lt"/>
              </a:rPr>
              <a:t>The team regularly reflects on improving and adjusts its behavior accordingly.</a:t>
            </a:r>
            <a:endParaRPr sz="1200" dirty="0">
              <a:latin typeface="Roboto Lt"/>
              <a:cs typeface="Roboto 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A51E-4B94-CCA3-47F4-A15C269585D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629F76B-5F04-F707-8D3C-A73FB97265A7}"/>
              </a:ext>
            </a:extLst>
          </p:cNvPr>
          <p:cNvSpPr/>
          <p:nvPr/>
        </p:nvSpPr>
        <p:spPr>
          <a:xfrm>
            <a:off x="0" y="0"/>
            <a:ext cx="3168650" cy="5943600"/>
          </a:xfrm>
          <a:custGeom>
            <a:avLst/>
            <a:gdLst/>
            <a:ahLst/>
            <a:cxnLst/>
            <a:rect l="l" t="t" r="r" b="b"/>
            <a:pathLst>
              <a:path w="5029200" h="5943600">
                <a:moveTo>
                  <a:pt x="5029200" y="0"/>
                </a:moveTo>
                <a:lnTo>
                  <a:pt x="0" y="0"/>
                </a:lnTo>
                <a:lnTo>
                  <a:pt x="0" y="5943600"/>
                </a:lnTo>
                <a:lnTo>
                  <a:pt x="5029200" y="5943600"/>
                </a:lnTo>
                <a:lnTo>
                  <a:pt x="5029200" y="0"/>
                </a:lnTo>
                <a:close/>
              </a:path>
            </a:pathLst>
          </a:custGeom>
          <a:solidFill>
            <a:schemeClr val="accent2">
              <a:lumMod val="75000"/>
            </a:schemeClr>
          </a:solidFill>
        </p:spPr>
        <p:txBody>
          <a:bodyPr wrap="square" lIns="0" tIns="0" rIns="0" bIns="0" rtlCol="0"/>
          <a:lstStyle/>
          <a:p>
            <a:endParaRPr/>
          </a:p>
        </p:txBody>
      </p:sp>
      <p:sp>
        <p:nvSpPr>
          <p:cNvPr id="3" name="object 3">
            <a:extLst>
              <a:ext uri="{FF2B5EF4-FFF2-40B4-BE49-F238E27FC236}">
                <a16:creationId xmlns:a16="http://schemas.microsoft.com/office/drawing/2014/main" id="{D7CD4DD5-4877-14A8-943F-9AE29CCEA7B6}"/>
              </a:ext>
            </a:extLst>
          </p:cNvPr>
          <p:cNvSpPr txBox="1">
            <a:spLocks noGrp="1"/>
          </p:cNvSpPr>
          <p:nvPr>
            <p:ph type="title"/>
          </p:nvPr>
        </p:nvSpPr>
        <p:spPr>
          <a:xfrm>
            <a:off x="526368" y="510301"/>
            <a:ext cx="2521632" cy="1313180"/>
          </a:xfrm>
          <a:prstGeom prst="rect">
            <a:avLst/>
          </a:prstGeom>
        </p:spPr>
        <p:txBody>
          <a:bodyPr vert="horz" wrap="square" lIns="0" tIns="106680" rIns="0" bIns="0" rtlCol="0">
            <a:spAutoFit/>
          </a:bodyPr>
          <a:lstStyle/>
          <a:p>
            <a:pPr marL="12700" marR="5080">
              <a:lnSpc>
                <a:spcPts val="4700"/>
              </a:lnSpc>
              <a:spcBef>
                <a:spcPts val="840"/>
              </a:spcBef>
            </a:pPr>
            <a:r>
              <a:rPr lang="en-US" spc="-80" dirty="0"/>
              <a:t>Lets discuss</a:t>
            </a:r>
            <a:endParaRPr spc="240" dirty="0"/>
          </a:p>
        </p:txBody>
      </p:sp>
      <p:sp>
        <p:nvSpPr>
          <p:cNvPr id="7" name="object 7">
            <a:extLst>
              <a:ext uri="{FF2B5EF4-FFF2-40B4-BE49-F238E27FC236}">
                <a16:creationId xmlns:a16="http://schemas.microsoft.com/office/drawing/2014/main" id="{F73810C7-9CED-04AA-4700-6FC7A16BE169}"/>
              </a:ext>
            </a:extLst>
          </p:cNvPr>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8</a:t>
            </a:r>
            <a:endParaRPr spc="35" dirty="0"/>
          </a:p>
        </p:txBody>
      </p:sp>
      <p:sp>
        <p:nvSpPr>
          <p:cNvPr id="8" name="object 8">
            <a:extLst>
              <a:ext uri="{FF2B5EF4-FFF2-40B4-BE49-F238E27FC236}">
                <a16:creationId xmlns:a16="http://schemas.microsoft.com/office/drawing/2014/main" id="{DF1676E3-2EF3-EE75-C979-3A44517951CD}"/>
              </a:ext>
            </a:extLst>
          </p:cNvPr>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a:t>
            </a:r>
            <a:r>
              <a:rPr lang="en-MY" spc="-40" dirty="0"/>
              <a:t>g</a:t>
            </a:r>
            <a:r>
              <a:rPr lang="en-MY" spc="-45" dirty="0"/>
              <a:t>i</a:t>
            </a:r>
            <a:r>
              <a:rPr lang="en-MY" spc="-35" dirty="0"/>
              <a:t>l</a:t>
            </a:r>
            <a:r>
              <a:rPr lang="en-MY" dirty="0"/>
              <a:t>e</a:t>
            </a:r>
            <a:r>
              <a:rPr lang="en-MY" spc="-60" dirty="0"/>
              <a:t> </a:t>
            </a:r>
            <a:r>
              <a:rPr lang="en-MY" spc="-35" dirty="0"/>
              <a:t>Methodology</a:t>
            </a:r>
            <a:endParaRPr dirty="0"/>
          </a:p>
        </p:txBody>
      </p:sp>
      <p:sp>
        <p:nvSpPr>
          <p:cNvPr id="4" name="object 4">
            <a:extLst>
              <a:ext uri="{FF2B5EF4-FFF2-40B4-BE49-F238E27FC236}">
                <a16:creationId xmlns:a16="http://schemas.microsoft.com/office/drawing/2014/main" id="{0307BB55-1F81-A502-24C3-A9F714EB090D}"/>
              </a:ext>
            </a:extLst>
          </p:cNvPr>
          <p:cNvSpPr txBox="1"/>
          <p:nvPr/>
        </p:nvSpPr>
        <p:spPr>
          <a:xfrm>
            <a:off x="526368" y="1973979"/>
            <a:ext cx="2197465" cy="745076"/>
          </a:xfrm>
          <a:prstGeom prst="rect">
            <a:avLst/>
          </a:prstGeom>
        </p:spPr>
        <p:txBody>
          <a:bodyPr vert="horz" wrap="square" lIns="0" tIns="7620" rIns="0" bIns="0" rtlCol="0">
            <a:spAutoFit/>
          </a:bodyPr>
          <a:lstStyle/>
          <a:p>
            <a:pPr marL="12700" marR="5080">
              <a:lnSpc>
                <a:spcPct val="102099"/>
              </a:lnSpc>
              <a:spcBef>
                <a:spcPts val="60"/>
              </a:spcBef>
            </a:pPr>
            <a:r>
              <a:rPr lang="en-US" sz="1600" dirty="0">
                <a:solidFill>
                  <a:schemeClr val="bg1"/>
                </a:solidFill>
                <a:latin typeface="Arial"/>
                <a:cs typeface="Arial"/>
              </a:rPr>
              <a:t>What are the key characteristic of a self-organizing team?</a:t>
            </a:r>
          </a:p>
        </p:txBody>
      </p:sp>
      <p:sp>
        <p:nvSpPr>
          <p:cNvPr id="5" name="object 5">
            <a:extLst>
              <a:ext uri="{FF2B5EF4-FFF2-40B4-BE49-F238E27FC236}">
                <a16:creationId xmlns:a16="http://schemas.microsoft.com/office/drawing/2014/main" id="{95EDC334-4D7E-7CEA-8674-04CB2B4F4881}"/>
              </a:ext>
            </a:extLst>
          </p:cNvPr>
          <p:cNvSpPr txBox="1"/>
          <p:nvPr/>
        </p:nvSpPr>
        <p:spPr>
          <a:xfrm>
            <a:off x="3392106" y="594386"/>
            <a:ext cx="5240169" cy="4485139"/>
          </a:xfrm>
          <a:prstGeom prst="rect">
            <a:avLst/>
          </a:prstGeom>
        </p:spPr>
        <p:txBody>
          <a:bodyPr vert="horz" wrap="square" lIns="0" tIns="12700" rIns="0" bIns="0" rtlCol="0">
            <a:spAutoFit/>
          </a:bodyPr>
          <a:lstStyle/>
          <a:p>
            <a:pPr marL="298450" marR="5080" indent="-285750">
              <a:lnSpc>
                <a:spcPct val="121800"/>
              </a:lnSpc>
              <a:spcBef>
                <a:spcPts val="100"/>
              </a:spcBef>
              <a:buFont typeface="Arial" panose="020B0604020202020204" pitchFamily="34" charset="0"/>
              <a:buChar char="•"/>
            </a:pPr>
            <a:r>
              <a:rPr lang="en-US" sz="1300" dirty="0">
                <a:latin typeface="Roboto Lt"/>
                <a:cs typeface="Roboto Lt"/>
              </a:rPr>
              <a:t>Self-organizing teams take ownership of their tasks, deciding how best to accomplish their goals without external micromanagement.</a:t>
            </a:r>
          </a:p>
          <a:p>
            <a:pPr marL="298450" marR="5080" indent="-285750">
              <a:lnSpc>
                <a:spcPct val="121800"/>
              </a:lnSpc>
              <a:spcBef>
                <a:spcPts val="100"/>
              </a:spcBef>
              <a:buFont typeface="Arial" panose="020B0604020202020204" pitchFamily="34" charset="0"/>
              <a:buChar char="•"/>
            </a:pPr>
            <a:endParaRPr lang="en-US" sz="1300" b="1" dirty="0">
              <a:latin typeface="Roboto Lt"/>
              <a:cs typeface="Roboto Lt"/>
            </a:endParaRPr>
          </a:p>
          <a:p>
            <a:pPr marL="298450" marR="5080" indent="-285750">
              <a:lnSpc>
                <a:spcPct val="121800"/>
              </a:lnSpc>
              <a:spcBef>
                <a:spcPts val="100"/>
              </a:spcBef>
              <a:buFont typeface="Arial" panose="020B0604020202020204" pitchFamily="34" charset="0"/>
              <a:buChar char="•"/>
            </a:pPr>
            <a:r>
              <a:rPr lang="en-US" sz="1300" dirty="0">
                <a:latin typeface="Roboto Lt"/>
                <a:cs typeface="Roboto Lt"/>
              </a:rPr>
              <a:t>Key Characteristics:</a:t>
            </a:r>
          </a:p>
          <a:p>
            <a:pPr marL="755650" marR="5080" lvl="1" indent="-285750">
              <a:lnSpc>
                <a:spcPct val="121800"/>
              </a:lnSpc>
              <a:spcBef>
                <a:spcPts val="100"/>
              </a:spcBef>
              <a:buFont typeface="Arial" panose="020B0604020202020204" pitchFamily="34" charset="0"/>
              <a:buChar char="•"/>
            </a:pPr>
            <a:r>
              <a:rPr lang="en-US" sz="1300" b="1" dirty="0">
                <a:latin typeface="Roboto Lt"/>
                <a:cs typeface="Roboto Lt"/>
              </a:rPr>
              <a:t>Autonomy</a:t>
            </a:r>
            <a:r>
              <a:rPr lang="en-US" sz="1300" dirty="0">
                <a:latin typeface="Roboto Lt"/>
                <a:cs typeface="Roboto Lt"/>
              </a:rPr>
              <a:t>: Teams decide how to approach their work within the boundaries of the project’s goals and constraints.</a:t>
            </a:r>
          </a:p>
          <a:p>
            <a:pPr marL="755650" marR="5080" lvl="1" indent="-285750">
              <a:lnSpc>
                <a:spcPct val="121800"/>
              </a:lnSpc>
              <a:spcBef>
                <a:spcPts val="100"/>
              </a:spcBef>
              <a:buFont typeface="Arial" panose="020B0604020202020204" pitchFamily="34" charset="0"/>
              <a:buChar char="•"/>
            </a:pPr>
            <a:r>
              <a:rPr lang="en-US" sz="1300" b="1" dirty="0">
                <a:latin typeface="Roboto Lt"/>
                <a:cs typeface="Roboto Lt"/>
              </a:rPr>
              <a:t>Accountability</a:t>
            </a:r>
            <a:r>
              <a:rPr lang="en-US" sz="1300" dirty="0">
                <a:latin typeface="Roboto Lt"/>
                <a:cs typeface="Roboto Lt"/>
              </a:rPr>
              <a:t>: Members are collectively responsible for delivering results.</a:t>
            </a:r>
          </a:p>
          <a:p>
            <a:pPr marL="755650" marR="5080" lvl="1" indent="-285750">
              <a:lnSpc>
                <a:spcPct val="121800"/>
              </a:lnSpc>
              <a:spcBef>
                <a:spcPts val="100"/>
              </a:spcBef>
              <a:buFont typeface="Arial" panose="020B0604020202020204" pitchFamily="34" charset="0"/>
              <a:buChar char="•"/>
            </a:pPr>
            <a:r>
              <a:rPr lang="en-US" sz="1300" b="1" dirty="0">
                <a:latin typeface="Roboto Lt"/>
                <a:cs typeface="Roboto Lt"/>
              </a:rPr>
              <a:t>Collaboration</a:t>
            </a:r>
            <a:r>
              <a:rPr lang="en-US" sz="1300" dirty="0">
                <a:latin typeface="Roboto Lt"/>
                <a:cs typeface="Roboto Lt"/>
              </a:rPr>
              <a:t>: Team members collaborate to distribute tasks based on skills and interests, ensuring optimal performance.</a:t>
            </a:r>
          </a:p>
          <a:p>
            <a:pPr marL="755650" marR="5080" lvl="1" indent="-285750">
              <a:lnSpc>
                <a:spcPct val="121800"/>
              </a:lnSpc>
              <a:spcBef>
                <a:spcPts val="100"/>
              </a:spcBef>
              <a:buFont typeface="Arial" panose="020B0604020202020204" pitchFamily="34" charset="0"/>
              <a:buChar char="•"/>
            </a:pPr>
            <a:r>
              <a:rPr lang="en-US" sz="1300" b="1" dirty="0">
                <a:latin typeface="Roboto Lt"/>
                <a:cs typeface="Roboto Lt"/>
              </a:rPr>
              <a:t>Continuous Learning</a:t>
            </a:r>
            <a:r>
              <a:rPr lang="en-US" sz="1300" dirty="0">
                <a:latin typeface="Roboto Lt"/>
                <a:cs typeface="Roboto Lt"/>
              </a:rPr>
              <a:t>: They adapt processes and practices based on retrospective insights, improving over time.</a:t>
            </a:r>
          </a:p>
          <a:p>
            <a:pPr marL="298450" marR="5080" indent="-285750">
              <a:lnSpc>
                <a:spcPct val="121800"/>
              </a:lnSpc>
              <a:spcBef>
                <a:spcPts val="100"/>
              </a:spcBef>
              <a:buFont typeface="Arial" panose="020B0604020202020204" pitchFamily="34" charset="0"/>
              <a:buChar char="•"/>
            </a:pPr>
            <a:endParaRPr lang="en-US" sz="1300" dirty="0">
              <a:latin typeface="Roboto Lt"/>
              <a:cs typeface="Roboto Lt"/>
            </a:endParaRP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Analogy</a:t>
            </a:r>
            <a:r>
              <a:rPr lang="en-US" sz="1300" dirty="0">
                <a:latin typeface="Roboto Lt"/>
                <a:cs typeface="Roboto Lt"/>
              </a:rPr>
              <a:t>: Imagine a jazz band. Each musician knows their instrument (specialty) and works together without a conductor. They listen to one another, adapt their playing, and adjust to create harmonious music (product delivery).</a:t>
            </a:r>
            <a:endParaRPr sz="1300" dirty="0">
              <a:latin typeface="Roboto Lt"/>
              <a:cs typeface="Roboto Lt"/>
            </a:endParaRPr>
          </a:p>
        </p:txBody>
      </p:sp>
    </p:spTree>
    <p:extLst>
      <p:ext uri="{BB962C8B-B14F-4D97-AF65-F5344CB8AC3E}">
        <p14:creationId xmlns:p14="http://schemas.microsoft.com/office/powerpoint/2010/main" val="3093126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1988820"/>
          </a:xfrm>
          <a:custGeom>
            <a:avLst/>
            <a:gdLst/>
            <a:ahLst/>
            <a:cxnLst/>
            <a:rect l="l" t="t" r="r" b="b"/>
            <a:pathLst>
              <a:path w="9144000" h="1988820">
                <a:moveTo>
                  <a:pt x="9144000" y="0"/>
                </a:moveTo>
                <a:lnTo>
                  <a:pt x="0" y="0"/>
                </a:lnTo>
                <a:lnTo>
                  <a:pt x="0" y="1988312"/>
                </a:lnTo>
                <a:lnTo>
                  <a:pt x="9144000" y="1988312"/>
                </a:lnTo>
                <a:lnTo>
                  <a:pt x="9144000" y="0"/>
                </a:lnTo>
                <a:close/>
              </a:path>
            </a:pathLst>
          </a:custGeom>
          <a:solidFill>
            <a:srgbClr val="002F59"/>
          </a:solidFill>
        </p:spPr>
        <p:txBody>
          <a:bodyPr wrap="square" lIns="0" tIns="0" rIns="0" bIns="0" rtlCol="0"/>
          <a:lstStyle/>
          <a:p>
            <a:endParaRPr/>
          </a:p>
        </p:txBody>
      </p:sp>
      <p:sp>
        <p:nvSpPr>
          <p:cNvPr id="3" name="object 3"/>
          <p:cNvSpPr txBox="1">
            <a:spLocks noGrp="1"/>
          </p:cNvSpPr>
          <p:nvPr>
            <p:ph type="title"/>
          </p:nvPr>
        </p:nvSpPr>
        <p:spPr>
          <a:xfrm>
            <a:off x="526366" y="50903"/>
            <a:ext cx="7846695" cy="1623906"/>
          </a:xfrm>
          <a:prstGeom prst="rect">
            <a:avLst/>
          </a:prstGeom>
        </p:spPr>
        <p:txBody>
          <a:bodyPr vert="horz" wrap="square" lIns="0" tIns="386080" rIns="0" bIns="0" rtlCol="0">
            <a:spAutoFit/>
          </a:bodyPr>
          <a:lstStyle/>
          <a:p>
            <a:pPr marL="12700">
              <a:lnSpc>
                <a:spcPct val="100000"/>
              </a:lnSpc>
              <a:spcBef>
                <a:spcPts val="3040"/>
              </a:spcBef>
            </a:pPr>
            <a:r>
              <a:rPr spc="-150" dirty="0"/>
              <a:t>A</a:t>
            </a:r>
            <a:r>
              <a:rPr spc="-280" dirty="0"/>
              <a:t>g</a:t>
            </a:r>
            <a:r>
              <a:rPr spc="-55" dirty="0"/>
              <a:t>i</a:t>
            </a:r>
            <a:r>
              <a:rPr spc="-110" dirty="0"/>
              <a:t>l</a:t>
            </a:r>
            <a:r>
              <a:rPr spc="320" dirty="0"/>
              <a:t>e</a:t>
            </a:r>
            <a:r>
              <a:rPr spc="-535" dirty="0"/>
              <a:t> </a:t>
            </a:r>
            <a:r>
              <a:rPr spc="-225" dirty="0"/>
              <a:t>D</a:t>
            </a:r>
            <a:r>
              <a:rPr spc="-45" dirty="0"/>
              <a:t>e</a:t>
            </a:r>
            <a:r>
              <a:rPr spc="-90" dirty="0"/>
              <a:t>v</a:t>
            </a:r>
            <a:r>
              <a:rPr spc="30" dirty="0"/>
              <a:t>e</a:t>
            </a:r>
            <a:r>
              <a:rPr spc="-170" dirty="0"/>
              <a:t>l</a:t>
            </a:r>
            <a:r>
              <a:rPr spc="-45" dirty="0"/>
              <a:t>o</a:t>
            </a:r>
            <a:r>
              <a:rPr spc="-105" dirty="0"/>
              <a:t>p</a:t>
            </a:r>
            <a:r>
              <a:rPr spc="220" dirty="0"/>
              <a:t>m</a:t>
            </a:r>
            <a:r>
              <a:rPr spc="25" dirty="0"/>
              <a:t>e</a:t>
            </a:r>
            <a:r>
              <a:rPr spc="-30" dirty="0"/>
              <a:t>n</a:t>
            </a:r>
            <a:r>
              <a:rPr spc="570" dirty="0"/>
              <a:t>t</a:t>
            </a:r>
            <a:r>
              <a:rPr spc="-535" dirty="0"/>
              <a:t> </a:t>
            </a:r>
            <a:r>
              <a:rPr spc="-565" dirty="0"/>
              <a:t>C</a:t>
            </a:r>
            <a:r>
              <a:rPr spc="-100" dirty="0"/>
              <a:t>y</a:t>
            </a:r>
            <a:r>
              <a:rPr spc="-320" dirty="0"/>
              <a:t>c</a:t>
            </a:r>
            <a:r>
              <a:rPr spc="-30" dirty="0"/>
              <a:t>le</a:t>
            </a:r>
          </a:p>
          <a:p>
            <a:pPr marL="12700" marR="5080">
              <a:lnSpc>
                <a:spcPct val="109000"/>
              </a:lnSpc>
              <a:spcBef>
                <a:spcPts val="710"/>
              </a:spcBef>
            </a:pPr>
            <a:r>
              <a:rPr sz="1400" b="0" spc="-15" dirty="0">
                <a:latin typeface="Roboto Lt"/>
                <a:cs typeface="Roboto Lt"/>
              </a:rPr>
              <a:t>The </a:t>
            </a:r>
            <a:r>
              <a:rPr sz="1400" b="0" spc="-20" dirty="0">
                <a:latin typeface="Roboto Lt"/>
                <a:cs typeface="Roboto Lt"/>
              </a:rPr>
              <a:t>phases </a:t>
            </a:r>
            <a:r>
              <a:rPr sz="1400" b="0" spc="-15" dirty="0">
                <a:latin typeface="Roboto Lt"/>
                <a:cs typeface="Roboto Lt"/>
              </a:rPr>
              <a:t>in the Agile </a:t>
            </a:r>
            <a:r>
              <a:rPr sz="1400" b="0" spc="-20" dirty="0">
                <a:latin typeface="Roboto Lt"/>
                <a:cs typeface="Roboto Lt"/>
              </a:rPr>
              <a:t>development cycle may </a:t>
            </a:r>
            <a:r>
              <a:rPr sz="1400" b="0" spc="-15" dirty="0">
                <a:latin typeface="Roboto Lt"/>
                <a:cs typeface="Roboto Lt"/>
              </a:rPr>
              <a:t>not </a:t>
            </a:r>
            <a:r>
              <a:rPr sz="1400" b="0" spc="-20" dirty="0">
                <a:latin typeface="Roboto Lt"/>
                <a:cs typeface="Roboto Lt"/>
              </a:rPr>
              <a:t>happen </a:t>
            </a:r>
            <a:r>
              <a:rPr sz="1400" b="0" spc="-15" dirty="0">
                <a:latin typeface="Roboto Lt"/>
                <a:cs typeface="Roboto Lt"/>
              </a:rPr>
              <a:t>in </a:t>
            </a:r>
            <a:r>
              <a:rPr sz="1400" b="0" spc="-20" dirty="0">
                <a:latin typeface="Roboto Lt"/>
                <a:cs typeface="Roboto Lt"/>
              </a:rPr>
              <a:t>succession; they </a:t>
            </a:r>
            <a:r>
              <a:rPr sz="1400" b="0" spc="-15" dirty="0">
                <a:latin typeface="Roboto Lt"/>
                <a:cs typeface="Roboto Lt"/>
              </a:rPr>
              <a:t>are flexible and </a:t>
            </a:r>
            <a:r>
              <a:rPr sz="1400" b="0" spc="-20" dirty="0">
                <a:latin typeface="Roboto Lt"/>
                <a:cs typeface="Roboto Lt"/>
              </a:rPr>
              <a:t>always evolving, </a:t>
            </a:r>
            <a:r>
              <a:rPr sz="1400" b="0" spc="-305" dirty="0">
                <a:latin typeface="Roboto Lt"/>
                <a:cs typeface="Roboto Lt"/>
              </a:rPr>
              <a:t> </a:t>
            </a:r>
            <a:r>
              <a:rPr sz="1400" b="0" spc="-20" dirty="0">
                <a:latin typeface="Roboto Lt"/>
                <a:cs typeface="Roboto Lt"/>
              </a:rPr>
              <a:t>with</a:t>
            </a:r>
            <a:r>
              <a:rPr sz="1400" b="0" spc="-35" dirty="0">
                <a:latin typeface="Roboto Lt"/>
                <a:cs typeface="Roboto Lt"/>
              </a:rPr>
              <a:t> </a:t>
            </a:r>
            <a:r>
              <a:rPr sz="1400" b="0" spc="-20" dirty="0">
                <a:latin typeface="Roboto Lt"/>
                <a:cs typeface="Roboto Lt"/>
              </a:rPr>
              <a:t>many</a:t>
            </a:r>
            <a:r>
              <a:rPr sz="1400" b="0" spc="-30" dirty="0">
                <a:latin typeface="Roboto Lt"/>
                <a:cs typeface="Roboto Lt"/>
              </a:rPr>
              <a:t> </a:t>
            </a:r>
            <a:r>
              <a:rPr sz="1400" b="0" spc="-20" dirty="0">
                <a:latin typeface="Roboto Lt"/>
                <a:cs typeface="Roboto Lt"/>
              </a:rPr>
              <a:t>happening</a:t>
            </a:r>
            <a:r>
              <a:rPr sz="1400" b="0" spc="-30" dirty="0">
                <a:latin typeface="Roboto Lt"/>
                <a:cs typeface="Roboto Lt"/>
              </a:rPr>
              <a:t> </a:t>
            </a:r>
            <a:r>
              <a:rPr sz="1400" b="0" spc="-15" dirty="0">
                <a:latin typeface="Roboto Lt"/>
                <a:cs typeface="Roboto Lt"/>
              </a:rPr>
              <a:t>in</a:t>
            </a:r>
            <a:r>
              <a:rPr sz="1400" b="0" spc="-30" dirty="0">
                <a:latin typeface="Roboto Lt"/>
                <a:cs typeface="Roboto Lt"/>
              </a:rPr>
              <a:t> </a:t>
            </a:r>
            <a:r>
              <a:rPr sz="1400" b="0" spc="-20" dirty="0">
                <a:latin typeface="Roboto Lt"/>
                <a:cs typeface="Roboto Lt"/>
              </a:rPr>
              <a:t>parallel.</a:t>
            </a:r>
            <a:endParaRPr sz="1400" dirty="0">
              <a:latin typeface="Roboto Lt"/>
              <a:cs typeface="Roboto Lt"/>
            </a:endParaRPr>
          </a:p>
        </p:txBody>
      </p:sp>
      <p:sp>
        <p:nvSpPr>
          <p:cNvPr id="4" name="object 4"/>
          <p:cNvSpPr txBox="1"/>
          <p:nvPr/>
        </p:nvSpPr>
        <p:spPr>
          <a:xfrm>
            <a:off x="526368" y="2280857"/>
            <a:ext cx="3556000" cy="3361369"/>
          </a:xfrm>
          <a:prstGeom prst="rect">
            <a:avLst/>
          </a:prstGeom>
        </p:spPr>
        <p:txBody>
          <a:bodyPr vert="horz" wrap="square" lIns="0" tIns="47625" rIns="0" bIns="0" rtlCol="0">
            <a:spAutoFit/>
          </a:bodyPr>
          <a:lstStyle/>
          <a:p>
            <a:pPr marL="12700">
              <a:lnSpc>
                <a:spcPct val="100000"/>
              </a:lnSpc>
              <a:spcBef>
                <a:spcPts val="375"/>
              </a:spcBef>
            </a:pPr>
            <a:r>
              <a:rPr sz="1700" b="1" dirty="0">
                <a:solidFill>
                  <a:srgbClr val="002F59"/>
                </a:solidFill>
                <a:latin typeface="Arial"/>
                <a:cs typeface="Arial"/>
              </a:rPr>
              <a:t>Planning</a:t>
            </a:r>
            <a:endParaRPr sz="1700" dirty="0">
              <a:latin typeface="Arial"/>
              <a:cs typeface="Arial"/>
            </a:endParaRPr>
          </a:p>
          <a:p>
            <a:pPr marL="12700" marR="71120" algn="just">
              <a:lnSpc>
                <a:spcPts val="1700"/>
              </a:lnSpc>
            </a:pPr>
            <a:r>
              <a:rPr sz="1200" dirty="0">
                <a:solidFill>
                  <a:srgbClr val="333333"/>
                </a:solidFill>
                <a:latin typeface="Roboto Lt"/>
                <a:cs typeface="Roboto Lt"/>
              </a:rPr>
              <a:t>Once an idea is deemed viable, the project team comes  together to identify features, prioritize each feature, and  assign them to an iteration.</a:t>
            </a:r>
            <a:endParaRPr sz="1200" dirty="0">
              <a:latin typeface="Roboto Lt"/>
              <a:cs typeface="Roboto Lt"/>
            </a:endParaRPr>
          </a:p>
          <a:p>
            <a:pPr>
              <a:lnSpc>
                <a:spcPct val="100000"/>
              </a:lnSpc>
              <a:spcBef>
                <a:spcPts val="20"/>
              </a:spcBef>
            </a:pPr>
            <a:endParaRPr sz="1200" dirty="0">
              <a:latin typeface="Roboto Lt"/>
              <a:cs typeface="Roboto Lt"/>
            </a:endParaRPr>
          </a:p>
          <a:p>
            <a:pPr marL="12700">
              <a:lnSpc>
                <a:spcPct val="100000"/>
              </a:lnSpc>
            </a:pPr>
            <a:r>
              <a:rPr sz="1700" b="1" dirty="0">
                <a:solidFill>
                  <a:srgbClr val="002F59"/>
                </a:solidFill>
                <a:latin typeface="Arial"/>
                <a:cs typeface="Arial"/>
              </a:rPr>
              <a:t>Requirements analysis</a:t>
            </a:r>
            <a:endParaRPr sz="1700" dirty="0">
              <a:latin typeface="Arial"/>
              <a:cs typeface="Arial"/>
            </a:endParaRPr>
          </a:p>
          <a:p>
            <a:pPr marL="12700" marR="5080" algn="just">
              <a:lnSpc>
                <a:spcPts val="1700"/>
              </a:lnSpc>
            </a:pPr>
            <a:r>
              <a:rPr sz="1200" dirty="0">
                <a:solidFill>
                  <a:srgbClr val="333333"/>
                </a:solidFill>
                <a:latin typeface="Roboto Lt"/>
                <a:cs typeface="Roboto Lt"/>
              </a:rPr>
              <a:t>Key stakeholders and users meet to identify business  requirements that are quantifiable, relevant, and detailed.</a:t>
            </a:r>
            <a:endParaRPr sz="1200" dirty="0">
              <a:latin typeface="Roboto Lt"/>
              <a:cs typeface="Roboto Lt"/>
            </a:endParaRPr>
          </a:p>
          <a:p>
            <a:pPr>
              <a:lnSpc>
                <a:spcPct val="100000"/>
              </a:lnSpc>
              <a:spcBef>
                <a:spcPts val="20"/>
              </a:spcBef>
            </a:pPr>
            <a:endParaRPr sz="1200" dirty="0">
              <a:latin typeface="Roboto Lt"/>
              <a:cs typeface="Roboto Lt"/>
            </a:endParaRPr>
          </a:p>
          <a:p>
            <a:pPr marL="12700">
              <a:lnSpc>
                <a:spcPct val="100000"/>
              </a:lnSpc>
            </a:pPr>
            <a:r>
              <a:rPr sz="1700" b="1" dirty="0">
                <a:solidFill>
                  <a:srgbClr val="002F59"/>
                </a:solidFill>
                <a:latin typeface="Arial"/>
                <a:cs typeface="Arial"/>
              </a:rPr>
              <a:t>Design</a:t>
            </a:r>
            <a:endParaRPr sz="1700" dirty="0">
              <a:latin typeface="Arial"/>
              <a:cs typeface="Arial"/>
            </a:endParaRPr>
          </a:p>
          <a:p>
            <a:pPr marL="12700" marR="19685" algn="just">
              <a:lnSpc>
                <a:spcPts val="1700"/>
              </a:lnSpc>
            </a:pPr>
            <a:r>
              <a:rPr sz="1200" dirty="0">
                <a:solidFill>
                  <a:srgbClr val="333333"/>
                </a:solidFill>
                <a:latin typeface="Roboto Lt"/>
                <a:cs typeface="Roboto Lt"/>
              </a:rPr>
              <a:t>The design is prepared from the requirements identified  and the team considers what the product or solution will  look like, deciding on a test strategy or plan to proceed.</a:t>
            </a:r>
            <a:endParaRPr sz="1200" dirty="0">
              <a:latin typeface="Roboto Lt"/>
              <a:cs typeface="Roboto Lt"/>
            </a:endParaRPr>
          </a:p>
        </p:txBody>
      </p:sp>
      <p:sp>
        <p:nvSpPr>
          <p:cNvPr id="5" name="object 5"/>
          <p:cNvSpPr txBox="1"/>
          <p:nvPr/>
        </p:nvSpPr>
        <p:spPr>
          <a:xfrm>
            <a:off x="4559300" y="2280857"/>
            <a:ext cx="4175760" cy="3143361"/>
          </a:xfrm>
          <a:prstGeom prst="rect">
            <a:avLst/>
          </a:prstGeom>
        </p:spPr>
        <p:txBody>
          <a:bodyPr vert="horz" wrap="square" lIns="0" tIns="47625" rIns="0" bIns="0" rtlCol="0">
            <a:spAutoFit/>
          </a:bodyPr>
          <a:lstStyle/>
          <a:p>
            <a:pPr marL="12700">
              <a:lnSpc>
                <a:spcPct val="100000"/>
              </a:lnSpc>
              <a:spcBef>
                <a:spcPts val="375"/>
              </a:spcBef>
            </a:pPr>
            <a:r>
              <a:rPr sz="1700" b="1" dirty="0">
                <a:solidFill>
                  <a:srgbClr val="002F59"/>
                </a:solidFill>
                <a:latin typeface="Arial"/>
                <a:cs typeface="Arial"/>
              </a:rPr>
              <a:t>Implementation, coding, development</a:t>
            </a:r>
            <a:endParaRPr sz="1700" dirty="0">
              <a:latin typeface="Arial"/>
              <a:cs typeface="Arial"/>
            </a:endParaRPr>
          </a:p>
          <a:p>
            <a:pPr marL="12700" marR="923925">
              <a:lnSpc>
                <a:spcPts val="1700"/>
              </a:lnSpc>
            </a:pPr>
            <a:r>
              <a:rPr sz="1200" dirty="0">
                <a:solidFill>
                  <a:srgbClr val="333333"/>
                </a:solidFill>
                <a:latin typeface="Roboto Lt"/>
                <a:cs typeface="Roboto Lt"/>
              </a:rPr>
              <a:t>Coding or developing features, scheduling iterations  for deployment.</a:t>
            </a:r>
            <a:endParaRPr sz="1200" dirty="0">
              <a:latin typeface="Roboto Lt"/>
              <a:cs typeface="Roboto Lt"/>
            </a:endParaRPr>
          </a:p>
          <a:p>
            <a:pPr>
              <a:lnSpc>
                <a:spcPct val="100000"/>
              </a:lnSpc>
              <a:spcBef>
                <a:spcPts val="20"/>
              </a:spcBef>
            </a:pPr>
            <a:endParaRPr sz="1200" dirty="0">
              <a:latin typeface="Roboto Lt"/>
              <a:cs typeface="Roboto Lt"/>
            </a:endParaRPr>
          </a:p>
          <a:p>
            <a:pPr marL="12700">
              <a:lnSpc>
                <a:spcPct val="100000"/>
              </a:lnSpc>
            </a:pPr>
            <a:r>
              <a:rPr sz="1700" b="1" dirty="0">
                <a:solidFill>
                  <a:srgbClr val="002F59"/>
                </a:solidFill>
                <a:latin typeface="Arial"/>
                <a:cs typeface="Arial"/>
              </a:rPr>
              <a:t>Testing</a:t>
            </a:r>
            <a:endParaRPr sz="1700" dirty="0">
              <a:latin typeface="Arial"/>
              <a:cs typeface="Arial"/>
            </a:endParaRPr>
          </a:p>
          <a:p>
            <a:pPr marL="12700" marR="5080">
              <a:lnSpc>
                <a:spcPts val="1700"/>
              </a:lnSpc>
            </a:pPr>
            <a:r>
              <a:rPr sz="1200" dirty="0">
                <a:solidFill>
                  <a:srgbClr val="333333"/>
                </a:solidFill>
                <a:latin typeface="Roboto Lt"/>
                <a:cs typeface="Roboto Lt"/>
              </a:rPr>
              <a:t>Test the code against the requirements to make sure the product  is actually solving customer needs. This phase includes unit  testing, integration testing, system testing, and acceptance testing.</a:t>
            </a:r>
            <a:endParaRPr sz="1200" dirty="0">
              <a:latin typeface="Roboto Lt"/>
              <a:cs typeface="Roboto Lt"/>
            </a:endParaRPr>
          </a:p>
          <a:p>
            <a:pPr>
              <a:lnSpc>
                <a:spcPct val="100000"/>
              </a:lnSpc>
              <a:spcBef>
                <a:spcPts val="20"/>
              </a:spcBef>
            </a:pPr>
            <a:endParaRPr sz="1200" dirty="0">
              <a:latin typeface="Roboto Lt"/>
              <a:cs typeface="Roboto Lt"/>
            </a:endParaRPr>
          </a:p>
          <a:p>
            <a:pPr marL="12700">
              <a:lnSpc>
                <a:spcPct val="100000"/>
              </a:lnSpc>
            </a:pPr>
            <a:r>
              <a:rPr sz="1700" b="1" dirty="0">
                <a:solidFill>
                  <a:srgbClr val="002F59"/>
                </a:solidFill>
                <a:latin typeface="Arial"/>
                <a:cs typeface="Arial"/>
              </a:rPr>
              <a:t>Deployment</a:t>
            </a:r>
            <a:endParaRPr sz="1700" dirty="0">
              <a:latin typeface="Arial"/>
              <a:cs typeface="Arial"/>
            </a:endParaRPr>
          </a:p>
          <a:p>
            <a:pPr marL="12700" marR="13970">
              <a:lnSpc>
                <a:spcPts val="1700"/>
              </a:lnSpc>
            </a:pPr>
            <a:r>
              <a:rPr sz="1200" dirty="0">
                <a:solidFill>
                  <a:srgbClr val="333333"/>
                </a:solidFill>
                <a:latin typeface="Roboto Lt"/>
                <a:cs typeface="Roboto Lt"/>
              </a:rPr>
              <a:t>Deliver the product to customers. Once customers start using the  product, they may run into new problems that the project team will  need to address in future iterations.</a:t>
            </a:r>
            <a:endParaRPr sz="1200" dirty="0">
              <a:latin typeface="Roboto Lt"/>
              <a:cs typeface="Roboto Lt"/>
            </a:endParaRPr>
          </a:p>
        </p:txBody>
      </p:sp>
      <p:sp>
        <p:nvSpPr>
          <p:cNvPr id="6" name="Footer Placeholder 5">
            <a:extLst>
              <a:ext uri="{FF2B5EF4-FFF2-40B4-BE49-F238E27FC236}">
                <a16:creationId xmlns:a16="http://schemas.microsoft.com/office/drawing/2014/main" id="{4A32AAC4-71BA-1B38-7E4E-FF88B909306E}"/>
              </a:ext>
            </a:extLst>
          </p:cNvPr>
          <p:cNvSpPr>
            <a:spLocks noGrp="1"/>
          </p:cNvSpPr>
          <p:nvPr>
            <p:ph type="ftr" sz="quarter" idx="5"/>
          </p:nvPr>
        </p:nvSpPr>
        <p:spPr/>
        <p:txBody>
          <a:bodyPr/>
          <a:lstStyle/>
          <a:p>
            <a:pPr marL="12700">
              <a:lnSpc>
                <a:spcPct val="100000"/>
              </a:lnSpc>
              <a:spcBef>
                <a:spcPts val="25"/>
              </a:spcBef>
            </a:pPr>
            <a:r>
              <a:rPr lang="en-MY" spc="-25"/>
              <a:t>Agile Methodology</a:t>
            </a:r>
            <a:endParaRPr lang="en-MY" dirty="0"/>
          </a:p>
        </p:txBody>
      </p:sp>
      <p:sp>
        <p:nvSpPr>
          <p:cNvPr id="7" name="Slide Number Placeholder 6">
            <a:extLst>
              <a:ext uri="{FF2B5EF4-FFF2-40B4-BE49-F238E27FC236}">
                <a16:creationId xmlns:a16="http://schemas.microsoft.com/office/drawing/2014/main" id="{DD3CD1DB-09EC-9431-84D5-D31BF74FF9B7}"/>
              </a:ext>
            </a:extLst>
          </p:cNvPr>
          <p:cNvSpPr>
            <a:spLocks noGrp="1"/>
          </p:cNvSpPr>
          <p:nvPr>
            <p:ph type="sldNum" sz="quarter" idx="7"/>
          </p:nvPr>
        </p:nvSpPr>
        <p:spPr/>
        <p:txBody>
          <a:bodyPr/>
          <a:lstStyle/>
          <a:p>
            <a:pPr marL="38100">
              <a:lnSpc>
                <a:spcPct val="100000"/>
              </a:lnSpc>
              <a:spcBef>
                <a:spcPts val="190"/>
              </a:spcBef>
            </a:pPr>
            <a:fld id="{81D60167-4931-47E6-BA6A-407CBD079E47}" type="slidenum">
              <a:rPr lang="en-MY" spc="35" smtClean="0"/>
              <a:t>9</a:t>
            </a:fld>
            <a:endParaRPr lang="en-MY" spc="3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1988820"/>
          </a:xfrm>
          <a:custGeom>
            <a:avLst/>
            <a:gdLst/>
            <a:ahLst/>
            <a:cxnLst/>
            <a:rect l="l" t="t" r="r" b="b"/>
            <a:pathLst>
              <a:path w="9144000" h="1988820">
                <a:moveTo>
                  <a:pt x="9144000" y="0"/>
                </a:moveTo>
                <a:lnTo>
                  <a:pt x="0" y="0"/>
                </a:lnTo>
                <a:lnTo>
                  <a:pt x="0" y="1988312"/>
                </a:lnTo>
                <a:lnTo>
                  <a:pt x="9144000" y="1988312"/>
                </a:lnTo>
                <a:lnTo>
                  <a:pt x="9144000" y="0"/>
                </a:lnTo>
                <a:close/>
              </a:path>
            </a:pathLst>
          </a:custGeom>
          <a:solidFill>
            <a:srgbClr val="002F59"/>
          </a:solidFill>
        </p:spPr>
        <p:txBody>
          <a:bodyPr wrap="square" lIns="0" tIns="0" rIns="0" bIns="0" rtlCol="0"/>
          <a:lstStyle/>
          <a:p>
            <a:endParaRPr/>
          </a:p>
        </p:txBody>
      </p:sp>
      <p:sp>
        <p:nvSpPr>
          <p:cNvPr id="3" name="object 3"/>
          <p:cNvSpPr txBox="1">
            <a:spLocks noGrp="1"/>
          </p:cNvSpPr>
          <p:nvPr>
            <p:ph type="title"/>
          </p:nvPr>
        </p:nvSpPr>
        <p:spPr>
          <a:xfrm>
            <a:off x="526368" y="38203"/>
            <a:ext cx="7787005" cy="1607185"/>
          </a:xfrm>
          <a:prstGeom prst="rect">
            <a:avLst/>
          </a:prstGeom>
        </p:spPr>
        <p:txBody>
          <a:bodyPr vert="horz" wrap="square" lIns="0" tIns="386080" rIns="0" bIns="0" rtlCol="0">
            <a:spAutoFit/>
          </a:bodyPr>
          <a:lstStyle/>
          <a:p>
            <a:pPr marL="12700">
              <a:lnSpc>
                <a:spcPct val="100000"/>
              </a:lnSpc>
              <a:spcBef>
                <a:spcPts val="3040"/>
              </a:spcBef>
            </a:pPr>
            <a:r>
              <a:rPr spc="-260" dirty="0"/>
              <a:t>A</a:t>
            </a:r>
            <a:r>
              <a:rPr spc="-85" dirty="0"/>
              <a:t>d</a:t>
            </a:r>
            <a:r>
              <a:rPr spc="-70" dirty="0"/>
              <a:t>v</a:t>
            </a:r>
            <a:r>
              <a:rPr spc="40" dirty="0"/>
              <a:t>a</a:t>
            </a:r>
            <a:r>
              <a:rPr spc="-25" dirty="0"/>
              <a:t>n</a:t>
            </a:r>
            <a:r>
              <a:rPr spc="335" dirty="0"/>
              <a:t>t</a:t>
            </a:r>
            <a:r>
              <a:rPr spc="5" dirty="0"/>
              <a:t>a</a:t>
            </a:r>
            <a:r>
              <a:rPr spc="-330" dirty="0"/>
              <a:t>g</a:t>
            </a:r>
            <a:r>
              <a:rPr spc="-5" dirty="0"/>
              <a:t>e</a:t>
            </a:r>
            <a:r>
              <a:rPr spc="-105" dirty="0"/>
              <a:t>s</a:t>
            </a:r>
            <a:r>
              <a:rPr spc="-535" dirty="0"/>
              <a:t> </a:t>
            </a:r>
            <a:r>
              <a:rPr spc="-160" dirty="0"/>
              <a:t>o</a:t>
            </a:r>
            <a:r>
              <a:rPr spc="360" dirty="0"/>
              <a:t>f</a:t>
            </a:r>
            <a:r>
              <a:rPr spc="-535" dirty="0"/>
              <a:t> </a:t>
            </a:r>
            <a:r>
              <a:rPr spc="-150" dirty="0"/>
              <a:t>A</a:t>
            </a:r>
            <a:r>
              <a:rPr spc="-280" dirty="0"/>
              <a:t>g</a:t>
            </a:r>
            <a:r>
              <a:rPr spc="-55" dirty="0"/>
              <a:t>i</a:t>
            </a:r>
            <a:r>
              <a:rPr spc="-70" dirty="0"/>
              <a:t>l</a:t>
            </a:r>
            <a:r>
              <a:rPr spc="275" dirty="0"/>
              <a:t>e</a:t>
            </a:r>
          </a:p>
          <a:p>
            <a:pPr marL="12700" marR="5080">
              <a:lnSpc>
                <a:spcPct val="109000"/>
              </a:lnSpc>
              <a:spcBef>
                <a:spcPts val="710"/>
              </a:spcBef>
            </a:pPr>
            <a:r>
              <a:rPr sz="1300" b="0" spc="-25" dirty="0">
                <a:latin typeface="Roboto Lt"/>
                <a:cs typeface="Roboto Lt"/>
              </a:rPr>
              <a:t>Agile </a:t>
            </a:r>
            <a:r>
              <a:rPr sz="1300" b="0" spc="-30" dirty="0">
                <a:latin typeface="Roboto Lt"/>
                <a:cs typeface="Roboto Lt"/>
              </a:rPr>
              <a:t>evolved</a:t>
            </a:r>
            <a:r>
              <a:rPr sz="1300" b="0" spc="-20" dirty="0">
                <a:latin typeface="Roboto Lt"/>
                <a:cs typeface="Roboto Lt"/>
              </a:rPr>
              <a:t> from</a:t>
            </a:r>
            <a:r>
              <a:rPr sz="1300" b="0" spc="-25" dirty="0">
                <a:latin typeface="Roboto Lt"/>
                <a:cs typeface="Roboto Lt"/>
              </a:rPr>
              <a:t> different</a:t>
            </a:r>
            <a:r>
              <a:rPr sz="1300" b="0" spc="-20" dirty="0">
                <a:latin typeface="Roboto Lt"/>
                <a:cs typeface="Roboto Lt"/>
              </a:rPr>
              <a:t> </a:t>
            </a:r>
            <a:r>
              <a:rPr sz="1300" b="0" spc="-30" dirty="0">
                <a:latin typeface="Roboto Lt"/>
                <a:cs typeface="Roboto Lt"/>
              </a:rPr>
              <a:t>development</a:t>
            </a:r>
            <a:r>
              <a:rPr sz="1300" b="0" spc="-25" dirty="0">
                <a:latin typeface="Roboto Lt"/>
                <a:cs typeface="Roboto Lt"/>
              </a:rPr>
              <a:t> </a:t>
            </a:r>
            <a:r>
              <a:rPr sz="1300" b="0" spc="-30" dirty="0">
                <a:latin typeface="Roboto Lt"/>
                <a:cs typeface="Roboto Lt"/>
              </a:rPr>
              <a:t>approaches</a:t>
            </a:r>
            <a:r>
              <a:rPr sz="1300" b="0" spc="-20" dirty="0">
                <a:latin typeface="Roboto Lt"/>
                <a:cs typeface="Roboto Lt"/>
              </a:rPr>
              <a:t> </a:t>
            </a:r>
            <a:r>
              <a:rPr sz="1300" b="0" spc="-25" dirty="0">
                <a:latin typeface="Roboto Lt"/>
                <a:cs typeface="Roboto Lt"/>
              </a:rPr>
              <a:t>in</a:t>
            </a:r>
            <a:r>
              <a:rPr sz="1300" b="0" spc="-20" dirty="0">
                <a:latin typeface="Roboto Lt"/>
                <a:cs typeface="Roboto Lt"/>
              </a:rPr>
              <a:t> </a:t>
            </a:r>
            <a:r>
              <a:rPr sz="1300" b="0" spc="-25" dirty="0">
                <a:latin typeface="Roboto Lt"/>
                <a:cs typeface="Roboto Lt"/>
              </a:rPr>
              <a:t>the </a:t>
            </a:r>
            <a:r>
              <a:rPr sz="1300" b="0" spc="-35" dirty="0">
                <a:latin typeface="Roboto Lt"/>
                <a:cs typeface="Roboto Lt"/>
              </a:rPr>
              <a:t>1990s</a:t>
            </a:r>
            <a:r>
              <a:rPr sz="1300" b="0" spc="-20" dirty="0">
                <a:latin typeface="Roboto Lt"/>
                <a:cs typeface="Roboto Lt"/>
              </a:rPr>
              <a:t> </a:t>
            </a:r>
            <a:r>
              <a:rPr sz="1300" b="0" spc="-25" dirty="0">
                <a:latin typeface="Roboto Lt"/>
                <a:cs typeface="Roboto Lt"/>
              </a:rPr>
              <a:t>and is</a:t>
            </a:r>
            <a:r>
              <a:rPr sz="1300" b="0" spc="-20" dirty="0">
                <a:latin typeface="Roboto Lt"/>
                <a:cs typeface="Roboto Lt"/>
              </a:rPr>
              <a:t> </a:t>
            </a:r>
            <a:r>
              <a:rPr sz="1300" b="0" spc="-5" dirty="0">
                <a:latin typeface="Roboto Lt"/>
                <a:cs typeface="Roboto Lt"/>
              </a:rPr>
              <a:t>a</a:t>
            </a:r>
            <a:r>
              <a:rPr sz="1300" b="0" spc="-20" dirty="0">
                <a:latin typeface="Roboto Lt"/>
                <a:cs typeface="Roboto Lt"/>
              </a:rPr>
              <a:t> </a:t>
            </a:r>
            <a:r>
              <a:rPr sz="1300" b="0" spc="-30" dirty="0">
                <a:latin typeface="Roboto Lt"/>
                <a:cs typeface="Roboto Lt"/>
              </a:rPr>
              <a:t>response</a:t>
            </a:r>
            <a:r>
              <a:rPr sz="1300" b="0" spc="-25" dirty="0">
                <a:latin typeface="Roboto Lt"/>
                <a:cs typeface="Roboto Lt"/>
              </a:rPr>
              <a:t> </a:t>
            </a:r>
            <a:r>
              <a:rPr sz="1300" b="0" spc="-30" dirty="0">
                <a:latin typeface="Roboto Lt"/>
                <a:cs typeface="Roboto Lt"/>
              </a:rPr>
              <a:t>to</a:t>
            </a:r>
            <a:r>
              <a:rPr sz="1300" b="0" spc="-20" dirty="0">
                <a:latin typeface="Roboto Lt"/>
                <a:cs typeface="Roboto Lt"/>
              </a:rPr>
              <a:t> some</a:t>
            </a:r>
            <a:r>
              <a:rPr sz="1300" b="0" spc="-25" dirty="0">
                <a:latin typeface="Roboto Lt"/>
                <a:cs typeface="Roboto Lt"/>
              </a:rPr>
              <a:t> project</a:t>
            </a:r>
            <a:r>
              <a:rPr sz="1300" b="0" spc="-20" dirty="0">
                <a:latin typeface="Roboto Lt"/>
                <a:cs typeface="Roboto Lt"/>
              </a:rPr>
              <a:t> </a:t>
            </a:r>
            <a:r>
              <a:rPr sz="1300" b="0" spc="-35" dirty="0">
                <a:latin typeface="Roboto Lt"/>
                <a:cs typeface="Roboto Lt"/>
              </a:rPr>
              <a:t>managers’ </a:t>
            </a:r>
            <a:r>
              <a:rPr sz="1300" b="0" spc="-300" dirty="0">
                <a:latin typeface="Roboto Lt"/>
                <a:cs typeface="Roboto Lt"/>
              </a:rPr>
              <a:t> </a:t>
            </a:r>
            <a:r>
              <a:rPr sz="1300" b="0" spc="-35" dirty="0">
                <a:latin typeface="Roboto Lt"/>
                <a:cs typeface="Roboto Lt"/>
              </a:rPr>
              <a:t>dislike</a:t>
            </a:r>
            <a:r>
              <a:rPr sz="1300" b="0" spc="-30" dirty="0">
                <a:latin typeface="Roboto Lt"/>
                <a:cs typeface="Roboto Lt"/>
              </a:rPr>
              <a:t> </a:t>
            </a:r>
            <a:r>
              <a:rPr sz="1300" b="0" spc="-15" dirty="0">
                <a:latin typeface="Roboto Lt"/>
                <a:cs typeface="Roboto Lt"/>
              </a:rPr>
              <a:t>of</a:t>
            </a:r>
            <a:r>
              <a:rPr sz="1300" b="0" spc="-25" dirty="0">
                <a:latin typeface="Roboto Lt"/>
                <a:cs typeface="Roboto Lt"/>
              </a:rPr>
              <a:t> the rigid, </a:t>
            </a:r>
            <a:r>
              <a:rPr sz="1300" b="0" spc="-30" dirty="0">
                <a:latin typeface="Roboto Lt"/>
                <a:cs typeface="Roboto Lt"/>
              </a:rPr>
              <a:t>linear Waterfall</a:t>
            </a:r>
            <a:r>
              <a:rPr sz="1300" b="0" spc="-25" dirty="0">
                <a:latin typeface="Roboto Lt"/>
                <a:cs typeface="Roboto Lt"/>
              </a:rPr>
              <a:t> </a:t>
            </a:r>
            <a:r>
              <a:rPr sz="1300" b="0" spc="-30" dirty="0">
                <a:latin typeface="Roboto Lt"/>
                <a:cs typeface="Roboto Lt"/>
              </a:rPr>
              <a:t>methodology.</a:t>
            </a:r>
            <a:r>
              <a:rPr sz="1300" b="0" spc="-25" dirty="0">
                <a:latin typeface="Roboto Lt"/>
                <a:cs typeface="Roboto Lt"/>
              </a:rPr>
              <a:t> </a:t>
            </a:r>
            <a:r>
              <a:rPr sz="1300" b="0" spc="-15" dirty="0">
                <a:latin typeface="Roboto Lt"/>
                <a:cs typeface="Roboto Lt"/>
              </a:rPr>
              <a:t>It</a:t>
            </a:r>
            <a:r>
              <a:rPr sz="1300" b="0" spc="-25" dirty="0">
                <a:latin typeface="Roboto Lt"/>
                <a:cs typeface="Roboto Lt"/>
              </a:rPr>
              <a:t> </a:t>
            </a:r>
            <a:r>
              <a:rPr sz="1300" b="0" spc="-30" dirty="0">
                <a:latin typeface="Roboto Lt"/>
                <a:cs typeface="Roboto Lt"/>
              </a:rPr>
              <a:t>focuses</a:t>
            </a:r>
            <a:r>
              <a:rPr sz="1300" b="0" spc="-25" dirty="0">
                <a:latin typeface="Roboto Lt"/>
                <a:cs typeface="Roboto Lt"/>
              </a:rPr>
              <a:t> </a:t>
            </a:r>
            <a:r>
              <a:rPr sz="1300" b="0" spc="-15" dirty="0">
                <a:latin typeface="Roboto Lt"/>
                <a:cs typeface="Roboto Lt"/>
              </a:rPr>
              <a:t>on</a:t>
            </a:r>
            <a:r>
              <a:rPr sz="1300" b="0" spc="-30" dirty="0">
                <a:latin typeface="Roboto Lt"/>
                <a:cs typeface="Roboto Lt"/>
              </a:rPr>
              <a:t> flexibility,</a:t>
            </a:r>
            <a:r>
              <a:rPr sz="1300" b="0" spc="-25" dirty="0">
                <a:latin typeface="Roboto Lt"/>
                <a:cs typeface="Roboto Lt"/>
              </a:rPr>
              <a:t> </a:t>
            </a:r>
            <a:r>
              <a:rPr sz="1300" b="0" spc="-30" dirty="0">
                <a:latin typeface="Roboto Lt"/>
                <a:cs typeface="Roboto Lt"/>
              </a:rPr>
              <a:t>continuous</a:t>
            </a:r>
            <a:r>
              <a:rPr sz="1300" b="0" spc="-25" dirty="0">
                <a:latin typeface="Roboto Lt"/>
                <a:cs typeface="Roboto Lt"/>
              </a:rPr>
              <a:t> </a:t>
            </a:r>
            <a:r>
              <a:rPr sz="1300" b="0" spc="-30" dirty="0">
                <a:latin typeface="Roboto Lt"/>
                <a:cs typeface="Roboto Lt"/>
              </a:rPr>
              <a:t>improvement,</a:t>
            </a:r>
            <a:r>
              <a:rPr sz="1300" b="0" spc="-25" dirty="0">
                <a:latin typeface="Roboto Lt"/>
                <a:cs typeface="Roboto Lt"/>
              </a:rPr>
              <a:t> and</a:t>
            </a:r>
            <a:r>
              <a:rPr sz="1300" b="0" spc="-30" dirty="0">
                <a:latin typeface="Roboto Lt"/>
                <a:cs typeface="Roboto Lt"/>
              </a:rPr>
              <a:t> </a:t>
            </a:r>
            <a:r>
              <a:rPr sz="1300" b="0" spc="-20" dirty="0">
                <a:latin typeface="Roboto Lt"/>
                <a:cs typeface="Roboto Lt"/>
              </a:rPr>
              <a:t>speed.</a:t>
            </a:r>
            <a:endParaRPr sz="1300">
              <a:latin typeface="Roboto Lt"/>
              <a:cs typeface="Roboto Lt"/>
            </a:endParaRPr>
          </a:p>
        </p:txBody>
      </p:sp>
      <p:sp>
        <p:nvSpPr>
          <p:cNvPr id="6" name="object 6"/>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10</a:t>
            </a:r>
            <a:endParaRPr spc="35" dirty="0"/>
          </a:p>
        </p:txBody>
      </p:sp>
      <p:sp>
        <p:nvSpPr>
          <p:cNvPr id="7" name="object 7"/>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a:t>
            </a:r>
            <a:r>
              <a:rPr lang="en-MY" spc="-40" dirty="0"/>
              <a:t>g</a:t>
            </a:r>
            <a:r>
              <a:rPr lang="en-MY" spc="-45" dirty="0"/>
              <a:t>i</a:t>
            </a:r>
            <a:r>
              <a:rPr lang="en-MY" spc="-35" dirty="0"/>
              <a:t>l</a:t>
            </a:r>
            <a:r>
              <a:rPr lang="en-MY" dirty="0"/>
              <a:t>e</a:t>
            </a:r>
            <a:r>
              <a:rPr lang="en-MY" spc="-60" dirty="0"/>
              <a:t> </a:t>
            </a:r>
            <a:r>
              <a:rPr lang="en-MY" spc="-35" dirty="0"/>
              <a:t>Methodology</a:t>
            </a:r>
            <a:endParaRPr dirty="0"/>
          </a:p>
        </p:txBody>
      </p:sp>
      <p:sp>
        <p:nvSpPr>
          <p:cNvPr id="4" name="object 4"/>
          <p:cNvSpPr txBox="1">
            <a:spLocks noGrp="1"/>
          </p:cNvSpPr>
          <p:nvPr>
            <p:ph sz="half" idx="2"/>
          </p:nvPr>
        </p:nvSpPr>
        <p:spPr>
          <a:prstGeom prst="rect">
            <a:avLst/>
          </a:prstGeom>
        </p:spPr>
        <p:txBody>
          <a:bodyPr vert="horz" wrap="square" lIns="0" tIns="47625" rIns="0" bIns="0" rtlCol="0">
            <a:spAutoFit/>
          </a:bodyPr>
          <a:lstStyle/>
          <a:p>
            <a:pPr marL="12700">
              <a:lnSpc>
                <a:spcPct val="100000"/>
              </a:lnSpc>
              <a:spcBef>
                <a:spcPts val="375"/>
              </a:spcBef>
              <a:tabLst>
                <a:tab pos="266065" algn="l"/>
              </a:tabLst>
            </a:pPr>
            <a:r>
              <a:rPr spc="-35" dirty="0"/>
              <a:t>+	</a:t>
            </a:r>
            <a:r>
              <a:rPr spc="-220" dirty="0"/>
              <a:t>C</a:t>
            </a:r>
            <a:r>
              <a:rPr spc="5" dirty="0"/>
              <a:t>h</a:t>
            </a:r>
            <a:r>
              <a:rPr spc="25" dirty="0"/>
              <a:t>a</a:t>
            </a:r>
            <a:r>
              <a:rPr spc="5" dirty="0"/>
              <a:t>n</a:t>
            </a:r>
            <a:r>
              <a:rPr spc="-110" dirty="0"/>
              <a:t>g</a:t>
            </a:r>
            <a:r>
              <a:rPr spc="105" dirty="0"/>
              <a:t>e</a:t>
            </a:r>
            <a:r>
              <a:rPr spc="-204" dirty="0"/>
              <a:t> </a:t>
            </a:r>
            <a:r>
              <a:rPr spc="-10" dirty="0"/>
              <a:t>i</a:t>
            </a:r>
            <a:r>
              <a:rPr spc="-40" dirty="0"/>
              <a:t>s</a:t>
            </a:r>
            <a:r>
              <a:rPr spc="-204" dirty="0"/>
              <a:t> </a:t>
            </a:r>
            <a:r>
              <a:rPr spc="25" dirty="0"/>
              <a:t>e</a:t>
            </a:r>
            <a:r>
              <a:rPr spc="100" dirty="0"/>
              <a:t>m</a:t>
            </a:r>
            <a:r>
              <a:rPr spc="-30" dirty="0"/>
              <a:t>b</a:t>
            </a:r>
            <a:r>
              <a:rPr spc="25" dirty="0"/>
              <a:t>r</a:t>
            </a:r>
            <a:r>
              <a:rPr spc="20" dirty="0"/>
              <a:t>a</a:t>
            </a:r>
            <a:r>
              <a:rPr spc="-120" dirty="0"/>
              <a:t>c</a:t>
            </a:r>
            <a:r>
              <a:rPr spc="25" dirty="0"/>
              <a:t>e</a:t>
            </a:r>
            <a:r>
              <a:rPr spc="50" dirty="0"/>
              <a:t>d</a:t>
            </a:r>
          </a:p>
          <a:p>
            <a:pPr marL="266700" marR="70485" indent="-635">
              <a:lnSpc>
                <a:spcPts val="1700"/>
              </a:lnSpc>
            </a:pPr>
            <a:r>
              <a:rPr sz="1150" b="0" spc="-5" dirty="0">
                <a:solidFill>
                  <a:srgbClr val="333333"/>
                </a:solidFill>
                <a:latin typeface="Roboto Lt"/>
                <a:cs typeface="Roboto Lt"/>
              </a:rPr>
              <a:t>With</a:t>
            </a:r>
            <a:r>
              <a:rPr sz="1150" b="0" spc="-15" dirty="0">
                <a:solidFill>
                  <a:srgbClr val="333333"/>
                </a:solidFill>
                <a:latin typeface="Roboto Lt"/>
                <a:cs typeface="Roboto Lt"/>
              </a:rPr>
              <a:t> </a:t>
            </a:r>
            <a:r>
              <a:rPr sz="1150" b="0" spc="-10" dirty="0">
                <a:solidFill>
                  <a:srgbClr val="333333"/>
                </a:solidFill>
                <a:latin typeface="Roboto Lt"/>
                <a:cs typeface="Roboto Lt"/>
              </a:rPr>
              <a:t>shorter </a:t>
            </a:r>
            <a:r>
              <a:rPr sz="1150" b="0" spc="-20" dirty="0">
                <a:solidFill>
                  <a:srgbClr val="333333"/>
                </a:solidFill>
                <a:latin typeface="Roboto Lt"/>
                <a:cs typeface="Roboto Lt"/>
              </a:rPr>
              <a:t>planning</a:t>
            </a:r>
            <a:r>
              <a:rPr sz="1150" b="0" spc="-15" dirty="0">
                <a:solidFill>
                  <a:srgbClr val="333333"/>
                </a:solidFill>
                <a:latin typeface="Roboto Lt"/>
                <a:cs typeface="Roboto Lt"/>
              </a:rPr>
              <a:t> cycles,</a:t>
            </a:r>
            <a:r>
              <a:rPr sz="1150" b="0" spc="-10" dirty="0">
                <a:solidFill>
                  <a:srgbClr val="333333"/>
                </a:solidFill>
                <a:latin typeface="Roboto Lt"/>
                <a:cs typeface="Roboto Lt"/>
              </a:rPr>
              <a:t> </a:t>
            </a:r>
            <a:r>
              <a:rPr sz="1150" b="0" spc="-30" dirty="0">
                <a:solidFill>
                  <a:srgbClr val="333333"/>
                </a:solidFill>
                <a:latin typeface="Roboto Lt"/>
                <a:cs typeface="Roboto Lt"/>
              </a:rPr>
              <a:t>there’s</a:t>
            </a:r>
            <a:r>
              <a:rPr sz="1150" b="0" spc="-10" dirty="0">
                <a:solidFill>
                  <a:srgbClr val="333333"/>
                </a:solidFill>
                <a:latin typeface="Roboto Lt"/>
                <a:cs typeface="Roboto Lt"/>
              </a:rPr>
              <a:t> </a:t>
            </a:r>
            <a:r>
              <a:rPr sz="1150" b="0" spc="-25" dirty="0">
                <a:solidFill>
                  <a:srgbClr val="333333"/>
                </a:solidFill>
                <a:latin typeface="Roboto Lt"/>
                <a:cs typeface="Roboto Lt"/>
              </a:rPr>
              <a:t>always</a:t>
            </a:r>
            <a:r>
              <a:rPr sz="1150" b="0" spc="-15" dirty="0">
                <a:solidFill>
                  <a:srgbClr val="333333"/>
                </a:solidFill>
                <a:latin typeface="Roboto Lt"/>
                <a:cs typeface="Roboto Lt"/>
              </a:rPr>
              <a:t> </a:t>
            </a:r>
            <a:r>
              <a:rPr sz="1150" b="0" spc="-10" dirty="0">
                <a:solidFill>
                  <a:srgbClr val="333333"/>
                </a:solidFill>
                <a:latin typeface="Roboto Lt"/>
                <a:cs typeface="Roboto Lt"/>
              </a:rPr>
              <a:t>opportunity </a:t>
            </a:r>
            <a:r>
              <a:rPr sz="1150" b="0" spc="-260" dirty="0">
                <a:solidFill>
                  <a:srgbClr val="333333"/>
                </a:solidFill>
                <a:latin typeface="Roboto Lt"/>
                <a:cs typeface="Roboto Lt"/>
              </a:rPr>
              <a:t> </a:t>
            </a:r>
            <a:r>
              <a:rPr sz="1150" b="0" spc="-15" dirty="0">
                <a:solidFill>
                  <a:srgbClr val="333333"/>
                </a:solidFill>
                <a:latin typeface="Roboto Lt"/>
                <a:cs typeface="Roboto Lt"/>
              </a:rPr>
              <a:t>to refine </a:t>
            </a:r>
            <a:r>
              <a:rPr sz="1150" b="0" spc="-10" dirty="0">
                <a:solidFill>
                  <a:srgbClr val="333333"/>
                </a:solidFill>
                <a:latin typeface="Roboto Lt"/>
                <a:cs typeface="Roboto Lt"/>
              </a:rPr>
              <a:t>and </a:t>
            </a:r>
            <a:r>
              <a:rPr sz="1150" b="0" spc="-20" dirty="0">
                <a:solidFill>
                  <a:srgbClr val="333333"/>
                </a:solidFill>
                <a:latin typeface="Roboto Lt"/>
                <a:cs typeface="Roboto Lt"/>
              </a:rPr>
              <a:t>reprioritize </a:t>
            </a:r>
            <a:r>
              <a:rPr sz="1150" b="0" spc="-10" dirty="0">
                <a:solidFill>
                  <a:srgbClr val="333333"/>
                </a:solidFill>
                <a:latin typeface="Roboto Lt"/>
                <a:cs typeface="Roboto Lt"/>
              </a:rPr>
              <a:t>the backlog </a:t>
            </a:r>
            <a:r>
              <a:rPr sz="1150" b="0" spc="-15" dirty="0">
                <a:solidFill>
                  <a:srgbClr val="333333"/>
                </a:solidFill>
                <a:latin typeface="Roboto Lt"/>
                <a:cs typeface="Roboto Lt"/>
              </a:rPr>
              <a:t>to </a:t>
            </a:r>
            <a:r>
              <a:rPr sz="1150" b="0" spc="-10" dirty="0">
                <a:solidFill>
                  <a:srgbClr val="333333"/>
                </a:solidFill>
                <a:latin typeface="Roboto Lt"/>
                <a:cs typeface="Roboto Lt"/>
              </a:rPr>
              <a:t>accommodate </a:t>
            </a:r>
            <a:r>
              <a:rPr sz="1150" b="0" spc="-5" dirty="0">
                <a:solidFill>
                  <a:srgbClr val="333333"/>
                </a:solidFill>
                <a:latin typeface="Roboto Lt"/>
                <a:cs typeface="Roboto Lt"/>
              </a:rPr>
              <a:t> </a:t>
            </a:r>
            <a:r>
              <a:rPr sz="1150" b="0" spc="-15" dirty="0">
                <a:solidFill>
                  <a:srgbClr val="333333"/>
                </a:solidFill>
                <a:latin typeface="Roboto Lt"/>
                <a:cs typeface="Roboto Lt"/>
              </a:rPr>
              <a:t>changes</a:t>
            </a:r>
            <a:r>
              <a:rPr sz="1150" b="0" spc="-25" dirty="0">
                <a:solidFill>
                  <a:srgbClr val="333333"/>
                </a:solidFill>
                <a:latin typeface="Roboto Lt"/>
                <a:cs typeface="Roboto Lt"/>
              </a:rPr>
              <a:t> </a:t>
            </a:r>
            <a:r>
              <a:rPr sz="1150" b="0" spc="-15" dirty="0">
                <a:solidFill>
                  <a:srgbClr val="333333"/>
                </a:solidFill>
                <a:latin typeface="Roboto Lt"/>
                <a:cs typeface="Roboto Lt"/>
              </a:rPr>
              <a:t>throughout</a:t>
            </a:r>
            <a:r>
              <a:rPr sz="1150" b="0" spc="-20" dirty="0">
                <a:solidFill>
                  <a:srgbClr val="333333"/>
                </a:solidFill>
                <a:latin typeface="Roboto Lt"/>
                <a:cs typeface="Roboto Lt"/>
              </a:rPr>
              <a:t> </a:t>
            </a:r>
            <a:r>
              <a:rPr sz="1150" b="0" spc="-10" dirty="0">
                <a:solidFill>
                  <a:srgbClr val="333333"/>
                </a:solidFill>
                <a:latin typeface="Roboto Lt"/>
                <a:cs typeface="Roboto Lt"/>
              </a:rPr>
              <a:t>the</a:t>
            </a:r>
            <a:r>
              <a:rPr sz="1150" b="0" spc="-20" dirty="0">
                <a:solidFill>
                  <a:srgbClr val="333333"/>
                </a:solidFill>
                <a:latin typeface="Roboto Lt"/>
                <a:cs typeface="Roboto Lt"/>
              </a:rPr>
              <a:t> </a:t>
            </a:r>
            <a:r>
              <a:rPr sz="1150" b="0" spc="-15" dirty="0">
                <a:solidFill>
                  <a:srgbClr val="333333"/>
                </a:solidFill>
                <a:latin typeface="Roboto Lt"/>
                <a:cs typeface="Roboto Lt"/>
              </a:rPr>
              <a:t>project.</a:t>
            </a:r>
            <a:endParaRPr sz="1150">
              <a:latin typeface="Roboto Lt"/>
              <a:cs typeface="Roboto Lt"/>
            </a:endParaRPr>
          </a:p>
          <a:p>
            <a:pPr marL="12700">
              <a:lnSpc>
                <a:spcPct val="100000"/>
              </a:lnSpc>
              <a:spcBef>
                <a:spcPts val="1010"/>
              </a:spcBef>
              <a:tabLst>
                <a:tab pos="266065" algn="l"/>
              </a:tabLst>
            </a:pPr>
            <a:r>
              <a:rPr spc="-35" dirty="0"/>
              <a:t>+	</a:t>
            </a:r>
            <a:r>
              <a:rPr spc="-275" dirty="0"/>
              <a:t>E</a:t>
            </a:r>
            <a:r>
              <a:rPr spc="15" dirty="0"/>
              <a:t>n</a:t>
            </a:r>
            <a:r>
              <a:rPr spc="10" dirty="0"/>
              <a:t>d</a:t>
            </a:r>
            <a:r>
              <a:rPr spc="-80" dirty="0"/>
              <a:t>-</a:t>
            </a:r>
            <a:r>
              <a:rPr spc="-110" dirty="0"/>
              <a:t>g</a:t>
            </a:r>
            <a:r>
              <a:rPr spc="-50" dirty="0"/>
              <a:t>o</a:t>
            </a:r>
            <a:r>
              <a:rPr spc="25" dirty="0"/>
              <a:t>a</a:t>
            </a:r>
            <a:r>
              <a:rPr spc="75" dirty="0"/>
              <a:t>l</a:t>
            </a:r>
            <a:r>
              <a:rPr spc="-204" dirty="0"/>
              <a:t> </a:t>
            </a:r>
            <a:r>
              <a:rPr spc="-114" dirty="0"/>
              <a:t>c</a:t>
            </a:r>
            <a:r>
              <a:rPr spc="25" dirty="0"/>
              <a:t>a</a:t>
            </a:r>
            <a:r>
              <a:rPr spc="100" dirty="0"/>
              <a:t>n</a:t>
            </a:r>
            <a:r>
              <a:rPr spc="-200" dirty="0"/>
              <a:t> </a:t>
            </a:r>
            <a:r>
              <a:rPr spc="-35" dirty="0"/>
              <a:t>b</a:t>
            </a:r>
            <a:r>
              <a:rPr spc="105" dirty="0"/>
              <a:t>e</a:t>
            </a:r>
            <a:r>
              <a:rPr spc="-204" dirty="0"/>
              <a:t> </a:t>
            </a:r>
            <a:r>
              <a:rPr spc="15" dirty="0"/>
              <a:t>un</a:t>
            </a:r>
            <a:r>
              <a:rPr spc="100" dirty="0"/>
              <a:t>k</a:t>
            </a:r>
            <a:r>
              <a:rPr spc="10" dirty="0"/>
              <a:t>n</a:t>
            </a:r>
            <a:r>
              <a:rPr spc="-70" dirty="0"/>
              <a:t>o</a:t>
            </a:r>
            <a:r>
              <a:rPr spc="140" dirty="0"/>
              <a:t>w</a:t>
            </a:r>
            <a:r>
              <a:rPr spc="100" dirty="0"/>
              <a:t>n</a:t>
            </a:r>
          </a:p>
          <a:p>
            <a:pPr marL="266700" marR="92710" indent="-635" algn="just">
              <a:lnSpc>
                <a:spcPts val="1700"/>
              </a:lnSpc>
            </a:pPr>
            <a:r>
              <a:rPr sz="1150" b="0" spc="-15" dirty="0">
                <a:solidFill>
                  <a:srgbClr val="333333"/>
                </a:solidFill>
                <a:latin typeface="Roboto Lt"/>
                <a:cs typeface="Roboto Lt"/>
              </a:rPr>
              <a:t>Agile is </a:t>
            </a:r>
            <a:r>
              <a:rPr sz="1150" b="0" spc="-10" dirty="0">
                <a:solidFill>
                  <a:srgbClr val="333333"/>
                </a:solidFill>
                <a:latin typeface="Roboto Lt"/>
                <a:cs typeface="Roboto Lt"/>
              </a:rPr>
              <a:t>beneficial for </a:t>
            </a:r>
            <a:r>
              <a:rPr sz="1150" b="0" spc="-15" dirty="0">
                <a:solidFill>
                  <a:srgbClr val="333333"/>
                </a:solidFill>
                <a:latin typeface="Roboto Lt"/>
                <a:cs typeface="Roboto Lt"/>
              </a:rPr>
              <a:t>projects where </a:t>
            </a:r>
            <a:r>
              <a:rPr sz="1150" b="0" spc="-10" dirty="0">
                <a:solidFill>
                  <a:srgbClr val="333333"/>
                </a:solidFill>
                <a:latin typeface="Roboto Lt"/>
                <a:cs typeface="Roboto Lt"/>
              </a:rPr>
              <a:t>the </a:t>
            </a:r>
            <a:r>
              <a:rPr sz="1150" b="0" spc="-25" dirty="0">
                <a:solidFill>
                  <a:srgbClr val="333333"/>
                </a:solidFill>
                <a:latin typeface="Roboto Lt"/>
                <a:cs typeface="Roboto Lt"/>
              </a:rPr>
              <a:t>end-goal </a:t>
            </a:r>
            <a:r>
              <a:rPr sz="1150" b="0" spc="-15" dirty="0">
                <a:solidFill>
                  <a:srgbClr val="333333"/>
                </a:solidFill>
                <a:latin typeface="Roboto Lt"/>
                <a:cs typeface="Roboto Lt"/>
              </a:rPr>
              <a:t>is not </a:t>
            </a:r>
            <a:r>
              <a:rPr sz="1150" b="0" spc="-265" dirty="0">
                <a:solidFill>
                  <a:srgbClr val="333333"/>
                </a:solidFill>
                <a:latin typeface="Roboto Lt"/>
                <a:cs typeface="Roboto Lt"/>
              </a:rPr>
              <a:t> </a:t>
            </a:r>
            <a:r>
              <a:rPr sz="1150" b="0" spc="-15" dirty="0">
                <a:solidFill>
                  <a:srgbClr val="333333"/>
                </a:solidFill>
                <a:latin typeface="Roboto Lt"/>
                <a:cs typeface="Roboto Lt"/>
              </a:rPr>
              <a:t>clearly </a:t>
            </a:r>
            <a:r>
              <a:rPr sz="1150" b="0" spc="-10" dirty="0">
                <a:solidFill>
                  <a:srgbClr val="333333"/>
                </a:solidFill>
                <a:latin typeface="Roboto Lt"/>
                <a:cs typeface="Roboto Lt"/>
              </a:rPr>
              <a:t>defined. </a:t>
            </a:r>
            <a:r>
              <a:rPr sz="1150" b="0" spc="10" dirty="0">
                <a:solidFill>
                  <a:srgbClr val="333333"/>
                </a:solidFill>
                <a:latin typeface="Roboto Lt"/>
                <a:cs typeface="Roboto Lt"/>
              </a:rPr>
              <a:t>As </a:t>
            </a:r>
            <a:r>
              <a:rPr sz="1150" b="0" spc="-10" dirty="0">
                <a:solidFill>
                  <a:srgbClr val="333333"/>
                </a:solidFill>
                <a:latin typeface="Roboto Lt"/>
                <a:cs typeface="Roboto Lt"/>
              </a:rPr>
              <a:t>the </a:t>
            </a:r>
            <a:r>
              <a:rPr sz="1150" b="0" spc="-15" dirty="0">
                <a:solidFill>
                  <a:srgbClr val="333333"/>
                </a:solidFill>
                <a:latin typeface="Roboto Lt"/>
                <a:cs typeface="Roboto Lt"/>
              </a:rPr>
              <a:t>project progresses, </a:t>
            </a:r>
            <a:r>
              <a:rPr sz="1150" b="0" spc="-10" dirty="0">
                <a:solidFill>
                  <a:srgbClr val="333333"/>
                </a:solidFill>
                <a:latin typeface="Roboto Lt"/>
                <a:cs typeface="Roboto Lt"/>
              </a:rPr>
              <a:t>the </a:t>
            </a:r>
            <a:r>
              <a:rPr sz="1150" b="0" spc="-15" dirty="0">
                <a:solidFill>
                  <a:srgbClr val="333333"/>
                </a:solidFill>
                <a:latin typeface="Roboto Lt"/>
                <a:cs typeface="Roboto Lt"/>
              </a:rPr>
              <a:t>goals </a:t>
            </a:r>
            <a:r>
              <a:rPr sz="1150" b="0" spc="-20" dirty="0">
                <a:solidFill>
                  <a:srgbClr val="333333"/>
                </a:solidFill>
                <a:latin typeface="Roboto Lt"/>
                <a:cs typeface="Roboto Lt"/>
              </a:rPr>
              <a:t>will </a:t>
            </a:r>
            <a:r>
              <a:rPr sz="1150" b="0" spc="-265" dirty="0">
                <a:solidFill>
                  <a:srgbClr val="333333"/>
                </a:solidFill>
                <a:latin typeface="Roboto Lt"/>
                <a:cs typeface="Roboto Lt"/>
              </a:rPr>
              <a:t> </a:t>
            </a:r>
            <a:r>
              <a:rPr sz="1150" b="0" dirty="0">
                <a:solidFill>
                  <a:srgbClr val="333333"/>
                </a:solidFill>
                <a:latin typeface="Roboto Lt"/>
                <a:cs typeface="Roboto Lt"/>
              </a:rPr>
              <a:t>become</a:t>
            </a:r>
            <a:r>
              <a:rPr sz="1150" b="0" spc="-25" dirty="0">
                <a:solidFill>
                  <a:srgbClr val="333333"/>
                </a:solidFill>
                <a:latin typeface="Roboto Lt"/>
                <a:cs typeface="Roboto Lt"/>
              </a:rPr>
              <a:t> </a:t>
            </a:r>
            <a:r>
              <a:rPr sz="1150" b="0" spc="-15" dirty="0">
                <a:solidFill>
                  <a:srgbClr val="333333"/>
                </a:solidFill>
                <a:latin typeface="Roboto Lt"/>
                <a:cs typeface="Roboto Lt"/>
              </a:rPr>
              <a:t>evident</a:t>
            </a:r>
            <a:r>
              <a:rPr sz="1150" b="0" spc="-20" dirty="0">
                <a:solidFill>
                  <a:srgbClr val="333333"/>
                </a:solidFill>
                <a:latin typeface="Roboto Lt"/>
                <a:cs typeface="Roboto Lt"/>
              </a:rPr>
              <a:t> </a:t>
            </a:r>
            <a:r>
              <a:rPr sz="1150" b="0" spc="-10" dirty="0">
                <a:solidFill>
                  <a:srgbClr val="333333"/>
                </a:solidFill>
                <a:latin typeface="Roboto Lt"/>
                <a:cs typeface="Roboto Lt"/>
              </a:rPr>
              <a:t>and</a:t>
            </a:r>
            <a:r>
              <a:rPr sz="1150" b="0" spc="-20" dirty="0">
                <a:solidFill>
                  <a:srgbClr val="333333"/>
                </a:solidFill>
                <a:latin typeface="Roboto Lt"/>
                <a:cs typeface="Roboto Lt"/>
              </a:rPr>
              <a:t> </a:t>
            </a:r>
            <a:r>
              <a:rPr sz="1150" b="0" spc="-10" dirty="0">
                <a:solidFill>
                  <a:srgbClr val="333333"/>
                </a:solidFill>
                <a:latin typeface="Roboto Lt"/>
                <a:cs typeface="Roboto Lt"/>
              </a:rPr>
              <a:t>the</a:t>
            </a:r>
            <a:r>
              <a:rPr sz="1150" b="0" spc="-20" dirty="0">
                <a:solidFill>
                  <a:srgbClr val="333333"/>
                </a:solidFill>
                <a:latin typeface="Roboto Lt"/>
                <a:cs typeface="Roboto Lt"/>
              </a:rPr>
              <a:t> </a:t>
            </a:r>
            <a:r>
              <a:rPr sz="1150" b="0" spc="-15" dirty="0">
                <a:solidFill>
                  <a:srgbClr val="333333"/>
                </a:solidFill>
                <a:latin typeface="Roboto Lt"/>
                <a:cs typeface="Roboto Lt"/>
              </a:rPr>
              <a:t>team</a:t>
            </a:r>
            <a:r>
              <a:rPr sz="1150" b="0" spc="-20" dirty="0">
                <a:solidFill>
                  <a:srgbClr val="333333"/>
                </a:solidFill>
                <a:latin typeface="Roboto Lt"/>
                <a:cs typeface="Roboto Lt"/>
              </a:rPr>
              <a:t> </a:t>
            </a:r>
            <a:r>
              <a:rPr sz="1150" b="0" spc="-10" dirty="0">
                <a:solidFill>
                  <a:srgbClr val="333333"/>
                </a:solidFill>
                <a:latin typeface="Roboto Lt"/>
                <a:cs typeface="Roboto Lt"/>
              </a:rPr>
              <a:t>can</a:t>
            </a:r>
            <a:r>
              <a:rPr sz="1150" b="0" spc="-20" dirty="0">
                <a:solidFill>
                  <a:srgbClr val="333333"/>
                </a:solidFill>
                <a:latin typeface="Roboto Lt"/>
                <a:cs typeface="Roboto Lt"/>
              </a:rPr>
              <a:t> </a:t>
            </a:r>
            <a:r>
              <a:rPr sz="1150" b="0" spc="-15" dirty="0">
                <a:solidFill>
                  <a:srgbClr val="333333"/>
                </a:solidFill>
                <a:latin typeface="Roboto Lt"/>
                <a:cs typeface="Roboto Lt"/>
              </a:rPr>
              <a:t>adapt.</a:t>
            </a:r>
            <a:endParaRPr sz="1150">
              <a:latin typeface="Roboto Lt"/>
              <a:cs typeface="Roboto Lt"/>
            </a:endParaRPr>
          </a:p>
          <a:p>
            <a:pPr marL="12700">
              <a:lnSpc>
                <a:spcPct val="100000"/>
              </a:lnSpc>
              <a:spcBef>
                <a:spcPts val="1010"/>
              </a:spcBef>
              <a:tabLst>
                <a:tab pos="266065" algn="l"/>
              </a:tabLst>
            </a:pPr>
            <a:r>
              <a:rPr spc="-35" dirty="0"/>
              <a:t>+	</a:t>
            </a:r>
            <a:r>
              <a:rPr spc="-30" dirty="0"/>
              <a:t>Faster,</a:t>
            </a:r>
            <a:r>
              <a:rPr spc="-204" dirty="0"/>
              <a:t> </a:t>
            </a:r>
            <a:r>
              <a:rPr spc="10" dirty="0"/>
              <a:t>high-quality</a:t>
            </a:r>
            <a:r>
              <a:rPr spc="-200" dirty="0"/>
              <a:t> </a:t>
            </a:r>
            <a:r>
              <a:rPr spc="20" dirty="0"/>
              <a:t>delivery</a:t>
            </a:r>
          </a:p>
          <a:p>
            <a:pPr marL="266700" marR="5080" indent="-635">
              <a:lnSpc>
                <a:spcPts val="1700"/>
              </a:lnSpc>
            </a:pPr>
            <a:r>
              <a:rPr sz="1150" b="0" spc="-15" dirty="0">
                <a:solidFill>
                  <a:srgbClr val="333333"/>
                </a:solidFill>
                <a:latin typeface="Roboto Lt"/>
                <a:cs typeface="Roboto Lt"/>
              </a:rPr>
              <a:t>Breaking down </a:t>
            </a:r>
            <a:r>
              <a:rPr sz="1150" b="0" spc="-10" dirty="0">
                <a:solidFill>
                  <a:srgbClr val="333333"/>
                </a:solidFill>
                <a:latin typeface="Roboto Lt"/>
                <a:cs typeface="Roboto Lt"/>
              </a:rPr>
              <a:t>the </a:t>
            </a:r>
            <a:r>
              <a:rPr sz="1150" b="0" spc="-15" dirty="0">
                <a:solidFill>
                  <a:srgbClr val="333333"/>
                </a:solidFill>
                <a:latin typeface="Roboto Lt"/>
                <a:cs typeface="Roboto Lt"/>
              </a:rPr>
              <a:t>project </a:t>
            </a:r>
            <a:r>
              <a:rPr sz="1150" b="0" spc="-20" dirty="0">
                <a:solidFill>
                  <a:srgbClr val="333333"/>
                </a:solidFill>
                <a:latin typeface="Roboto Lt"/>
                <a:cs typeface="Roboto Lt"/>
              </a:rPr>
              <a:t>into iterations allows </a:t>
            </a:r>
            <a:r>
              <a:rPr sz="1150" b="0" spc="-10" dirty="0">
                <a:solidFill>
                  <a:srgbClr val="333333"/>
                </a:solidFill>
                <a:latin typeface="Roboto Lt"/>
                <a:cs typeface="Roboto Lt"/>
              </a:rPr>
              <a:t>the </a:t>
            </a:r>
            <a:r>
              <a:rPr sz="1150" b="0" spc="-15" dirty="0">
                <a:solidFill>
                  <a:srgbClr val="333333"/>
                </a:solidFill>
                <a:latin typeface="Roboto Lt"/>
                <a:cs typeface="Roboto Lt"/>
              </a:rPr>
              <a:t>team </a:t>
            </a:r>
            <a:r>
              <a:rPr sz="1150" b="0" spc="-265" dirty="0">
                <a:solidFill>
                  <a:srgbClr val="333333"/>
                </a:solidFill>
                <a:latin typeface="Roboto Lt"/>
                <a:cs typeface="Roboto Lt"/>
              </a:rPr>
              <a:t> </a:t>
            </a:r>
            <a:r>
              <a:rPr sz="1150" b="0" spc="-15" dirty="0">
                <a:solidFill>
                  <a:srgbClr val="333333"/>
                </a:solidFill>
                <a:latin typeface="Roboto Lt"/>
                <a:cs typeface="Roboto Lt"/>
              </a:rPr>
              <a:t>to </a:t>
            </a:r>
            <a:r>
              <a:rPr sz="1150" b="0" spc="-10" dirty="0">
                <a:solidFill>
                  <a:srgbClr val="333333"/>
                </a:solidFill>
                <a:latin typeface="Roboto Lt"/>
                <a:cs typeface="Roboto Lt"/>
              </a:rPr>
              <a:t>focus </a:t>
            </a:r>
            <a:r>
              <a:rPr sz="1150" b="0" dirty="0">
                <a:solidFill>
                  <a:srgbClr val="333333"/>
                </a:solidFill>
                <a:latin typeface="Roboto Lt"/>
                <a:cs typeface="Roboto Lt"/>
              </a:rPr>
              <a:t>on </a:t>
            </a:r>
            <a:r>
              <a:rPr sz="1150" b="0" spc="-25" dirty="0">
                <a:solidFill>
                  <a:srgbClr val="333333"/>
                </a:solidFill>
                <a:latin typeface="Roboto Lt"/>
                <a:cs typeface="Roboto Lt"/>
              </a:rPr>
              <a:t>high-quality </a:t>
            </a:r>
            <a:r>
              <a:rPr sz="1150" b="0" spc="-15" dirty="0">
                <a:solidFill>
                  <a:srgbClr val="333333"/>
                </a:solidFill>
                <a:latin typeface="Roboto Lt"/>
                <a:cs typeface="Roboto Lt"/>
              </a:rPr>
              <a:t>development, </a:t>
            </a:r>
            <a:r>
              <a:rPr sz="1150" b="0" spc="-20" dirty="0">
                <a:solidFill>
                  <a:srgbClr val="333333"/>
                </a:solidFill>
                <a:latin typeface="Roboto Lt"/>
                <a:cs typeface="Roboto Lt"/>
              </a:rPr>
              <a:t>testing, </a:t>
            </a:r>
            <a:r>
              <a:rPr sz="1150" b="0" spc="-10" dirty="0">
                <a:solidFill>
                  <a:srgbClr val="333333"/>
                </a:solidFill>
                <a:latin typeface="Roboto Lt"/>
                <a:cs typeface="Roboto Lt"/>
              </a:rPr>
              <a:t>and </a:t>
            </a:r>
            <a:r>
              <a:rPr sz="1150" b="0" spc="-5" dirty="0">
                <a:solidFill>
                  <a:srgbClr val="333333"/>
                </a:solidFill>
                <a:latin typeface="Roboto Lt"/>
                <a:cs typeface="Roboto Lt"/>
              </a:rPr>
              <a:t> </a:t>
            </a:r>
            <a:r>
              <a:rPr sz="1150" b="0" spc="-15" dirty="0">
                <a:solidFill>
                  <a:srgbClr val="333333"/>
                </a:solidFill>
                <a:latin typeface="Roboto Lt"/>
                <a:cs typeface="Roboto Lt"/>
              </a:rPr>
              <a:t>collaboration. </a:t>
            </a:r>
            <a:r>
              <a:rPr sz="1150" b="0" spc="-10" dirty="0">
                <a:solidFill>
                  <a:srgbClr val="333333"/>
                </a:solidFill>
                <a:latin typeface="Roboto Lt"/>
                <a:cs typeface="Roboto Lt"/>
              </a:rPr>
              <a:t>Conducting </a:t>
            </a:r>
            <a:r>
              <a:rPr sz="1150" b="0" spc="-20" dirty="0">
                <a:solidFill>
                  <a:srgbClr val="333333"/>
                </a:solidFill>
                <a:latin typeface="Roboto Lt"/>
                <a:cs typeface="Roboto Lt"/>
              </a:rPr>
              <a:t>testing </a:t>
            </a:r>
            <a:r>
              <a:rPr sz="1150" b="0" spc="-15" dirty="0">
                <a:solidFill>
                  <a:srgbClr val="333333"/>
                </a:solidFill>
                <a:latin typeface="Roboto Lt"/>
                <a:cs typeface="Roboto Lt"/>
              </a:rPr>
              <a:t>during </a:t>
            </a:r>
            <a:r>
              <a:rPr sz="1150" b="0" spc="-10" dirty="0">
                <a:solidFill>
                  <a:srgbClr val="333333"/>
                </a:solidFill>
                <a:latin typeface="Roboto Lt"/>
                <a:cs typeface="Roboto Lt"/>
              </a:rPr>
              <a:t>each </a:t>
            </a:r>
            <a:r>
              <a:rPr sz="1150" b="0" spc="-20" dirty="0">
                <a:solidFill>
                  <a:srgbClr val="333333"/>
                </a:solidFill>
                <a:latin typeface="Roboto Lt"/>
                <a:cs typeface="Roboto Lt"/>
              </a:rPr>
              <a:t>iteration </a:t>
            </a:r>
            <a:r>
              <a:rPr sz="1150" b="0" spc="-15" dirty="0">
                <a:solidFill>
                  <a:srgbClr val="333333"/>
                </a:solidFill>
                <a:latin typeface="Roboto Lt"/>
                <a:cs typeface="Roboto Lt"/>
              </a:rPr>
              <a:t> </a:t>
            </a:r>
            <a:r>
              <a:rPr sz="1150" b="0" spc="-10" dirty="0">
                <a:solidFill>
                  <a:srgbClr val="333333"/>
                </a:solidFill>
                <a:latin typeface="Roboto Lt"/>
                <a:cs typeface="Roboto Lt"/>
              </a:rPr>
              <a:t>means</a:t>
            </a:r>
            <a:r>
              <a:rPr sz="1150" b="0" spc="-20" dirty="0">
                <a:solidFill>
                  <a:srgbClr val="333333"/>
                </a:solidFill>
                <a:latin typeface="Roboto Lt"/>
                <a:cs typeface="Roboto Lt"/>
              </a:rPr>
              <a:t> </a:t>
            </a:r>
            <a:r>
              <a:rPr sz="1150" b="0" spc="-15" dirty="0">
                <a:solidFill>
                  <a:srgbClr val="333333"/>
                </a:solidFill>
                <a:latin typeface="Roboto Lt"/>
                <a:cs typeface="Roboto Lt"/>
              </a:rPr>
              <a:t>that </a:t>
            </a:r>
            <a:r>
              <a:rPr sz="1150" b="0" spc="-10" dirty="0">
                <a:solidFill>
                  <a:srgbClr val="333333"/>
                </a:solidFill>
                <a:latin typeface="Roboto Lt"/>
                <a:cs typeface="Roboto Lt"/>
              </a:rPr>
              <a:t>bugs</a:t>
            </a:r>
            <a:r>
              <a:rPr sz="1150" b="0" spc="-15" dirty="0">
                <a:solidFill>
                  <a:srgbClr val="333333"/>
                </a:solidFill>
                <a:latin typeface="Roboto Lt"/>
                <a:cs typeface="Roboto Lt"/>
              </a:rPr>
              <a:t> </a:t>
            </a:r>
            <a:r>
              <a:rPr sz="1150" b="0" spc="-5" dirty="0">
                <a:solidFill>
                  <a:srgbClr val="333333"/>
                </a:solidFill>
                <a:latin typeface="Roboto Lt"/>
                <a:cs typeface="Roboto Lt"/>
              </a:rPr>
              <a:t>get</a:t>
            </a:r>
            <a:r>
              <a:rPr sz="1150" b="0" spc="-20" dirty="0">
                <a:solidFill>
                  <a:srgbClr val="333333"/>
                </a:solidFill>
                <a:latin typeface="Roboto Lt"/>
                <a:cs typeface="Roboto Lt"/>
              </a:rPr>
              <a:t> </a:t>
            </a:r>
            <a:r>
              <a:rPr sz="1150" b="0" spc="-15" dirty="0">
                <a:solidFill>
                  <a:srgbClr val="333333"/>
                </a:solidFill>
                <a:latin typeface="Roboto Lt"/>
                <a:cs typeface="Roboto Lt"/>
              </a:rPr>
              <a:t>identified </a:t>
            </a:r>
            <a:r>
              <a:rPr sz="1150" b="0" spc="-10" dirty="0">
                <a:solidFill>
                  <a:srgbClr val="333333"/>
                </a:solidFill>
                <a:latin typeface="Roboto Lt"/>
                <a:cs typeface="Roboto Lt"/>
              </a:rPr>
              <a:t>and</a:t>
            </a:r>
            <a:r>
              <a:rPr sz="1150" b="0" spc="-15" dirty="0">
                <a:solidFill>
                  <a:srgbClr val="333333"/>
                </a:solidFill>
                <a:latin typeface="Roboto Lt"/>
                <a:cs typeface="Roboto Lt"/>
              </a:rPr>
              <a:t> solved</a:t>
            </a:r>
            <a:r>
              <a:rPr sz="1150" b="0" spc="-20" dirty="0">
                <a:solidFill>
                  <a:srgbClr val="333333"/>
                </a:solidFill>
                <a:latin typeface="Roboto Lt"/>
                <a:cs typeface="Roboto Lt"/>
              </a:rPr>
              <a:t> </a:t>
            </a:r>
            <a:r>
              <a:rPr sz="1150" b="0" spc="-5" dirty="0">
                <a:solidFill>
                  <a:srgbClr val="333333"/>
                </a:solidFill>
                <a:latin typeface="Roboto Lt"/>
                <a:cs typeface="Roboto Lt"/>
              </a:rPr>
              <a:t>more</a:t>
            </a:r>
            <a:r>
              <a:rPr sz="1150" b="0" spc="-15" dirty="0">
                <a:solidFill>
                  <a:srgbClr val="333333"/>
                </a:solidFill>
                <a:latin typeface="Roboto Lt"/>
                <a:cs typeface="Roboto Lt"/>
              </a:rPr>
              <a:t> </a:t>
            </a:r>
            <a:r>
              <a:rPr sz="1150" b="0" spc="-25" dirty="0">
                <a:solidFill>
                  <a:srgbClr val="333333"/>
                </a:solidFill>
                <a:latin typeface="Roboto Lt"/>
                <a:cs typeface="Roboto Lt"/>
              </a:rPr>
              <a:t>quickly.</a:t>
            </a:r>
            <a:endParaRPr sz="1150">
              <a:latin typeface="Roboto Lt"/>
              <a:cs typeface="Roboto Lt"/>
            </a:endParaRPr>
          </a:p>
        </p:txBody>
      </p:sp>
      <p:sp>
        <p:nvSpPr>
          <p:cNvPr id="5" name="object 5"/>
          <p:cNvSpPr txBox="1"/>
          <p:nvPr/>
        </p:nvSpPr>
        <p:spPr>
          <a:xfrm>
            <a:off x="4711700" y="2197036"/>
            <a:ext cx="3635375" cy="2808605"/>
          </a:xfrm>
          <a:prstGeom prst="rect">
            <a:avLst/>
          </a:prstGeom>
        </p:spPr>
        <p:txBody>
          <a:bodyPr vert="horz" wrap="square" lIns="0" tIns="47625" rIns="0" bIns="0" rtlCol="0">
            <a:spAutoFit/>
          </a:bodyPr>
          <a:lstStyle/>
          <a:p>
            <a:pPr marL="12700">
              <a:lnSpc>
                <a:spcPct val="100000"/>
              </a:lnSpc>
              <a:spcBef>
                <a:spcPts val="375"/>
              </a:spcBef>
              <a:tabLst>
                <a:tab pos="266065" algn="l"/>
              </a:tabLst>
            </a:pPr>
            <a:r>
              <a:rPr sz="1700" b="1" spc="-35" dirty="0">
                <a:solidFill>
                  <a:srgbClr val="002F59"/>
                </a:solidFill>
                <a:latin typeface="Arial"/>
                <a:cs typeface="Arial"/>
              </a:rPr>
              <a:t>+	</a:t>
            </a:r>
            <a:r>
              <a:rPr sz="1700" b="1" spc="-250" dirty="0">
                <a:solidFill>
                  <a:srgbClr val="002F59"/>
                </a:solidFill>
                <a:latin typeface="Arial"/>
                <a:cs typeface="Arial"/>
              </a:rPr>
              <a:t>S</a:t>
            </a:r>
            <a:r>
              <a:rPr sz="1700" b="1" spc="145" dirty="0">
                <a:solidFill>
                  <a:srgbClr val="002F59"/>
                </a:solidFill>
                <a:latin typeface="Arial"/>
                <a:cs typeface="Arial"/>
              </a:rPr>
              <a:t>t</a:t>
            </a:r>
            <a:r>
              <a:rPr sz="1700" b="1" spc="50" dirty="0">
                <a:solidFill>
                  <a:srgbClr val="002F59"/>
                </a:solidFill>
                <a:latin typeface="Arial"/>
                <a:cs typeface="Arial"/>
              </a:rPr>
              <a:t>r</a:t>
            </a:r>
            <a:r>
              <a:rPr sz="1700" b="1" spc="-20" dirty="0">
                <a:solidFill>
                  <a:srgbClr val="002F59"/>
                </a:solidFill>
                <a:latin typeface="Arial"/>
                <a:cs typeface="Arial"/>
              </a:rPr>
              <a:t>o</a:t>
            </a:r>
            <a:r>
              <a:rPr sz="1700" b="1" spc="-25" dirty="0">
                <a:solidFill>
                  <a:srgbClr val="002F59"/>
                </a:solidFill>
                <a:latin typeface="Arial"/>
                <a:cs typeface="Arial"/>
              </a:rPr>
              <a:t>n</a:t>
            </a:r>
            <a:r>
              <a:rPr sz="1700" b="1" spc="-10" dirty="0">
                <a:solidFill>
                  <a:srgbClr val="002F59"/>
                </a:solidFill>
                <a:latin typeface="Arial"/>
                <a:cs typeface="Arial"/>
              </a:rPr>
              <a:t>g</a:t>
            </a:r>
            <a:r>
              <a:rPr sz="1700" b="1" spc="-204" dirty="0">
                <a:solidFill>
                  <a:srgbClr val="002F59"/>
                </a:solidFill>
                <a:latin typeface="Arial"/>
                <a:cs typeface="Arial"/>
              </a:rPr>
              <a:t> </a:t>
            </a:r>
            <a:r>
              <a:rPr sz="1700" b="1" spc="60" dirty="0">
                <a:solidFill>
                  <a:srgbClr val="002F59"/>
                </a:solidFill>
                <a:latin typeface="Arial"/>
                <a:cs typeface="Arial"/>
              </a:rPr>
              <a:t>tea</a:t>
            </a:r>
            <a:r>
              <a:rPr sz="1700" b="1" spc="185" dirty="0">
                <a:solidFill>
                  <a:srgbClr val="002F59"/>
                </a:solidFill>
                <a:latin typeface="Arial"/>
                <a:cs typeface="Arial"/>
              </a:rPr>
              <a:t>m</a:t>
            </a:r>
            <a:r>
              <a:rPr sz="1700" b="1" spc="-204" dirty="0">
                <a:solidFill>
                  <a:srgbClr val="002F59"/>
                </a:solidFill>
                <a:latin typeface="Arial"/>
                <a:cs typeface="Arial"/>
              </a:rPr>
              <a:t> </a:t>
            </a:r>
            <a:r>
              <a:rPr sz="1700" b="1" spc="-35" dirty="0">
                <a:solidFill>
                  <a:srgbClr val="002F59"/>
                </a:solidFill>
                <a:latin typeface="Arial"/>
                <a:cs typeface="Arial"/>
              </a:rPr>
              <a:t>i</a:t>
            </a:r>
            <a:r>
              <a:rPr sz="1700" b="1" spc="25" dirty="0">
                <a:solidFill>
                  <a:srgbClr val="002F59"/>
                </a:solidFill>
                <a:latin typeface="Arial"/>
                <a:cs typeface="Arial"/>
              </a:rPr>
              <a:t>n</a:t>
            </a:r>
            <a:r>
              <a:rPr sz="1700" b="1" spc="35" dirty="0">
                <a:solidFill>
                  <a:srgbClr val="002F59"/>
                </a:solidFill>
                <a:latin typeface="Arial"/>
                <a:cs typeface="Arial"/>
              </a:rPr>
              <a:t>t</a:t>
            </a:r>
            <a:r>
              <a:rPr sz="1700" b="1" spc="120" dirty="0">
                <a:solidFill>
                  <a:srgbClr val="002F59"/>
                </a:solidFill>
                <a:latin typeface="Arial"/>
                <a:cs typeface="Arial"/>
              </a:rPr>
              <a:t>e</a:t>
            </a:r>
            <a:r>
              <a:rPr sz="1700" b="1" spc="25" dirty="0">
                <a:solidFill>
                  <a:srgbClr val="002F59"/>
                </a:solidFill>
                <a:latin typeface="Arial"/>
                <a:cs typeface="Arial"/>
              </a:rPr>
              <a:t>r</a:t>
            </a:r>
            <a:r>
              <a:rPr sz="1700" b="1" spc="20" dirty="0">
                <a:solidFill>
                  <a:srgbClr val="002F59"/>
                </a:solidFill>
                <a:latin typeface="Arial"/>
                <a:cs typeface="Arial"/>
              </a:rPr>
              <a:t>a</a:t>
            </a:r>
            <a:r>
              <a:rPr sz="1700" b="1" spc="-100" dirty="0">
                <a:solidFill>
                  <a:srgbClr val="002F59"/>
                </a:solidFill>
                <a:latin typeface="Arial"/>
                <a:cs typeface="Arial"/>
              </a:rPr>
              <a:t>c</a:t>
            </a:r>
            <a:r>
              <a:rPr sz="1700" b="1" spc="145" dirty="0">
                <a:solidFill>
                  <a:srgbClr val="002F59"/>
                </a:solidFill>
                <a:latin typeface="Arial"/>
                <a:cs typeface="Arial"/>
              </a:rPr>
              <a:t>t</a:t>
            </a:r>
            <a:r>
              <a:rPr sz="1700" b="1" spc="-15" dirty="0">
                <a:solidFill>
                  <a:srgbClr val="002F59"/>
                </a:solidFill>
                <a:latin typeface="Arial"/>
                <a:cs typeface="Arial"/>
              </a:rPr>
              <a:t>i</a:t>
            </a:r>
            <a:r>
              <a:rPr sz="1700" b="1" spc="-20" dirty="0">
                <a:solidFill>
                  <a:srgbClr val="002F59"/>
                </a:solidFill>
                <a:latin typeface="Arial"/>
                <a:cs typeface="Arial"/>
              </a:rPr>
              <a:t>on</a:t>
            </a:r>
            <a:endParaRPr sz="1700">
              <a:latin typeface="Arial"/>
              <a:cs typeface="Arial"/>
            </a:endParaRPr>
          </a:p>
          <a:p>
            <a:pPr marL="266700" marR="5080" indent="-635" algn="just">
              <a:lnSpc>
                <a:spcPts val="1700"/>
              </a:lnSpc>
            </a:pPr>
            <a:r>
              <a:rPr sz="1150" spc="-15" dirty="0">
                <a:solidFill>
                  <a:srgbClr val="333333"/>
                </a:solidFill>
                <a:latin typeface="Roboto Lt"/>
                <a:cs typeface="Roboto Lt"/>
              </a:rPr>
              <a:t>Agile </a:t>
            </a:r>
            <a:r>
              <a:rPr sz="1150" spc="-10" dirty="0">
                <a:solidFill>
                  <a:srgbClr val="333333"/>
                </a:solidFill>
                <a:latin typeface="Roboto Lt"/>
                <a:cs typeface="Roboto Lt"/>
              </a:rPr>
              <a:t>embraces </a:t>
            </a:r>
            <a:r>
              <a:rPr sz="1150" spc="-15" dirty="0">
                <a:solidFill>
                  <a:srgbClr val="333333"/>
                </a:solidFill>
                <a:latin typeface="Roboto Lt"/>
                <a:cs typeface="Roboto Lt"/>
              </a:rPr>
              <a:t>frequent communication </a:t>
            </a:r>
            <a:r>
              <a:rPr sz="1150" spc="-10" dirty="0">
                <a:solidFill>
                  <a:srgbClr val="333333"/>
                </a:solidFill>
                <a:latin typeface="Roboto Lt"/>
                <a:cs typeface="Roboto Lt"/>
              </a:rPr>
              <a:t>and </a:t>
            </a:r>
            <a:r>
              <a:rPr sz="1150" spc="-40" dirty="0">
                <a:solidFill>
                  <a:srgbClr val="333333"/>
                </a:solidFill>
                <a:latin typeface="Roboto Lt"/>
                <a:cs typeface="Roboto Lt"/>
              </a:rPr>
              <a:t>face-to- </a:t>
            </a:r>
            <a:r>
              <a:rPr sz="1150" spc="-265" dirty="0">
                <a:solidFill>
                  <a:srgbClr val="333333"/>
                </a:solidFill>
                <a:latin typeface="Roboto Lt"/>
                <a:cs typeface="Roboto Lt"/>
              </a:rPr>
              <a:t> </a:t>
            </a:r>
            <a:r>
              <a:rPr sz="1150" spc="-10" dirty="0">
                <a:solidFill>
                  <a:srgbClr val="333333"/>
                </a:solidFill>
                <a:latin typeface="Roboto Lt"/>
                <a:cs typeface="Roboto Lt"/>
              </a:rPr>
              <a:t>face</a:t>
            </a:r>
            <a:r>
              <a:rPr sz="1150" spc="-25" dirty="0">
                <a:solidFill>
                  <a:srgbClr val="333333"/>
                </a:solidFill>
                <a:latin typeface="Roboto Lt"/>
                <a:cs typeface="Roboto Lt"/>
              </a:rPr>
              <a:t> </a:t>
            </a:r>
            <a:r>
              <a:rPr sz="1150" spc="-20" dirty="0">
                <a:solidFill>
                  <a:srgbClr val="333333"/>
                </a:solidFill>
                <a:latin typeface="Roboto Lt"/>
                <a:cs typeface="Roboto Lt"/>
              </a:rPr>
              <a:t>interactions.</a:t>
            </a:r>
            <a:endParaRPr sz="1150">
              <a:latin typeface="Roboto Lt"/>
              <a:cs typeface="Roboto Lt"/>
            </a:endParaRPr>
          </a:p>
          <a:p>
            <a:pPr marL="12700">
              <a:lnSpc>
                <a:spcPct val="100000"/>
              </a:lnSpc>
              <a:spcBef>
                <a:spcPts val="1010"/>
              </a:spcBef>
              <a:tabLst>
                <a:tab pos="266065" algn="l"/>
              </a:tabLst>
            </a:pPr>
            <a:r>
              <a:rPr sz="1700" b="1" spc="-35" dirty="0">
                <a:solidFill>
                  <a:srgbClr val="002F59"/>
                </a:solidFill>
                <a:latin typeface="Arial"/>
                <a:cs typeface="Arial"/>
              </a:rPr>
              <a:t>+	</a:t>
            </a:r>
            <a:r>
              <a:rPr sz="1700" b="1" spc="-240" dirty="0">
                <a:solidFill>
                  <a:srgbClr val="002F59"/>
                </a:solidFill>
                <a:latin typeface="Arial"/>
                <a:cs typeface="Arial"/>
              </a:rPr>
              <a:t>C</a:t>
            </a:r>
            <a:r>
              <a:rPr sz="1700" b="1" spc="-55" dirty="0">
                <a:solidFill>
                  <a:srgbClr val="002F59"/>
                </a:solidFill>
                <a:latin typeface="Arial"/>
                <a:cs typeface="Arial"/>
              </a:rPr>
              <a:t>us</a:t>
            </a:r>
            <a:r>
              <a:rPr sz="1700" b="1" spc="30" dirty="0">
                <a:solidFill>
                  <a:srgbClr val="002F59"/>
                </a:solidFill>
                <a:latin typeface="Arial"/>
                <a:cs typeface="Arial"/>
              </a:rPr>
              <a:t>to</a:t>
            </a:r>
            <a:r>
              <a:rPr sz="1700" b="1" spc="125" dirty="0">
                <a:solidFill>
                  <a:srgbClr val="002F59"/>
                </a:solidFill>
                <a:latin typeface="Arial"/>
                <a:cs typeface="Arial"/>
              </a:rPr>
              <a:t>m</a:t>
            </a:r>
            <a:r>
              <a:rPr sz="1700" b="1" spc="25" dirty="0">
                <a:solidFill>
                  <a:srgbClr val="002F59"/>
                </a:solidFill>
                <a:latin typeface="Arial"/>
                <a:cs typeface="Arial"/>
              </a:rPr>
              <a:t>e</a:t>
            </a:r>
            <a:r>
              <a:rPr sz="1700" b="1" spc="45" dirty="0">
                <a:solidFill>
                  <a:srgbClr val="002F59"/>
                </a:solidFill>
                <a:latin typeface="Arial"/>
                <a:cs typeface="Arial"/>
              </a:rPr>
              <a:t>r</a:t>
            </a:r>
            <a:r>
              <a:rPr sz="1700" b="1" spc="-40" dirty="0">
                <a:solidFill>
                  <a:srgbClr val="002F59"/>
                </a:solidFill>
                <a:latin typeface="Arial"/>
                <a:cs typeface="Arial"/>
              </a:rPr>
              <a:t>s</a:t>
            </a:r>
            <a:r>
              <a:rPr sz="1700" b="1" spc="-204" dirty="0">
                <a:solidFill>
                  <a:srgbClr val="002F59"/>
                </a:solidFill>
                <a:latin typeface="Arial"/>
                <a:cs typeface="Arial"/>
              </a:rPr>
              <a:t> </a:t>
            </a:r>
            <a:r>
              <a:rPr sz="1700" b="1" spc="25" dirty="0">
                <a:solidFill>
                  <a:srgbClr val="002F59"/>
                </a:solidFill>
                <a:latin typeface="Arial"/>
                <a:cs typeface="Arial"/>
              </a:rPr>
              <a:t>a</a:t>
            </a:r>
            <a:r>
              <a:rPr sz="1700" b="1" spc="50" dirty="0">
                <a:solidFill>
                  <a:srgbClr val="002F59"/>
                </a:solidFill>
                <a:latin typeface="Arial"/>
                <a:cs typeface="Arial"/>
              </a:rPr>
              <a:t>r</a:t>
            </a:r>
            <a:r>
              <a:rPr sz="1700" b="1" spc="105" dirty="0">
                <a:solidFill>
                  <a:srgbClr val="002F59"/>
                </a:solidFill>
                <a:latin typeface="Arial"/>
                <a:cs typeface="Arial"/>
              </a:rPr>
              <a:t>e</a:t>
            </a:r>
            <a:r>
              <a:rPr sz="1700" b="1" spc="-204" dirty="0">
                <a:solidFill>
                  <a:srgbClr val="002F59"/>
                </a:solidFill>
                <a:latin typeface="Arial"/>
                <a:cs typeface="Arial"/>
              </a:rPr>
              <a:t> </a:t>
            </a:r>
            <a:r>
              <a:rPr sz="1700" b="1" spc="10" dirty="0">
                <a:solidFill>
                  <a:srgbClr val="002F59"/>
                </a:solidFill>
                <a:latin typeface="Arial"/>
                <a:cs typeface="Arial"/>
              </a:rPr>
              <a:t>h</a:t>
            </a:r>
            <a:r>
              <a:rPr sz="1700" b="1" spc="15" dirty="0">
                <a:solidFill>
                  <a:srgbClr val="002F59"/>
                </a:solidFill>
                <a:latin typeface="Arial"/>
                <a:cs typeface="Arial"/>
              </a:rPr>
              <a:t>e</a:t>
            </a:r>
            <a:r>
              <a:rPr sz="1700" b="1" spc="20" dirty="0">
                <a:solidFill>
                  <a:srgbClr val="002F59"/>
                </a:solidFill>
                <a:latin typeface="Arial"/>
                <a:cs typeface="Arial"/>
              </a:rPr>
              <a:t>a</a:t>
            </a:r>
            <a:r>
              <a:rPr sz="1700" b="1" spc="50" dirty="0">
                <a:solidFill>
                  <a:srgbClr val="002F59"/>
                </a:solidFill>
                <a:latin typeface="Arial"/>
                <a:cs typeface="Arial"/>
              </a:rPr>
              <a:t>rd</a:t>
            </a:r>
            <a:endParaRPr sz="1700">
              <a:latin typeface="Arial"/>
              <a:cs typeface="Arial"/>
            </a:endParaRPr>
          </a:p>
          <a:p>
            <a:pPr marL="266700" marR="49530" indent="-635" algn="just">
              <a:lnSpc>
                <a:spcPts val="1700"/>
              </a:lnSpc>
            </a:pPr>
            <a:r>
              <a:rPr sz="1150" spc="-10" dirty="0">
                <a:solidFill>
                  <a:srgbClr val="333333"/>
                </a:solidFill>
                <a:latin typeface="Roboto Lt"/>
                <a:cs typeface="Roboto Lt"/>
              </a:rPr>
              <a:t>Customers </a:t>
            </a:r>
            <a:r>
              <a:rPr sz="1150" spc="-20" dirty="0">
                <a:solidFill>
                  <a:srgbClr val="333333"/>
                </a:solidFill>
                <a:latin typeface="Roboto Lt"/>
                <a:cs typeface="Roboto Lt"/>
              </a:rPr>
              <a:t>have </a:t>
            </a:r>
            <a:r>
              <a:rPr sz="1150" spc="-15" dirty="0">
                <a:solidFill>
                  <a:srgbClr val="333333"/>
                </a:solidFill>
                <a:latin typeface="Roboto Lt"/>
                <a:cs typeface="Roboto Lt"/>
              </a:rPr>
              <a:t>many </a:t>
            </a:r>
            <a:r>
              <a:rPr sz="1150" spc="-10" dirty="0">
                <a:solidFill>
                  <a:srgbClr val="333333"/>
                </a:solidFill>
                <a:latin typeface="Roboto Lt"/>
                <a:cs typeface="Roboto Lt"/>
              </a:rPr>
              <a:t>opportunities </a:t>
            </a:r>
            <a:r>
              <a:rPr sz="1150" spc="-15" dirty="0">
                <a:solidFill>
                  <a:srgbClr val="333333"/>
                </a:solidFill>
                <a:latin typeface="Roboto Lt"/>
                <a:cs typeface="Roboto Lt"/>
              </a:rPr>
              <a:t>to </a:t>
            </a:r>
            <a:r>
              <a:rPr sz="1150" spc="-5" dirty="0">
                <a:solidFill>
                  <a:srgbClr val="333333"/>
                </a:solidFill>
                <a:latin typeface="Roboto Lt"/>
                <a:cs typeface="Roboto Lt"/>
              </a:rPr>
              <a:t>see </a:t>
            </a:r>
            <a:r>
              <a:rPr sz="1150" spc="-10" dirty="0">
                <a:solidFill>
                  <a:srgbClr val="333333"/>
                </a:solidFill>
                <a:latin typeface="Roboto Lt"/>
                <a:cs typeface="Roboto Lt"/>
              </a:rPr>
              <a:t>the </a:t>
            </a:r>
            <a:r>
              <a:rPr sz="1150" spc="-15" dirty="0">
                <a:solidFill>
                  <a:srgbClr val="333333"/>
                </a:solidFill>
                <a:latin typeface="Roboto Lt"/>
                <a:cs typeface="Roboto Lt"/>
              </a:rPr>
              <a:t>work </a:t>
            </a:r>
            <a:r>
              <a:rPr sz="1150" spc="-10" dirty="0">
                <a:solidFill>
                  <a:srgbClr val="333333"/>
                </a:solidFill>
                <a:latin typeface="Roboto Lt"/>
                <a:cs typeface="Roboto Lt"/>
              </a:rPr>
              <a:t> being </a:t>
            </a:r>
            <a:r>
              <a:rPr sz="1150" spc="-15" dirty="0">
                <a:solidFill>
                  <a:srgbClr val="333333"/>
                </a:solidFill>
                <a:latin typeface="Roboto Lt"/>
                <a:cs typeface="Roboto Lt"/>
              </a:rPr>
              <a:t>delivered, </a:t>
            </a:r>
            <a:r>
              <a:rPr sz="1150" spc="-20" dirty="0">
                <a:solidFill>
                  <a:srgbClr val="333333"/>
                </a:solidFill>
                <a:latin typeface="Roboto Lt"/>
                <a:cs typeface="Roboto Lt"/>
              </a:rPr>
              <a:t>share </a:t>
            </a:r>
            <a:r>
              <a:rPr sz="1150" spc="-15" dirty="0">
                <a:solidFill>
                  <a:srgbClr val="333333"/>
                </a:solidFill>
                <a:latin typeface="Roboto Lt"/>
                <a:cs typeface="Roboto Lt"/>
              </a:rPr>
              <a:t>their input, </a:t>
            </a:r>
            <a:r>
              <a:rPr sz="1150" spc="-10" dirty="0">
                <a:solidFill>
                  <a:srgbClr val="333333"/>
                </a:solidFill>
                <a:latin typeface="Roboto Lt"/>
                <a:cs typeface="Roboto Lt"/>
              </a:rPr>
              <a:t>and </a:t>
            </a:r>
            <a:r>
              <a:rPr sz="1150" spc="-20" dirty="0">
                <a:solidFill>
                  <a:srgbClr val="333333"/>
                </a:solidFill>
                <a:latin typeface="Roboto Lt"/>
                <a:cs typeface="Roboto Lt"/>
              </a:rPr>
              <a:t>have </a:t>
            </a:r>
            <a:r>
              <a:rPr sz="1150" spc="-10" dirty="0">
                <a:solidFill>
                  <a:srgbClr val="333333"/>
                </a:solidFill>
                <a:latin typeface="Roboto Lt"/>
                <a:cs typeface="Roboto Lt"/>
              </a:rPr>
              <a:t>an impact </a:t>
            </a:r>
            <a:r>
              <a:rPr sz="1150" spc="-265" dirty="0">
                <a:solidFill>
                  <a:srgbClr val="333333"/>
                </a:solidFill>
                <a:latin typeface="Roboto Lt"/>
                <a:cs typeface="Roboto Lt"/>
              </a:rPr>
              <a:t> </a:t>
            </a:r>
            <a:r>
              <a:rPr sz="1150" dirty="0">
                <a:solidFill>
                  <a:srgbClr val="333333"/>
                </a:solidFill>
                <a:latin typeface="Roboto Lt"/>
                <a:cs typeface="Roboto Lt"/>
              </a:rPr>
              <a:t>on</a:t>
            </a:r>
            <a:r>
              <a:rPr sz="1150" spc="-25" dirty="0">
                <a:solidFill>
                  <a:srgbClr val="333333"/>
                </a:solidFill>
                <a:latin typeface="Roboto Lt"/>
                <a:cs typeface="Roboto Lt"/>
              </a:rPr>
              <a:t> </a:t>
            </a:r>
            <a:r>
              <a:rPr sz="1150" spc="-10" dirty="0">
                <a:solidFill>
                  <a:srgbClr val="333333"/>
                </a:solidFill>
                <a:latin typeface="Roboto Lt"/>
                <a:cs typeface="Roboto Lt"/>
              </a:rPr>
              <a:t>the</a:t>
            </a:r>
            <a:r>
              <a:rPr sz="1150" spc="-20" dirty="0">
                <a:solidFill>
                  <a:srgbClr val="333333"/>
                </a:solidFill>
                <a:latin typeface="Roboto Lt"/>
                <a:cs typeface="Roboto Lt"/>
              </a:rPr>
              <a:t> </a:t>
            </a:r>
            <a:r>
              <a:rPr sz="1150" spc="-5" dirty="0">
                <a:solidFill>
                  <a:srgbClr val="333333"/>
                </a:solidFill>
                <a:latin typeface="Roboto Lt"/>
                <a:cs typeface="Roboto Lt"/>
              </a:rPr>
              <a:t>end</a:t>
            </a:r>
            <a:r>
              <a:rPr sz="1150" spc="-20" dirty="0">
                <a:solidFill>
                  <a:srgbClr val="333333"/>
                </a:solidFill>
                <a:latin typeface="Roboto Lt"/>
                <a:cs typeface="Roboto Lt"/>
              </a:rPr>
              <a:t> </a:t>
            </a:r>
            <a:r>
              <a:rPr sz="1150" spc="-15" dirty="0">
                <a:solidFill>
                  <a:srgbClr val="333333"/>
                </a:solidFill>
                <a:latin typeface="Roboto Lt"/>
                <a:cs typeface="Roboto Lt"/>
              </a:rPr>
              <a:t>product.</a:t>
            </a:r>
            <a:endParaRPr sz="1150">
              <a:latin typeface="Roboto Lt"/>
              <a:cs typeface="Roboto Lt"/>
            </a:endParaRPr>
          </a:p>
          <a:p>
            <a:pPr marL="12700">
              <a:lnSpc>
                <a:spcPct val="100000"/>
              </a:lnSpc>
              <a:spcBef>
                <a:spcPts val="1010"/>
              </a:spcBef>
              <a:tabLst>
                <a:tab pos="266065" algn="l"/>
              </a:tabLst>
            </a:pPr>
            <a:r>
              <a:rPr sz="1700" b="1" spc="-35" dirty="0">
                <a:solidFill>
                  <a:srgbClr val="002F59"/>
                </a:solidFill>
                <a:latin typeface="Arial"/>
                <a:cs typeface="Arial"/>
              </a:rPr>
              <a:t>+	</a:t>
            </a:r>
            <a:r>
              <a:rPr sz="1700" b="1" spc="-229" dirty="0">
                <a:solidFill>
                  <a:srgbClr val="002F59"/>
                </a:solidFill>
                <a:latin typeface="Arial"/>
                <a:cs typeface="Arial"/>
              </a:rPr>
              <a:t>C</a:t>
            </a:r>
            <a:r>
              <a:rPr sz="1700" b="1" spc="-20" dirty="0">
                <a:solidFill>
                  <a:srgbClr val="002F59"/>
                </a:solidFill>
                <a:latin typeface="Arial"/>
                <a:cs typeface="Arial"/>
              </a:rPr>
              <a:t>o</a:t>
            </a:r>
            <a:r>
              <a:rPr sz="1700" b="1" spc="-25" dirty="0">
                <a:solidFill>
                  <a:srgbClr val="002F59"/>
                </a:solidFill>
                <a:latin typeface="Arial"/>
                <a:cs typeface="Arial"/>
              </a:rPr>
              <a:t>n</a:t>
            </a:r>
            <a:r>
              <a:rPr sz="1700" b="1" spc="145" dirty="0">
                <a:solidFill>
                  <a:srgbClr val="002F59"/>
                </a:solidFill>
                <a:latin typeface="Arial"/>
                <a:cs typeface="Arial"/>
              </a:rPr>
              <a:t>t</a:t>
            </a:r>
            <a:r>
              <a:rPr sz="1700" b="1" dirty="0">
                <a:solidFill>
                  <a:srgbClr val="002F59"/>
                </a:solidFill>
                <a:latin typeface="Arial"/>
                <a:cs typeface="Arial"/>
              </a:rPr>
              <a:t>in</a:t>
            </a:r>
            <a:r>
              <a:rPr sz="1700" b="1" spc="10" dirty="0">
                <a:solidFill>
                  <a:srgbClr val="002F59"/>
                </a:solidFill>
                <a:latin typeface="Arial"/>
                <a:cs typeface="Arial"/>
              </a:rPr>
              <a:t>u</a:t>
            </a:r>
            <a:r>
              <a:rPr sz="1700" b="1" spc="-50" dirty="0">
                <a:solidFill>
                  <a:srgbClr val="002F59"/>
                </a:solidFill>
                <a:latin typeface="Arial"/>
                <a:cs typeface="Arial"/>
              </a:rPr>
              <a:t>o</a:t>
            </a:r>
            <a:r>
              <a:rPr sz="1700" b="1" spc="-55" dirty="0">
                <a:solidFill>
                  <a:srgbClr val="002F59"/>
                </a:solidFill>
                <a:latin typeface="Arial"/>
                <a:cs typeface="Arial"/>
              </a:rPr>
              <a:t>u</a:t>
            </a:r>
            <a:r>
              <a:rPr sz="1700" b="1" spc="25" dirty="0">
                <a:solidFill>
                  <a:srgbClr val="002F59"/>
                </a:solidFill>
                <a:latin typeface="Arial"/>
                <a:cs typeface="Arial"/>
              </a:rPr>
              <a:t>s</a:t>
            </a:r>
            <a:r>
              <a:rPr sz="1700" b="1" spc="-200" dirty="0">
                <a:solidFill>
                  <a:srgbClr val="002F59"/>
                </a:solidFill>
                <a:latin typeface="Arial"/>
                <a:cs typeface="Arial"/>
              </a:rPr>
              <a:t> </a:t>
            </a:r>
            <a:r>
              <a:rPr sz="1700" b="1" spc="-30" dirty="0">
                <a:solidFill>
                  <a:srgbClr val="002F59"/>
                </a:solidFill>
                <a:latin typeface="Arial"/>
                <a:cs typeface="Arial"/>
              </a:rPr>
              <a:t>i</a:t>
            </a:r>
            <a:r>
              <a:rPr sz="1700" b="1" spc="114" dirty="0">
                <a:solidFill>
                  <a:srgbClr val="002F59"/>
                </a:solidFill>
                <a:latin typeface="Arial"/>
                <a:cs typeface="Arial"/>
              </a:rPr>
              <a:t>m</a:t>
            </a:r>
            <a:r>
              <a:rPr sz="1700" b="1" spc="-30" dirty="0">
                <a:solidFill>
                  <a:srgbClr val="002F59"/>
                </a:solidFill>
                <a:latin typeface="Arial"/>
                <a:cs typeface="Arial"/>
              </a:rPr>
              <a:t>p</a:t>
            </a:r>
            <a:r>
              <a:rPr sz="1700" b="1" spc="50" dirty="0">
                <a:solidFill>
                  <a:srgbClr val="002F59"/>
                </a:solidFill>
                <a:latin typeface="Arial"/>
                <a:cs typeface="Arial"/>
              </a:rPr>
              <a:t>r</a:t>
            </a:r>
            <a:r>
              <a:rPr sz="1700" b="1" spc="-75" dirty="0">
                <a:solidFill>
                  <a:srgbClr val="002F59"/>
                </a:solidFill>
                <a:latin typeface="Arial"/>
                <a:cs typeface="Arial"/>
              </a:rPr>
              <a:t>o</a:t>
            </a:r>
            <a:r>
              <a:rPr sz="1700" b="1" spc="-25" dirty="0">
                <a:solidFill>
                  <a:srgbClr val="002F59"/>
                </a:solidFill>
                <a:latin typeface="Arial"/>
                <a:cs typeface="Arial"/>
              </a:rPr>
              <a:t>v</a:t>
            </a:r>
            <a:r>
              <a:rPr sz="1700" b="1" spc="25" dirty="0">
                <a:solidFill>
                  <a:srgbClr val="002F59"/>
                </a:solidFill>
                <a:latin typeface="Arial"/>
                <a:cs typeface="Arial"/>
              </a:rPr>
              <a:t>e</a:t>
            </a:r>
            <a:r>
              <a:rPr sz="1700" b="1" spc="95" dirty="0">
                <a:solidFill>
                  <a:srgbClr val="002F59"/>
                </a:solidFill>
                <a:latin typeface="Arial"/>
                <a:cs typeface="Arial"/>
              </a:rPr>
              <a:t>m</a:t>
            </a:r>
            <a:r>
              <a:rPr sz="1700" b="1" spc="25" dirty="0">
                <a:solidFill>
                  <a:srgbClr val="002F59"/>
                </a:solidFill>
                <a:latin typeface="Arial"/>
                <a:cs typeface="Arial"/>
              </a:rPr>
              <a:t>e</a:t>
            </a:r>
            <a:r>
              <a:rPr sz="1700" b="1" spc="5" dirty="0">
                <a:solidFill>
                  <a:srgbClr val="002F59"/>
                </a:solidFill>
                <a:latin typeface="Arial"/>
                <a:cs typeface="Arial"/>
              </a:rPr>
              <a:t>n</a:t>
            </a:r>
            <a:r>
              <a:rPr sz="1700" b="1" spc="215" dirty="0">
                <a:solidFill>
                  <a:srgbClr val="002F59"/>
                </a:solidFill>
                <a:latin typeface="Arial"/>
                <a:cs typeface="Arial"/>
              </a:rPr>
              <a:t>t</a:t>
            </a:r>
            <a:endParaRPr sz="1700">
              <a:latin typeface="Arial"/>
              <a:cs typeface="Arial"/>
            </a:endParaRPr>
          </a:p>
          <a:p>
            <a:pPr marL="266700" marR="78105" indent="-635">
              <a:lnSpc>
                <a:spcPts val="1700"/>
              </a:lnSpc>
            </a:pPr>
            <a:r>
              <a:rPr sz="1150" spc="-5" dirty="0">
                <a:solidFill>
                  <a:srgbClr val="333333"/>
                </a:solidFill>
                <a:latin typeface="Roboto Lt"/>
                <a:cs typeface="Roboto Lt"/>
              </a:rPr>
              <a:t>Feedback </a:t>
            </a:r>
            <a:r>
              <a:rPr sz="1150" spc="-15" dirty="0">
                <a:solidFill>
                  <a:srgbClr val="333333"/>
                </a:solidFill>
                <a:latin typeface="Roboto Lt"/>
                <a:cs typeface="Roboto Lt"/>
              </a:rPr>
              <a:t>is </a:t>
            </a:r>
            <a:r>
              <a:rPr sz="1150" spc="-10" dirty="0">
                <a:solidFill>
                  <a:srgbClr val="333333"/>
                </a:solidFill>
                <a:latin typeface="Roboto Lt"/>
                <a:cs typeface="Roboto Lt"/>
              </a:rPr>
              <a:t>encouraged from </a:t>
            </a:r>
            <a:r>
              <a:rPr sz="1150" spc="-15" dirty="0">
                <a:solidFill>
                  <a:srgbClr val="333333"/>
                </a:solidFill>
                <a:latin typeface="Roboto Lt"/>
                <a:cs typeface="Roboto Lt"/>
              </a:rPr>
              <a:t>users </a:t>
            </a:r>
            <a:r>
              <a:rPr sz="1150" spc="-10" dirty="0">
                <a:solidFill>
                  <a:srgbClr val="333333"/>
                </a:solidFill>
                <a:latin typeface="Roboto Lt"/>
                <a:cs typeface="Roboto Lt"/>
              </a:rPr>
              <a:t>and </a:t>
            </a:r>
            <a:r>
              <a:rPr sz="1150" spc="-15" dirty="0">
                <a:solidFill>
                  <a:srgbClr val="333333"/>
                </a:solidFill>
                <a:latin typeface="Roboto Lt"/>
                <a:cs typeface="Roboto Lt"/>
              </a:rPr>
              <a:t>team </a:t>
            </a:r>
            <a:r>
              <a:rPr sz="1150" spc="-10" dirty="0">
                <a:solidFill>
                  <a:srgbClr val="333333"/>
                </a:solidFill>
                <a:latin typeface="Roboto Lt"/>
                <a:cs typeface="Roboto Lt"/>
              </a:rPr>
              <a:t> </a:t>
            </a:r>
            <a:r>
              <a:rPr sz="1150" spc="-5" dirty="0">
                <a:solidFill>
                  <a:srgbClr val="333333"/>
                </a:solidFill>
                <a:latin typeface="Roboto Lt"/>
                <a:cs typeface="Roboto Lt"/>
              </a:rPr>
              <a:t>members </a:t>
            </a:r>
            <a:r>
              <a:rPr sz="1150" spc="-15" dirty="0">
                <a:solidFill>
                  <a:srgbClr val="333333"/>
                </a:solidFill>
                <a:latin typeface="Roboto Lt"/>
                <a:cs typeface="Roboto Lt"/>
              </a:rPr>
              <a:t>throughout </a:t>
            </a:r>
            <a:r>
              <a:rPr sz="1150" spc="-10" dirty="0">
                <a:solidFill>
                  <a:srgbClr val="333333"/>
                </a:solidFill>
                <a:latin typeface="Roboto Lt"/>
                <a:cs typeface="Roboto Lt"/>
              </a:rPr>
              <a:t>the </a:t>
            </a:r>
            <a:r>
              <a:rPr sz="1150" spc="-15" dirty="0">
                <a:solidFill>
                  <a:srgbClr val="333333"/>
                </a:solidFill>
                <a:latin typeface="Roboto Lt"/>
                <a:cs typeface="Roboto Lt"/>
              </a:rPr>
              <a:t>project, </a:t>
            </a:r>
            <a:r>
              <a:rPr sz="1150" spc="-5" dirty="0">
                <a:solidFill>
                  <a:srgbClr val="333333"/>
                </a:solidFill>
                <a:latin typeface="Roboto Lt"/>
                <a:cs typeface="Roboto Lt"/>
              </a:rPr>
              <a:t>so </a:t>
            </a:r>
            <a:r>
              <a:rPr sz="1150" spc="-15" dirty="0">
                <a:solidFill>
                  <a:srgbClr val="333333"/>
                </a:solidFill>
                <a:latin typeface="Roboto Lt"/>
                <a:cs typeface="Roboto Lt"/>
              </a:rPr>
              <a:t>lessons learned </a:t>
            </a:r>
            <a:r>
              <a:rPr sz="1150" spc="-265" dirty="0">
                <a:solidFill>
                  <a:srgbClr val="333333"/>
                </a:solidFill>
                <a:latin typeface="Roboto Lt"/>
                <a:cs typeface="Roboto Lt"/>
              </a:rPr>
              <a:t> </a:t>
            </a:r>
            <a:r>
              <a:rPr sz="1150" spc="-15" dirty="0">
                <a:solidFill>
                  <a:srgbClr val="333333"/>
                </a:solidFill>
                <a:latin typeface="Roboto Lt"/>
                <a:cs typeface="Roboto Lt"/>
              </a:rPr>
              <a:t>are</a:t>
            </a:r>
            <a:r>
              <a:rPr sz="1150" spc="-20" dirty="0">
                <a:solidFill>
                  <a:srgbClr val="333333"/>
                </a:solidFill>
                <a:latin typeface="Roboto Lt"/>
                <a:cs typeface="Roboto Lt"/>
              </a:rPr>
              <a:t> </a:t>
            </a:r>
            <a:r>
              <a:rPr sz="1150" spc="-10" dirty="0">
                <a:solidFill>
                  <a:srgbClr val="333333"/>
                </a:solidFill>
                <a:latin typeface="Roboto Lt"/>
                <a:cs typeface="Roboto Lt"/>
              </a:rPr>
              <a:t>used</a:t>
            </a:r>
            <a:r>
              <a:rPr sz="1150" spc="-20" dirty="0">
                <a:solidFill>
                  <a:srgbClr val="333333"/>
                </a:solidFill>
                <a:latin typeface="Roboto Lt"/>
                <a:cs typeface="Roboto Lt"/>
              </a:rPr>
              <a:t> </a:t>
            </a:r>
            <a:r>
              <a:rPr sz="1150" spc="-15" dirty="0">
                <a:solidFill>
                  <a:srgbClr val="333333"/>
                </a:solidFill>
                <a:latin typeface="Roboto Lt"/>
                <a:cs typeface="Roboto Lt"/>
              </a:rPr>
              <a:t>to</a:t>
            </a:r>
            <a:r>
              <a:rPr sz="1150" spc="-20" dirty="0">
                <a:solidFill>
                  <a:srgbClr val="333333"/>
                </a:solidFill>
                <a:latin typeface="Roboto Lt"/>
                <a:cs typeface="Roboto Lt"/>
              </a:rPr>
              <a:t> improve </a:t>
            </a:r>
            <a:r>
              <a:rPr sz="1150" spc="-15" dirty="0">
                <a:solidFill>
                  <a:srgbClr val="333333"/>
                </a:solidFill>
                <a:latin typeface="Roboto Lt"/>
                <a:cs typeface="Roboto Lt"/>
              </a:rPr>
              <a:t>future</a:t>
            </a:r>
            <a:r>
              <a:rPr sz="1150" spc="-20" dirty="0">
                <a:solidFill>
                  <a:srgbClr val="333333"/>
                </a:solidFill>
                <a:latin typeface="Roboto Lt"/>
                <a:cs typeface="Roboto Lt"/>
              </a:rPr>
              <a:t> iterations.</a:t>
            </a:r>
            <a:endParaRPr sz="1150">
              <a:latin typeface="Roboto Lt"/>
              <a:cs typeface="Roboto 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1988820"/>
          </a:xfrm>
          <a:custGeom>
            <a:avLst/>
            <a:gdLst/>
            <a:ahLst/>
            <a:cxnLst/>
            <a:rect l="l" t="t" r="r" b="b"/>
            <a:pathLst>
              <a:path w="9144000" h="1988820">
                <a:moveTo>
                  <a:pt x="9144000" y="0"/>
                </a:moveTo>
                <a:lnTo>
                  <a:pt x="0" y="0"/>
                </a:lnTo>
                <a:lnTo>
                  <a:pt x="0" y="1988312"/>
                </a:lnTo>
                <a:lnTo>
                  <a:pt x="9144000" y="1988312"/>
                </a:lnTo>
                <a:lnTo>
                  <a:pt x="9144000" y="0"/>
                </a:lnTo>
                <a:close/>
              </a:path>
            </a:pathLst>
          </a:custGeom>
          <a:solidFill>
            <a:srgbClr val="002F59"/>
          </a:solidFill>
        </p:spPr>
        <p:txBody>
          <a:bodyPr wrap="square" lIns="0" tIns="0" rIns="0" bIns="0" rtlCol="0"/>
          <a:lstStyle/>
          <a:p>
            <a:endParaRPr/>
          </a:p>
        </p:txBody>
      </p:sp>
      <p:sp>
        <p:nvSpPr>
          <p:cNvPr id="3" name="object 3"/>
          <p:cNvSpPr txBox="1">
            <a:spLocks noGrp="1"/>
          </p:cNvSpPr>
          <p:nvPr>
            <p:ph type="title"/>
          </p:nvPr>
        </p:nvSpPr>
        <p:spPr>
          <a:xfrm>
            <a:off x="526366" y="38203"/>
            <a:ext cx="7807959" cy="1607185"/>
          </a:xfrm>
          <a:prstGeom prst="rect">
            <a:avLst/>
          </a:prstGeom>
        </p:spPr>
        <p:txBody>
          <a:bodyPr vert="horz" wrap="square" lIns="0" tIns="386080" rIns="0" bIns="0" rtlCol="0">
            <a:spAutoFit/>
          </a:bodyPr>
          <a:lstStyle/>
          <a:p>
            <a:pPr marL="12700">
              <a:lnSpc>
                <a:spcPct val="100000"/>
              </a:lnSpc>
              <a:spcBef>
                <a:spcPts val="3040"/>
              </a:spcBef>
            </a:pPr>
            <a:r>
              <a:rPr spc="-215" dirty="0"/>
              <a:t>D</a:t>
            </a:r>
            <a:r>
              <a:rPr spc="-65" dirty="0"/>
              <a:t>i</a:t>
            </a:r>
            <a:r>
              <a:rPr spc="-360" dirty="0"/>
              <a:t>s</a:t>
            </a:r>
            <a:r>
              <a:rPr spc="40" dirty="0"/>
              <a:t>a</a:t>
            </a:r>
            <a:r>
              <a:rPr spc="-85" dirty="0"/>
              <a:t>d</a:t>
            </a:r>
            <a:r>
              <a:rPr spc="-70" dirty="0"/>
              <a:t>v</a:t>
            </a:r>
            <a:r>
              <a:rPr spc="40" dirty="0"/>
              <a:t>a</a:t>
            </a:r>
            <a:r>
              <a:rPr spc="-30" dirty="0"/>
              <a:t>n</a:t>
            </a:r>
            <a:r>
              <a:rPr spc="335" dirty="0"/>
              <a:t>t</a:t>
            </a:r>
            <a:r>
              <a:rPr spc="5" dirty="0"/>
              <a:t>a</a:t>
            </a:r>
            <a:r>
              <a:rPr spc="-330" dirty="0"/>
              <a:t>g</a:t>
            </a:r>
            <a:r>
              <a:rPr spc="-5" dirty="0"/>
              <a:t>e</a:t>
            </a:r>
            <a:r>
              <a:rPr spc="-105" dirty="0"/>
              <a:t>s</a:t>
            </a:r>
            <a:r>
              <a:rPr spc="-535" dirty="0"/>
              <a:t> </a:t>
            </a:r>
            <a:r>
              <a:rPr spc="-160" dirty="0"/>
              <a:t>o</a:t>
            </a:r>
            <a:r>
              <a:rPr spc="360" dirty="0"/>
              <a:t>f</a:t>
            </a:r>
            <a:r>
              <a:rPr spc="-535" dirty="0"/>
              <a:t> </a:t>
            </a:r>
            <a:r>
              <a:rPr spc="-150" dirty="0"/>
              <a:t>A</a:t>
            </a:r>
            <a:r>
              <a:rPr spc="-280" dirty="0"/>
              <a:t>g</a:t>
            </a:r>
            <a:r>
              <a:rPr spc="-55" dirty="0"/>
              <a:t>i</a:t>
            </a:r>
            <a:r>
              <a:rPr spc="-70" dirty="0"/>
              <a:t>l</a:t>
            </a:r>
            <a:r>
              <a:rPr spc="275" dirty="0"/>
              <a:t>e</a:t>
            </a:r>
          </a:p>
          <a:p>
            <a:pPr marL="12700" marR="5080">
              <a:lnSpc>
                <a:spcPct val="109000"/>
              </a:lnSpc>
              <a:spcBef>
                <a:spcPts val="710"/>
              </a:spcBef>
            </a:pPr>
            <a:r>
              <a:rPr sz="1300" b="0" spc="-25" dirty="0">
                <a:latin typeface="Roboto Lt"/>
                <a:cs typeface="Roboto Lt"/>
              </a:rPr>
              <a:t>While </a:t>
            </a:r>
            <a:r>
              <a:rPr sz="1300" b="0" spc="-30" dirty="0">
                <a:latin typeface="Roboto Lt"/>
                <a:cs typeface="Roboto Lt"/>
              </a:rPr>
              <a:t>flexibility</a:t>
            </a:r>
            <a:r>
              <a:rPr sz="1300" b="0" spc="-20" dirty="0">
                <a:latin typeface="Roboto Lt"/>
                <a:cs typeface="Roboto Lt"/>
              </a:rPr>
              <a:t> </a:t>
            </a:r>
            <a:r>
              <a:rPr sz="1300" b="0" spc="-25" dirty="0">
                <a:latin typeface="Roboto Lt"/>
                <a:cs typeface="Roboto Lt"/>
              </a:rPr>
              <a:t>in Agile</a:t>
            </a:r>
            <a:r>
              <a:rPr sz="1300" b="0" spc="-20" dirty="0">
                <a:latin typeface="Roboto Lt"/>
                <a:cs typeface="Roboto Lt"/>
              </a:rPr>
              <a:t> </a:t>
            </a:r>
            <a:r>
              <a:rPr sz="1300" b="0" spc="-25" dirty="0">
                <a:latin typeface="Roboto Lt"/>
                <a:cs typeface="Roboto Lt"/>
              </a:rPr>
              <a:t>is </a:t>
            </a:r>
            <a:r>
              <a:rPr sz="1300" b="0" spc="-35" dirty="0">
                <a:latin typeface="Roboto Lt"/>
                <a:cs typeface="Roboto Lt"/>
              </a:rPr>
              <a:t>usually</a:t>
            </a:r>
            <a:r>
              <a:rPr sz="1300" b="0" spc="-20" dirty="0">
                <a:latin typeface="Roboto Lt"/>
                <a:cs typeface="Roboto Lt"/>
              </a:rPr>
              <a:t> </a:t>
            </a:r>
            <a:r>
              <a:rPr sz="1300" b="0" spc="-5" dirty="0">
                <a:latin typeface="Roboto Lt"/>
                <a:cs typeface="Roboto Lt"/>
              </a:rPr>
              <a:t>a</a:t>
            </a:r>
            <a:r>
              <a:rPr sz="1300" b="0" spc="-25" dirty="0">
                <a:latin typeface="Roboto Lt"/>
                <a:cs typeface="Roboto Lt"/>
              </a:rPr>
              <a:t> </a:t>
            </a:r>
            <a:r>
              <a:rPr sz="1300" b="0" spc="-30" dirty="0">
                <a:latin typeface="Roboto Lt"/>
                <a:cs typeface="Roboto Lt"/>
              </a:rPr>
              <a:t>positive,</a:t>
            </a:r>
            <a:r>
              <a:rPr sz="1300" b="0" spc="-20" dirty="0">
                <a:latin typeface="Roboto Lt"/>
                <a:cs typeface="Roboto Lt"/>
              </a:rPr>
              <a:t> </a:t>
            </a:r>
            <a:r>
              <a:rPr sz="1300" b="0" spc="-15" dirty="0">
                <a:latin typeface="Roboto Lt"/>
                <a:cs typeface="Roboto Lt"/>
              </a:rPr>
              <a:t>it</a:t>
            </a:r>
            <a:r>
              <a:rPr sz="1300" b="0" spc="-25" dirty="0">
                <a:latin typeface="Roboto Lt"/>
                <a:cs typeface="Roboto Lt"/>
              </a:rPr>
              <a:t> </a:t>
            </a:r>
            <a:r>
              <a:rPr sz="1300" b="0" spc="-30" dirty="0">
                <a:latin typeface="Roboto Lt"/>
                <a:cs typeface="Roboto Lt"/>
              </a:rPr>
              <a:t>also</a:t>
            </a:r>
            <a:r>
              <a:rPr sz="1300" b="0" spc="-20" dirty="0">
                <a:latin typeface="Roboto Lt"/>
                <a:cs typeface="Roboto Lt"/>
              </a:rPr>
              <a:t> comes</a:t>
            </a:r>
            <a:r>
              <a:rPr sz="1300" b="0" spc="-25" dirty="0">
                <a:latin typeface="Roboto Lt"/>
                <a:cs typeface="Roboto Lt"/>
              </a:rPr>
              <a:t> </a:t>
            </a:r>
            <a:r>
              <a:rPr sz="1300" b="0" spc="-30" dirty="0">
                <a:latin typeface="Roboto Lt"/>
                <a:cs typeface="Roboto Lt"/>
              </a:rPr>
              <a:t>with</a:t>
            </a:r>
            <a:r>
              <a:rPr sz="1300" b="0" spc="-20" dirty="0">
                <a:latin typeface="Roboto Lt"/>
                <a:cs typeface="Roboto Lt"/>
              </a:rPr>
              <a:t> some</a:t>
            </a:r>
            <a:r>
              <a:rPr sz="1300" b="0" spc="-25" dirty="0">
                <a:latin typeface="Roboto Lt"/>
                <a:cs typeface="Roboto Lt"/>
              </a:rPr>
              <a:t> </a:t>
            </a:r>
            <a:r>
              <a:rPr sz="1300" b="0" spc="-30" dirty="0">
                <a:latin typeface="Roboto Lt"/>
                <a:cs typeface="Roboto Lt"/>
              </a:rPr>
              <a:t>trade-offs.</a:t>
            </a:r>
            <a:r>
              <a:rPr sz="1300" b="0" spc="-20" dirty="0">
                <a:latin typeface="Roboto Lt"/>
                <a:cs typeface="Roboto Lt"/>
              </a:rPr>
              <a:t> </a:t>
            </a:r>
            <a:r>
              <a:rPr sz="1300" b="0" spc="-15" dirty="0">
                <a:latin typeface="Roboto Lt"/>
                <a:cs typeface="Roboto Lt"/>
              </a:rPr>
              <a:t>It</a:t>
            </a:r>
            <a:r>
              <a:rPr sz="1300" b="0" spc="-25" dirty="0">
                <a:latin typeface="Roboto Lt"/>
                <a:cs typeface="Roboto Lt"/>
              </a:rPr>
              <a:t> </a:t>
            </a:r>
            <a:r>
              <a:rPr sz="1300" b="0" spc="-20" dirty="0">
                <a:latin typeface="Roboto Lt"/>
                <a:cs typeface="Roboto Lt"/>
              </a:rPr>
              <a:t>can </a:t>
            </a:r>
            <a:r>
              <a:rPr sz="1300" b="0" spc="-15" dirty="0">
                <a:latin typeface="Roboto Lt"/>
                <a:cs typeface="Roboto Lt"/>
              </a:rPr>
              <a:t>be</a:t>
            </a:r>
            <a:r>
              <a:rPr sz="1300" b="0" spc="-25" dirty="0">
                <a:latin typeface="Roboto Lt"/>
                <a:cs typeface="Roboto Lt"/>
              </a:rPr>
              <a:t> </a:t>
            </a:r>
            <a:r>
              <a:rPr sz="1300" b="0" spc="-30" dirty="0">
                <a:latin typeface="Roboto Lt"/>
                <a:cs typeface="Roboto Lt"/>
              </a:rPr>
              <a:t>hard</a:t>
            </a:r>
            <a:r>
              <a:rPr sz="1300" b="0" spc="-20" dirty="0">
                <a:latin typeface="Roboto Lt"/>
                <a:cs typeface="Roboto Lt"/>
              </a:rPr>
              <a:t> </a:t>
            </a:r>
            <a:r>
              <a:rPr sz="1300" b="0" spc="-30" dirty="0">
                <a:latin typeface="Roboto Lt"/>
                <a:cs typeface="Roboto Lt"/>
              </a:rPr>
              <a:t>to</a:t>
            </a:r>
            <a:r>
              <a:rPr sz="1300" b="0" spc="-25" dirty="0">
                <a:latin typeface="Roboto Lt"/>
                <a:cs typeface="Roboto Lt"/>
              </a:rPr>
              <a:t> </a:t>
            </a:r>
            <a:r>
              <a:rPr sz="1300" b="0" spc="-30" dirty="0">
                <a:latin typeface="Roboto Lt"/>
                <a:cs typeface="Roboto Lt"/>
              </a:rPr>
              <a:t>establish</a:t>
            </a:r>
            <a:r>
              <a:rPr sz="1300" b="0" spc="-20" dirty="0">
                <a:latin typeface="Roboto Lt"/>
                <a:cs typeface="Roboto Lt"/>
              </a:rPr>
              <a:t> </a:t>
            </a:r>
            <a:r>
              <a:rPr sz="1300" b="0" spc="-5" dirty="0">
                <a:latin typeface="Roboto Lt"/>
                <a:cs typeface="Roboto Lt"/>
              </a:rPr>
              <a:t>a</a:t>
            </a:r>
            <a:r>
              <a:rPr sz="1300" b="0" spc="-25" dirty="0">
                <a:latin typeface="Roboto Lt"/>
                <a:cs typeface="Roboto Lt"/>
              </a:rPr>
              <a:t> </a:t>
            </a:r>
            <a:r>
              <a:rPr sz="1300" b="0" spc="-30" dirty="0">
                <a:latin typeface="Roboto Lt"/>
                <a:cs typeface="Roboto Lt"/>
              </a:rPr>
              <a:t>solid </a:t>
            </a:r>
            <a:r>
              <a:rPr sz="1300" b="0" spc="-25" dirty="0">
                <a:latin typeface="Roboto Lt"/>
                <a:cs typeface="Roboto Lt"/>
              </a:rPr>
              <a:t> delivery </a:t>
            </a:r>
            <a:r>
              <a:rPr sz="1300" b="0" spc="-30" dirty="0">
                <a:latin typeface="Roboto Lt"/>
                <a:cs typeface="Roboto Lt"/>
              </a:rPr>
              <a:t>date,</a:t>
            </a:r>
            <a:r>
              <a:rPr sz="1300" b="0" spc="-20" dirty="0">
                <a:latin typeface="Roboto Lt"/>
                <a:cs typeface="Roboto Lt"/>
              </a:rPr>
              <a:t> </a:t>
            </a:r>
            <a:r>
              <a:rPr sz="1300" b="0" spc="-30" dirty="0">
                <a:latin typeface="Roboto Lt"/>
                <a:cs typeface="Roboto Lt"/>
              </a:rPr>
              <a:t>documentation</a:t>
            </a:r>
            <a:r>
              <a:rPr sz="1300" b="0" spc="-25" dirty="0">
                <a:latin typeface="Roboto Lt"/>
                <a:cs typeface="Roboto Lt"/>
              </a:rPr>
              <a:t> </a:t>
            </a:r>
            <a:r>
              <a:rPr sz="1300" b="0" spc="-20" dirty="0">
                <a:latin typeface="Roboto Lt"/>
                <a:cs typeface="Roboto Lt"/>
              </a:rPr>
              <a:t>can </a:t>
            </a:r>
            <a:r>
              <a:rPr sz="1300" b="0" spc="-15" dirty="0">
                <a:latin typeface="Roboto Lt"/>
                <a:cs typeface="Roboto Lt"/>
              </a:rPr>
              <a:t>be</a:t>
            </a:r>
            <a:r>
              <a:rPr sz="1300" b="0" spc="-20" dirty="0">
                <a:latin typeface="Roboto Lt"/>
                <a:cs typeface="Roboto Lt"/>
              </a:rPr>
              <a:t> </a:t>
            </a:r>
            <a:r>
              <a:rPr sz="1300" b="0" spc="-25" dirty="0">
                <a:latin typeface="Roboto Lt"/>
                <a:cs typeface="Roboto Lt"/>
              </a:rPr>
              <a:t>neglected, </a:t>
            </a:r>
            <a:r>
              <a:rPr sz="1300" b="0" spc="-15" dirty="0">
                <a:latin typeface="Roboto Lt"/>
                <a:cs typeface="Roboto Lt"/>
              </a:rPr>
              <a:t>or</a:t>
            </a:r>
            <a:r>
              <a:rPr sz="1300" b="0" spc="-20" dirty="0">
                <a:latin typeface="Roboto Lt"/>
                <a:cs typeface="Roboto Lt"/>
              </a:rPr>
              <a:t> </a:t>
            </a:r>
            <a:r>
              <a:rPr sz="1300" b="0" spc="-25" dirty="0">
                <a:latin typeface="Roboto Lt"/>
                <a:cs typeface="Roboto Lt"/>
              </a:rPr>
              <a:t>the final</a:t>
            </a:r>
            <a:r>
              <a:rPr sz="1300" b="0" spc="-20" dirty="0">
                <a:latin typeface="Roboto Lt"/>
                <a:cs typeface="Roboto Lt"/>
              </a:rPr>
              <a:t> </a:t>
            </a:r>
            <a:r>
              <a:rPr sz="1300" b="0" spc="-25" dirty="0">
                <a:latin typeface="Roboto Lt"/>
                <a:cs typeface="Roboto Lt"/>
              </a:rPr>
              <a:t>product</a:t>
            </a:r>
            <a:r>
              <a:rPr sz="1300" b="0" spc="-20" dirty="0">
                <a:latin typeface="Roboto Lt"/>
                <a:cs typeface="Roboto Lt"/>
              </a:rPr>
              <a:t> can</a:t>
            </a:r>
            <a:r>
              <a:rPr sz="1300" b="0" spc="-25" dirty="0">
                <a:latin typeface="Roboto Lt"/>
                <a:cs typeface="Roboto Lt"/>
              </a:rPr>
              <a:t> </a:t>
            </a:r>
            <a:r>
              <a:rPr sz="1300" b="0" spc="-15" dirty="0">
                <a:latin typeface="Roboto Lt"/>
                <a:cs typeface="Roboto Lt"/>
              </a:rPr>
              <a:t>be</a:t>
            </a:r>
            <a:r>
              <a:rPr sz="1300" b="0" spc="-20" dirty="0">
                <a:latin typeface="Roboto Lt"/>
                <a:cs typeface="Roboto Lt"/>
              </a:rPr>
              <a:t> very</a:t>
            </a:r>
            <a:r>
              <a:rPr sz="1300" b="0" spc="-25" dirty="0">
                <a:latin typeface="Roboto Lt"/>
                <a:cs typeface="Roboto Lt"/>
              </a:rPr>
              <a:t> different</a:t>
            </a:r>
            <a:r>
              <a:rPr sz="1300" b="0" spc="-20" dirty="0">
                <a:latin typeface="Roboto Lt"/>
                <a:cs typeface="Roboto Lt"/>
              </a:rPr>
              <a:t> </a:t>
            </a:r>
            <a:r>
              <a:rPr sz="1300" b="0" spc="-30" dirty="0">
                <a:latin typeface="Roboto Lt"/>
                <a:cs typeface="Roboto Lt"/>
              </a:rPr>
              <a:t>than</a:t>
            </a:r>
            <a:r>
              <a:rPr sz="1300" b="0" spc="-20" dirty="0">
                <a:latin typeface="Roboto Lt"/>
                <a:cs typeface="Roboto Lt"/>
              </a:rPr>
              <a:t> </a:t>
            </a:r>
            <a:r>
              <a:rPr sz="1300" b="0" spc="-35" dirty="0">
                <a:latin typeface="Roboto Lt"/>
                <a:cs typeface="Roboto Lt"/>
              </a:rPr>
              <a:t>originally</a:t>
            </a:r>
            <a:r>
              <a:rPr sz="1300" b="0" spc="-25" dirty="0">
                <a:latin typeface="Roboto Lt"/>
                <a:cs typeface="Roboto Lt"/>
              </a:rPr>
              <a:t> </a:t>
            </a:r>
            <a:r>
              <a:rPr sz="1300" b="0" spc="-30" dirty="0">
                <a:latin typeface="Roboto Lt"/>
                <a:cs typeface="Roboto Lt"/>
              </a:rPr>
              <a:t>intended.</a:t>
            </a:r>
            <a:endParaRPr sz="1300">
              <a:latin typeface="Roboto Lt"/>
              <a:cs typeface="Roboto Lt"/>
            </a:endParaRPr>
          </a:p>
        </p:txBody>
      </p:sp>
      <p:sp>
        <p:nvSpPr>
          <p:cNvPr id="6" name="object 6"/>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11</a:t>
            </a:r>
            <a:endParaRPr spc="35" dirty="0"/>
          </a:p>
        </p:txBody>
      </p:sp>
      <p:sp>
        <p:nvSpPr>
          <p:cNvPr id="7" name="object 7"/>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a:t>
            </a:r>
            <a:r>
              <a:rPr lang="en-MY" spc="-40" dirty="0"/>
              <a:t>g</a:t>
            </a:r>
            <a:r>
              <a:rPr lang="en-MY" spc="-45" dirty="0"/>
              <a:t>i</a:t>
            </a:r>
            <a:r>
              <a:rPr lang="en-MY" spc="-35" dirty="0"/>
              <a:t>l</a:t>
            </a:r>
            <a:r>
              <a:rPr lang="en-MY" dirty="0"/>
              <a:t>e</a:t>
            </a:r>
            <a:r>
              <a:rPr lang="en-MY" spc="-60" dirty="0"/>
              <a:t> </a:t>
            </a:r>
            <a:r>
              <a:rPr lang="en-MY" spc="-35" dirty="0"/>
              <a:t>Methodology</a:t>
            </a:r>
            <a:endParaRPr dirty="0"/>
          </a:p>
        </p:txBody>
      </p:sp>
      <p:sp>
        <p:nvSpPr>
          <p:cNvPr id="4" name="object 4"/>
          <p:cNvSpPr txBox="1"/>
          <p:nvPr/>
        </p:nvSpPr>
        <p:spPr>
          <a:xfrm>
            <a:off x="526366" y="2276589"/>
            <a:ext cx="3677285" cy="2548255"/>
          </a:xfrm>
          <a:prstGeom prst="rect">
            <a:avLst/>
          </a:prstGeom>
        </p:spPr>
        <p:txBody>
          <a:bodyPr vert="horz" wrap="square" lIns="0" tIns="47625" rIns="0" bIns="0" rtlCol="0">
            <a:spAutoFit/>
          </a:bodyPr>
          <a:lstStyle/>
          <a:p>
            <a:pPr marL="266065" indent="-254000">
              <a:lnSpc>
                <a:spcPct val="100000"/>
              </a:lnSpc>
              <a:spcBef>
                <a:spcPts val="375"/>
              </a:spcBef>
              <a:buChar char="–"/>
              <a:tabLst>
                <a:tab pos="266065" algn="l"/>
                <a:tab pos="266700" algn="l"/>
              </a:tabLst>
            </a:pPr>
            <a:r>
              <a:rPr sz="1700" b="1" spc="-160" dirty="0">
                <a:solidFill>
                  <a:srgbClr val="002F59"/>
                </a:solidFill>
                <a:latin typeface="Arial"/>
                <a:cs typeface="Arial"/>
              </a:rPr>
              <a:t>P</a:t>
            </a:r>
            <a:r>
              <a:rPr sz="1700" b="1" spc="-15" dirty="0">
                <a:solidFill>
                  <a:srgbClr val="002F59"/>
                </a:solidFill>
                <a:latin typeface="Arial"/>
                <a:cs typeface="Arial"/>
              </a:rPr>
              <a:t>l</a:t>
            </a:r>
            <a:r>
              <a:rPr sz="1700" b="1" spc="25" dirty="0">
                <a:solidFill>
                  <a:srgbClr val="002F59"/>
                </a:solidFill>
                <a:latin typeface="Arial"/>
                <a:cs typeface="Arial"/>
              </a:rPr>
              <a:t>a</a:t>
            </a:r>
            <a:r>
              <a:rPr sz="1700" b="1" spc="15" dirty="0">
                <a:solidFill>
                  <a:srgbClr val="002F59"/>
                </a:solidFill>
                <a:latin typeface="Arial"/>
                <a:cs typeface="Arial"/>
              </a:rPr>
              <a:t>n</a:t>
            </a:r>
            <a:r>
              <a:rPr sz="1700" b="1" spc="10" dirty="0">
                <a:solidFill>
                  <a:srgbClr val="002F59"/>
                </a:solidFill>
                <a:latin typeface="Arial"/>
                <a:cs typeface="Arial"/>
              </a:rPr>
              <a:t>n</a:t>
            </a:r>
            <a:r>
              <a:rPr sz="1700" b="1" spc="-35" dirty="0">
                <a:solidFill>
                  <a:srgbClr val="002F59"/>
                </a:solidFill>
                <a:latin typeface="Arial"/>
                <a:cs typeface="Arial"/>
              </a:rPr>
              <a:t>i</a:t>
            </a:r>
            <a:r>
              <a:rPr sz="1700" b="1" spc="25" dirty="0">
                <a:solidFill>
                  <a:srgbClr val="002F59"/>
                </a:solidFill>
                <a:latin typeface="Arial"/>
                <a:cs typeface="Arial"/>
              </a:rPr>
              <a:t>n</a:t>
            </a:r>
            <a:r>
              <a:rPr sz="1700" b="1" spc="-10" dirty="0">
                <a:solidFill>
                  <a:srgbClr val="002F59"/>
                </a:solidFill>
                <a:latin typeface="Arial"/>
                <a:cs typeface="Arial"/>
              </a:rPr>
              <a:t>g</a:t>
            </a:r>
            <a:r>
              <a:rPr sz="1700" b="1" spc="-204" dirty="0">
                <a:solidFill>
                  <a:srgbClr val="002F59"/>
                </a:solidFill>
                <a:latin typeface="Arial"/>
                <a:cs typeface="Arial"/>
              </a:rPr>
              <a:t> </a:t>
            </a:r>
            <a:r>
              <a:rPr sz="1700" b="1" spc="-114" dirty="0">
                <a:solidFill>
                  <a:srgbClr val="002F59"/>
                </a:solidFill>
                <a:latin typeface="Arial"/>
                <a:cs typeface="Arial"/>
              </a:rPr>
              <a:t>c</a:t>
            </a:r>
            <a:r>
              <a:rPr sz="1700" b="1" spc="25" dirty="0">
                <a:solidFill>
                  <a:srgbClr val="002F59"/>
                </a:solidFill>
                <a:latin typeface="Arial"/>
                <a:cs typeface="Arial"/>
              </a:rPr>
              <a:t>a</a:t>
            </a:r>
            <a:r>
              <a:rPr sz="1700" b="1" spc="100" dirty="0">
                <a:solidFill>
                  <a:srgbClr val="002F59"/>
                </a:solidFill>
                <a:latin typeface="Arial"/>
                <a:cs typeface="Arial"/>
              </a:rPr>
              <a:t>n</a:t>
            </a:r>
            <a:r>
              <a:rPr sz="1700" b="1" spc="-200" dirty="0">
                <a:solidFill>
                  <a:srgbClr val="002F59"/>
                </a:solidFill>
                <a:latin typeface="Arial"/>
                <a:cs typeface="Arial"/>
              </a:rPr>
              <a:t> </a:t>
            </a:r>
            <a:r>
              <a:rPr sz="1700" b="1" spc="-35" dirty="0">
                <a:solidFill>
                  <a:srgbClr val="002F59"/>
                </a:solidFill>
                <a:latin typeface="Arial"/>
                <a:cs typeface="Arial"/>
              </a:rPr>
              <a:t>b</a:t>
            </a:r>
            <a:r>
              <a:rPr sz="1700" b="1" spc="105" dirty="0">
                <a:solidFill>
                  <a:srgbClr val="002F59"/>
                </a:solidFill>
                <a:latin typeface="Arial"/>
                <a:cs typeface="Arial"/>
              </a:rPr>
              <a:t>e</a:t>
            </a:r>
            <a:r>
              <a:rPr sz="1700" b="1" spc="-204" dirty="0">
                <a:solidFill>
                  <a:srgbClr val="002F59"/>
                </a:solidFill>
                <a:latin typeface="Arial"/>
                <a:cs typeface="Arial"/>
              </a:rPr>
              <a:t> </a:t>
            </a:r>
            <a:r>
              <a:rPr sz="1700" b="1" spc="-30" dirty="0">
                <a:solidFill>
                  <a:srgbClr val="002F59"/>
                </a:solidFill>
                <a:latin typeface="Arial"/>
                <a:cs typeface="Arial"/>
              </a:rPr>
              <a:t>l</a:t>
            </a:r>
            <a:r>
              <a:rPr sz="1700" b="1" spc="25" dirty="0">
                <a:solidFill>
                  <a:srgbClr val="002F59"/>
                </a:solidFill>
                <a:latin typeface="Arial"/>
                <a:cs typeface="Arial"/>
              </a:rPr>
              <a:t>e</a:t>
            </a:r>
            <a:r>
              <a:rPr sz="1700" b="1" spc="-130" dirty="0">
                <a:solidFill>
                  <a:srgbClr val="002F59"/>
                </a:solidFill>
                <a:latin typeface="Arial"/>
                <a:cs typeface="Arial"/>
              </a:rPr>
              <a:t>s</a:t>
            </a:r>
            <a:r>
              <a:rPr sz="1700" b="1" spc="-40" dirty="0">
                <a:solidFill>
                  <a:srgbClr val="002F59"/>
                </a:solidFill>
                <a:latin typeface="Arial"/>
                <a:cs typeface="Arial"/>
              </a:rPr>
              <a:t>s</a:t>
            </a:r>
            <a:r>
              <a:rPr sz="1700" b="1" spc="-204" dirty="0">
                <a:solidFill>
                  <a:srgbClr val="002F59"/>
                </a:solidFill>
                <a:latin typeface="Arial"/>
                <a:cs typeface="Arial"/>
              </a:rPr>
              <a:t> </a:t>
            </a:r>
            <a:r>
              <a:rPr sz="1700" b="1" spc="-120" dirty="0">
                <a:solidFill>
                  <a:srgbClr val="002F59"/>
                </a:solidFill>
                <a:latin typeface="Arial"/>
                <a:cs typeface="Arial"/>
              </a:rPr>
              <a:t>c</a:t>
            </a:r>
            <a:r>
              <a:rPr sz="1700" b="1" spc="-20" dirty="0">
                <a:solidFill>
                  <a:srgbClr val="002F59"/>
                </a:solidFill>
                <a:latin typeface="Arial"/>
                <a:cs typeface="Arial"/>
              </a:rPr>
              <a:t>on</a:t>
            </a:r>
            <a:r>
              <a:rPr sz="1700" b="1" spc="-110" dirty="0">
                <a:solidFill>
                  <a:srgbClr val="002F59"/>
                </a:solidFill>
                <a:latin typeface="Arial"/>
                <a:cs typeface="Arial"/>
              </a:rPr>
              <a:t>c</a:t>
            </a:r>
            <a:r>
              <a:rPr sz="1700" b="1" spc="50" dirty="0">
                <a:solidFill>
                  <a:srgbClr val="002F59"/>
                </a:solidFill>
                <a:latin typeface="Arial"/>
                <a:cs typeface="Arial"/>
              </a:rPr>
              <a:t>r</a:t>
            </a:r>
            <a:r>
              <a:rPr sz="1700" b="1" spc="20" dirty="0">
                <a:solidFill>
                  <a:srgbClr val="002F59"/>
                </a:solidFill>
                <a:latin typeface="Arial"/>
                <a:cs typeface="Arial"/>
              </a:rPr>
              <a:t>e</a:t>
            </a:r>
            <a:r>
              <a:rPr sz="1700" b="1" spc="75" dirty="0">
                <a:solidFill>
                  <a:srgbClr val="002F59"/>
                </a:solidFill>
                <a:latin typeface="Arial"/>
                <a:cs typeface="Arial"/>
              </a:rPr>
              <a:t>te</a:t>
            </a:r>
            <a:endParaRPr sz="1700">
              <a:latin typeface="Arial"/>
              <a:cs typeface="Arial"/>
            </a:endParaRPr>
          </a:p>
          <a:p>
            <a:pPr marL="266700" marR="50165" indent="-635">
              <a:lnSpc>
                <a:spcPts val="1700"/>
              </a:lnSpc>
            </a:pPr>
            <a:r>
              <a:rPr sz="1150" spc="-10" dirty="0">
                <a:solidFill>
                  <a:srgbClr val="333333"/>
                </a:solidFill>
                <a:latin typeface="Roboto Lt"/>
                <a:cs typeface="Roboto Lt"/>
              </a:rPr>
              <a:t>Because </a:t>
            </a:r>
            <a:r>
              <a:rPr sz="1150" spc="-15" dirty="0">
                <a:solidFill>
                  <a:srgbClr val="333333"/>
                </a:solidFill>
                <a:latin typeface="Roboto Lt"/>
                <a:cs typeface="Roboto Lt"/>
              </a:rPr>
              <a:t>project managers are </a:t>
            </a:r>
            <a:r>
              <a:rPr sz="1150" spc="-10" dirty="0">
                <a:solidFill>
                  <a:srgbClr val="333333"/>
                </a:solidFill>
                <a:latin typeface="Roboto Lt"/>
                <a:cs typeface="Roboto Lt"/>
              </a:rPr>
              <a:t>often </a:t>
            </a:r>
            <a:r>
              <a:rPr sz="1150" spc="-20" dirty="0">
                <a:solidFill>
                  <a:srgbClr val="333333"/>
                </a:solidFill>
                <a:latin typeface="Roboto Lt"/>
                <a:cs typeface="Roboto Lt"/>
              </a:rPr>
              <a:t>reprioritizing </a:t>
            </a:r>
            <a:r>
              <a:rPr sz="1150" spc="-15" dirty="0">
                <a:solidFill>
                  <a:srgbClr val="333333"/>
                </a:solidFill>
                <a:latin typeface="Roboto Lt"/>
                <a:cs typeface="Roboto Lt"/>
              </a:rPr>
              <a:t> tasks, </a:t>
            </a:r>
            <a:r>
              <a:rPr sz="1150" spc="-30" dirty="0">
                <a:solidFill>
                  <a:srgbClr val="333333"/>
                </a:solidFill>
                <a:latin typeface="Roboto Lt"/>
                <a:cs typeface="Roboto Lt"/>
              </a:rPr>
              <a:t>it’s </a:t>
            </a:r>
            <a:r>
              <a:rPr sz="1150" spc="-15" dirty="0">
                <a:solidFill>
                  <a:srgbClr val="333333"/>
                </a:solidFill>
                <a:latin typeface="Roboto Lt"/>
                <a:cs typeface="Roboto Lt"/>
              </a:rPr>
              <a:t>possible </a:t>
            </a:r>
            <a:r>
              <a:rPr sz="1150" spc="-5" dirty="0">
                <a:solidFill>
                  <a:srgbClr val="333333"/>
                </a:solidFill>
                <a:latin typeface="Roboto Lt"/>
                <a:cs typeface="Roboto Lt"/>
              </a:rPr>
              <a:t>some </a:t>
            </a:r>
            <a:r>
              <a:rPr sz="1150" spc="-15" dirty="0">
                <a:solidFill>
                  <a:srgbClr val="333333"/>
                </a:solidFill>
                <a:latin typeface="Roboto Lt"/>
                <a:cs typeface="Roboto Lt"/>
              </a:rPr>
              <a:t>items </a:t>
            </a:r>
            <a:r>
              <a:rPr sz="1150" spc="-10" dirty="0">
                <a:solidFill>
                  <a:srgbClr val="333333"/>
                </a:solidFill>
                <a:latin typeface="Roboto Lt"/>
                <a:cs typeface="Roboto Lt"/>
              </a:rPr>
              <a:t>scheduled for </a:t>
            </a:r>
            <a:r>
              <a:rPr sz="1150" spc="-15" dirty="0">
                <a:solidFill>
                  <a:srgbClr val="333333"/>
                </a:solidFill>
                <a:latin typeface="Roboto Lt"/>
                <a:cs typeface="Roboto Lt"/>
              </a:rPr>
              <a:t>delivery </a:t>
            </a:r>
            <a:r>
              <a:rPr sz="1150" spc="-10" dirty="0">
                <a:solidFill>
                  <a:srgbClr val="333333"/>
                </a:solidFill>
                <a:latin typeface="Roboto Lt"/>
                <a:cs typeface="Roboto Lt"/>
              </a:rPr>
              <a:t> </a:t>
            </a:r>
            <a:r>
              <a:rPr sz="1150" spc="-15" dirty="0">
                <a:solidFill>
                  <a:srgbClr val="333333"/>
                </a:solidFill>
                <a:latin typeface="Roboto Lt"/>
                <a:cs typeface="Roboto Lt"/>
              </a:rPr>
              <a:t>may not </a:t>
            </a:r>
            <a:r>
              <a:rPr sz="1150" dirty="0">
                <a:solidFill>
                  <a:srgbClr val="333333"/>
                </a:solidFill>
                <a:latin typeface="Roboto Lt"/>
                <a:cs typeface="Roboto Lt"/>
              </a:rPr>
              <a:t>be </a:t>
            </a:r>
            <a:r>
              <a:rPr sz="1150" spc="-15" dirty="0">
                <a:solidFill>
                  <a:srgbClr val="333333"/>
                </a:solidFill>
                <a:latin typeface="Roboto Lt"/>
                <a:cs typeface="Roboto Lt"/>
              </a:rPr>
              <a:t>complete in </a:t>
            </a:r>
            <a:r>
              <a:rPr sz="1150" spc="-10" dirty="0">
                <a:solidFill>
                  <a:srgbClr val="333333"/>
                </a:solidFill>
                <a:latin typeface="Roboto Lt"/>
                <a:cs typeface="Roboto Lt"/>
              </a:rPr>
              <a:t>time. </a:t>
            </a:r>
            <a:r>
              <a:rPr sz="1150" dirty="0">
                <a:solidFill>
                  <a:srgbClr val="333333"/>
                </a:solidFill>
                <a:latin typeface="Roboto Lt"/>
                <a:cs typeface="Roboto Lt"/>
              </a:rPr>
              <a:t>And, </a:t>
            </a:r>
            <a:r>
              <a:rPr sz="1150" spc="-15" dirty="0">
                <a:solidFill>
                  <a:srgbClr val="333333"/>
                </a:solidFill>
                <a:latin typeface="Roboto Lt"/>
                <a:cs typeface="Roboto Lt"/>
              </a:rPr>
              <a:t>additional </a:t>
            </a:r>
            <a:r>
              <a:rPr sz="1150" spc="-20" dirty="0">
                <a:solidFill>
                  <a:srgbClr val="333333"/>
                </a:solidFill>
                <a:latin typeface="Roboto Lt"/>
                <a:cs typeface="Roboto Lt"/>
              </a:rPr>
              <a:t>sprints </a:t>
            </a:r>
            <a:r>
              <a:rPr sz="1150" spc="-15" dirty="0">
                <a:solidFill>
                  <a:srgbClr val="333333"/>
                </a:solidFill>
                <a:latin typeface="Roboto Lt"/>
                <a:cs typeface="Roboto Lt"/>
              </a:rPr>
              <a:t> may </a:t>
            </a:r>
            <a:r>
              <a:rPr sz="1150" dirty="0">
                <a:solidFill>
                  <a:srgbClr val="333333"/>
                </a:solidFill>
                <a:latin typeface="Roboto Lt"/>
                <a:cs typeface="Roboto Lt"/>
              </a:rPr>
              <a:t>be </a:t>
            </a:r>
            <a:r>
              <a:rPr sz="1150" spc="-10" dirty="0">
                <a:solidFill>
                  <a:srgbClr val="333333"/>
                </a:solidFill>
                <a:latin typeface="Roboto Lt"/>
                <a:cs typeface="Roboto Lt"/>
              </a:rPr>
              <a:t>added at </a:t>
            </a:r>
            <a:r>
              <a:rPr sz="1150" spc="-20" dirty="0">
                <a:solidFill>
                  <a:srgbClr val="333333"/>
                </a:solidFill>
                <a:latin typeface="Roboto Lt"/>
                <a:cs typeface="Roboto Lt"/>
              </a:rPr>
              <a:t>any </a:t>
            </a:r>
            <a:r>
              <a:rPr sz="1150" spc="-10" dirty="0">
                <a:solidFill>
                  <a:srgbClr val="333333"/>
                </a:solidFill>
                <a:latin typeface="Roboto Lt"/>
                <a:cs typeface="Roboto Lt"/>
              </a:rPr>
              <a:t>time </a:t>
            </a:r>
            <a:r>
              <a:rPr sz="1150" spc="-15" dirty="0">
                <a:solidFill>
                  <a:srgbClr val="333333"/>
                </a:solidFill>
                <a:latin typeface="Roboto Lt"/>
                <a:cs typeface="Roboto Lt"/>
              </a:rPr>
              <a:t>in </a:t>
            </a:r>
            <a:r>
              <a:rPr sz="1150" spc="-10" dirty="0">
                <a:solidFill>
                  <a:srgbClr val="333333"/>
                </a:solidFill>
                <a:latin typeface="Roboto Lt"/>
                <a:cs typeface="Roboto Lt"/>
              </a:rPr>
              <a:t>the </a:t>
            </a:r>
            <a:r>
              <a:rPr sz="1150" spc="-15" dirty="0">
                <a:solidFill>
                  <a:srgbClr val="333333"/>
                </a:solidFill>
                <a:latin typeface="Roboto Lt"/>
                <a:cs typeface="Roboto Lt"/>
              </a:rPr>
              <a:t>project, adding to </a:t>
            </a:r>
            <a:r>
              <a:rPr sz="1150" spc="-10" dirty="0">
                <a:solidFill>
                  <a:srgbClr val="333333"/>
                </a:solidFill>
                <a:latin typeface="Roboto Lt"/>
                <a:cs typeface="Roboto Lt"/>
              </a:rPr>
              <a:t>the </a:t>
            </a:r>
            <a:r>
              <a:rPr sz="1150" spc="-265" dirty="0">
                <a:solidFill>
                  <a:srgbClr val="333333"/>
                </a:solidFill>
                <a:latin typeface="Roboto Lt"/>
                <a:cs typeface="Roboto Lt"/>
              </a:rPr>
              <a:t> </a:t>
            </a:r>
            <a:r>
              <a:rPr sz="1150" spc="-20" dirty="0">
                <a:solidFill>
                  <a:srgbClr val="333333"/>
                </a:solidFill>
                <a:latin typeface="Roboto Lt"/>
                <a:cs typeface="Roboto Lt"/>
              </a:rPr>
              <a:t>overall</a:t>
            </a:r>
            <a:r>
              <a:rPr sz="1150" spc="-25" dirty="0">
                <a:solidFill>
                  <a:srgbClr val="333333"/>
                </a:solidFill>
                <a:latin typeface="Roboto Lt"/>
                <a:cs typeface="Roboto Lt"/>
              </a:rPr>
              <a:t> </a:t>
            </a:r>
            <a:r>
              <a:rPr sz="1150" spc="-15" dirty="0">
                <a:solidFill>
                  <a:srgbClr val="333333"/>
                </a:solidFill>
                <a:latin typeface="Roboto Lt"/>
                <a:cs typeface="Roboto Lt"/>
              </a:rPr>
              <a:t>timeline.</a:t>
            </a:r>
            <a:endParaRPr sz="1150">
              <a:latin typeface="Roboto Lt"/>
              <a:cs typeface="Roboto Lt"/>
            </a:endParaRPr>
          </a:p>
          <a:p>
            <a:pPr>
              <a:lnSpc>
                <a:spcPct val="100000"/>
              </a:lnSpc>
              <a:spcBef>
                <a:spcPts val="30"/>
              </a:spcBef>
            </a:pPr>
            <a:endParaRPr sz="1650">
              <a:latin typeface="Roboto Lt"/>
              <a:cs typeface="Roboto Lt"/>
            </a:endParaRPr>
          </a:p>
          <a:p>
            <a:pPr marL="266065" indent="-254000">
              <a:lnSpc>
                <a:spcPct val="100000"/>
              </a:lnSpc>
              <a:buChar char="–"/>
              <a:tabLst>
                <a:tab pos="266065" algn="l"/>
                <a:tab pos="266700" algn="l"/>
              </a:tabLst>
            </a:pPr>
            <a:r>
              <a:rPr sz="1700" b="1" spc="-204" dirty="0">
                <a:solidFill>
                  <a:srgbClr val="002F59"/>
                </a:solidFill>
                <a:latin typeface="Arial"/>
                <a:cs typeface="Arial"/>
              </a:rPr>
              <a:t>T</a:t>
            </a:r>
            <a:r>
              <a:rPr sz="1700" b="1" spc="15" dirty="0">
                <a:solidFill>
                  <a:srgbClr val="002F59"/>
                </a:solidFill>
                <a:latin typeface="Arial"/>
                <a:cs typeface="Arial"/>
              </a:rPr>
              <a:t>e</a:t>
            </a:r>
            <a:r>
              <a:rPr sz="1700" b="1" spc="20" dirty="0">
                <a:solidFill>
                  <a:srgbClr val="002F59"/>
                </a:solidFill>
                <a:latin typeface="Arial"/>
                <a:cs typeface="Arial"/>
              </a:rPr>
              <a:t>a</a:t>
            </a:r>
            <a:r>
              <a:rPr sz="1700" b="1" spc="185" dirty="0">
                <a:solidFill>
                  <a:srgbClr val="002F59"/>
                </a:solidFill>
                <a:latin typeface="Arial"/>
                <a:cs typeface="Arial"/>
              </a:rPr>
              <a:t>m</a:t>
            </a:r>
            <a:r>
              <a:rPr sz="1700" b="1" spc="-204" dirty="0">
                <a:solidFill>
                  <a:srgbClr val="002F59"/>
                </a:solidFill>
                <a:latin typeface="Arial"/>
                <a:cs typeface="Arial"/>
              </a:rPr>
              <a:t> </a:t>
            </a:r>
            <a:r>
              <a:rPr sz="1700" b="1" spc="95" dirty="0">
                <a:solidFill>
                  <a:srgbClr val="002F59"/>
                </a:solidFill>
                <a:latin typeface="Arial"/>
                <a:cs typeface="Arial"/>
              </a:rPr>
              <a:t>m</a:t>
            </a:r>
            <a:r>
              <a:rPr sz="1700" b="1" spc="-55" dirty="0">
                <a:solidFill>
                  <a:srgbClr val="002F59"/>
                </a:solidFill>
                <a:latin typeface="Arial"/>
                <a:cs typeface="Arial"/>
              </a:rPr>
              <a:t>us</a:t>
            </a:r>
            <a:r>
              <a:rPr sz="1700" b="1" spc="215" dirty="0">
                <a:solidFill>
                  <a:srgbClr val="002F59"/>
                </a:solidFill>
                <a:latin typeface="Arial"/>
                <a:cs typeface="Arial"/>
              </a:rPr>
              <a:t>t</a:t>
            </a:r>
            <a:r>
              <a:rPr sz="1700" b="1" spc="-204" dirty="0">
                <a:solidFill>
                  <a:srgbClr val="002F59"/>
                </a:solidFill>
                <a:latin typeface="Arial"/>
                <a:cs typeface="Arial"/>
              </a:rPr>
              <a:t> </a:t>
            </a:r>
            <a:r>
              <a:rPr sz="1700" b="1" spc="-35" dirty="0">
                <a:solidFill>
                  <a:srgbClr val="002F59"/>
                </a:solidFill>
                <a:latin typeface="Arial"/>
                <a:cs typeface="Arial"/>
              </a:rPr>
              <a:t>b</a:t>
            </a:r>
            <a:r>
              <a:rPr sz="1700" b="1" spc="105" dirty="0">
                <a:solidFill>
                  <a:srgbClr val="002F59"/>
                </a:solidFill>
                <a:latin typeface="Arial"/>
                <a:cs typeface="Arial"/>
              </a:rPr>
              <a:t>e</a:t>
            </a:r>
            <a:r>
              <a:rPr sz="1700" b="1" spc="-204" dirty="0">
                <a:solidFill>
                  <a:srgbClr val="002F59"/>
                </a:solidFill>
                <a:latin typeface="Arial"/>
                <a:cs typeface="Arial"/>
              </a:rPr>
              <a:t> </a:t>
            </a:r>
            <a:r>
              <a:rPr sz="1700" b="1" spc="100" dirty="0">
                <a:solidFill>
                  <a:srgbClr val="002F59"/>
                </a:solidFill>
                <a:latin typeface="Arial"/>
                <a:cs typeface="Arial"/>
              </a:rPr>
              <a:t>k</a:t>
            </a:r>
            <a:r>
              <a:rPr sz="1700" b="1" spc="10" dirty="0">
                <a:solidFill>
                  <a:srgbClr val="002F59"/>
                </a:solidFill>
                <a:latin typeface="Arial"/>
                <a:cs typeface="Arial"/>
              </a:rPr>
              <a:t>n</a:t>
            </a:r>
            <a:r>
              <a:rPr sz="1700" b="1" spc="-70" dirty="0">
                <a:solidFill>
                  <a:srgbClr val="002F59"/>
                </a:solidFill>
                <a:latin typeface="Arial"/>
                <a:cs typeface="Arial"/>
              </a:rPr>
              <a:t>o</a:t>
            </a:r>
            <a:r>
              <a:rPr sz="1700" b="1" spc="140" dirty="0">
                <a:solidFill>
                  <a:srgbClr val="002F59"/>
                </a:solidFill>
                <a:latin typeface="Arial"/>
                <a:cs typeface="Arial"/>
              </a:rPr>
              <a:t>w</a:t>
            </a:r>
            <a:r>
              <a:rPr sz="1700" b="1" spc="-30" dirty="0">
                <a:solidFill>
                  <a:srgbClr val="002F59"/>
                </a:solidFill>
                <a:latin typeface="Arial"/>
                <a:cs typeface="Arial"/>
              </a:rPr>
              <a:t>l</a:t>
            </a:r>
            <a:r>
              <a:rPr sz="1700" b="1" spc="40" dirty="0">
                <a:solidFill>
                  <a:srgbClr val="002F59"/>
                </a:solidFill>
                <a:latin typeface="Arial"/>
                <a:cs typeface="Arial"/>
              </a:rPr>
              <a:t>e</a:t>
            </a:r>
            <a:r>
              <a:rPr sz="1700" b="1" spc="-40" dirty="0">
                <a:solidFill>
                  <a:srgbClr val="002F59"/>
                </a:solidFill>
                <a:latin typeface="Arial"/>
                <a:cs typeface="Arial"/>
              </a:rPr>
              <a:t>d</a:t>
            </a:r>
            <a:r>
              <a:rPr sz="1700" b="1" spc="-110" dirty="0">
                <a:solidFill>
                  <a:srgbClr val="002F59"/>
                </a:solidFill>
                <a:latin typeface="Arial"/>
                <a:cs typeface="Arial"/>
              </a:rPr>
              <a:t>g</a:t>
            </a:r>
            <a:r>
              <a:rPr sz="1700" b="1" spc="15" dirty="0">
                <a:solidFill>
                  <a:srgbClr val="002F59"/>
                </a:solidFill>
                <a:latin typeface="Arial"/>
                <a:cs typeface="Arial"/>
              </a:rPr>
              <a:t>e</a:t>
            </a:r>
            <a:r>
              <a:rPr sz="1700" b="1" spc="20" dirty="0">
                <a:solidFill>
                  <a:srgbClr val="002F59"/>
                </a:solidFill>
                <a:latin typeface="Arial"/>
                <a:cs typeface="Arial"/>
              </a:rPr>
              <a:t>a</a:t>
            </a:r>
            <a:r>
              <a:rPr sz="1700" b="1" spc="-30" dirty="0">
                <a:solidFill>
                  <a:srgbClr val="002F59"/>
                </a:solidFill>
                <a:latin typeface="Arial"/>
                <a:cs typeface="Arial"/>
              </a:rPr>
              <a:t>b</a:t>
            </a:r>
            <a:r>
              <a:rPr sz="1700" b="1" dirty="0">
                <a:solidFill>
                  <a:srgbClr val="002F59"/>
                </a:solidFill>
                <a:latin typeface="Arial"/>
                <a:cs typeface="Arial"/>
              </a:rPr>
              <a:t>le</a:t>
            </a:r>
            <a:endParaRPr sz="1700">
              <a:latin typeface="Arial"/>
              <a:cs typeface="Arial"/>
            </a:endParaRPr>
          </a:p>
          <a:p>
            <a:pPr marL="266700" marR="5080" indent="-635">
              <a:lnSpc>
                <a:spcPts val="1700"/>
              </a:lnSpc>
            </a:pPr>
            <a:r>
              <a:rPr sz="1150" spc="-15" dirty="0">
                <a:solidFill>
                  <a:srgbClr val="333333"/>
                </a:solidFill>
                <a:latin typeface="Roboto Lt"/>
                <a:cs typeface="Roboto Lt"/>
              </a:rPr>
              <a:t>Agile teams are </a:t>
            </a:r>
            <a:r>
              <a:rPr sz="1150" spc="-20" dirty="0">
                <a:solidFill>
                  <a:srgbClr val="333333"/>
                </a:solidFill>
                <a:latin typeface="Roboto Lt"/>
                <a:cs typeface="Roboto Lt"/>
              </a:rPr>
              <a:t>usually </a:t>
            </a:r>
            <a:r>
              <a:rPr sz="1150" spc="-15" dirty="0">
                <a:solidFill>
                  <a:srgbClr val="333333"/>
                </a:solidFill>
                <a:latin typeface="Roboto Lt"/>
                <a:cs typeface="Roboto Lt"/>
              </a:rPr>
              <a:t>small, </a:t>
            </a:r>
            <a:r>
              <a:rPr sz="1150" spc="-5" dirty="0">
                <a:solidFill>
                  <a:srgbClr val="333333"/>
                </a:solidFill>
                <a:latin typeface="Roboto Lt"/>
                <a:cs typeface="Roboto Lt"/>
              </a:rPr>
              <a:t>so </a:t>
            </a:r>
            <a:r>
              <a:rPr sz="1150" spc="-15" dirty="0">
                <a:solidFill>
                  <a:srgbClr val="333333"/>
                </a:solidFill>
                <a:latin typeface="Roboto Lt"/>
                <a:cs typeface="Roboto Lt"/>
              </a:rPr>
              <a:t>team </a:t>
            </a:r>
            <a:r>
              <a:rPr sz="1150" spc="-5" dirty="0">
                <a:solidFill>
                  <a:srgbClr val="333333"/>
                </a:solidFill>
                <a:latin typeface="Roboto Lt"/>
                <a:cs typeface="Roboto Lt"/>
              </a:rPr>
              <a:t>members </a:t>
            </a:r>
            <a:r>
              <a:rPr sz="1150" spc="-10" dirty="0">
                <a:solidFill>
                  <a:srgbClr val="333333"/>
                </a:solidFill>
                <a:latin typeface="Roboto Lt"/>
                <a:cs typeface="Roboto Lt"/>
              </a:rPr>
              <a:t>must </a:t>
            </a:r>
            <a:r>
              <a:rPr sz="1150" spc="-265" dirty="0">
                <a:solidFill>
                  <a:srgbClr val="333333"/>
                </a:solidFill>
                <a:latin typeface="Roboto Lt"/>
                <a:cs typeface="Roboto Lt"/>
              </a:rPr>
              <a:t> </a:t>
            </a:r>
            <a:r>
              <a:rPr sz="1150" dirty="0">
                <a:solidFill>
                  <a:srgbClr val="333333"/>
                </a:solidFill>
                <a:latin typeface="Roboto Lt"/>
                <a:cs typeface="Roboto Lt"/>
              </a:rPr>
              <a:t>be </a:t>
            </a:r>
            <a:r>
              <a:rPr sz="1150" spc="-20" dirty="0">
                <a:solidFill>
                  <a:srgbClr val="333333"/>
                </a:solidFill>
                <a:latin typeface="Roboto Lt"/>
                <a:cs typeface="Roboto Lt"/>
              </a:rPr>
              <a:t>highly </a:t>
            </a:r>
            <a:r>
              <a:rPr sz="1150" spc="-15" dirty="0">
                <a:solidFill>
                  <a:srgbClr val="333333"/>
                </a:solidFill>
                <a:latin typeface="Roboto Lt"/>
                <a:cs typeface="Roboto Lt"/>
              </a:rPr>
              <a:t>skilled in </a:t>
            </a:r>
            <a:r>
              <a:rPr sz="1150" spc="5" dirty="0">
                <a:solidFill>
                  <a:srgbClr val="333333"/>
                </a:solidFill>
                <a:latin typeface="Roboto Lt"/>
                <a:cs typeface="Roboto Lt"/>
              </a:rPr>
              <a:t>a </a:t>
            </a:r>
            <a:r>
              <a:rPr sz="1150" spc="-15" dirty="0">
                <a:solidFill>
                  <a:srgbClr val="333333"/>
                </a:solidFill>
                <a:latin typeface="Roboto Lt"/>
                <a:cs typeface="Roboto Lt"/>
              </a:rPr>
              <a:t>variety </a:t>
            </a:r>
            <a:r>
              <a:rPr sz="1150" spc="-5" dirty="0">
                <a:solidFill>
                  <a:srgbClr val="333333"/>
                </a:solidFill>
                <a:latin typeface="Roboto Lt"/>
                <a:cs typeface="Roboto Lt"/>
              </a:rPr>
              <a:t>of </a:t>
            </a:r>
            <a:r>
              <a:rPr sz="1150" spc="-15" dirty="0">
                <a:solidFill>
                  <a:srgbClr val="333333"/>
                </a:solidFill>
                <a:latin typeface="Roboto Lt"/>
                <a:cs typeface="Roboto Lt"/>
              </a:rPr>
              <a:t>areas </a:t>
            </a:r>
            <a:r>
              <a:rPr sz="1150" spc="-10" dirty="0">
                <a:solidFill>
                  <a:srgbClr val="333333"/>
                </a:solidFill>
                <a:latin typeface="Roboto Lt"/>
                <a:cs typeface="Roboto Lt"/>
              </a:rPr>
              <a:t>and </a:t>
            </a:r>
            <a:r>
              <a:rPr sz="1150" spc="-15" dirty="0">
                <a:solidFill>
                  <a:srgbClr val="333333"/>
                </a:solidFill>
                <a:latin typeface="Roboto Lt"/>
                <a:cs typeface="Roboto Lt"/>
              </a:rPr>
              <a:t>understand </a:t>
            </a:r>
            <a:r>
              <a:rPr sz="1150" spc="-10" dirty="0">
                <a:solidFill>
                  <a:srgbClr val="333333"/>
                </a:solidFill>
                <a:latin typeface="Roboto Lt"/>
                <a:cs typeface="Roboto Lt"/>
              </a:rPr>
              <a:t> </a:t>
            </a:r>
            <a:r>
              <a:rPr sz="1150" spc="-15" dirty="0">
                <a:solidFill>
                  <a:srgbClr val="333333"/>
                </a:solidFill>
                <a:latin typeface="Roboto Lt"/>
                <a:cs typeface="Roboto Lt"/>
              </a:rPr>
              <a:t>Agile</a:t>
            </a:r>
            <a:r>
              <a:rPr sz="1150" spc="-25" dirty="0">
                <a:solidFill>
                  <a:srgbClr val="333333"/>
                </a:solidFill>
                <a:latin typeface="Roboto Lt"/>
                <a:cs typeface="Roboto Lt"/>
              </a:rPr>
              <a:t> </a:t>
            </a:r>
            <a:r>
              <a:rPr sz="1150" spc="-15" dirty="0">
                <a:solidFill>
                  <a:srgbClr val="333333"/>
                </a:solidFill>
                <a:latin typeface="Roboto Lt"/>
                <a:cs typeface="Roboto Lt"/>
              </a:rPr>
              <a:t>methodology.</a:t>
            </a:r>
            <a:endParaRPr sz="1150">
              <a:latin typeface="Roboto Lt"/>
              <a:cs typeface="Roboto Lt"/>
            </a:endParaRPr>
          </a:p>
        </p:txBody>
      </p:sp>
      <p:sp>
        <p:nvSpPr>
          <p:cNvPr id="5" name="object 5"/>
          <p:cNvSpPr txBox="1"/>
          <p:nvPr/>
        </p:nvSpPr>
        <p:spPr>
          <a:xfrm>
            <a:off x="4711700" y="2311650"/>
            <a:ext cx="3674745" cy="2512695"/>
          </a:xfrm>
          <a:prstGeom prst="rect">
            <a:avLst/>
          </a:prstGeom>
        </p:spPr>
        <p:txBody>
          <a:bodyPr vert="horz" wrap="square" lIns="0" tIns="45720" rIns="0" bIns="0" rtlCol="0">
            <a:spAutoFit/>
          </a:bodyPr>
          <a:lstStyle/>
          <a:p>
            <a:pPr marL="266700" marR="962660" indent="-254000">
              <a:lnSpc>
                <a:spcPts val="1800"/>
              </a:lnSpc>
              <a:spcBef>
                <a:spcPts val="360"/>
              </a:spcBef>
              <a:buChar char="–"/>
              <a:tabLst>
                <a:tab pos="266065" algn="l"/>
                <a:tab pos="266700" algn="l"/>
              </a:tabLst>
            </a:pPr>
            <a:r>
              <a:rPr sz="1700" b="1" spc="-120" dirty="0">
                <a:solidFill>
                  <a:srgbClr val="002F59"/>
                </a:solidFill>
                <a:latin typeface="Arial"/>
                <a:cs typeface="Arial"/>
              </a:rPr>
              <a:t>T</a:t>
            </a:r>
            <a:r>
              <a:rPr sz="1700" b="1" spc="40" dirty="0">
                <a:solidFill>
                  <a:srgbClr val="002F59"/>
                </a:solidFill>
                <a:latin typeface="Arial"/>
                <a:cs typeface="Arial"/>
              </a:rPr>
              <a:t>im</a:t>
            </a:r>
            <a:r>
              <a:rPr sz="1700" b="1" spc="105" dirty="0">
                <a:solidFill>
                  <a:srgbClr val="002F59"/>
                </a:solidFill>
                <a:latin typeface="Arial"/>
                <a:cs typeface="Arial"/>
              </a:rPr>
              <a:t>e</a:t>
            </a:r>
            <a:r>
              <a:rPr sz="1700" b="1" spc="-204" dirty="0">
                <a:solidFill>
                  <a:srgbClr val="002F59"/>
                </a:solidFill>
                <a:latin typeface="Arial"/>
                <a:cs typeface="Arial"/>
              </a:rPr>
              <a:t> </a:t>
            </a:r>
            <a:r>
              <a:rPr sz="1700" b="1" spc="-120" dirty="0">
                <a:solidFill>
                  <a:srgbClr val="002F59"/>
                </a:solidFill>
                <a:latin typeface="Arial"/>
                <a:cs typeface="Arial"/>
              </a:rPr>
              <a:t>c</a:t>
            </a:r>
            <a:r>
              <a:rPr sz="1700" b="1" spc="5" dirty="0">
                <a:solidFill>
                  <a:srgbClr val="002F59"/>
                </a:solidFill>
                <a:latin typeface="Arial"/>
                <a:cs typeface="Arial"/>
              </a:rPr>
              <a:t>o</a:t>
            </a:r>
            <a:r>
              <a:rPr sz="1700" b="1" spc="50" dirty="0">
                <a:solidFill>
                  <a:srgbClr val="002F59"/>
                </a:solidFill>
                <a:latin typeface="Arial"/>
                <a:cs typeface="Arial"/>
              </a:rPr>
              <a:t>m</a:t>
            </a:r>
            <a:r>
              <a:rPr sz="1700" b="1" spc="114" dirty="0">
                <a:solidFill>
                  <a:srgbClr val="002F59"/>
                </a:solidFill>
                <a:latin typeface="Arial"/>
                <a:cs typeface="Arial"/>
              </a:rPr>
              <a:t>m</a:t>
            </a:r>
            <a:r>
              <a:rPr sz="1700" b="1" spc="-35" dirty="0">
                <a:solidFill>
                  <a:srgbClr val="002F59"/>
                </a:solidFill>
                <a:latin typeface="Arial"/>
                <a:cs typeface="Arial"/>
              </a:rPr>
              <a:t>i</a:t>
            </a:r>
            <a:r>
              <a:rPr sz="1700" b="1" spc="145" dirty="0">
                <a:solidFill>
                  <a:srgbClr val="002F59"/>
                </a:solidFill>
                <a:latin typeface="Arial"/>
                <a:cs typeface="Arial"/>
              </a:rPr>
              <a:t>t</a:t>
            </a:r>
            <a:r>
              <a:rPr sz="1700" b="1" spc="95" dirty="0">
                <a:solidFill>
                  <a:srgbClr val="002F59"/>
                </a:solidFill>
                <a:latin typeface="Arial"/>
                <a:cs typeface="Arial"/>
              </a:rPr>
              <a:t>m</a:t>
            </a:r>
            <a:r>
              <a:rPr sz="1700" b="1" spc="25" dirty="0">
                <a:solidFill>
                  <a:srgbClr val="002F59"/>
                </a:solidFill>
                <a:latin typeface="Arial"/>
                <a:cs typeface="Arial"/>
              </a:rPr>
              <a:t>e</a:t>
            </a:r>
            <a:r>
              <a:rPr sz="1700" b="1" spc="5" dirty="0">
                <a:solidFill>
                  <a:srgbClr val="002F59"/>
                </a:solidFill>
                <a:latin typeface="Arial"/>
                <a:cs typeface="Arial"/>
              </a:rPr>
              <a:t>n</a:t>
            </a:r>
            <a:r>
              <a:rPr sz="1700" b="1" spc="215" dirty="0">
                <a:solidFill>
                  <a:srgbClr val="002F59"/>
                </a:solidFill>
                <a:latin typeface="Arial"/>
                <a:cs typeface="Arial"/>
              </a:rPr>
              <a:t>t</a:t>
            </a:r>
            <a:r>
              <a:rPr sz="1700" b="1" spc="-204" dirty="0">
                <a:solidFill>
                  <a:srgbClr val="002F59"/>
                </a:solidFill>
                <a:latin typeface="Arial"/>
                <a:cs typeface="Arial"/>
              </a:rPr>
              <a:t> </a:t>
            </a:r>
            <a:r>
              <a:rPr sz="1700" b="1" spc="55" dirty="0">
                <a:solidFill>
                  <a:srgbClr val="002F59"/>
                </a:solidFill>
                <a:latin typeface="Arial"/>
                <a:cs typeface="Arial"/>
              </a:rPr>
              <a:t>f</a:t>
            </a:r>
            <a:r>
              <a:rPr sz="1700" b="1" spc="50" dirty="0">
                <a:solidFill>
                  <a:srgbClr val="002F59"/>
                </a:solidFill>
                <a:latin typeface="Arial"/>
                <a:cs typeface="Arial"/>
              </a:rPr>
              <a:t>r</a:t>
            </a:r>
            <a:r>
              <a:rPr sz="1700" b="1" spc="-15" dirty="0">
                <a:solidFill>
                  <a:srgbClr val="002F59"/>
                </a:solidFill>
                <a:latin typeface="Arial"/>
                <a:cs typeface="Arial"/>
              </a:rPr>
              <a:t>om  </a:t>
            </a:r>
            <a:r>
              <a:rPr sz="1700" b="1" spc="-35" dirty="0">
                <a:solidFill>
                  <a:srgbClr val="002F59"/>
                </a:solidFill>
                <a:latin typeface="Arial"/>
                <a:cs typeface="Arial"/>
              </a:rPr>
              <a:t>d</a:t>
            </a:r>
            <a:r>
              <a:rPr sz="1700" b="1" dirty="0">
                <a:solidFill>
                  <a:srgbClr val="002F59"/>
                </a:solidFill>
                <a:latin typeface="Arial"/>
                <a:cs typeface="Arial"/>
              </a:rPr>
              <a:t>e</a:t>
            </a:r>
            <a:r>
              <a:rPr sz="1700" b="1" spc="-25" dirty="0">
                <a:solidFill>
                  <a:srgbClr val="002F59"/>
                </a:solidFill>
                <a:latin typeface="Arial"/>
                <a:cs typeface="Arial"/>
              </a:rPr>
              <a:t>v</a:t>
            </a:r>
            <a:r>
              <a:rPr sz="1700" b="1" spc="25" dirty="0">
                <a:solidFill>
                  <a:srgbClr val="002F59"/>
                </a:solidFill>
                <a:latin typeface="Arial"/>
                <a:cs typeface="Arial"/>
              </a:rPr>
              <a:t>e</a:t>
            </a:r>
            <a:r>
              <a:rPr sz="1700" b="1" spc="-40" dirty="0">
                <a:solidFill>
                  <a:srgbClr val="002F59"/>
                </a:solidFill>
                <a:latin typeface="Arial"/>
                <a:cs typeface="Arial"/>
              </a:rPr>
              <a:t>lo</a:t>
            </a:r>
            <a:r>
              <a:rPr sz="1700" b="1" spc="-15" dirty="0">
                <a:solidFill>
                  <a:srgbClr val="002F59"/>
                </a:solidFill>
                <a:latin typeface="Arial"/>
                <a:cs typeface="Arial"/>
              </a:rPr>
              <a:t>p</a:t>
            </a:r>
            <a:r>
              <a:rPr sz="1700" b="1" spc="25" dirty="0">
                <a:solidFill>
                  <a:srgbClr val="002F59"/>
                </a:solidFill>
                <a:latin typeface="Arial"/>
                <a:cs typeface="Arial"/>
              </a:rPr>
              <a:t>e</a:t>
            </a:r>
            <a:r>
              <a:rPr sz="1700" b="1" spc="-50" dirty="0">
                <a:solidFill>
                  <a:srgbClr val="002F59"/>
                </a:solidFill>
                <a:latin typeface="Arial"/>
                <a:cs typeface="Arial"/>
              </a:rPr>
              <a:t>r</a:t>
            </a:r>
            <a:r>
              <a:rPr sz="1700" b="1" spc="55" dirty="0">
                <a:solidFill>
                  <a:srgbClr val="002F59"/>
                </a:solidFill>
                <a:latin typeface="Arial"/>
                <a:cs typeface="Arial"/>
              </a:rPr>
              <a:t>s</a:t>
            </a:r>
            <a:r>
              <a:rPr sz="1700" b="1" spc="-204" dirty="0">
                <a:solidFill>
                  <a:srgbClr val="002F59"/>
                </a:solidFill>
                <a:latin typeface="Arial"/>
                <a:cs typeface="Arial"/>
              </a:rPr>
              <a:t> </a:t>
            </a:r>
            <a:r>
              <a:rPr sz="1700" b="1" spc="-10" dirty="0">
                <a:solidFill>
                  <a:srgbClr val="002F59"/>
                </a:solidFill>
                <a:latin typeface="Arial"/>
                <a:cs typeface="Arial"/>
              </a:rPr>
              <a:t>i</a:t>
            </a:r>
            <a:r>
              <a:rPr sz="1700" b="1" spc="-40" dirty="0">
                <a:solidFill>
                  <a:srgbClr val="002F59"/>
                </a:solidFill>
                <a:latin typeface="Arial"/>
                <a:cs typeface="Arial"/>
              </a:rPr>
              <a:t>s</a:t>
            </a:r>
            <a:r>
              <a:rPr sz="1700" b="1" spc="-204" dirty="0">
                <a:solidFill>
                  <a:srgbClr val="002F59"/>
                </a:solidFill>
                <a:latin typeface="Arial"/>
                <a:cs typeface="Arial"/>
              </a:rPr>
              <a:t> </a:t>
            </a:r>
            <a:r>
              <a:rPr sz="1700" b="1" spc="50" dirty="0">
                <a:solidFill>
                  <a:srgbClr val="002F59"/>
                </a:solidFill>
                <a:latin typeface="Arial"/>
                <a:cs typeface="Arial"/>
              </a:rPr>
              <a:t>r</a:t>
            </a:r>
            <a:r>
              <a:rPr sz="1700" b="1" spc="25" dirty="0">
                <a:solidFill>
                  <a:srgbClr val="002F59"/>
                </a:solidFill>
                <a:latin typeface="Arial"/>
                <a:cs typeface="Arial"/>
              </a:rPr>
              <a:t>e</a:t>
            </a:r>
            <a:r>
              <a:rPr sz="1700" b="1" spc="-35" dirty="0">
                <a:solidFill>
                  <a:srgbClr val="002F59"/>
                </a:solidFill>
                <a:latin typeface="Arial"/>
                <a:cs typeface="Arial"/>
              </a:rPr>
              <a:t>q</a:t>
            </a:r>
            <a:r>
              <a:rPr sz="1700" b="1" spc="15" dirty="0">
                <a:solidFill>
                  <a:srgbClr val="002F59"/>
                </a:solidFill>
                <a:latin typeface="Arial"/>
                <a:cs typeface="Arial"/>
              </a:rPr>
              <a:t>u</a:t>
            </a:r>
            <a:r>
              <a:rPr sz="1700" b="1" dirty="0">
                <a:solidFill>
                  <a:srgbClr val="002F59"/>
                </a:solidFill>
                <a:latin typeface="Arial"/>
                <a:cs typeface="Arial"/>
              </a:rPr>
              <a:t>i</a:t>
            </a:r>
            <a:r>
              <a:rPr sz="1700" b="1" spc="40" dirty="0">
                <a:solidFill>
                  <a:srgbClr val="002F59"/>
                </a:solidFill>
                <a:latin typeface="Arial"/>
                <a:cs typeface="Arial"/>
              </a:rPr>
              <a:t>r</a:t>
            </a:r>
            <a:r>
              <a:rPr sz="1700" b="1" spc="25" dirty="0">
                <a:solidFill>
                  <a:srgbClr val="002F59"/>
                </a:solidFill>
                <a:latin typeface="Arial"/>
                <a:cs typeface="Arial"/>
              </a:rPr>
              <a:t>e</a:t>
            </a:r>
            <a:r>
              <a:rPr sz="1700" b="1" spc="50" dirty="0">
                <a:solidFill>
                  <a:srgbClr val="002F59"/>
                </a:solidFill>
                <a:latin typeface="Arial"/>
                <a:cs typeface="Arial"/>
              </a:rPr>
              <a:t>d</a:t>
            </a:r>
            <a:endParaRPr sz="1700">
              <a:latin typeface="Arial"/>
              <a:cs typeface="Arial"/>
            </a:endParaRPr>
          </a:p>
          <a:p>
            <a:pPr marL="266065">
              <a:lnSpc>
                <a:spcPct val="100000"/>
              </a:lnSpc>
              <a:spcBef>
                <a:spcPts val="190"/>
              </a:spcBef>
            </a:pPr>
            <a:r>
              <a:rPr sz="1150" spc="-15" dirty="0">
                <a:solidFill>
                  <a:srgbClr val="333333"/>
                </a:solidFill>
                <a:latin typeface="Roboto Lt"/>
                <a:cs typeface="Roboto Lt"/>
              </a:rPr>
              <a:t>Active</a:t>
            </a:r>
            <a:r>
              <a:rPr sz="1150" spc="-20" dirty="0">
                <a:solidFill>
                  <a:srgbClr val="333333"/>
                </a:solidFill>
                <a:latin typeface="Roboto Lt"/>
                <a:cs typeface="Roboto Lt"/>
              </a:rPr>
              <a:t> involvement</a:t>
            </a:r>
            <a:r>
              <a:rPr sz="1150" spc="-15" dirty="0">
                <a:solidFill>
                  <a:srgbClr val="333333"/>
                </a:solidFill>
                <a:latin typeface="Roboto Lt"/>
                <a:cs typeface="Roboto Lt"/>
              </a:rPr>
              <a:t> </a:t>
            </a:r>
            <a:r>
              <a:rPr sz="1150" spc="-10" dirty="0">
                <a:solidFill>
                  <a:srgbClr val="333333"/>
                </a:solidFill>
                <a:latin typeface="Roboto Lt"/>
                <a:cs typeface="Roboto Lt"/>
              </a:rPr>
              <a:t>and</a:t>
            </a:r>
            <a:r>
              <a:rPr sz="1150" spc="-15" dirty="0">
                <a:solidFill>
                  <a:srgbClr val="333333"/>
                </a:solidFill>
                <a:latin typeface="Roboto Lt"/>
                <a:cs typeface="Roboto Lt"/>
              </a:rPr>
              <a:t> collaboration is </a:t>
            </a:r>
            <a:r>
              <a:rPr sz="1150" spc="-20" dirty="0">
                <a:solidFill>
                  <a:srgbClr val="333333"/>
                </a:solidFill>
                <a:latin typeface="Roboto Lt"/>
                <a:cs typeface="Roboto Lt"/>
              </a:rPr>
              <a:t>required</a:t>
            </a:r>
            <a:endParaRPr sz="1150">
              <a:latin typeface="Roboto Lt"/>
              <a:cs typeface="Roboto Lt"/>
            </a:endParaRPr>
          </a:p>
          <a:p>
            <a:pPr marL="266700" marR="333375">
              <a:lnSpc>
                <a:spcPct val="123200"/>
              </a:lnSpc>
            </a:pPr>
            <a:r>
              <a:rPr sz="1150" spc="-15" dirty="0">
                <a:solidFill>
                  <a:srgbClr val="333333"/>
                </a:solidFill>
                <a:latin typeface="Roboto Lt"/>
                <a:cs typeface="Roboto Lt"/>
              </a:rPr>
              <a:t>throughout </a:t>
            </a:r>
            <a:r>
              <a:rPr sz="1150" spc="-10" dirty="0">
                <a:solidFill>
                  <a:srgbClr val="333333"/>
                </a:solidFill>
                <a:latin typeface="Roboto Lt"/>
                <a:cs typeface="Roboto Lt"/>
              </a:rPr>
              <a:t>the </a:t>
            </a:r>
            <a:r>
              <a:rPr sz="1150" spc="-15" dirty="0">
                <a:solidFill>
                  <a:srgbClr val="333333"/>
                </a:solidFill>
                <a:latin typeface="Roboto Lt"/>
                <a:cs typeface="Roboto Lt"/>
              </a:rPr>
              <a:t>Agile </a:t>
            </a:r>
            <a:r>
              <a:rPr sz="1150" spc="-10" dirty="0">
                <a:solidFill>
                  <a:srgbClr val="333333"/>
                </a:solidFill>
                <a:latin typeface="Roboto Lt"/>
                <a:cs typeface="Roboto Lt"/>
              </a:rPr>
              <a:t>process, </a:t>
            </a:r>
            <a:r>
              <a:rPr sz="1150" spc="-15" dirty="0">
                <a:solidFill>
                  <a:srgbClr val="333333"/>
                </a:solidFill>
                <a:latin typeface="Roboto Lt"/>
                <a:cs typeface="Roboto Lt"/>
              </a:rPr>
              <a:t>which is </a:t>
            </a:r>
            <a:r>
              <a:rPr sz="1150" spc="-5" dirty="0">
                <a:solidFill>
                  <a:srgbClr val="333333"/>
                </a:solidFill>
                <a:latin typeface="Roboto Lt"/>
                <a:cs typeface="Roboto Lt"/>
              </a:rPr>
              <a:t>more </a:t>
            </a:r>
            <a:r>
              <a:rPr sz="1150" spc="-10" dirty="0">
                <a:solidFill>
                  <a:srgbClr val="333333"/>
                </a:solidFill>
                <a:latin typeface="Roboto Lt"/>
                <a:cs typeface="Roboto Lt"/>
              </a:rPr>
              <a:t>time </a:t>
            </a:r>
            <a:r>
              <a:rPr sz="1150" spc="-265" dirty="0">
                <a:solidFill>
                  <a:srgbClr val="333333"/>
                </a:solidFill>
                <a:latin typeface="Roboto Lt"/>
                <a:cs typeface="Roboto Lt"/>
              </a:rPr>
              <a:t> </a:t>
            </a:r>
            <a:r>
              <a:rPr sz="1150" spc="-15" dirty="0">
                <a:solidFill>
                  <a:srgbClr val="333333"/>
                </a:solidFill>
                <a:latin typeface="Roboto Lt"/>
                <a:cs typeface="Roboto Lt"/>
              </a:rPr>
              <a:t>consuming</a:t>
            </a:r>
            <a:r>
              <a:rPr sz="1150" spc="-20" dirty="0">
                <a:solidFill>
                  <a:srgbClr val="333333"/>
                </a:solidFill>
                <a:latin typeface="Roboto Lt"/>
                <a:cs typeface="Roboto Lt"/>
              </a:rPr>
              <a:t> </a:t>
            </a:r>
            <a:r>
              <a:rPr sz="1150" spc="-15" dirty="0">
                <a:solidFill>
                  <a:srgbClr val="333333"/>
                </a:solidFill>
                <a:latin typeface="Roboto Lt"/>
                <a:cs typeface="Roboto Lt"/>
              </a:rPr>
              <a:t>than</a:t>
            </a:r>
            <a:r>
              <a:rPr sz="1150" spc="-20" dirty="0">
                <a:solidFill>
                  <a:srgbClr val="333333"/>
                </a:solidFill>
                <a:latin typeface="Roboto Lt"/>
                <a:cs typeface="Roboto Lt"/>
              </a:rPr>
              <a:t> </a:t>
            </a:r>
            <a:r>
              <a:rPr sz="1150" spc="5" dirty="0">
                <a:solidFill>
                  <a:srgbClr val="333333"/>
                </a:solidFill>
                <a:latin typeface="Roboto Lt"/>
                <a:cs typeface="Roboto Lt"/>
              </a:rPr>
              <a:t>a</a:t>
            </a:r>
            <a:r>
              <a:rPr sz="1150" spc="-20" dirty="0">
                <a:solidFill>
                  <a:srgbClr val="333333"/>
                </a:solidFill>
                <a:latin typeface="Roboto Lt"/>
                <a:cs typeface="Roboto Lt"/>
              </a:rPr>
              <a:t> traditional </a:t>
            </a:r>
            <a:r>
              <a:rPr sz="1150" spc="-15" dirty="0">
                <a:solidFill>
                  <a:srgbClr val="333333"/>
                </a:solidFill>
                <a:latin typeface="Roboto Lt"/>
                <a:cs typeface="Roboto Lt"/>
              </a:rPr>
              <a:t>approach.</a:t>
            </a:r>
            <a:endParaRPr sz="1150">
              <a:latin typeface="Roboto Lt"/>
              <a:cs typeface="Roboto Lt"/>
            </a:endParaRPr>
          </a:p>
          <a:p>
            <a:pPr>
              <a:lnSpc>
                <a:spcPct val="100000"/>
              </a:lnSpc>
              <a:spcBef>
                <a:spcPts val="35"/>
              </a:spcBef>
            </a:pPr>
            <a:endParaRPr sz="1650">
              <a:latin typeface="Roboto Lt"/>
              <a:cs typeface="Roboto Lt"/>
            </a:endParaRPr>
          </a:p>
          <a:p>
            <a:pPr marL="266065" indent="-254000">
              <a:lnSpc>
                <a:spcPct val="100000"/>
              </a:lnSpc>
              <a:spcBef>
                <a:spcPts val="5"/>
              </a:spcBef>
              <a:buChar char="–"/>
              <a:tabLst>
                <a:tab pos="266065" algn="l"/>
                <a:tab pos="266700" algn="l"/>
              </a:tabLst>
            </a:pPr>
            <a:r>
              <a:rPr sz="1700" b="1" spc="-75" dirty="0">
                <a:solidFill>
                  <a:srgbClr val="002F59"/>
                </a:solidFill>
                <a:latin typeface="Arial"/>
                <a:cs typeface="Arial"/>
              </a:rPr>
              <a:t>D</a:t>
            </a:r>
            <a:r>
              <a:rPr sz="1700" b="1" spc="-50" dirty="0">
                <a:solidFill>
                  <a:srgbClr val="002F59"/>
                </a:solidFill>
                <a:latin typeface="Arial"/>
                <a:cs typeface="Arial"/>
              </a:rPr>
              <a:t>o</a:t>
            </a:r>
            <a:r>
              <a:rPr sz="1700" b="1" spc="-114" dirty="0">
                <a:solidFill>
                  <a:srgbClr val="002F59"/>
                </a:solidFill>
                <a:latin typeface="Arial"/>
                <a:cs typeface="Arial"/>
              </a:rPr>
              <a:t>c</a:t>
            </a:r>
            <a:r>
              <a:rPr sz="1700" b="1" spc="15" dirty="0">
                <a:solidFill>
                  <a:srgbClr val="002F59"/>
                </a:solidFill>
                <a:latin typeface="Arial"/>
                <a:cs typeface="Arial"/>
              </a:rPr>
              <a:t>u</a:t>
            </a:r>
            <a:r>
              <a:rPr sz="1700" b="1" spc="95" dirty="0">
                <a:solidFill>
                  <a:srgbClr val="002F59"/>
                </a:solidFill>
                <a:latin typeface="Arial"/>
                <a:cs typeface="Arial"/>
              </a:rPr>
              <a:t>m</a:t>
            </a:r>
            <a:r>
              <a:rPr sz="1700" b="1" spc="25" dirty="0">
                <a:solidFill>
                  <a:srgbClr val="002F59"/>
                </a:solidFill>
                <a:latin typeface="Arial"/>
                <a:cs typeface="Arial"/>
              </a:rPr>
              <a:t>e</a:t>
            </a:r>
            <a:r>
              <a:rPr sz="1700" b="1" spc="5" dirty="0">
                <a:solidFill>
                  <a:srgbClr val="002F59"/>
                </a:solidFill>
                <a:latin typeface="Arial"/>
                <a:cs typeface="Arial"/>
              </a:rPr>
              <a:t>n</a:t>
            </a:r>
            <a:r>
              <a:rPr sz="1700" b="1" spc="140" dirty="0">
                <a:solidFill>
                  <a:srgbClr val="002F59"/>
                </a:solidFill>
                <a:latin typeface="Arial"/>
                <a:cs typeface="Arial"/>
              </a:rPr>
              <a:t>t</a:t>
            </a:r>
            <a:r>
              <a:rPr sz="1700" b="1" spc="15" dirty="0">
                <a:solidFill>
                  <a:srgbClr val="002F59"/>
                </a:solidFill>
                <a:latin typeface="Arial"/>
                <a:cs typeface="Arial"/>
              </a:rPr>
              <a:t>a</a:t>
            </a:r>
            <a:r>
              <a:rPr sz="1700" b="1" spc="145" dirty="0">
                <a:solidFill>
                  <a:srgbClr val="002F59"/>
                </a:solidFill>
                <a:latin typeface="Arial"/>
                <a:cs typeface="Arial"/>
              </a:rPr>
              <a:t>t</a:t>
            </a:r>
            <a:r>
              <a:rPr sz="1700" b="1" spc="-15" dirty="0">
                <a:solidFill>
                  <a:srgbClr val="002F59"/>
                </a:solidFill>
                <a:latin typeface="Arial"/>
                <a:cs typeface="Arial"/>
              </a:rPr>
              <a:t>i</a:t>
            </a:r>
            <a:r>
              <a:rPr sz="1700" b="1" spc="-20" dirty="0">
                <a:solidFill>
                  <a:srgbClr val="002F59"/>
                </a:solidFill>
                <a:latin typeface="Arial"/>
                <a:cs typeface="Arial"/>
              </a:rPr>
              <a:t>o</a:t>
            </a:r>
            <a:r>
              <a:rPr sz="1700" b="1" spc="70" dirty="0">
                <a:solidFill>
                  <a:srgbClr val="002F59"/>
                </a:solidFill>
                <a:latin typeface="Arial"/>
                <a:cs typeface="Arial"/>
              </a:rPr>
              <a:t>n</a:t>
            </a:r>
            <a:r>
              <a:rPr sz="1700" b="1" spc="-204" dirty="0">
                <a:solidFill>
                  <a:srgbClr val="002F59"/>
                </a:solidFill>
                <a:latin typeface="Arial"/>
                <a:cs typeface="Arial"/>
              </a:rPr>
              <a:t> </a:t>
            </a:r>
            <a:r>
              <a:rPr sz="1700" b="1" spc="-50" dirty="0">
                <a:solidFill>
                  <a:srgbClr val="002F59"/>
                </a:solidFill>
                <a:latin typeface="Arial"/>
                <a:cs typeface="Arial"/>
              </a:rPr>
              <a:t>c</a:t>
            </a:r>
            <a:r>
              <a:rPr sz="1700" b="1" spc="-45" dirty="0">
                <a:solidFill>
                  <a:srgbClr val="002F59"/>
                </a:solidFill>
                <a:latin typeface="Arial"/>
                <a:cs typeface="Arial"/>
              </a:rPr>
              <a:t>a</a:t>
            </a:r>
            <a:r>
              <a:rPr sz="1700" b="1" spc="100" dirty="0">
                <a:solidFill>
                  <a:srgbClr val="002F59"/>
                </a:solidFill>
                <a:latin typeface="Arial"/>
                <a:cs typeface="Arial"/>
              </a:rPr>
              <a:t>n</a:t>
            </a:r>
            <a:r>
              <a:rPr sz="1700" b="1" spc="-200" dirty="0">
                <a:solidFill>
                  <a:srgbClr val="002F59"/>
                </a:solidFill>
                <a:latin typeface="Arial"/>
                <a:cs typeface="Arial"/>
              </a:rPr>
              <a:t> </a:t>
            </a:r>
            <a:r>
              <a:rPr sz="1700" b="1" spc="-35" dirty="0">
                <a:solidFill>
                  <a:srgbClr val="002F59"/>
                </a:solidFill>
                <a:latin typeface="Arial"/>
                <a:cs typeface="Arial"/>
              </a:rPr>
              <a:t>b</a:t>
            </a:r>
            <a:r>
              <a:rPr sz="1700" b="1" spc="105" dirty="0">
                <a:solidFill>
                  <a:srgbClr val="002F59"/>
                </a:solidFill>
                <a:latin typeface="Arial"/>
                <a:cs typeface="Arial"/>
              </a:rPr>
              <a:t>e</a:t>
            </a:r>
            <a:r>
              <a:rPr sz="1700" b="1" spc="-204" dirty="0">
                <a:solidFill>
                  <a:srgbClr val="002F59"/>
                </a:solidFill>
                <a:latin typeface="Arial"/>
                <a:cs typeface="Arial"/>
              </a:rPr>
              <a:t> </a:t>
            </a:r>
            <a:r>
              <a:rPr sz="1700" b="1" spc="10" dirty="0">
                <a:solidFill>
                  <a:srgbClr val="002F59"/>
                </a:solidFill>
                <a:latin typeface="Arial"/>
                <a:cs typeface="Arial"/>
              </a:rPr>
              <a:t>ne</a:t>
            </a:r>
            <a:r>
              <a:rPr sz="1700" b="1" spc="-90" dirty="0">
                <a:solidFill>
                  <a:srgbClr val="002F59"/>
                </a:solidFill>
                <a:latin typeface="Arial"/>
                <a:cs typeface="Arial"/>
              </a:rPr>
              <a:t>g</a:t>
            </a:r>
            <a:r>
              <a:rPr sz="1700" b="1" spc="-30" dirty="0">
                <a:solidFill>
                  <a:srgbClr val="002F59"/>
                </a:solidFill>
                <a:latin typeface="Arial"/>
                <a:cs typeface="Arial"/>
              </a:rPr>
              <a:t>l</a:t>
            </a:r>
            <a:r>
              <a:rPr sz="1700" b="1" spc="35" dirty="0">
                <a:solidFill>
                  <a:srgbClr val="002F59"/>
                </a:solidFill>
                <a:latin typeface="Arial"/>
                <a:cs typeface="Arial"/>
              </a:rPr>
              <a:t>e</a:t>
            </a:r>
            <a:r>
              <a:rPr sz="1700" b="1" spc="-100" dirty="0">
                <a:solidFill>
                  <a:srgbClr val="002F59"/>
                </a:solidFill>
                <a:latin typeface="Arial"/>
                <a:cs typeface="Arial"/>
              </a:rPr>
              <a:t>c</a:t>
            </a:r>
            <a:r>
              <a:rPr sz="1700" b="1" spc="35" dirty="0">
                <a:solidFill>
                  <a:srgbClr val="002F59"/>
                </a:solidFill>
                <a:latin typeface="Arial"/>
                <a:cs typeface="Arial"/>
              </a:rPr>
              <a:t>t</a:t>
            </a:r>
            <a:r>
              <a:rPr sz="1700" b="1" spc="120" dirty="0">
                <a:solidFill>
                  <a:srgbClr val="002F59"/>
                </a:solidFill>
                <a:latin typeface="Arial"/>
                <a:cs typeface="Arial"/>
              </a:rPr>
              <a:t>e</a:t>
            </a:r>
            <a:r>
              <a:rPr sz="1700" b="1" spc="50" dirty="0">
                <a:solidFill>
                  <a:srgbClr val="002F59"/>
                </a:solidFill>
                <a:latin typeface="Arial"/>
                <a:cs typeface="Arial"/>
              </a:rPr>
              <a:t>d</a:t>
            </a:r>
            <a:endParaRPr sz="1700">
              <a:latin typeface="Arial"/>
              <a:cs typeface="Arial"/>
            </a:endParaRPr>
          </a:p>
          <a:p>
            <a:pPr marL="266700" marR="5080" indent="-635">
              <a:lnSpc>
                <a:spcPts val="1700"/>
              </a:lnSpc>
            </a:pPr>
            <a:r>
              <a:rPr sz="1150" spc="-15" dirty="0">
                <a:solidFill>
                  <a:srgbClr val="333333"/>
                </a:solidFill>
                <a:latin typeface="Roboto Lt"/>
                <a:cs typeface="Roboto Lt"/>
              </a:rPr>
              <a:t>Agile </a:t>
            </a:r>
            <a:r>
              <a:rPr sz="1150" spc="-20" dirty="0">
                <a:solidFill>
                  <a:srgbClr val="333333"/>
                </a:solidFill>
                <a:latin typeface="Roboto Lt"/>
                <a:cs typeface="Roboto Lt"/>
              </a:rPr>
              <a:t>prefers </a:t>
            </a:r>
            <a:r>
              <a:rPr sz="1150" spc="-15" dirty="0">
                <a:solidFill>
                  <a:srgbClr val="333333"/>
                </a:solidFill>
                <a:latin typeface="Roboto Lt"/>
                <a:cs typeface="Roboto Lt"/>
              </a:rPr>
              <a:t>working deliverables over comprehensive </a:t>
            </a:r>
            <a:r>
              <a:rPr sz="1150" spc="-265" dirty="0">
                <a:solidFill>
                  <a:srgbClr val="333333"/>
                </a:solidFill>
                <a:latin typeface="Roboto Lt"/>
                <a:cs typeface="Roboto Lt"/>
              </a:rPr>
              <a:t> </a:t>
            </a:r>
            <a:r>
              <a:rPr sz="1150" spc="-15" dirty="0">
                <a:solidFill>
                  <a:srgbClr val="333333"/>
                </a:solidFill>
                <a:latin typeface="Roboto Lt"/>
                <a:cs typeface="Roboto Lt"/>
              </a:rPr>
              <a:t>documentation. </a:t>
            </a:r>
            <a:r>
              <a:rPr sz="1150" spc="-10" dirty="0">
                <a:solidFill>
                  <a:srgbClr val="333333"/>
                </a:solidFill>
                <a:latin typeface="Roboto Lt"/>
                <a:cs typeface="Roboto Lt"/>
              </a:rPr>
              <a:t>While </a:t>
            </a:r>
            <a:r>
              <a:rPr sz="1150" spc="-15" dirty="0">
                <a:solidFill>
                  <a:srgbClr val="333333"/>
                </a:solidFill>
                <a:latin typeface="Roboto Lt"/>
                <a:cs typeface="Roboto Lt"/>
              </a:rPr>
              <a:t>documentation</a:t>
            </a:r>
            <a:r>
              <a:rPr sz="1150" spc="-10" dirty="0">
                <a:solidFill>
                  <a:srgbClr val="333333"/>
                </a:solidFill>
                <a:latin typeface="Roboto Lt"/>
                <a:cs typeface="Roboto Lt"/>
              </a:rPr>
              <a:t> </a:t>
            </a:r>
            <a:r>
              <a:rPr sz="1150" dirty="0">
                <a:solidFill>
                  <a:srgbClr val="333333"/>
                </a:solidFill>
                <a:latin typeface="Roboto Lt"/>
                <a:cs typeface="Roboto Lt"/>
              </a:rPr>
              <a:t>on</a:t>
            </a:r>
            <a:r>
              <a:rPr sz="1150" spc="-10" dirty="0">
                <a:solidFill>
                  <a:srgbClr val="333333"/>
                </a:solidFill>
                <a:latin typeface="Roboto Lt"/>
                <a:cs typeface="Roboto Lt"/>
              </a:rPr>
              <a:t> </a:t>
            </a:r>
            <a:r>
              <a:rPr sz="1150" spc="-15" dirty="0">
                <a:solidFill>
                  <a:srgbClr val="333333"/>
                </a:solidFill>
                <a:latin typeface="Roboto Lt"/>
                <a:cs typeface="Roboto Lt"/>
              </a:rPr>
              <a:t>its</a:t>
            </a:r>
            <a:r>
              <a:rPr sz="1150" spc="-10" dirty="0">
                <a:solidFill>
                  <a:srgbClr val="333333"/>
                </a:solidFill>
                <a:latin typeface="Roboto Lt"/>
                <a:cs typeface="Roboto Lt"/>
              </a:rPr>
              <a:t> </a:t>
            </a:r>
            <a:r>
              <a:rPr sz="1150" spc="-15" dirty="0">
                <a:solidFill>
                  <a:srgbClr val="333333"/>
                </a:solidFill>
                <a:latin typeface="Roboto Lt"/>
                <a:cs typeface="Roboto Lt"/>
              </a:rPr>
              <a:t>own</a:t>
            </a:r>
            <a:r>
              <a:rPr sz="1150" spc="-10" dirty="0">
                <a:solidFill>
                  <a:srgbClr val="333333"/>
                </a:solidFill>
                <a:latin typeface="Roboto Lt"/>
                <a:cs typeface="Roboto Lt"/>
              </a:rPr>
              <a:t> </a:t>
            </a:r>
            <a:r>
              <a:rPr sz="1150" spc="-5" dirty="0">
                <a:solidFill>
                  <a:srgbClr val="333333"/>
                </a:solidFill>
                <a:latin typeface="Roboto Lt"/>
                <a:cs typeface="Roboto Lt"/>
              </a:rPr>
              <a:t>does </a:t>
            </a:r>
            <a:r>
              <a:rPr sz="1150" spc="-265" dirty="0">
                <a:solidFill>
                  <a:srgbClr val="333333"/>
                </a:solidFill>
                <a:latin typeface="Roboto Lt"/>
                <a:cs typeface="Roboto Lt"/>
              </a:rPr>
              <a:t> </a:t>
            </a:r>
            <a:r>
              <a:rPr sz="1150" spc="-15" dirty="0">
                <a:solidFill>
                  <a:srgbClr val="333333"/>
                </a:solidFill>
                <a:latin typeface="Roboto Lt"/>
                <a:cs typeface="Roboto Lt"/>
              </a:rPr>
              <a:t>not </a:t>
            </a:r>
            <a:r>
              <a:rPr sz="1150" spc="-10" dirty="0">
                <a:solidFill>
                  <a:srgbClr val="333333"/>
                </a:solidFill>
                <a:latin typeface="Roboto Lt"/>
                <a:cs typeface="Roboto Lt"/>
              </a:rPr>
              <a:t>lead </a:t>
            </a:r>
            <a:r>
              <a:rPr sz="1150" spc="-15" dirty="0">
                <a:solidFill>
                  <a:srgbClr val="333333"/>
                </a:solidFill>
                <a:latin typeface="Roboto Lt"/>
                <a:cs typeface="Roboto Lt"/>
              </a:rPr>
              <a:t>to </a:t>
            </a:r>
            <a:r>
              <a:rPr sz="1150" spc="-10" dirty="0">
                <a:solidFill>
                  <a:srgbClr val="333333"/>
                </a:solidFill>
                <a:latin typeface="Roboto Lt"/>
                <a:cs typeface="Roboto Lt"/>
              </a:rPr>
              <a:t>success, </a:t>
            </a:r>
            <a:r>
              <a:rPr sz="1150" spc="-15" dirty="0">
                <a:solidFill>
                  <a:srgbClr val="333333"/>
                </a:solidFill>
                <a:latin typeface="Roboto Lt"/>
                <a:cs typeface="Roboto Lt"/>
              </a:rPr>
              <a:t>teams should </a:t>
            </a:r>
            <a:r>
              <a:rPr sz="1150" spc="-10" dirty="0">
                <a:solidFill>
                  <a:srgbClr val="333333"/>
                </a:solidFill>
                <a:latin typeface="Roboto Lt"/>
                <a:cs typeface="Roboto Lt"/>
              </a:rPr>
              <a:t>find the </a:t>
            </a:r>
            <a:r>
              <a:rPr sz="1150" spc="-15" dirty="0">
                <a:solidFill>
                  <a:srgbClr val="333333"/>
                </a:solidFill>
                <a:latin typeface="Roboto Lt"/>
                <a:cs typeface="Roboto Lt"/>
              </a:rPr>
              <a:t>right </a:t>
            </a:r>
            <a:r>
              <a:rPr sz="1150" spc="-10" dirty="0">
                <a:solidFill>
                  <a:srgbClr val="333333"/>
                </a:solidFill>
                <a:latin typeface="Roboto Lt"/>
                <a:cs typeface="Roboto Lt"/>
              </a:rPr>
              <a:t> </a:t>
            </a:r>
            <a:r>
              <a:rPr sz="1150" spc="-15" dirty="0">
                <a:solidFill>
                  <a:srgbClr val="333333"/>
                </a:solidFill>
                <a:latin typeface="Roboto Lt"/>
                <a:cs typeface="Roboto Lt"/>
              </a:rPr>
              <a:t>balance</a:t>
            </a:r>
            <a:r>
              <a:rPr sz="1150" spc="-20" dirty="0">
                <a:solidFill>
                  <a:srgbClr val="333333"/>
                </a:solidFill>
                <a:latin typeface="Roboto Lt"/>
                <a:cs typeface="Roboto Lt"/>
              </a:rPr>
              <a:t> </a:t>
            </a:r>
            <a:r>
              <a:rPr sz="1150" spc="-10" dirty="0">
                <a:solidFill>
                  <a:srgbClr val="333333"/>
                </a:solidFill>
                <a:latin typeface="Roboto Lt"/>
                <a:cs typeface="Roboto Lt"/>
              </a:rPr>
              <a:t>between</a:t>
            </a:r>
            <a:r>
              <a:rPr sz="1150" spc="-15" dirty="0">
                <a:solidFill>
                  <a:srgbClr val="333333"/>
                </a:solidFill>
                <a:latin typeface="Roboto Lt"/>
                <a:cs typeface="Roboto Lt"/>
              </a:rPr>
              <a:t> documentation </a:t>
            </a:r>
            <a:r>
              <a:rPr sz="1150" spc="-10" dirty="0">
                <a:solidFill>
                  <a:srgbClr val="333333"/>
                </a:solidFill>
                <a:latin typeface="Roboto Lt"/>
                <a:cs typeface="Roboto Lt"/>
              </a:rPr>
              <a:t>and</a:t>
            </a:r>
            <a:r>
              <a:rPr sz="1150" spc="-15" dirty="0">
                <a:solidFill>
                  <a:srgbClr val="333333"/>
                </a:solidFill>
                <a:latin typeface="Roboto Lt"/>
                <a:cs typeface="Roboto Lt"/>
              </a:rPr>
              <a:t> </a:t>
            </a:r>
            <a:r>
              <a:rPr sz="1150" spc="-20" dirty="0">
                <a:solidFill>
                  <a:srgbClr val="333333"/>
                </a:solidFill>
                <a:latin typeface="Roboto Lt"/>
                <a:cs typeface="Roboto Lt"/>
              </a:rPr>
              <a:t>discussion.</a:t>
            </a:r>
            <a:endParaRPr sz="1150">
              <a:latin typeface="Roboto Lt"/>
              <a:cs typeface="Roboto 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CBA9D-3F2D-023C-6F74-481191B7828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048E61E-8AA2-D1F5-0A62-9BF5997C9341}"/>
              </a:ext>
            </a:extLst>
          </p:cNvPr>
          <p:cNvSpPr/>
          <p:nvPr/>
        </p:nvSpPr>
        <p:spPr>
          <a:xfrm>
            <a:off x="0" y="0"/>
            <a:ext cx="3168650" cy="5943600"/>
          </a:xfrm>
          <a:custGeom>
            <a:avLst/>
            <a:gdLst/>
            <a:ahLst/>
            <a:cxnLst/>
            <a:rect l="l" t="t" r="r" b="b"/>
            <a:pathLst>
              <a:path w="5029200" h="5943600">
                <a:moveTo>
                  <a:pt x="5029200" y="0"/>
                </a:moveTo>
                <a:lnTo>
                  <a:pt x="0" y="0"/>
                </a:lnTo>
                <a:lnTo>
                  <a:pt x="0" y="5943600"/>
                </a:lnTo>
                <a:lnTo>
                  <a:pt x="5029200" y="5943600"/>
                </a:lnTo>
                <a:lnTo>
                  <a:pt x="5029200" y="0"/>
                </a:lnTo>
                <a:close/>
              </a:path>
            </a:pathLst>
          </a:custGeom>
          <a:solidFill>
            <a:schemeClr val="accent2">
              <a:lumMod val="75000"/>
            </a:schemeClr>
          </a:solidFill>
        </p:spPr>
        <p:txBody>
          <a:bodyPr wrap="square" lIns="0" tIns="0" rIns="0" bIns="0" rtlCol="0"/>
          <a:lstStyle/>
          <a:p>
            <a:endParaRPr/>
          </a:p>
        </p:txBody>
      </p:sp>
      <p:sp>
        <p:nvSpPr>
          <p:cNvPr id="3" name="object 3">
            <a:extLst>
              <a:ext uri="{FF2B5EF4-FFF2-40B4-BE49-F238E27FC236}">
                <a16:creationId xmlns:a16="http://schemas.microsoft.com/office/drawing/2014/main" id="{CB452B3C-29A9-995D-4126-824C39030E17}"/>
              </a:ext>
            </a:extLst>
          </p:cNvPr>
          <p:cNvSpPr txBox="1">
            <a:spLocks noGrp="1"/>
          </p:cNvSpPr>
          <p:nvPr>
            <p:ph type="title"/>
          </p:nvPr>
        </p:nvSpPr>
        <p:spPr>
          <a:xfrm>
            <a:off x="526368" y="510301"/>
            <a:ext cx="2521632" cy="1313180"/>
          </a:xfrm>
          <a:prstGeom prst="rect">
            <a:avLst/>
          </a:prstGeom>
        </p:spPr>
        <p:txBody>
          <a:bodyPr vert="horz" wrap="square" lIns="0" tIns="106680" rIns="0" bIns="0" rtlCol="0">
            <a:spAutoFit/>
          </a:bodyPr>
          <a:lstStyle/>
          <a:p>
            <a:pPr marL="12700" marR="5080">
              <a:lnSpc>
                <a:spcPts val="4700"/>
              </a:lnSpc>
              <a:spcBef>
                <a:spcPts val="840"/>
              </a:spcBef>
            </a:pPr>
            <a:r>
              <a:rPr lang="en-US" spc="-80" dirty="0"/>
              <a:t>Lets discuss</a:t>
            </a:r>
            <a:endParaRPr spc="240" dirty="0"/>
          </a:p>
        </p:txBody>
      </p:sp>
      <p:sp>
        <p:nvSpPr>
          <p:cNvPr id="7" name="object 7">
            <a:extLst>
              <a:ext uri="{FF2B5EF4-FFF2-40B4-BE49-F238E27FC236}">
                <a16:creationId xmlns:a16="http://schemas.microsoft.com/office/drawing/2014/main" id="{59349EF6-7B4F-D57E-0E04-92FA88CE7ED6}"/>
              </a:ext>
            </a:extLst>
          </p:cNvPr>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spc="35" dirty="0"/>
              <a:t>1</a:t>
            </a:r>
            <a:r>
              <a:rPr lang="en-US" spc="35" dirty="0"/>
              <a:t>2</a:t>
            </a:r>
            <a:endParaRPr spc="35" dirty="0"/>
          </a:p>
        </p:txBody>
      </p:sp>
      <p:sp>
        <p:nvSpPr>
          <p:cNvPr id="8" name="object 8">
            <a:extLst>
              <a:ext uri="{FF2B5EF4-FFF2-40B4-BE49-F238E27FC236}">
                <a16:creationId xmlns:a16="http://schemas.microsoft.com/office/drawing/2014/main" id="{97FE99DF-96FB-2A8B-6CBB-C23E7144F479}"/>
              </a:ext>
            </a:extLst>
          </p:cNvPr>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a:t>
            </a:r>
            <a:r>
              <a:rPr lang="en-MY" spc="-40" dirty="0"/>
              <a:t>g</a:t>
            </a:r>
            <a:r>
              <a:rPr lang="en-MY" spc="-45" dirty="0"/>
              <a:t>i</a:t>
            </a:r>
            <a:r>
              <a:rPr lang="en-MY" spc="-35" dirty="0"/>
              <a:t>l</a:t>
            </a:r>
            <a:r>
              <a:rPr lang="en-MY" dirty="0"/>
              <a:t>e</a:t>
            </a:r>
            <a:r>
              <a:rPr lang="en-MY" spc="-60" dirty="0"/>
              <a:t> </a:t>
            </a:r>
            <a:r>
              <a:rPr lang="en-MY" spc="-35" dirty="0"/>
              <a:t>Methodology</a:t>
            </a:r>
            <a:endParaRPr dirty="0"/>
          </a:p>
        </p:txBody>
      </p:sp>
      <p:sp>
        <p:nvSpPr>
          <p:cNvPr id="4" name="object 4">
            <a:extLst>
              <a:ext uri="{FF2B5EF4-FFF2-40B4-BE49-F238E27FC236}">
                <a16:creationId xmlns:a16="http://schemas.microsoft.com/office/drawing/2014/main" id="{184CBBF7-E7C0-3AEB-393C-990CB2472A47}"/>
              </a:ext>
            </a:extLst>
          </p:cNvPr>
          <p:cNvSpPr txBox="1"/>
          <p:nvPr/>
        </p:nvSpPr>
        <p:spPr>
          <a:xfrm>
            <a:off x="526368" y="1973979"/>
            <a:ext cx="2197465" cy="2000869"/>
          </a:xfrm>
          <a:prstGeom prst="rect">
            <a:avLst/>
          </a:prstGeom>
        </p:spPr>
        <p:txBody>
          <a:bodyPr vert="horz" wrap="square" lIns="0" tIns="7620" rIns="0" bIns="0" rtlCol="0">
            <a:spAutoFit/>
          </a:bodyPr>
          <a:lstStyle/>
          <a:p>
            <a:pPr marL="12700" marR="5080">
              <a:lnSpc>
                <a:spcPct val="102099"/>
              </a:lnSpc>
              <a:spcBef>
                <a:spcPts val="60"/>
              </a:spcBef>
            </a:pPr>
            <a:r>
              <a:rPr lang="en-US" sz="1600" dirty="0">
                <a:solidFill>
                  <a:schemeClr val="bg1"/>
                </a:solidFill>
                <a:latin typeface="Arial"/>
                <a:cs typeface="Arial"/>
              </a:rPr>
              <a:t>How can Agile teams balance the principle of 'working software over comprehensive documentation' with the long-term need for maintainable and well-documented systems?</a:t>
            </a:r>
          </a:p>
        </p:txBody>
      </p:sp>
      <p:sp>
        <p:nvSpPr>
          <p:cNvPr id="5" name="object 5">
            <a:extLst>
              <a:ext uri="{FF2B5EF4-FFF2-40B4-BE49-F238E27FC236}">
                <a16:creationId xmlns:a16="http://schemas.microsoft.com/office/drawing/2014/main" id="{34F210D2-9483-7D41-7ABB-9549EEBD1DB8}"/>
              </a:ext>
            </a:extLst>
          </p:cNvPr>
          <p:cNvSpPr txBox="1"/>
          <p:nvPr/>
        </p:nvSpPr>
        <p:spPr>
          <a:xfrm>
            <a:off x="3392106" y="594386"/>
            <a:ext cx="5240169" cy="4446667"/>
          </a:xfrm>
          <a:prstGeom prst="rect">
            <a:avLst/>
          </a:prstGeom>
        </p:spPr>
        <p:txBody>
          <a:bodyPr vert="horz" wrap="square" lIns="0" tIns="12700" rIns="0" bIns="0" rtlCol="0">
            <a:spAutoFit/>
          </a:bodyPr>
          <a:lstStyle/>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Balance Through Contextual Documentation</a:t>
            </a:r>
            <a:r>
              <a:rPr lang="en-US" sz="1300" dirty="0">
                <a:latin typeface="Roboto Lt"/>
                <a:cs typeface="Roboto Lt"/>
              </a:rPr>
              <a:t>: Agile doesn't reject documentation entirely; instead, it promotes documentation that is "just enough" to meet the team's and stakeholders' needs. For example:</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Critical areas like APIs, architecture, or complex business rules may need documentation to ensure system maintainability.</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A user manual might be necessary for end-users.</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Focus on Value</a:t>
            </a:r>
            <a:r>
              <a:rPr lang="en-US" sz="1300" dirty="0">
                <a:latin typeface="Roboto Lt"/>
                <a:cs typeface="Roboto Lt"/>
              </a:rPr>
              <a:t>: Teams should continuously ask, "Who needs this documentation, and how will they use it?" Documentation should support value delivery rather than delay it.</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Tools and Collaboration</a:t>
            </a:r>
            <a:r>
              <a:rPr lang="en-US" sz="1300" dirty="0">
                <a:latin typeface="Roboto Lt"/>
                <a:cs typeface="Roboto Lt"/>
              </a:rPr>
              <a:t>: Modern tools like wikis, code comments, and shared repositories allow lightweight, iterative, and easily updated documentation.</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Risk Awareness</a:t>
            </a:r>
            <a:r>
              <a:rPr lang="en-US" sz="1300" dirty="0">
                <a:latin typeface="Roboto Lt"/>
                <a:cs typeface="Roboto Lt"/>
              </a:rPr>
              <a:t>: Skipping too much documentation can lead to risks, especially in long-lived projects or when team members change. Teams should weigh the risks of insufficient documentation against the benefits of delivering software quickly.</a:t>
            </a:r>
            <a:endParaRPr sz="1300" dirty="0">
              <a:latin typeface="Roboto Lt"/>
              <a:cs typeface="Roboto Lt"/>
            </a:endParaRPr>
          </a:p>
        </p:txBody>
      </p:sp>
    </p:spTree>
    <p:extLst>
      <p:ext uri="{BB962C8B-B14F-4D97-AF65-F5344CB8AC3E}">
        <p14:creationId xmlns:p14="http://schemas.microsoft.com/office/powerpoint/2010/main" val="2169116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029200" y="2971800"/>
            <a:ext cx="4114800" cy="2971800"/>
          </a:xfrm>
          <a:custGeom>
            <a:avLst/>
            <a:gdLst/>
            <a:ahLst/>
            <a:cxnLst/>
            <a:rect l="l" t="t" r="r" b="b"/>
            <a:pathLst>
              <a:path w="4114800" h="2971800">
                <a:moveTo>
                  <a:pt x="4114800" y="0"/>
                </a:moveTo>
                <a:lnTo>
                  <a:pt x="0" y="0"/>
                </a:lnTo>
                <a:lnTo>
                  <a:pt x="0" y="2971800"/>
                </a:lnTo>
                <a:lnTo>
                  <a:pt x="4114800" y="2971800"/>
                </a:lnTo>
                <a:lnTo>
                  <a:pt x="4114800" y="0"/>
                </a:lnTo>
                <a:close/>
              </a:path>
            </a:pathLst>
          </a:custGeom>
          <a:solidFill>
            <a:srgbClr val="4F0093"/>
          </a:solidFill>
        </p:spPr>
        <p:txBody>
          <a:bodyPr wrap="square" lIns="0" tIns="0" rIns="0" bIns="0" rtlCol="0"/>
          <a:lstStyle/>
          <a:p>
            <a:endParaRPr/>
          </a:p>
        </p:txBody>
      </p:sp>
      <p:sp>
        <p:nvSpPr>
          <p:cNvPr id="3" name="object 3"/>
          <p:cNvSpPr txBox="1"/>
          <p:nvPr/>
        </p:nvSpPr>
        <p:spPr>
          <a:xfrm>
            <a:off x="6581783" y="4028638"/>
            <a:ext cx="2085975" cy="711200"/>
          </a:xfrm>
          <a:prstGeom prst="rect">
            <a:avLst/>
          </a:prstGeom>
        </p:spPr>
        <p:txBody>
          <a:bodyPr vert="horz" wrap="square" lIns="0" tIns="12700" rIns="0" bIns="0" rtlCol="0">
            <a:spAutoFit/>
          </a:bodyPr>
          <a:lstStyle/>
          <a:p>
            <a:pPr marL="12700">
              <a:lnSpc>
                <a:spcPct val="100000"/>
              </a:lnSpc>
              <a:spcBef>
                <a:spcPts val="100"/>
              </a:spcBef>
            </a:pPr>
            <a:r>
              <a:rPr sz="4500" b="1" spc="-80" dirty="0">
                <a:solidFill>
                  <a:srgbClr val="FFFFFF"/>
                </a:solidFill>
                <a:latin typeface="Arial"/>
                <a:cs typeface="Arial"/>
              </a:rPr>
              <a:t>Kanban</a:t>
            </a:r>
            <a:endParaRPr sz="4500">
              <a:latin typeface="Arial"/>
              <a:cs typeface="Arial"/>
            </a:endParaRPr>
          </a:p>
        </p:txBody>
      </p:sp>
      <p:grpSp>
        <p:nvGrpSpPr>
          <p:cNvPr id="4" name="object 4"/>
          <p:cNvGrpSpPr/>
          <p:nvPr/>
        </p:nvGrpSpPr>
        <p:grpSpPr>
          <a:xfrm>
            <a:off x="0" y="0"/>
            <a:ext cx="9144000" cy="5943600"/>
            <a:chOff x="0" y="0"/>
            <a:chExt cx="9144000" cy="5943600"/>
          </a:xfrm>
        </p:grpSpPr>
        <p:pic>
          <p:nvPicPr>
            <p:cNvPr id="5" name="object 5"/>
            <p:cNvPicPr/>
            <p:nvPr/>
          </p:nvPicPr>
          <p:blipFill>
            <a:blip r:embed="rId2" cstate="print"/>
            <a:stretch>
              <a:fillRect/>
            </a:stretch>
          </p:blipFill>
          <p:spPr>
            <a:xfrm>
              <a:off x="5435601" y="3954560"/>
              <a:ext cx="865111" cy="879284"/>
            </a:xfrm>
            <a:prstGeom prst="rect">
              <a:avLst/>
            </a:prstGeom>
          </p:spPr>
        </p:pic>
        <p:sp>
          <p:nvSpPr>
            <p:cNvPr id="6" name="object 6"/>
            <p:cNvSpPr/>
            <p:nvPr/>
          </p:nvSpPr>
          <p:spPr>
            <a:xfrm>
              <a:off x="0" y="0"/>
              <a:ext cx="5041900" cy="5943600"/>
            </a:xfrm>
            <a:custGeom>
              <a:avLst/>
              <a:gdLst/>
              <a:ahLst/>
              <a:cxnLst/>
              <a:rect l="l" t="t" r="r" b="b"/>
              <a:pathLst>
                <a:path w="5041900" h="5943600">
                  <a:moveTo>
                    <a:pt x="5041900" y="0"/>
                  </a:moveTo>
                  <a:lnTo>
                    <a:pt x="0" y="0"/>
                  </a:lnTo>
                  <a:lnTo>
                    <a:pt x="0" y="5943600"/>
                  </a:lnTo>
                  <a:lnTo>
                    <a:pt x="5041900" y="5943600"/>
                  </a:lnTo>
                  <a:lnTo>
                    <a:pt x="5041900" y="0"/>
                  </a:lnTo>
                  <a:close/>
                </a:path>
              </a:pathLst>
            </a:custGeom>
            <a:solidFill>
              <a:srgbClr val="002F59"/>
            </a:solidFill>
          </p:spPr>
          <p:txBody>
            <a:bodyPr wrap="square" lIns="0" tIns="0" rIns="0" bIns="0" rtlCol="0"/>
            <a:lstStyle/>
            <a:p>
              <a:endParaRPr/>
            </a:p>
          </p:txBody>
        </p:sp>
        <p:sp>
          <p:nvSpPr>
            <p:cNvPr id="7" name="object 7"/>
            <p:cNvSpPr/>
            <p:nvPr/>
          </p:nvSpPr>
          <p:spPr>
            <a:xfrm>
              <a:off x="5029200" y="0"/>
              <a:ext cx="4114800" cy="2971800"/>
            </a:xfrm>
            <a:custGeom>
              <a:avLst/>
              <a:gdLst/>
              <a:ahLst/>
              <a:cxnLst/>
              <a:rect l="l" t="t" r="r" b="b"/>
              <a:pathLst>
                <a:path w="4114800" h="2971800">
                  <a:moveTo>
                    <a:pt x="4114800" y="0"/>
                  </a:moveTo>
                  <a:lnTo>
                    <a:pt x="0" y="0"/>
                  </a:lnTo>
                  <a:lnTo>
                    <a:pt x="0" y="2971800"/>
                  </a:lnTo>
                  <a:lnTo>
                    <a:pt x="4114800" y="2971800"/>
                  </a:lnTo>
                  <a:lnTo>
                    <a:pt x="4114800" y="0"/>
                  </a:lnTo>
                  <a:close/>
                </a:path>
              </a:pathLst>
            </a:custGeom>
            <a:solidFill>
              <a:srgbClr val="0072EB"/>
            </a:solidFill>
          </p:spPr>
          <p:txBody>
            <a:bodyPr wrap="square" lIns="0" tIns="0" rIns="0" bIns="0" rtlCol="0"/>
            <a:lstStyle/>
            <a:p>
              <a:endParaRPr/>
            </a:p>
          </p:txBody>
        </p:sp>
      </p:grpSp>
      <p:sp>
        <p:nvSpPr>
          <p:cNvPr id="8" name="object 8"/>
          <p:cNvSpPr txBox="1"/>
          <p:nvPr/>
        </p:nvSpPr>
        <p:spPr>
          <a:xfrm>
            <a:off x="526368" y="510301"/>
            <a:ext cx="4010025" cy="4249420"/>
          </a:xfrm>
          <a:prstGeom prst="rect">
            <a:avLst/>
          </a:prstGeom>
        </p:spPr>
        <p:txBody>
          <a:bodyPr vert="horz" wrap="square" lIns="0" tIns="106680" rIns="0" bIns="0" rtlCol="0">
            <a:spAutoFit/>
          </a:bodyPr>
          <a:lstStyle/>
          <a:p>
            <a:pPr marL="12700" marR="5080">
              <a:lnSpc>
                <a:spcPts val="4700"/>
              </a:lnSpc>
              <a:spcBef>
                <a:spcPts val="840"/>
              </a:spcBef>
            </a:pPr>
            <a:r>
              <a:rPr sz="4500" b="1" spc="-200" dirty="0">
                <a:solidFill>
                  <a:srgbClr val="FFFFFF"/>
                </a:solidFill>
                <a:latin typeface="Arial"/>
                <a:cs typeface="Arial"/>
              </a:rPr>
              <a:t>Top </a:t>
            </a:r>
            <a:r>
              <a:rPr sz="4500" b="1" spc="-195" dirty="0">
                <a:solidFill>
                  <a:srgbClr val="FFFFFF"/>
                </a:solidFill>
                <a:latin typeface="Arial"/>
                <a:cs typeface="Arial"/>
              </a:rPr>
              <a:t> </a:t>
            </a:r>
            <a:r>
              <a:rPr sz="4500" b="1" spc="340" dirty="0">
                <a:solidFill>
                  <a:srgbClr val="FFFFFF"/>
                </a:solidFill>
                <a:latin typeface="Arial"/>
                <a:cs typeface="Arial"/>
              </a:rPr>
              <a:t>M</a:t>
            </a:r>
            <a:r>
              <a:rPr sz="4500" b="1" spc="15" dirty="0">
                <a:solidFill>
                  <a:srgbClr val="FFFFFF"/>
                </a:solidFill>
                <a:latin typeface="Arial"/>
                <a:cs typeface="Arial"/>
              </a:rPr>
              <a:t>e</a:t>
            </a:r>
            <a:r>
              <a:rPr sz="4500" b="1" spc="355" dirty="0">
                <a:solidFill>
                  <a:srgbClr val="FFFFFF"/>
                </a:solidFill>
                <a:latin typeface="Arial"/>
                <a:cs typeface="Arial"/>
              </a:rPr>
              <a:t>t</a:t>
            </a:r>
            <a:r>
              <a:rPr sz="4500" b="1" spc="-10" dirty="0">
                <a:solidFill>
                  <a:srgbClr val="FFFFFF"/>
                </a:solidFill>
                <a:latin typeface="Arial"/>
                <a:cs typeface="Arial"/>
              </a:rPr>
              <a:t>h</a:t>
            </a:r>
            <a:r>
              <a:rPr sz="4500" b="1" spc="-150" dirty="0">
                <a:solidFill>
                  <a:srgbClr val="FFFFFF"/>
                </a:solidFill>
                <a:latin typeface="Arial"/>
                <a:cs typeface="Arial"/>
              </a:rPr>
              <a:t>o</a:t>
            </a:r>
            <a:r>
              <a:rPr sz="4500" b="1" spc="-145" dirty="0">
                <a:solidFill>
                  <a:srgbClr val="FFFFFF"/>
                </a:solidFill>
                <a:latin typeface="Arial"/>
                <a:cs typeface="Arial"/>
              </a:rPr>
              <a:t>d</a:t>
            </a:r>
            <a:r>
              <a:rPr sz="4500" b="1" spc="-140" dirty="0">
                <a:solidFill>
                  <a:srgbClr val="FFFFFF"/>
                </a:solidFill>
                <a:latin typeface="Arial"/>
                <a:cs typeface="Arial"/>
              </a:rPr>
              <a:t>o</a:t>
            </a:r>
            <a:r>
              <a:rPr sz="4500" b="1" spc="-70" dirty="0">
                <a:solidFill>
                  <a:srgbClr val="FFFFFF"/>
                </a:solidFill>
                <a:latin typeface="Arial"/>
                <a:cs typeface="Arial"/>
              </a:rPr>
              <a:t>l</a:t>
            </a:r>
            <a:r>
              <a:rPr sz="4500" b="1" spc="-185" dirty="0">
                <a:solidFill>
                  <a:srgbClr val="FFFFFF"/>
                </a:solidFill>
                <a:latin typeface="Arial"/>
                <a:cs typeface="Arial"/>
              </a:rPr>
              <a:t>o</a:t>
            </a:r>
            <a:r>
              <a:rPr sz="4500" b="1" spc="-280" dirty="0">
                <a:solidFill>
                  <a:srgbClr val="FFFFFF"/>
                </a:solidFill>
                <a:latin typeface="Arial"/>
                <a:cs typeface="Arial"/>
              </a:rPr>
              <a:t>g</a:t>
            </a:r>
            <a:r>
              <a:rPr sz="4500" b="1" spc="-114" dirty="0">
                <a:solidFill>
                  <a:srgbClr val="FFFFFF"/>
                </a:solidFill>
                <a:latin typeface="Arial"/>
                <a:cs typeface="Arial"/>
              </a:rPr>
              <a:t>i</a:t>
            </a:r>
            <a:r>
              <a:rPr sz="4500" b="1" spc="45" dirty="0">
                <a:solidFill>
                  <a:srgbClr val="FFFFFF"/>
                </a:solidFill>
                <a:latin typeface="Arial"/>
                <a:cs typeface="Arial"/>
              </a:rPr>
              <a:t>e</a:t>
            </a:r>
            <a:r>
              <a:rPr sz="4500" b="1" spc="-70" dirty="0">
                <a:solidFill>
                  <a:srgbClr val="FFFFFF"/>
                </a:solidFill>
                <a:latin typeface="Arial"/>
                <a:cs typeface="Arial"/>
              </a:rPr>
              <a:t>s  </a:t>
            </a:r>
            <a:r>
              <a:rPr sz="4500" b="1" spc="-145" dirty="0">
                <a:solidFill>
                  <a:srgbClr val="FFFFFF"/>
                </a:solidFill>
                <a:latin typeface="Arial"/>
                <a:cs typeface="Arial"/>
              </a:rPr>
              <a:t>U</a:t>
            </a:r>
            <a:r>
              <a:rPr sz="4500" b="1" spc="-385" dirty="0">
                <a:solidFill>
                  <a:srgbClr val="FFFFFF"/>
                </a:solidFill>
                <a:latin typeface="Arial"/>
                <a:cs typeface="Arial"/>
              </a:rPr>
              <a:t>s</a:t>
            </a:r>
            <a:r>
              <a:rPr sz="4500" b="1" spc="35" dirty="0">
                <a:solidFill>
                  <a:srgbClr val="FFFFFF"/>
                </a:solidFill>
                <a:latin typeface="Arial"/>
                <a:cs typeface="Arial"/>
              </a:rPr>
              <a:t>e</a:t>
            </a:r>
            <a:r>
              <a:rPr sz="4500" b="1" spc="145" dirty="0">
                <a:solidFill>
                  <a:srgbClr val="FFFFFF"/>
                </a:solidFill>
                <a:latin typeface="Arial"/>
                <a:cs typeface="Arial"/>
              </a:rPr>
              <a:t>d</a:t>
            </a:r>
            <a:r>
              <a:rPr sz="4500" b="1" spc="-535" dirty="0">
                <a:solidFill>
                  <a:srgbClr val="FFFFFF"/>
                </a:solidFill>
                <a:latin typeface="Arial"/>
                <a:cs typeface="Arial"/>
              </a:rPr>
              <a:t> </a:t>
            </a:r>
            <a:r>
              <a:rPr sz="4500" b="1" spc="300" dirty="0">
                <a:solidFill>
                  <a:srgbClr val="FFFFFF"/>
                </a:solidFill>
                <a:latin typeface="Arial"/>
                <a:cs typeface="Arial"/>
              </a:rPr>
              <a:t>t</a:t>
            </a:r>
            <a:r>
              <a:rPr sz="4500" b="1" spc="75" dirty="0">
                <a:solidFill>
                  <a:srgbClr val="FFFFFF"/>
                </a:solidFill>
                <a:latin typeface="Arial"/>
                <a:cs typeface="Arial"/>
              </a:rPr>
              <a:t>o  </a:t>
            </a:r>
            <a:r>
              <a:rPr sz="4500" b="1" spc="105" dirty="0">
                <a:solidFill>
                  <a:srgbClr val="FFFFFF"/>
                </a:solidFill>
                <a:latin typeface="Arial"/>
                <a:cs typeface="Arial"/>
              </a:rPr>
              <a:t>Implement </a:t>
            </a:r>
            <a:r>
              <a:rPr sz="4500" b="1" spc="110" dirty="0">
                <a:solidFill>
                  <a:srgbClr val="FFFFFF"/>
                </a:solidFill>
                <a:latin typeface="Arial"/>
                <a:cs typeface="Arial"/>
              </a:rPr>
              <a:t> </a:t>
            </a:r>
            <a:r>
              <a:rPr sz="4500" b="1" spc="-110" dirty="0">
                <a:solidFill>
                  <a:srgbClr val="FFFFFF"/>
                </a:solidFill>
                <a:latin typeface="Arial"/>
                <a:cs typeface="Arial"/>
              </a:rPr>
              <a:t>Agile</a:t>
            </a:r>
            <a:endParaRPr sz="4500">
              <a:latin typeface="Arial"/>
              <a:cs typeface="Arial"/>
            </a:endParaRPr>
          </a:p>
          <a:p>
            <a:pPr marL="12700" marR="35560">
              <a:lnSpc>
                <a:spcPct val="102099"/>
              </a:lnSpc>
              <a:spcBef>
                <a:spcPts val="1180"/>
              </a:spcBef>
            </a:pPr>
            <a:r>
              <a:rPr sz="1600" b="1" spc="10" dirty="0">
                <a:solidFill>
                  <a:srgbClr val="FFFFFF"/>
                </a:solidFill>
                <a:latin typeface="Arial"/>
                <a:cs typeface="Arial"/>
              </a:rPr>
              <a:t>There</a:t>
            </a:r>
            <a:r>
              <a:rPr sz="1600" b="1" spc="-190" dirty="0">
                <a:solidFill>
                  <a:srgbClr val="FFFFFF"/>
                </a:solidFill>
                <a:latin typeface="Arial"/>
                <a:cs typeface="Arial"/>
              </a:rPr>
              <a:t> </a:t>
            </a:r>
            <a:r>
              <a:rPr sz="1600" b="1" spc="55" dirty="0">
                <a:solidFill>
                  <a:srgbClr val="FFFFFF"/>
                </a:solidFill>
                <a:latin typeface="Arial"/>
                <a:cs typeface="Arial"/>
              </a:rPr>
              <a:t>are</a:t>
            </a:r>
            <a:r>
              <a:rPr sz="1600" b="1" spc="-190" dirty="0">
                <a:solidFill>
                  <a:srgbClr val="FFFFFF"/>
                </a:solidFill>
                <a:latin typeface="Arial"/>
                <a:cs typeface="Arial"/>
              </a:rPr>
              <a:t> </a:t>
            </a:r>
            <a:r>
              <a:rPr sz="1600" b="1" spc="105" dirty="0">
                <a:solidFill>
                  <a:srgbClr val="FFFFFF"/>
                </a:solidFill>
                <a:latin typeface="Arial"/>
                <a:cs typeface="Arial"/>
              </a:rPr>
              <a:t>a</a:t>
            </a:r>
            <a:r>
              <a:rPr sz="1600" b="1" spc="-190" dirty="0">
                <a:solidFill>
                  <a:srgbClr val="FFFFFF"/>
                </a:solidFill>
                <a:latin typeface="Arial"/>
                <a:cs typeface="Arial"/>
              </a:rPr>
              <a:t> </a:t>
            </a:r>
            <a:r>
              <a:rPr sz="1600" b="1" spc="40" dirty="0">
                <a:solidFill>
                  <a:srgbClr val="FFFFFF"/>
                </a:solidFill>
                <a:latin typeface="Arial"/>
                <a:cs typeface="Arial"/>
              </a:rPr>
              <a:t>number</a:t>
            </a:r>
            <a:r>
              <a:rPr sz="1600" b="1" spc="-190" dirty="0">
                <a:solidFill>
                  <a:srgbClr val="FFFFFF"/>
                </a:solidFill>
                <a:latin typeface="Arial"/>
                <a:cs typeface="Arial"/>
              </a:rPr>
              <a:t> </a:t>
            </a:r>
            <a:r>
              <a:rPr sz="1600" b="1" spc="40" dirty="0">
                <a:solidFill>
                  <a:srgbClr val="FFFFFF"/>
                </a:solidFill>
                <a:latin typeface="Arial"/>
                <a:cs typeface="Arial"/>
              </a:rPr>
              <a:t>of</a:t>
            </a:r>
            <a:r>
              <a:rPr sz="1600" b="1" spc="-190" dirty="0">
                <a:solidFill>
                  <a:srgbClr val="FFFFFF"/>
                </a:solidFill>
                <a:latin typeface="Arial"/>
                <a:cs typeface="Arial"/>
              </a:rPr>
              <a:t> </a:t>
            </a:r>
            <a:r>
              <a:rPr sz="1600" b="1" spc="-20" dirty="0">
                <a:solidFill>
                  <a:srgbClr val="FFFFFF"/>
                </a:solidFill>
                <a:latin typeface="Arial"/>
                <a:cs typeface="Arial"/>
              </a:rPr>
              <a:t>specific</a:t>
            </a:r>
            <a:r>
              <a:rPr sz="1600" b="1" spc="-190" dirty="0">
                <a:solidFill>
                  <a:srgbClr val="FFFFFF"/>
                </a:solidFill>
                <a:latin typeface="Arial"/>
                <a:cs typeface="Arial"/>
              </a:rPr>
              <a:t> </a:t>
            </a:r>
            <a:r>
              <a:rPr sz="1600" b="1" spc="5" dirty="0">
                <a:solidFill>
                  <a:srgbClr val="FFFFFF"/>
                </a:solidFill>
                <a:latin typeface="Arial"/>
                <a:cs typeface="Arial"/>
              </a:rPr>
              <a:t>methods </a:t>
            </a:r>
            <a:r>
              <a:rPr sz="1600" b="1" spc="10" dirty="0">
                <a:solidFill>
                  <a:srgbClr val="FFFFFF"/>
                </a:solidFill>
                <a:latin typeface="Arial"/>
                <a:cs typeface="Arial"/>
              </a:rPr>
              <a:t> </a:t>
            </a:r>
            <a:r>
              <a:rPr sz="1600" b="1" spc="130" dirty="0">
                <a:solidFill>
                  <a:srgbClr val="FFFFFF"/>
                </a:solidFill>
                <a:latin typeface="Arial"/>
                <a:cs typeface="Arial"/>
              </a:rPr>
              <a:t>w</a:t>
            </a:r>
            <a:r>
              <a:rPr sz="1600" b="1" spc="-15" dirty="0">
                <a:solidFill>
                  <a:srgbClr val="FFFFFF"/>
                </a:solidFill>
                <a:latin typeface="Arial"/>
                <a:cs typeface="Arial"/>
              </a:rPr>
              <a:t>i</a:t>
            </a:r>
            <a:r>
              <a:rPr sz="1600" b="1" spc="135" dirty="0">
                <a:solidFill>
                  <a:srgbClr val="FFFFFF"/>
                </a:solidFill>
                <a:latin typeface="Arial"/>
                <a:cs typeface="Arial"/>
              </a:rPr>
              <a:t>t</a:t>
            </a:r>
            <a:r>
              <a:rPr sz="1600" b="1" spc="5" dirty="0">
                <a:solidFill>
                  <a:srgbClr val="FFFFFF"/>
                </a:solidFill>
                <a:latin typeface="Arial"/>
                <a:cs typeface="Arial"/>
              </a:rPr>
              <a:t>h</a:t>
            </a:r>
            <a:r>
              <a:rPr sz="1600" b="1" spc="-5" dirty="0">
                <a:solidFill>
                  <a:srgbClr val="FFFFFF"/>
                </a:solidFill>
                <a:latin typeface="Arial"/>
                <a:cs typeface="Arial"/>
              </a:rPr>
              <a:t>i</a:t>
            </a:r>
            <a:r>
              <a:rPr sz="1600" b="1" spc="90" dirty="0">
                <a:solidFill>
                  <a:srgbClr val="FFFFFF"/>
                </a:solidFill>
                <a:latin typeface="Arial"/>
                <a:cs typeface="Arial"/>
              </a:rPr>
              <a:t>n</a:t>
            </a:r>
            <a:r>
              <a:rPr sz="1600" b="1" spc="-190" dirty="0">
                <a:solidFill>
                  <a:srgbClr val="FFFFFF"/>
                </a:solidFill>
                <a:latin typeface="Arial"/>
                <a:cs typeface="Arial"/>
              </a:rPr>
              <a:t> </a:t>
            </a:r>
            <a:r>
              <a:rPr sz="1600" b="1" spc="135" dirty="0">
                <a:solidFill>
                  <a:srgbClr val="FFFFFF"/>
                </a:solidFill>
                <a:latin typeface="Arial"/>
                <a:cs typeface="Arial"/>
              </a:rPr>
              <a:t>t</a:t>
            </a:r>
            <a:r>
              <a:rPr sz="1600" b="1" spc="5" dirty="0">
                <a:solidFill>
                  <a:srgbClr val="FFFFFF"/>
                </a:solidFill>
                <a:latin typeface="Arial"/>
                <a:cs typeface="Arial"/>
              </a:rPr>
              <a:t>h</a:t>
            </a:r>
            <a:r>
              <a:rPr sz="1600" b="1" spc="95" dirty="0">
                <a:solidFill>
                  <a:srgbClr val="FFFFFF"/>
                </a:solidFill>
                <a:latin typeface="Arial"/>
                <a:cs typeface="Arial"/>
              </a:rPr>
              <a:t>e</a:t>
            </a:r>
            <a:r>
              <a:rPr sz="1600" b="1" spc="-190" dirty="0">
                <a:solidFill>
                  <a:srgbClr val="FFFFFF"/>
                </a:solidFill>
                <a:latin typeface="Arial"/>
                <a:cs typeface="Arial"/>
              </a:rPr>
              <a:t> </a:t>
            </a:r>
            <a:r>
              <a:rPr sz="1600" b="1" spc="-40" dirty="0">
                <a:solidFill>
                  <a:srgbClr val="FFFFFF"/>
                </a:solidFill>
                <a:latin typeface="Arial"/>
                <a:cs typeface="Arial"/>
              </a:rPr>
              <a:t>A</a:t>
            </a:r>
            <a:r>
              <a:rPr sz="1600" b="1" spc="-90" dirty="0">
                <a:solidFill>
                  <a:srgbClr val="FFFFFF"/>
                </a:solidFill>
                <a:latin typeface="Arial"/>
                <a:cs typeface="Arial"/>
              </a:rPr>
              <a:t>g</a:t>
            </a:r>
            <a:r>
              <a:rPr sz="1600" b="1" spc="-5" dirty="0">
                <a:solidFill>
                  <a:srgbClr val="FFFFFF"/>
                </a:solidFill>
                <a:latin typeface="Arial"/>
                <a:cs typeface="Arial"/>
              </a:rPr>
              <a:t>i</a:t>
            </a:r>
            <a:r>
              <a:rPr sz="1600" b="1" spc="-30" dirty="0">
                <a:solidFill>
                  <a:srgbClr val="FFFFFF"/>
                </a:solidFill>
                <a:latin typeface="Arial"/>
                <a:cs typeface="Arial"/>
              </a:rPr>
              <a:t>l</a:t>
            </a:r>
            <a:r>
              <a:rPr sz="1600" b="1" spc="110" dirty="0">
                <a:solidFill>
                  <a:srgbClr val="FFFFFF"/>
                </a:solidFill>
                <a:latin typeface="Arial"/>
                <a:cs typeface="Arial"/>
              </a:rPr>
              <a:t>e</a:t>
            </a:r>
            <a:r>
              <a:rPr sz="1600" b="1" spc="-190" dirty="0">
                <a:solidFill>
                  <a:srgbClr val="FFFFFF"/>
                </a:solidFill>
                <a:latin typeface="Arial"/>
                <a:cs typeface="Arial"/>
              </a:rPr>
              <a:t> </a:t>
            </a:r>
            <a:r>
              <a:rPr sz="1600" b="1" spc="90" dirty="0">
                <a:solidFill>
                  <a:srgbClr val="FFFFFF"/>
                </a:solidFill>
                <a:latin typeface="Arial"/>
                <a:cs typeface="Arial"/>
              </a:rPr>
              <a:t>m</a:t>
            </a:r>
            <a:r>
              <a:rPr sz="1600" b="1" spc="-70" dirty="0">
                <a:solidFill>
                  <a:srgbClr val="FFFFFF"/>
                </a:solidFill>
                <a:latin typeface="Arial"/>
                <a:cs typeface="Arial"/>
              </a:rPr>
              <a:t>o</a:t>
            </a:r>
            <a:r>
              <a:rPr sz="1600" b="1" spc="-20" dirty="0">
                <a:solidFill>
                  <a:srgbClr val="FFFFFF"/>
                </a:solidFill>
                <a:latin typeface="Arial"/>
                <a:cs typeface="Arial"/>
              </a:rPr>
              <a:t>v</a:t>
            </a:r>
            <a:r>
              <a:rPr sz="1600" b="1" spc="20" dirty="0">
                <a:solidFill>
                  <a:srgbClr val="FFFFFF"/>
                </a:solidFill>
                <a:latin typeface="Arial"/>
                <a:cs typeface="Arial"/>
              </a:rPr>
              <a:t>e</a:t>
            </a:r>
            <a:r>
              <a:rPr sz="1600" b="1" spc="90" dirty="0">
                <a:solidFill>
                  <a:srgbClr val="FFFFFF"/>
                </a:solidFill>
                <a:latin typeface="Arial"/>
                <a:cs typeface="Arial"/>
              </a:rPr>
              <a:t>m</a:t>
            </a:r>
            <a:r>
              <a:rPr sz="1600" b="1" spc="20" dirty="0">
                <a:solidFill>
                  <a:srgbClr val="FFFFFF"/>
                </a:solidFill>
                <a:latin typeface="Arial"/>
                <a:cs typeface="Arial"/>
              </a:rPr>
              <a:t>e</a:t>
            </a:r>
            <a:r>
              <a:rPr sz="1600" b="1" dirty="0">
                <a:solidFill>
                  <a:srgbClr val="FFFFFF"/>
                </a:solidFill>
                <a:latin typeface="Arial"/>
                <a:cs typeface="Arial"/>
              </a:rPr>
              <a:t>n</a:t>
            </a:r>
            <a:r>
              <a:rPr sz="1600" b="1" spc="165" dirty="0">
                <a:solidFill>
                  <a:srgbClr val="FFFFFF"/>
                </a:solidFill>
                <a:latin typeface="Arial"/>
                <a:cs typeface="Arial"/>
              </a:rPr>
              <a:t>t</a:t>
            </a:r>
            <a:r>
              <a:rPr sz="1600" b="1" spc="15" dirty="0">
                <a:solidFill>
                  <a:srgbClr val="FFFFFF"/>
                </a:solidFill>
                <a:latin typeface="Arial"/>
                <a:cs typeface="Arial"/>
              </a:rPr>
              <a:t>.</a:t>
            </a:r>
            <a:r>
              <a:rPr sz="1600" b="1" spc="-190" dirty="0">
                <a:solidFill>
                  <a:srgbClr val="FFFFFF"/>
                </a:solidFill>
                <a:latin typeface="Arial"/>
                <a:cs typeface="Arial"/>
              </a:rPr>
              <a:t> </a:t>
            </a:r>
            <a:r>
              <a:rPr sz="1600" b="1" spc="30" dirty="0">
                <a:solidFill>
                  <a:srgbClr val="FFFFFF"/>
                </a:solidFill>
                <a:latin typeface="Arial"/>
                <a:cs typeface="Arial"/>
              </a:rPr>
              <a:t>W</a:t>
            </a:r>
            <a:r>
              <a:rPr sz="1600" b="1" spc="35" dirty="0">
                <a:solidFill>
                  <a:srgbClr val="FFFFFF"/>
                </a:solidFill>
                <a:latin typeface="Arial"/>
                <a:cs typeface="Arial"/>
              </a:rPr>
              <a:t>e</a:t>
            </a:r>
            <a:r>
              <a:rPr sz="1600" b="1" spc="-114" dirty="0">
                <a:solidFill>
                  <a:srgbClr val="FFFFFF"/>
                </a:solidFill>
                <a:latin typeface="Arial"/>
                <a:cs typeface="Arial"/>
              </a:rPr>
              <a:t>’</a:t>
            </a:r>
            <a:r>
              <a:rPr sz="1600" b="1" spc="-10" dirty="0">
                <a:solidFill>
                  <a:srgbClr val="FFFFFF"/>
                </a:solidFill>
                <a:latin typeface="Arial"/>
                <a:cs typeface="Arial"/>
              </a:rPr>
              <a:t>l</a:t>
            </a:r>
            <a:r>
              <a:rPr sz="1600" b="1" spc="70" dirty="0">
                <a:solidFill>
                  <a:srgbClr val="FFFFFF"/>
                </a:solidFill>
                <a:latin typeface="Arial"/>
                <a:cs typeface="Arial"/>
              </a:rPr>
              <a:t>l</a:t>
            </a:r>
            <a:r>
              <a:rPr sz="1600" b="1" spc="-190" dirty="0">
                <a:solidFill>
                  <a:srgbClr val="FFFFFF"/>
                </a:solidFill>
                <a:latin typeface="Arial"/>
                <a:cs typeface="Arial"/>
              </a:rPr>
              <a:t> </a:t>
            </a:r>
            <a:r>
              <a:rPr sz="1600" b="1" spc="130" dirty="0">
                <a:solidFill>
                  <a:srgbClr val="FFFFFF"/>
                </a:solidFill>
                <a:latin typeface="Arial"/>
                <a:cs typeface="Arial"/>
              </a:rPr>
              <a:t>t</a:t>
            </a:r>
            <a:r>
              <a:rPr sz="1600" b="1" spc="25" dirty="0">
                <a:solidFill>
                  <a:srgbClr val="FFFFFF"/>
                </a:solidFill>
                <a:latin typeface="Arial"/>
                <a:cs typeface="Arial"/>
              </a:rPr>
              <a:t>a</a:t>
            </a:r>
            <a:r>
              <a:rPr sz="1600" b="1" spc="40" dirty="0">
                <a:solidFill>
                  <a:srgbClr val="FFFFFF"/>
                </a:solidFill>
                <a:latin typeface="Arial"/>
                <a:cs typeface="Arial"/>
              </a:rPr>
              <a:t>k</a:t>
            </a:r>
            <a:r>
              <a:rPr sz="1600" b="1" spc="95" dirty="0">
                <a:solidFill>
                  <a:srgbClr val="FFFFFF"/>
                </a:solidFill>
                <a:latin typeface="Arial"/>
                <a:cs typeface="Arial"/>
              </a:rPr>
              <a:t>e</a:t>
            </a:r>
            <a:r>
              <a:rPr sz="1600" b="1" spc="-190" dirty="0">
                <a:solidFill>
                  <a:srgbClr val="FFFFFF"/>
                </a:solidFill>
                <a:latin typeface="Arial"/>
                <a:cs typeface="Arial"/>
              </a:rPr>
              <a:t> </a:t>
            </a:r>
            <a:r>
              <a:rPr sz="1600" b="1" spc="25" dirty="0">
                <a:solidFill>
                  <a:srgbClr val="FFFFFF"/>
                </a:solidFill>
                <a:latin typeface="Arial"/>
                <a:cs typeface="Arial"/>
              </a:rPr>
              <a:t>a</a:t>
            </a:r>
            <a:r>
              <a:rPr sz="1600" b="1" spc="60" dirty="0">
                <a:solidFill>
                  <a:srgbClr val="FFFFFF"/>
                </a:solidFill>
                <a:latin typeface="Arial"/>
                <a:cs typeface="Arial"/>
              </a:rPr>
              <a:t>n  </a:t>
            </a:r>
            <a:r>
              <a:rPr sz="1600" b="1" spc="-5" dirty="0">
                <a:solidFill>
                  <a:srgbClr val="FFFFFF"/>
                </a:solidFill>
                <a:latin typeface="Arial"/>
                <a:cs typeface="Arial"/>
              </a:rPr>
              <a:t>i</a:t>
            </a:r>
            <a:r>
              <a:rPr sz="1600" b="1" spc="55" dirty="0">
                <a:solidFill>
                  <a:srgbClr val="FFFFFF"/>
                </a:solidFill>
                <a:latin typeface="Arial"/>
                <a:cs typeface="Arial"/>
              </a:rPr>
              <a:t>n</a:t>
            </a:r>
            <a:r>
              <a:rPr sz="1600" b="1" spc="-45" dirty="0">
                <a:solidFill>
                  <a:srgbClr val="FFFFFF"/>
                </a:solidFill>
                <a:latin typeface="Arial"/>
                <a:cs typeface="Arial"/>
              </a:rPr>
              <a:t>-</a:t>
            </a:r>
            <a:r>
              <a:rPr sz="1600" b="1" spc="-30" dirty="0">
                <a:solidFill>
                  <a:srgbClr val="FFFFFF"/>
                </a:solidFill>
                <a:latin typeface="Arial"/>
                <a:cs typeface="Arial"/>
              </a:rPr>
              <a:t>d</a:t>
            </a:r>
            <a:r>
              <a:rPr sz="1600" b="1" spc="20" dirty="0">
                <a:solidFill>
                  <a:srgbClr val="FFFFFF"/>
                </a:solidFill>
                <a:latin typeface="Arial"/>
                <a:cs typeface="Arial"/>
              </a:rPr>
              <a:t>e</a:t>
            </a:r>
            <a:r>
              <a:rPr sz="1600" b="1" spc="75" dirty="0">
                <a:solidFill>
                  <a:srgbClr val="FFFFFF"/>
                </a:solidFill>
                <a:latin typeface="Arial"/>
                <a:cs typeface="Arial"/>
              </a:rPr>
              <a:t>p</a:t>
            </a:r>
            <a:r>
              <a:rPr sz="1600" b="1" spc="20" dirty="0">
                <a:solidFill>
                  <a:srgbClr val="FFFFFF"/>
                </a:solidFill>
                <a:latin typeface="Arial"/>
                <a:cs typeface="Arial"/>
              </a:rPr>
              <a:t>t</a:t>
            </a:r>
            <a:r>
              <a:rPr sz="1600" b="1" spc="90" dirty="0">
                <a:solidFill>
                  <a:srgbClr val="FFFFFF"/>
                </a:solidFill>
                <a:latin typeface="Arial"/>
                <a:cs typeface="Arial"/>
              </a:rPr>
              <a:t>h</a:t>
            </a:r>
            <a:r>
              <a:rPr sz="1600" b="1" spc="-190" dirty="0">
                <a:solidFill>
                  <a:srgbClr val="FFFFFF"/>
                </a:solidFill>
                <a:latin typeface="Arial"/>
                <a:cs typeface="Arial"/>
              </a:rPr>
              <a:t> </a:t>
            </a:r>
            <a:r>
              <a:rPr sz="1600" b="1" spc="-30" dirty="0">
                <a:solidFill>
                  <a:srgbClr val="FFFFFF"/>
                </a:solidFill>
                <a:latin typeface="Arial"/>
                <a:cs typeface="Arial"/>
              </a:rPr>
              <a:t>lo</a:t>
            </a:r>
            <a:r>
              <a:rPr sz="1600" b="1" spc="20" dirty="0">
                <a:solidFill>
                  <a:srgbClr val="FFFFFF"/>
                </a:solidFill>
                <a:latin typeface="Arial"/>
                <a:cs typeface="Arial"/>
              </a:rPr>
              <a:t>o</a:t>
            </a:r>
            <a:r>
              <a:rPr sz="1600" b="1" spc="95" dirty="0">
                <a:solidFill>
                  <a:srgbClr val="FFFFFF"/>
                </a:solidFill>
                <a:latin typeface="Arial"/>
                <a:cs typeface="Arial"/>
              </a:rPr>
              <a:t>k</a:t>
            </a:r>
            <a:r>
              <a:rPr sz="1600" b="1" spc="-190" dirty="0">
                <a:solidFill>
                  <a:srgbClr val="FFFFFF"/>
                </a:solidFill>
                <a:latin typeface="Arial"/>
                <a:cs typeface="Arial"/>
              </a:rPr>
              <a:t> </a:t>
            </a:r>
            <a:r>
              <a:rPr sz="1600" b="1" spc="15" dirty="0">
                <a:solidFill>
                  <a:srgbClr val="FFFFFF"/>
                </a:solidFill>
                <a:latin typeface="Arial"/>
                <a:cs typeface="Arial"/>
              </a:rPr>
              <a:t>a</a:t>
            </a:r>
            <a:r>
              <a:rPr sz="1600" b="1" spc="200" dirty="0">
                <a:solidFill>
                  <a:srgbClr val="FFFFFF"/>
                </a:solidFill>
                <a:latin typeface="Arial"/>
                <a:cs typeface="Arial"/>
              </a:rPr>
              <a:t>t</a:t>
            </a:r>
            <a:r>
              <a:rPr sz="1600" b="1" spc="-190" dirty="0">
                <a:solidFill>
                  <a:srgbClr val="FFFFFF"/>
                </a:solidFill>
                <a:latin typeface="Arial"/>
                <a:cs typeface="Arial"/>
              </a:rPr>
              <a:t> </a:t>
            </a:r>
            <a:r>
              <a:rPr sz="1600" b="1" spc="140" dirty="0">
                <a:solidFill>
                  <a:srgbClr val="FFFFFF"/>
                </a:solidFill>
                <a:latin typeface="Arial"/>
                <a:cs typeface="Arial"/>
              </a:rPr>
              <a:t>t</a:t>
            </a:r>
            <a:r>
              <a:rPr sz="1600" b="1" spc="105" dirty="0">
                <a:solidFill>
                  <a:srgbClr val="FFFFFF"/>
                </a:solidFill>
                <a:latin typeface="Arial"/>
                <a:cs typeface="Arial"/>
              </a:rPr>
              <a:t>w</a:t>
            </a:r>
            <a:r>
              <a:rPr sz="1600" b="1" spc="40" dirty="0">
                <a:solidFill>
                  <a:srgbClr val="FFFFFF"/>
                </a:solidFill>
                <a:latin typeface="Arial"/>
                <a:cs typeface="Arial"/>
              </a:rPr>
              <a:t>o</a:t>
            </a:r>
            <a:r>
              <a:rPr sz="1600" b="1" spc="-190" dirty="0">
                <a:solidFill>
                  <a:srgbClr val="FFFFFF"/>
                </a:solidFill>
                <a:latin typeface="Arial"/>
                <a:cs typeface="Arial"/>
              </a:rPr>
              <a:t> </a:t>
            </a:r>
            <a:r>
              <a:rPr sz="1600" b="1" spc="-45" dirty="0">
                <a:solidFill>
                  <a:srgbClr val="FFFFFF"/>
                </a:solidFill>
                <a:latin typeface="Arial"/>
                <a:cs typeface="Arial"/>
              </a:rPr>
              <a:t>o</a:t>
            </a:r>
            <a:r>
              <a:rPr sz="1600" b="1" spc="125" dirty="0">
                <a:solidFill>
                  <a:srgbClr val="FFFFFF"/>
                </a:solidFill>
                <a:latin typeface="Arial"/>
                <a:cs typeface="Arial"/>
              </a:rPr>
              <a:t>f</a:t>
            </a:r>
            <a:r>
              <a:rPr sz="1600" b="1" spc="-190" dirty="0">
                <a:solidFill>
                  <a:srgbClr val="FFFFFF"/>
                </a:solidFill>
                <a:latin typeface="Arial"/>
                <a:cs typeface="Arial"/>
              </a:rPr>
              <a:t> </a:t>
            </a:r>
            <a:r>
              <a:rPr sz="1600" b="1" spc="135" dirty="0">
                <a:solidFill>
                  <a:srgbClr val="FFFFFF"/>
                </a:solidFill>
                <a:latin typeface="Arial"/>
                <a:cs typeface="Arial"/>
              </a:rPr>
              <a:t>t</a:t>
            </a:r>
            <a:r>
              <a:rPr sz="1600" b="1" spc="5" dirty="0">
                <a:solidFill>
                  <a:srgbClr val="FFFFFF"/>
                </a:solidFill>
                <a:latin typeface="Arial"/>
                <a:cs typeface="Arial"/>
              </a:rPr>
              <a:t>h</a:t>
            </a:r>
            <a:r>
              <a:rPr sz="1600" b="1" spc="95" dirty="0">
                <a:solidFill>
                  <a:srgbClr val="FFFFFF"/>
                </a:solidFill>
                <a:latin typeface="Arial"/>
                <a:cs typeface="Arial"/>
              </a:rPr>
              <a:t>e</a:t>
            </a:r>
            <a:r>
              <a:rPr sz="1600" b="1" spc="-190" dirty="0">
                <a:solidFill>
                  <a:srgbClr val="FFFFFF"/>
                </a:solidFill>
                <a:latin typeface="Arial"/>
                <a:cs typeface="Arial"/>
              </a:rPr>
              <a:t> </a:t>
            </a:r>
            <a:r>
              <a:rPr sz="1600" b="1" spc="10" dirty="0">
                <a:solidFill>
                  <a:srgbClr val="FFFFFF"/>
                </a:solidFill>
                <a:latin typeface="Arial"/>
                <a:cs typeface="Arial"/>
              </a:rPr>
              <a:t>to</a:t>
            </a:r>
            <a:r>
              <a:rPr sz="1600" b="1" spc="114" dirty="0">
                <a:solidFill>
                  <a:srgbClr val="FFFFFF"/>
                </a:solidFill>
                <a:latin typeface="Arial"/>
                <a:cs typeface="Arial"/>
              </a:rPr>
              <a:t>p</a:t>
            </a:r>
            <a:r>
              <a:rPr sz="1600" b="1" spc="-190" dirty="0">
                <a:solidFill>
                  <a:srgbClr val="FFFFFF"/>
                </a:solidFill>
                <a:latin typeface="Arial"/>
                <a:cs typeface="Arial"/>
              </a:rPr>
              <a:t> </a:t>
            </a:r>
            <a:r>
              <a:rPr sz="1600" b="1" spc="-40" dirty="0">
                <a:solidFill>
                  <a:srgbClr val="FFFFFF"/>
                </a:solidFill>
                <a:latin typeface="Arial"/>
                <a:cs typeface="Arial"/>
              </a:rPr>
              <a:t>A</a:t>
            </a:r>
            <a:r>
              <a:rPr sz="1600" b="1" spc="-90" dirty="0">
                <a:solidFill>
                  <a:srgbClr val="FFFFFF"/>
                </a:solidFill>
                <a:latin typeface="Arial"/>
                <a:cs typeface="Arial"/>
              </a:rPr>
              <a:t>g</a:t>
            </a:r>
            <a:r>
              <a:rPr sz="1600" b="1" spc="-5" dirty="0">
                <a:solidFill>
                  <a:srgbClr val="FFFFFF"/>
                </a:solidFill>
                <a:latin typeface="Arial"/>
                <a:cs typeface="Arial"/>
              </a:rPr>
              <a:t>i</a:t>
            </a:r>
            <a:r>
              <a:rPr sz="1600" b="1" spc="-15" dirty="0">
                <a:solidFill>
                  <a:srgbClr val="FFFFFF"/>
                </a:solidFill>
                <a:latin typeface="Arial"/>
                <a:cs typeface="Arial"/>
              </a:rPr>
              <a:t>le  </a:t>
            </a:r>
            <a:r>
              <a:rPr sz="1600" b="1" spc="130" dirty="0">
                <a:solidFill>
                  <a:srgbClr val="FFFFFF"/>
                </a:solidFill>
                <a:latin typeface="Arial"/>
                <a:cs typeface="Arial"/>
              </a:rPr>
              <a:t>M</a:t>
            </a:r>
            <a:r>
              <a:rPr sz="1600" b="1" spc="15" dirty="0">
                <a:solidFill>
                  <a:srgbClr val="FFFFFF"/>
                </a:solidFill>
                <a:latin typeface="Arial"/>
                <a:cs typeface="Arial"/>
              </a:rPr>
              <a:t>e</a:t>
            </a:r>
            <a:r>
              <a:rPr sz="1600" b="1" spc="135" dirty="0">
                <a:solidFill>
                  <a:srgbClr val="FFFFFF"/>
                </a:solidFill>
                <a:latin typeface="Arial"/>
                <a:cs typeface="Arial"/>
              </a:rPr>
              <a:t>t</a:t>
            </a:r>
            <a:r>
              <a:rPr sz="1600" b="1" spc="5" dirty="0">
                <a:solidFill>
                  <a:srgbClr val="FFFFFF"/>
                </a:solidFill>
                <a:latin typeface="Arial"/>
                <a:cs typeface="Arial"/>
              </a:rPr>
              <a:t>h</a:t>
            </a:r>
            <a:r>
              <a:rPr sz="1600" b="1" spc="-40" dirty="0">
                <a:solidFill>
                  <a:srgbClr val="FFFFFF"/>
                </a:solidFill>
                <a:latin typeface="Arial"/>
                <a:cs typeface="Arial"/>
              </a:rPr>
              <a:t>o</a:t>
            </a:r>
            <a:r>
              <a:rPr sz="1600" b="1" spc="-35" dirty="0">
                <a:solidFill>
                  <a:srgbClr val="FFFFFF"/>
                </a:solidFill>
                <a:latin typeface="Arial"/>
                <a:cs typeface="Arial"/>
              </a:rPr>
              <a:t>d</a:t>
            </a:r>
            <a:r>
              <a:rPr sz="1600" b="1" spc="-40" dirty="0">
                <a:solidFill>
                  <a:srgbClr val="FFFFFF"/>
                </a:solidFill>
                <a:latin typeface="Arial"/>
                <a:cs typeface="Arial"/>
              </a:rPr>
              <a:t>ol</a:t>
            </a:r>
            <a:r>
              <a:rPr sz="1600" b="1" spc="-35" dirty="0">
                <a:solidFill>
                  <a:srgbClr val="FFFFFF"/>
                </a:solidFill>
                <a:latin typeface="Arial"/>
                <a:cs typeface="Arial"/>
              </a:rPr>
              <a:t>o</a:t>
            </a:r>
            <a:r>
              <a:rPr sz="1600" b="1" spc="-90" dirty="0">
                <a:solidFill>
                  <a:srgbClr val="FFFFFF"/>
                </a:solidFill>
                <a:latin typeface="Arial"/>
                <a:cs typeface="Arial"/>
              </a:rPr>
              <a:t>g</a:t>
            </a:r>
            <a:r>
              <a:rPr sz="1600" b="1" spc="-10" dirty="0">
                <a:solidFill>
                  <a:srgbClr val="FFFFFF"/>
                </a:solidFill>
                <a:latin typeface="Arial"/>
                <a:cs typeface="Arial"/>
              </a:rPr>
              <a:t>i</a:t>
            </a:r>
            <a:r>
              <a:rPr sz="1600" b="1" spc="10" dirty="0">
                <a:solidFill>
                  <a:srgbClr val="FFFFFF"/>
                </a:solidFill>
                <a:latin typeface="Arial"/>
                <a:cs typeface="Arial"/>
              </a:rPr>
              <a:t>e</a:t>
            </a:r>
            <a:r>
              <a:rPr sz="1600" b="1" spc="-120" dirty="0">
                <a:solidFill>
                  <a:srgbClr val="FFFFFF"/>
                </a:solidFill>
                <a:latin typeface="Arial"/>
                <a:cs typeface="Arial"/>
              </a:rPr>
              <a:t>s</a:t>
            </a:r>
            <a:r>
              <a:rPr sz="1600" b="1" spc="-75" dirty="0">
                <a:solidFill>
                  <a:srgbClr val="FFFFFF"/>
                </a:solidFill>
                <a:latin typeface="Arial"/>
                <a:cs typeface="Arial"/>
              </a:rPr>
              <a:t>:</a:t>
            </a:r>
            <a:r>
              <a:rPr sz="1600" b="1" spc="-190" dirty="0">
                <a:solidFill>
                  <a:srgbClr val="FFFFFF"/>
                </a:solidFill>
                <a:latin typeface="Arial"/>
                <a:cs typeface="Arial"/>
              </a:rPr>
              <a:t> </a:t>
            </a:r>
            <a:r>
              <a:rPr sz="1600" b="1" spc="-215" dirty="0">
                <a:solidFill>
                  <a:srgbClr val="FFFFFF"/>
                </a:solidFill>
                <a:latin typeface="Arial"/>
                <a:cs typeface="Arial"/>
              </a:rPr>
              <a:t>S</a:t>
            </a:r>
            <a:r>
              <a:rPr sz="1600" b="1" spc="-105" dirty="0">
                <a:solidFill>
                  <a:srgbClr val="FFFFFF"/>
                </a:solidFill>
                <a:latin typeface="Arial"/>
                <a:cs typeface="Arial"/>
              </a:rPr>
              <a:t>c</a:t>
            </a:r>
            <a:r>
              <a:rPr sz="1600" b="1" spc="50" dirty="0">
                <a:solidFill>
                  <a:srgbClr val="FFFFFF"/>
                </a:solidFill>
                <a:latin typeface="Arial"/>
                <a:cs typeface="Arial"/>
              </a:rPr>
              <a:t>r</a:t>
            </a:r>
            <a:r>
              <a:rPr sz="1600" b="1" spc="10" dirty="0">
                <a:solidFill>
                  <a:srgbClr val="FFFFFF"/>
                </a:solidFill>
                <a:latin typeface="Arial"/>
                <a:cs typeface="Arial"/>
              </a:rPr>
              <a:t>u</a:t>
            </a:r>
            <a:r>
              <a:rPr sz="1600" b="1" spc="175" dirty="0">
                <a:solidFill>
                  <a:srgbClr val="FFFFFF"/>
                </a:solidFill>
                <a:latin typeface="Arial"/>
                <a:cs typeface="Arial"/>
              </a:rPr>
              <a:t>m</a:t>
            </a:r>
            <a:r>
              <a:rPr sz="1600" b="1" spc="-190" dirty="0">
                <a:solidFill>
                  <a:srgbClr val="FFFFFF"/>
                </a:solidFill>
                <a:latin typeface="Arial"/>
                <a:cs typeface="Arial"/>
              </a:rPr>
              <a:t> </a:t>
            </a:r>
            <a:r>
              <a:rPr sz="1600" b="1" spc="25" dirty="0">
                <a:solidFill>
                  <a:srgbClr val="FFFFFF"/>
                </a:solidFill>
                <a:latin typeface="Arial"/>
                <a:cs typeface="Arial"/>
              </a:rPr>
              <a:t>a</a:t>
            </a:r>
            <a:r>
              <a:rPr sz="1600" b="1" spc="10" dirty="0">
                <a:solidFill>
                  <a:srgbClr val="FFFFFF"/>
                </a:solidFill>
                <a:latin typeface="Arial"/>
                <a:cs typeface="Arial"/>
              </a:rPr>
              <a:t>n</a:t>
            </a:r>
            <a:r>
              <a:rPr sz="1600" b="1" spc="50" dirty="0">
                <a:solidFill>
                  <a:srgbClr val="FFFFFF"/>
                </a:solidFill>
                <a:latin typeface="Arial"/>
                <a:cs typeface="Arial"/>
              </a:rPr>
              <a:t>d</a:t>
            </a:r>
            <a:r>
              <a:rPr sz="1600" b="1" spc="-190" dirty="0">
                <a:solidFill>
                  <a:srgbClr val="FFFFFF"/>
                </a:solidFill>
                <a:latin typeface="Arial"/>
                <a:cs typeface="Arial"/>
              </a:rPr>
              <a:t> </a:t>
            </a:r>
            <a:r>
              <a:rPr sz="1600" b="1" spc="-140" dirty="0">
                <a:solidFill>
                  <a:srgbClr val="FFFFFF"/>
                </a:solidFill>
                <a:latin typeface="Arial"/>
                <a:cs typeface="Arial"/>
              </a:rPr>
              <a:t>K</a:t>
            </a:r>
            <a:r>
              <a:rPr sz="1600" b="1" spc="25" dirty="0">
                <a:solidFill>
                  <a:srgbClr val="FFFFFF"/>
                </a:solidFill>
                <a:latin typeface="Arial"/>
                <a:cs typeface="Arial"/>
              </a:rPr>
              <a:t>a</a:t>
            </a:r>
            <a:r>
              <a:rPr sz="1600" b="1" spc="10" dirty="0">
                <a:solidFill>
                  <a:srgbClr val="FFFFFF"/>
                </a:solidFill>
                <a:latin typeface="Arial"/>
                <a:cs typeface="Arial"/>
              </a:rPr>
              <a:t>n</a:t>
            </a:r>
            <a:r>
              <a:rPr sz="1600" b="1" spc="-35" dirty="0">
                <a:solidFill>
                  <a:srgbClr val="FFFFFF"/>
                </a:solidFill>
                <a:latin typeface="Arial"/>
                <a:cs typeface="Arial"/>
              </a:rPr>
              <a:t>b</a:t>
            </a:r>
            <a:r>
              <a:rPr sz="1600" b="1" spc="25" dirty="0">
                <a:solidFill>
                  <a:srgbClr val="FFFFFF"/>
                </a:solidFill>
                <a:latin typeface="Arial"/>
                <a:cs typeface="Arial"/>
              </a:rPr>
              <a:t>a</a:t>
            </a:r>
            <a:r>
              <a:rPr sz="1600" b="1" spc="30" dirty="0">
                <a:solidFill>
                  <a:srgbClr val="FFFFFF"/>
                </a:solidFill>
                <a:latin typeface="Arial"/>
                <a:cs typeface="Arial"/>
              </a:rPr>
              <a:t>n</a:t>
            </a:r>
            <a:r>
              <a:rPr sz="1600" b="1" spc="15" dirty="0">
                <a:solidFill>
                  <a:srgbClr val="FFFFFF"/>
                </a:solidFill>
                <a:latin typeface="Arial"/>
                <a:cs typeface="Arial"/>
              </a:rPr>
              <a:t>.</a:t>
            </a:r>
            <a:endParaRPr sz="1600">
              <a:latin typeface="Arial"/>
              <a:cs typeface="Arial"/>
            </a:endParaRPr>
          </a:p>
        </p:txBody>
      </p:sp>
      <p:sp>
        <p:nvSpPr>
          <p:cNvPr id="9" name="object 9"/>
          <p:cNvSpPr/>
          <p:nvPr/>
        </p:nvSpPr>
        <p:spPr>
          <a:xfrm>
            <a:off x="5321287" y="1057389"/>
            <a:ext cx="1033780" cy="857250"/>
          </a:xfrm>
          <a:custGeom>
            <a:avLst/>
            <a:gdLst/>
            <a:ahLst/>
            <a:cxnLst/>
            <a:rect l="l" t="t" r="r" b="b"/>
            <a:pathLst>
              <a:path w="1033779" h="857250">
                <a:moveTo>
                  <a:pt x="530479" y="122072"/>
                </a:moveTo>
                <a:lnTo>
                  <a:pt x="462038" y="122072"/>
                </a:lnTo>
                <a:lnTo>
                  <a:pt x="437997" y="81622"/>
                </a:lnTo>
                <a:lnTo>
                  <a:pt x="405714" y="47879"/>
                </a:lnTo>
                <a:lnTo>
                  <a:pt x="388670" y="36652"/>
                </a:lnTo>
                <a:lnTo>
                  <a:pt x="366674" y="22148"/>
                </a:lnTo>
                <a:lnTo>
                  <a:pt x="322440" y="5753"/>
                </a:lnTo>
                <a:lnTo>
                  <a:pt x="274497" y="0"/>
                </a:lnTo>
                <a:lnTo>
                  <a:pt x="227507" y="5422"/>
                </a:lnTo>
                <a:lnTo>
                  <a:pt x="184353" y="20878"/>
                </a:lnTo>
                <a:lnTo>
                  <a:pt x="146253" y="45123"/>
                </a:lnTo>
                <a:lnTo>
                  <a:pt x="114452" y="76923"/>
                </a:lnTo>
                <a:lnTo>
                  <a:pt x="90208" y="115023"/>
                </a:lnTo>
                <a:lnTo>
                  <a:pt x="74752" y="158191"/>
                </a:lnTo>
                <a:lnTo>
                  <a:pt x="69329" y="205181"/>
                </a:lnTo>
                <a:lnTo>
                  <a:pt x="74752" y="252171"/>
                </a:lnTo>
                <a:lnTo>
                  <a:pt x="90208" y="295325"/>
                </a:lnTo>
                <a:lnTo>
                  <a:pt x="114452" y="333425"/>
                </a:lnTo>
                <a:lnTo>
                  <a:pt x="146253" y="365213"/>
                </a:lnTo>
                <a:lnTo>
                  <a:pt x="184353" y="389458"/>
                </a:lnTo>
                <a:lnTo>
                  <a:pt x="227507" y="404914"/>
                </a:lnTo>
                <a:lnTo>
                  <a:pt x="274497" y="410349"/>
                </a:lnTo>
                <a:lnTo>
                  <a:pt x="281330" y="410349"/>
                </a:lnTo>
                <a:lnTo>
                  <a:pt x="288137" y="409968"/>
                </a:lnTo>
                <a:lnTo>
                  <a:pt x="294919" y="409295"/>
                </a:lnTo>
                <a:lnTo>
                  <a:pt x="293662" y="420103"/>
                </a:lnTo>
                <a:lnTo>
                  <a:pt x="292760" y="431012"/>
                </a:lnTo>
                <a:lnTo>
                  <a:pt x="292214" y="442010"/>
                </a:lnTo>
                <a:lnTo>
                  <a:pt x="292023" y="453110"/>
                </a:lnTo>
                <a:lnTo>
                  <a:pt x="296087" y="505206"/>
                </a:lnTo>
                <a:lnTo>
                  <a:pt x="307873" y="554774"/>
                </a:lnTo>
                <a:lnTo>
                  <a:pt x="326745" y="601192"/>
                </a:lnTo>
                <a:lnTo>
                  <a:pt x="352094" y="643851"/>
                </a:lnTo>
                <a:lnTo>
                  <a:pt x="383298" y="682129"/>
                </a:lnTo>
                <a:lnTo>
                  <a:pt x="335851" y="729589"/>
                </a:lnTo>
                <a:lnTo>
                  <a:pt x="460946" y="729589"/>
                </a:lnTo>
                <a:lnTo>
                  <a:pt x="460946" y="681393"/>
                </a:lnTo>
                <a:lnTo>
                  <a:pt x="460946" y="604494"/>
                </a:lnTo>
                <a:lnTo>
                  <a:pt x="409219" y="656209"/>
                </a:lnTo>
                <a:lnTo>
                  <a:pt x="381685" y="622211"/>
                </a:lnTo>
                <a:lnTo>
                  <a:pt x="359308" y="584352"/>
                </a:lnTo>
                <a:lnTo>
                  <a:pt x="342658" y="543204"/>
                </a:lnTo>
                <a:lnTo>
                  <a:pt x="332257" y="499275"/>
                </a:lnTo>
                <a:lnTo>
                  <a:pt x="328676" y="453110"/>
                </a:lnTo>
                <a:lnTo>
                  <a:pt x="332359" y="409295"/>
                </a:lnTo>
                <a:lnTo>
                  <a:pt x="333184" y="399478"/>
                </a:lnTo>
                <a:lnTo>
                  <a:pt x="340004" y="373697"/>
                </a:lnTo>
                <a:lnTo>
                  <a:pt x="346379" y="349542"/>
                </a:lnTo>
                <a:lnTo>
                  <a:pt x="367753" y="303834"/>
                </a:lnTo>
                <a:lnTo>
                  <a:pt x="396798" y="262915"/>
                </a:lnTo>
                <a:lnTo>
                  <a:pt x="433006" y="227342"/>
                </a:lnTo>
                <a:lnTo>
                  <a:pt x="407035" y="201383"/>
                </a:lnTo>
                <a:lnTo>
                  <a:pt x="370890" y="237020"/>
                </a:lnTo>
                <a:lnTo>
                  <a:pt x="341376" y="277279"/>
                </a:lnTo>
                <a:lnTo>
                  <a:pt x="318477" y="322110"/>
                </a:lnTo>
                <a:lnTo>
                  <a:pt x="302158" y="371436"/>
                </a:lnTo>
                <a:lnTo>
                  <a:pt x="295300" y="372414"/>
                </a:lnTo>
                <a:lnTo>
                  <a:pt x="288391" y="373126"/>
                </a:lnTo>
                <a:lnTo>
                  <a:pt x="281457" y="373557"/>
                </a:lnTo>
                <a:lnTo>
                  <a:pt x="274497" y="373697"/>
                </a:lnTo>
                <a:lnTo>
                  <a:pt x="229743" y="367665"/>
                </a:lnTo>
                <a:lnTo>
                  <a:pt x="189509" y="350647"/>
                </a:lnTo>
                <a:lnTo>
                  <a:pt x="155397" y="324281"/>
                </a:lnTo>
                <a:lnTo>
                  <a:pt x="129019" y="290156"/>
                </a:lnTo>
                <a:lnTo>
                  <a:pt x="112014" y="249923"/>
                </a:lnTo>
                <a:lnTo>
                  <a:pt x="105981" y="205181"/>
                </a:lnTo>
                <a:lnTo>
                  <a:pt x="112014" y="160426"/>
                </a:lnTo>
                <a:lnTo>
                  <a:pt x="129019" y="120180"/>
                </a:lnTo>
                <a:lnTo>
                  <a:pt x="155397" y="86067"/>
                </a:lnTo>
                <a:lnTo>
                  <a:pt x="189509" y="59690"/>
                </a:lnTo>
                <a:lnTo>
                  <a:pt x="229743" y="42684"/>
                </a:lnTo>
                <a:lnTo>
                  <a:pt x="274497" y="36652"/>
                </a:lnTo>
                <a:lnTo>
                  <a:pt x="319278" y="42799"/>
                </a:lnTo>
                <a:lnTo>
                  <a:pt x="359867" y="60147"/>
                </a:lnTo>
                <a:lnTo>
                  <a:pt x="394373" y="87109"/>
                </a:lnTo>
                <a:lnTo>
                  <a:pt x="420966" y="122072"/>
                </a:lnTo>
                <a:lnTo>
                  <a:pt x="353580" y="122072"/>
                </a:lnTo>
                <a:lnTo>
                  <a:pt x="442036" y="210527"/>
                </a:lnTo>
                <a:lnTo>
                  <a:pt x="530479" y="122072"/>
                </a:lnTo>
                <a:close/>
              </a:path>
              <a:path w="1033779" h="857250">
                <a:moveTo>
                  <a:pt x="959599" y="453110"/>
                </a:moveTo>
                <a:lnTo>
                  <a:pt x="955979" y="403860"/>
                </a:lnTo>
                <a:lnTo>
                  <a:pt x="945451" y="356819"/>
                </a:lnTo>
                <a:lnTo>
                  <a:pt x="928535" y="312521"/>
                </a:lnTo>
                <a:lnTo>
                  <a:pt x="905751" y="271487"/>
                </a:lnTo>
                <a:lnTo>
                  <a:pt x="877633" y="234238"/>
                </a:lnTo>
                <a:lnTo>
                  <a:pt x="844689" y="201295"/>
                </a:lnTo>
                <a:lnTo>
                  <a:pt x="807440" y="173164"/>
                </a:lnTo>
                <a:lnTo>
                  <a:pt x="766406" y="150393"/>
                </a:lnTo>
                <a:lnTo>
                  <a:pt x="722109" y="133477"/>
                </a:lnTo>
                <a:lnTo>
                  <a:pt x="675068" y="122948"/>
                </a:lnTo>
                <a:lnTo>
                  <a:pt x="625805" y="119316"/>
                </a:lnTo>
                <a:lnTo>
                  <a:pt x="605180" y="119672"/>
                </a:lnTo>
                <a:lnTo>
                  <a:pt x="586384" y="120967"/>
                </a:lnTo>
                <a:lnTo>
                  <a:pt x="568007" y="123609"/>
                </a:lnTo>
                <a:lnTo>
                  <a:pt x="548614" y="127977"/>
                </a:lnTo>
                <a:lnTo>
                  <a:pt x="480187" y="196405"/>
                </a:lnTo>
                <a:lnTo>
                  <a:pt x="513956" y="178638"/>
                </a:lnTo>
                <a:lnTo>
                  <a:pt x="548767" y="166014"/>
                </a:lnTo>
                <a:lnTo>
                  <a:pt x="585685" y="158470"/>
                </a:lnTo>
                <a:lnTo>
                  <a:pt x="625805" y="155968"/>
                </a:lnTo>
                <a:lnTo>
                  <a:pt x="673938" y="159867"/>
                </a:lnTo>
                <a:lnTo>
                  <a:pt x="719632" y="171145"/>
                </a:lnTo>
                <a:lnTo>
                  <a:pt x="762241" y="189191"/>
                </a:lnTo>
                <a:lnTo>
                  <a:pt x="801179" y="213385"/>
                </a:lnTo>
                <a:lnTo>
                  <a:pt x="835825" y="243103"/>
                </a:lnTo>
                <a:lnTo>
                  <a:pt x="865543" y="277736"/>
                </a:lnTo>
                <a:lnTo>
                  <a:pt x="889736" y="316674"/>
                </a:lnTo>
                <a:lnTo>
                  <a:pt x="907783" y="359295"/>
                </a:lnTo>
                <a:lnTo>
                  <a:pt x="919060" y="404977"/>
                </a:lnTo>
                <a:lnTo>
                  <a:pt x="922947" y="453110"/>
                </a:lnTo>
                <a:lnTo>
                  <a:pt x="919060" y="501243"/>
                </a:lnTo>
                <a:lnTo>
                  <a:pt x="907783" y="546938"/>
                </a:lnTo>
                <a:lnTo>
                  <a:pt x="889736" y="589546"/>
                </a:lnTo>
                <a:lnTo>
                  <a:pt x="865543" y="628484"/>
                </a:lnTo>
                <a:lnTo>
                  <a:pt x="835825" y="663117"/>
                </a:lnTo>
                <a:lnTo>
                  <a:pt x="801179" y="692835"/>
                </a:lnTo>
                <a:lnTo>
                  <a:pt x="762241" y="717029"/>
                </a:lnTo>
                <a:lnTo>
                  <a:pt x="719632" y="735076"/>
                </a:lnTo>
                <a:lnTo>
                  <a:pt x="673938" y="746353"/>
                </a:lnTo>
                <a:lnTo>
                  <a:pt x="625805" y="750239"/>
                </a:lnTo>
                <a:lnTo>
                  <a:pt x="587171" y="747737"/>
                </a:lnTo>
                <a:lnTo>
                  <a:pt x="550024" y="740422"/>
                </a:lnTo>
                <a:lnTo>
                  <a:pt x="514667" y="728637"/>
                </a:lnTo>
                <a:lnTo>
                  <a:pt x="481431" y="712685"/>
                </a:lnTo>
                <a:lnTo>
                  <a:pt x="481431" y="750074"/>
                </a:lnTo>
                <a:lnTo>
                  <a:pt x="473697" y="750074"/>
                </a:lnTo>
                <a:lnTo>
                  <a:pt x="473913" y="750189"/>
                </a:lnTo>
                <a:lnTo>
                  <a:pt x="0" y="750239"/>
                </a:lnTo>
                <a:lnTo>
                  <a:pt x="0" y="786904"/>
                </a:lnTo>
                <a:lnTo>
                  <a:pt x="625805" y="786904"/>
                </a:lnTo>
                <a:lnTo>
                  <a:pt x="666165" y="784466"/>
                </a:lnTo>
                <a:lnTo>
                  <a:pt x="705104" y="777341"/>
                </a:lnTo>
                <a:lnTo>
                  <a:pt x="742327" y="765835"/>
                </a:lnTo>
                <a:lnTo>
                  <a:pt x="777582" y="750239"/>
                </a:lnTo>
                <a:lnTo>
                  <a:pt x="816394" y="726897"/>
                </a:lnTo>
                <a:lnTo>
                  <a:pt x="851560" y="698665"/>
                </a:lnTo>
                <a:lnTo>
                  <a:pt x="882611" y="666026"/>
                </a:lnTo>
                <a:lnTo>
                  <a:pt x="909066" y="629450"/>
                </a:lnTo>
                <a:lnTo>
                  <a:pt x="930478" y="589407"/>
                </a:lnTo>
                <a:lnTo>
                  <a:pt x="946340" y="546354"/>
                </a:lnTo>
                <a:lnTo>
                  <a:pt x="956208" y="500773"/>
                </a:lnTo>
                <a:lnTo>
                  <a:pt x="959599" y="453110"/>
                </a:lnTo>
                <a:close/>
              </a:path>
              <a:path w="1033779" h="857250">
                <a:moveTo>
                  <a:pt x="1033348" y="768578"/>
                </a:moveTo>
                <a:lnTo>
                  <a:pt x="1015022" y="750252"/>
                </a:lnTo>
                <a:lnTo>
                  <a:pt x="944892" y="680135"/>
                </a:lnTo>
                <a:lnTo>
                  <a:pt x="944892" y="750252"/>
                </a:lnTo>
                <a:lnTo>
                  <a:pt x="822591" y="750252"/>
                </a:lnTo>
                <a:lnTo>
                  <a:pt x="802690" y="761187"/>
                </a:lnTo>
                <a:lnTo>
                  <a:pt x="777671" y="773125"/>
                </a:lnTo>
                <a:lnTo>
                  <a:pt x="750087" y="782802"/>
                </a:lnTo>
                <a:lnTo>
                  <a:pt x="722477" y="786904"/>
                </a:lnTo>
                <a:lnTo>
                  <a:pt x="944892" y="786904"/>
                </a:lnTo>
                <a:lnTo>
                  <a:pt x="944892" y="857046"/>
                </a:lnTo>
                <a:lnTo>
                  <a:pt x="1033348" y="768578"/>
                </a:lnTo>
                <a:close/>
              </a:path>
            </a:pathLst>
          </a:custGeom>
          <a:solidFill>
            <a:srgbClr val="3F95F0"/>
          </a:solidFill>
        </p:spPr>
        <p:txBody>
          <a:bodyPr wrap="square" lIns="0" tIns="0" rIns="0" bIns="0" rtlCol="0"/>
          <a:lstStyle/>
          <a:p>
            <a:endParaRPr/>
          </a:p>
        </p:txBody>
      </p:sp>
      <p:sp>
        <p:nvSpPr>
          <p:cNvPr id="10" name="object 10"/>
          <p:cNvSpPr txBox="1">
            <a:spLocks noGrp="1"/>
          </p:cNvSpPr>
          <p:nvPr>
            <p:ph type="title"/>
          </p:nvPr>
        </p:nvSpPr>
        <p:spPr>
          <a:xfrm>
            <a:off x="6581783" y="1120338"/>
            <a:ext cx="1749425" cy="711200"/>
          </a:xfrm>
          <a:prstGeom prst="rect">
            <a:avLst/>
          </a:prstGeom>
        </p:spPr>
        <p:txBody>
          <a:bodyPr vert="horz" wrap="square" lIns="0" tIns="12700" rIns="0" bIns="0" rtlCol="0">
            <a:spAutoFit/>
          </a:bodyPr>
          <a:lstStyle/>
          <a:p>
            <a:pPr marL="12700">
              <a:lnSpc>
                <a:spcPct val="100000"/>
              </a:lnSpc>
              <a:spcBef>
                <a:spcPts val="100"/>
              </a:spcBef>
            </a:pPr>
            <a:r>
              <a:rPr spc="-125" dirty="0"/>
              <a:t>Scrum</a:t>
            </a:r>
          </a:p>
        </p:txBody>
      </p:sp>
      <p:sp>
        <p:nvSpPr>
          <p:cNvPr id="11" name="object 11"/>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13</a:t>
            </a:r>
            <a:endParaRPr spc="35" dirty="0"/>
          </a:p>
        </p:txBody>
      </p:sp>
      <p:sp>
        <p:nvSpPr>
          <p:cNvPr id="12" name="object 12"/>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a:t>
            </a:r>
            <a:r>
              <a:rPr lang="en-MY" spc="-40" dirty="0"/>
              <a:t>g</a:t>
            </a:r>
            <a:r>
              <a:rPr lang="en-MY" spc="-45" dirty="0"/>
              <a:t>i</a:t>
            </a:r>
            <a:r>
              <a:rPr lang="en-MY" spc="-35" dirty="0"/>
              <a:t>l</a:t>
            </a:r>
            <a:r>
              <a:rPr lang="en-MY" dirty="0"/>
              <a:t>e</a:t>
            </a:r>
            <a:r>
              <a:rPr lang="en-MY" spc="-60" dirty="0"/>
              <a:t> </a:t>
            </a:r>
            <a:r>
              <a:rPr lang="en-MY" spc="-35" dirty="0"/>
              <a:t>Methodology</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5029200" cy="5943600"/>
          </a:xfrm>
          <a:custGeom>
            <a:avLst/>
            <a:gdLst/>
            <a:ahLst/>
            <a:cxnLst/>
            <a:rect l="l" t="t" r="r" b="b"/>
            <a:pathLst>
              <a:path w="5029200" h="5943600">
                <a:moveTo>
                  <a:pt x="5029200" y="0"/>
                </a:moveTo>
                <a:lnTo>
                  <a:pt x="0" y="0"/>
                </a:lnTo>
                <a:lnTo>
                  <a:pt x="0" y="5943600"/>
                </a:lnTo>
                <a:lnTo>
                  <a:pt x="5029200" y="5943600"/>
                </a:lnTo>
                <a:lnTo>
                  <a:pt x="5029200" y="0"/>
                </a:lnTo>
                <a:close/>
              </a:path>
            </a:pathLst>
          </a:custGeom>
          <a:solidFill>
            <a:srgbClr val="0072EB"/>
          </a:solidFill>
        </p:spPr>
        <p:txBody>
          <a:bodyPr wrap="square" lIns="0" tIns="0" rIns="0" bIns="0" rtlCol="0"/>
          <a:lstStyle/>
          <a:p>
            <a:endParaRPr/>
          </a:p>
        </p:txBody>
      </p:sp>
      <p:sp>
        <p:nvSpPr>
          <p:cNvPr id="3" name="object 3"/>
          <p:cNvSpPr txBox="1">
            <a:spLocks noGrp="1"/>
          </p:cNvSpPr>
          <p:nvPr>
            <p:ph type="title"/>
          </p:nvPr>
        </p:nvSpPr>
        <p:spPr>
          <a:xfrm>
            <a:off x="526368" y="510301"/>
            <a:ext cx="3601720" cy="1308100"/>
          </a:xfrm>
          <a:prstGeom prst="rect">
            <a:avLst/>
          </a:prstGeom>
        </p:spPr>
        <p:txBody>
          <a:bodyPr vert="horz" wrap="square" lIns="0" tIns="106680" rIns="0" bIns="0" rtlCol="0">
            <a:spAutoFit/>
          </a:bodyPr>
          <a:lstStyle/>
          <a:p>
            <a:pPr marL="12700" marR="5080">
              <a:lnSpc>
                <a:spcPts val="4700"/>
              </a:lnSpc>
              <a:spcBef>
                <a:spcPts val="840"/>
              </a:spcBef>
            </a:pPr>
            <a:r>
              <a:rPr spc="-125" dirty="0"/>
              <a:t>Scrum </a:t>
            </a:r>
            <a:r>
              <a:rPr spc="-120" dirty="0"/>
              <a:t> </a:t>
            </a:r>
            <a:r>
              <a:rPr spc="340" dirty="0"/>
              <a:t>M</a:t>
            </a:r>
            <a:r>
              <a:rPr spc="15" dirty="0"/>
              <a:t>e</a:t>
            </a:r>
            <a:r>
              <a:rPr spc="355" dirty="0"/>
              <a:t>t</a:t>
            </a:r>
            <a:r>
              <a:rPr spc="-10" dirty="0"/>
              <a:t>h</a:t>
            </a:r>
            <a:r>
              <a:rPr spc="-150" dirty="0"/>
              <a:t>o</a:t>
            </a:r>
            <a:r>
              <a:rPr spc="-125" dirty="0"/>
              <a:t>d</a:t>
            </a:r>
            <a:r>
              <a:rPr spc="-140" dirty="0"/>
              <a:t>ol</a:t>
            </a:r>
            <a:r>
              <a:rPr spc="-125" dirty="0"/>
              <a:t>o</a:t>
            </a:r>
            <a:r>
              <a:rPr spc="-140" dirty="0"/>
              <a:t>g</a:t>
            </a:r>
            <a:r>
              <a:rPr spc="240" dirty="0"/>
              <a:t>y</a:t>
            </a:r>
          </a:p>
        </p:txBody>
      </p:sp>
      <p:sp>
        <p:nvSpPr>
          <p:cNvPr id="4" name="object 4"/>
          <p:cNvSpPr txBox="1"/>
          <p:nvPr/>
        </p:nvSpPr>
        <p:spPr>
          <a:xfrm>
            <a:off x="526368" y="1953021"/>
            <a:ext cx="3573779" cy="2620010"/>
          </a:xfrm>
          <a:prstGeom prst="rect">
            <a:avLst/>
          </a:prstGeom>
        </p:spPr>
        <p:txBody>
          <a:bodyPr vert="horz" wrap="square" lIns="0" tIns="7620" rIns="0" bIns="0" rtlCol="0">
            <a:spAutoFit/>
          </a:bodyPr>
          <a:lstStyle/>
          <a:p>
            <a:pPr marL="12700" marR="66040">
              <a:lnSpc>
                <a:spcPct val="102099"/>
              </a:lnSpc>
              <a:spcBef>
                <a:spcPts val="60"/>
              </a:spcBef>
            </a:pPr>
            <a:r>
              <a:rPr sz="1600" b="1" spc="-215" dirty="0">
                <a:solidFill>
                  <a:srgbClr val="FFFFFF"/>
                </a:solidFill>
                <a:latin typeface="Arial"/>
                <a:cs typeface="Arial"/>
              </a:rPr>
              <a:t>S</a:t>
            </a:r>
            <a:r>
              <a:rPr sz="1600" b="1" spc="-105" dirty="0">
                <a:solidFill>
                  <a:srgbClr val="FFFFFF"/>
                </a:solidFill>
                <a:latin typeface="Arial"/>
                <a:cs typeface="Arial"/>
              </a:rPr>
              <a:t>c</a:t>
            </a:r>
            <a:r>
              <a:rPr sz="1600" b="1" spc="50" dirty="0">
                <a:solidFill>
                  <a:srgbClr val="FFFFFF"/>
                </a:solidFill>
                <a:latin typeface="Arial"/>
                <a:cs typeface="Arial"/>
              </a:rPr>
              <a:t>r</a:t>
            </a:r>
            <a:r>
              <a:rPr sz="1600" b="1" spc="10" dirty="0">
                <a:solidFill>
                  <a:srgbClr val="FFFFFF"/>
                </a:solidFill>
                <a:latin typeface="Arial"/>
                <a:cs typeface="Arial"/>
              </a:rPr>
              <a:t>u</a:t>
            </a:r>
            <a:r>
              <a:rPr sz="1600" b="1" spc="175" dirty="0">
                <a:solidFill>
                  <a:srgbClr val="FFFFFF"/>
                </a:solidFill>
                <a:latin typeface="Arial"/>
                <a:cs typeface="Arial"/>
              </a:rPr>
              <a:t>m</a:t>
            </a:r>
            <a:r>
              <a:rPr sz="1600" b="1" spc="-190" dirty="0">
                <a:solidFill>
                  <a:srgbClr val="FFFFFF"/>
                </a:solidFill>
                <a:latin typeface="Arial"/>
                <a:cs typeface="Arial"/>
              </a:rPr>
              <a:t> </a:t>
            </a:r>
            <a:r>
              <a:rPr sz="1600" b="1" spc="-10" dirty="0">
                <a:solidFill>
                  <a:srgbClr val="FFFFFF"/>
                </a:solidFill>
                <a:latin typeface="Arial"/>
                <a:cs typeface="Arial"/>
              </a:rPr>
              <a:t>i</a:t>
            </a:r>
            <a:r>
              <a:rPr sz="1600" b="1" spc="-40" dirty="0">
                <a:solidFill>
                  <a:srgbClr val="FFFFFF"/>
                </a:solidFill>
                <a:latin typeface="Arial"/>
                <a:cs typeface="Arial"/>
              </a:rPr>
              <a:t>s</a:t>
            </a:r>
            <a:r>
              <a:rPr sz="1600" b="1" spc="-190" dirty="0">
                <a:solidFill>
                  <a:srgbClr val="FFFFFF"/>
                </a:solidFill>
                <a:latin typeface="Arial"/>
                <a:cs typeface="Arial"/>
              </a:rPr>
              <a:t> </a:t>
            </a:r>
            <a:r>
              <a:rPr sz="1600" b="1" spc="105" dirty="0">
                <a:solidFill>
                  <a:srgbClr val="FFFFFF"/>
                </a:solidFill>
                <a:latin typeface="Arial"/>
                <a:cs typeface="Arial"/>
              </a:rPr>
              <a:t>a</a:t>
            </a:r>
            <a:r>
              <a:rPr sz="1600" b="1" spc="-190" dirty="0">
                <a:solidFill>
                  <a:srgbClr val="FFFFFF"/>
                </a:solidFill>
                <a:latin typeface="Arial"/>
                <a:cs typeface="Arial"/>
              </a:rPr>
              <a:t> </a:t>
            </a:r>
            <a:r>
              <a:rPr sz="1600" b="1" spc="-125" dirty="0">
                <a:solidFill>
                  <a:srgbClr val="FFFFFF"/>
                </a:solidFill>
                <a:latin typeface="Arial"/>
                <a:cs typeface="Arial"/>
              </a:rPr>
              <a:t>s</a:t>
            </a:r>
            <a:r>
              <a:rPr sz="1600" b="1" spc="10" dirty="0">
                <a:solidFill>
                  <a:srgbClr val="FFFFFF"/>
                </a:solidFill>
                <a:latin typeface="Arial"/>
                <a:cs typeface="Arial"/>
              </a:rPr>
              <a:t>u</a:t>
            </a:r>
            <a:r>
              <a:rPr sz="1600" b="1" spc="-40" dirty="0">
                <a:solidFill>
                  <a:srgbClr val="FFFFFF"/>
                </a:solidFill>
                <a:latin typeface="Arial"/>
                <a:cs typeface="Arial"/>
              </a:rPr>
              <a:t>b</a:t>
            </a:r>
            <a:r>
              <a:rPr sz="1600" b="1" spc="-125" dirty="0">
                <a:solidFill>
                  <a:srgbClr val="FFFFFF"/>
                </a:solidFill>
                <a:latin typeface="Arial"/>
                <a:cs typeface="Arial"/>
              </a:rPr>
              <a:t>s</a:t>
            </a:r>
            <a:r>
              <a:rPr sz="1600" b="1" spc="15" dirty="0">
                <a:solidFill>
                  <a:srgbClr val="FFFFFF"/>
                </a:solidFill>
                <a:latin typeface="Arial"/>
                <a:cs typeface="Arial"/>
              </a:rPr>
              <a:t>e</a:t>
            </a:r>
            <a:r>
              <a:rPr sz="1600" b="1" spc="200" dirty="0">
                <a:solidFill>
                  <a:srgbClr val="FFFFFF"/>
                </a:solidFill>
                <a:latin typeface="Arial"/>
                <a:cs typeface="Arial"/>
              </a:rPr>
              <a:t>t</a:t>
            </a:r>
            <a:r>
              <a:rPr sz="1600" b="1" spc="-190" dirty="0">
                <a:solidFill>
                  <a:srgbClr val="FFFFFF"/>
                </a:solidFill>
                <a:latin typeface="Arial"/>
                <a:cs typeface="Arial"/>
              </a:rPr>
              <a:t> </a:t>
            </a:r>
            <a:r>
              <a:rPr sz="1600" b="1" spc="-45" dirty="0">
                <a:solidFill>
                  <a:srgbClr val="FFFFFF"/>
                </a:solidFill>
                <a:latin typeface="Arial"/>
                <a:cs typeface="Arial"/>
              </a:rPr>
              <a:t>o</a:t>
            </a:r>
            <a:r>
              <a:rPr sz="1600" b="1" spc="125" dirty="0">
                <a:solidFill>
                  <a:srgbClr val="FFFFFF"/>
                </a:solidFill>
                <a:latin typeface="Arial"/>
                <a:cs typeface="Arial"/>
              </a:rPr>
              <a:t>f</a:t>
            </a:r>
            <a:r>
              <a:rPr sz="1600" b="1" spc="-190" dirty="0">
                <a:solidFill>
                  <a:srgbClr val="FFFFFF"/>
                </a:solidFill>
                <a:latin typeface="Arial"/>
                <a:cs typeface="Arial"/>
              </a:rPr>
              <a:t> </a:t>
            </a:r>
            <a:r>
              <a:rPr sz="1600" b="1" spc="-40" dirty="0">
                <a:solidFill>
                  <a:srgbClr val="FFFFFF"/>
                </a:solidFill>
                <a:latin typeface="Arial"/>
                <a:cs typeface="Arial"/>
              </a:rPr>
              <a:t>A</a:t>
            </a:r>
            <a:r>
              <a:rPr sz="1600" b="1" spc="-90" dirty="0">
                <a:solidFill>
                  <a:srgbClr val="FFFFFF"/>
                </a:solidFill>
                <a:latin typeface="Arial"/>
                <a:cs typeface="Arial"/>
              </a:rPr>
              <a:t>g</a:t>
            </a:r>
            <a:r>
              <a:rPr sz="1600" b="1" spc="-5" dirty="0">
                <a:solidFill>
                  <a:srgbClr val="FFFFFF"/>
                </a:solidFill>
                <a:latin typeface="Arial"/>
                <a:cs typeface="Arial"/>
              </a:rPr>
              <a:t>i</a:t>
            </a:r>
            <a:r>
              <a:rPr sz="1600" b="1" spc="-30" dirty="0">
                <a:solidFill>
                  <a:srgbClr val="FFFFFF"/>
                </a:solidFill>
                <a:latin typeface="Arial"/>
                <a:cs typeface="Arial"/>
              </a:rPr>
              <a:t>l</a:t>
            </a:r>
            <a:r>
              <a:rPr sz="1600" b="1" spc="110" dirty="0">
                <a:solidFill>
                  <a:srgbClr val="FFFFFF"/>
                </a:solidFill>
                <a:latin typeface="Arial"/>
                <a:cs typeface="Arial"/>
              </a:rPr>
              <a:t>e</a:t>
            </a:r>
            <a:r>
              <a:rPr sz="1600" b="1" spc="-190" dirty="0">
                <a:solidFill>
                  <a:srgbClr val="FFFFFF"/>
                </a:solidFill>
                <a:latin typeface="Arial"/>
                <a:cs typeface="Arial"/>
              </a:rPr>
              <a:t> </a:t>
            </a:r>
            <a:r>
              <a:rPr sz="1600" b="1" spc="25" dirty="0">
                <a:solidFill>
                  <a:srgbClr val="FFFFFF"/>
                </a:solidFill>
                <a:latin typeface="Arial"/>
                <a:cs typeface="Arial"/>
              </a:rPr>
              <a:t>a</a:t>
            </a:r>
            <a:r>
              <a:rPr sz="1600" b="1" spc="10" dirty="0">
                <a:solidFill>
                  <a:srgbClr val="FFFFFF"/>
                </a:solidFill>
                <a:latin typeface="Arial"/>
                <a:cs typeface="Arial"/>
              </a:rPr>
              <a:t>n</a:t>
            </a:r>
            <a:r>
              <a:rPr sz="1600" b="1" spc="50" dirty="0">
                <a:solidFill>
                  <a:srgbClr val="FFFFFF"/>
                </a:solidFill>
                <a:latin typeface="Arial"/>
                <a:cs typeface="Arial"/>
              </a:rPr>
              <a:t>d</a:t>
            </a:r>
            <a:r>
              <a:rPr sz="1600" b="1" spc="-190" dirty="0">
                <a:solidFill>
                  <a:srgbClr val="FFFFFF"/>
                </a:solidFill>
                <a:latin typeface="Arial"/>
                <a:cs typeface="Arial"/>
              </a:rPr>
              <a:t> </a:t>
            </a:r>
            <a:r>
              <a:rPr sz="1600" b="1" spc="-20" dirty="0">
                <a:solidFill>
                  <a:srgbClr val="FFFFFF"/>
                </a:solidFill>
                <a:latin typeface="Arial"/>
                <a:cs typeface="Arial"/>
              </a:rPr>
              <a:t>on</a:t>
            </a:r>
            <a:r>
              <a:rPr sz="1600" b="1" spc="95" dirty="0">
                <a:solidFill>
                  <a:srgbClr val="FFFFFF"/>
                </a:solidFill>
                <a:latin typeface="Arial"/>
                <a:cs typeface="Arial"/>
              </a:rPr>
              <a:t>e</a:t>
            </a:r>
            <a:r>
              <a:rPr sz="1600" b="1" spc="-190" dirty="0">
                <a:solidFill>
                  <a:srgbClr val="FFFFFF"/>
                </a:solidFill>
                <a:latin typeface="Arial"/>
                <a:cs typeface="Arial"/>
              </a:rPr>
              <a:t> </a:t>
            </a:r>
            <a:r>
              <a:rPr sz="1600" b="1" spc="-45" dirty="0">
                <a:solidFill>
                  <a:srgbClr val="FFFFFF"/>
                </a:solidFill>
                <a:latin typeface="Arial"/>
                <a:cs typeface="Arial"/>
              </a:rPr>
              <a:t>o</a:t>
            </a:r>
            <a:r>
              <a:rPr sz="1600" b="1" spc="110" dirty="0">
                <a:solidFill>
                  <a:srgbClr val="FFFFFF"/>
                </a:solidFill>
                <a:latin typeface="Arial"/>
                <a:cs typeface="Arial"/>
              </a:rPr>
              <a:t>f  </a:t>
            </a:r>
            <a:r>
              <a:rPr sz="1600" b="1" spc="135" dirty="0">
                <a:solidFill>
                  <a:srgbClr val="FFFFFF"/>
                </a:solidFill>
                <a:latin typeface="Arial"/>
                <a:cs typeface="Arial"/>
              </a:rPr>
              <a:t>t</a:t>
            </a:r>
            <a:r>
              <a:rPr sz="1600" b="1" spc="5" dirty="0">
                <a:solidFill>
                  <a:srgbClr val="FFFFFF"/>
                </a:solidFill>
                <a:latin typeface="Arial"/>
                <a:cs typeface="Arial"/>
              </a:rPr>
              <a:t>h</a:t>
            </a:r>
            <a:r>
              <a:rPr sz="1600" b="1" spc="95" dirty="0">
                <a:solidFill>
                  <a:srgbClr val="FFFFFF"/>
                </a:solidFill>
                <a:latin typeface="Arial"/>
                <a:cs typeface="Arial"/>
              </a:rPr>
              <a:t>e</a:t>
            </a:r>
            <a:r>
              <a:rPr sz="1600" b="1" spc="-190" dirty="0">
                <a:solidFill>
                  <a:srgbClr val="FFFFFF"/>
                </a:solidFill>
                <a:latin typeface="Arial"/>
                <a:cs typeface="Arial"/>
              </a:rPr>
              <a:t> </a:t>
            </a:r>
            <a:r>
              <a:rPr sz="1600" b="1" spc="90" dirty="0">
                <a:solidFill>
                  <a:srgbClr val="FFFFFF"/>
                </a:solidFill>
                <a:latin typeface="Arial"/>
                <a:cs typeface="Arial"/>
              </a:rPr>
              <a:t>m</a:t>
            </a:r>
            <a:r>
              <a:rPr sz="1600" b="1" spc="-55" dirty="0">
                <a:solidFill>
                  <a:srgbClr val="FFFFFF"/>
                </a:solidFill>
                <a:latin typeface="Arial"/>
                <a:cs typeface="Arial"/>
              </a:rPr>
              <a:t>o</a:t>
            </a:r>
            <a:r>
              <a:rPr sz="1600" b="1" spc="-114" dirty="0">
                <a:solidFill>
                  <a:srgbClr val="FFFFFF"/>
                </a:solidFill>
                <a:latin typeface="Arial"/>
                <a:cs typeface="Arial"/>
              </a:rPr>
              <a:t>s</a:t>
            </a:r>
            <a:r>
              <a:rPr sz="1600" b="1" spc="200" dirty="0">
                <a:solidFill>
                  <a:srgbClr val="FFFFFF"/>
                </a:solidFill>
                <a:latin typeface="Arial"/>
                <a:cs typeface="Arial"/>
              </a:rPr>
              <a:t>t</a:t>
            </a:r>
            <a:r>
              <a:rPr sz="1600" b="1" spc="-190" dirty="0">
                <a:solidFill>
                  <a:srgbClr val="FFFFFF"/>
                </a:solidFill>
                <a:latin typeface="Arial"/>
                <a:cs typeface="Arial"/>
              </a:rPr>
              <a:t> </a:t>
            </a:r>
            <a:r>
              <a:rPr sz="1600" b="1" spc="-30" dirty="0">
                <a:solidFill>
                  <a:srgbClr val="FFFFFF"/>
                </a:solidFill>
                <a:latin typeface="Arial"/>
                <a:cs typeface="Arial"/>
              </a:rPr>
              <a:t>p</a:t>
            </a:r>
            <a:r>
              <a:rPr sz="1600" b="1" spc="-40" dirty="0">
                <a:solidFill>
                  <a:srgbClr val="FFFFFF"/>
                </a:solidFill>
                <a:latin typeface="Arial"/>
                <a:cs typeface="Arial"/>
              </a:rPr>
              <a:t>o</a:t>
            </a:r>
            <a:r>
              <a:rPr sz="1600" b="1" spc="-35" dirty="0">
                <a:solidFill>
                  <a:srgbClr val="FFFFFF"/>
                </a:solidFill>
                <a:latin typeface="Arial"/>
                <a:cs typeface="Arial"/>
              </a:rPr>
              <a:t>p</a:t>
            </a:r>
            <a:r>
              <a:rPr sz="1600" b="1" spc="10" dirty="0">
                <a:solidFill>
                  <a:srgbClr val="FFFFFF"/>
                </a:solidFill>
                <a:latin typeface="Arial"/>
                <a:cs typeface="Arial"/>
              </a:rPr>
              <a:t>u</a:t>
            </a:r>
            <a:r>
              <a:rPr sz="1600" b="1" spc="-15" dirty="0">
                <a:solidFill>
                  <a:srgbClr val="FFFFFF"/>
                </a:solidFill>
                <a:latin typeface="Arial"/>
                <a:cs typeface="Arial"/>
              </a:rPr>
              <a:t>l</a:t>
            </a:r>
            <a:r>
              <a:rPr sz="1600" b="1" spc="25" dirty="0">
                <a:solidFill>
                  <a:srgbClr val="FFFFFF"/>
                </a:solidFill>
                <a:latin typeface="Arial"/>
                <a:cs typeface="Arial"/>
              </a:rPr>
              <a:t>a</a:t>
            </a:r>
            <a:r>
              <a:rPr sz="1600" b="1" spc="125" dirty="0">
                <a:solidFill>
                  <a:srgbClr val="FFFFFF"/>
                </a:solidFill>
                <a:latin typeface="Arial"/>
                <a:cs typeface="Arial"/>
              </a:rPr>
              <a:t>r</a:t>
            </a:r>
            <a:r>
              <a:rPr sz="1600" b="1" spc="-190" dirty="0">
                <a:solidFill>
                  <a:srgbClr val="FFFFFF"/>
                </a:solidFill>
                <a:latin typeface="Arial"/>
                <a:cs typeface="Arial"/>
              </a:rPr>
              <a:t> </a:t>
            </a:r>
            <a:r>
              <a:rPr sz="1600" b="1" spc="-25" dirty="0">
                <a:solidFill>
                  <a:srgbClr val="FFFFFF"/>
                </a:solidFill>
                <a:latin typeface="Arial"/>
                <a:cs typeface="Arial"/>
              </a:rPr>
              <a:t>p</a:t>
            </a:r>
            <a:r>
              <a:rPr sz="1600" b="1" spc="45" dirty="0">
                <a:solidFill>
                  <a:srgbClr val="FFFFFF"/>
                </a:solidFill>
                <a:latin typeface="Arial"/>
                <a:cs typeface="Arial"/>
              </a:rPr>
              <a:t>r</a:t>
            </a:r>
            <a:r>
              <a:rPr sz="1600" b="1" spc="-45" dirty="0">
                <a:solidFill>
                  <a:srgbClr val="FFFFFF"/>
                </a:solidFill>
                <a:latin typeface="Arial"/>
                <a:cs typeface="Arial"/>
              </a:rPr>
              <a:t>o</a:t>
            </a:r>
            <a:r>
              <a:rPr sz="1600" b="1" spc="-114" dirty="0">
                <a:solidFill>
                  <a:srgbClr val="FFFFFF"/>
                </a:solidFill>
                <a:latin typeface="Arial"/>
                <a:cs typeface="Arial"/>
              </a:rPr>
              <a:t>c</a:t>
            </a:r>
            <a:r>
              <a:rPr sz="1600" b="1" spc="10" dirty="0">
                <a:solidFill>
                  <a:srgbClr val="FFFFFF"/>
                </a:solidFill>
                <a:latin typeface="Arial"/>
                <a:cs typeface="Arial"/>
              </a:rPr>
              <a:t>e</a:t>
            </a:r>
            <a:r>
              <a:rPr sz="1600" b="1" spc="-125" dirty="0">
                <a:solidFill>
                  <a:srgbClr val="FFFFFF"/>
                </a:solidFill>
                <a:latin typeface="Arial"/>
                <a:cs typeface="Arial"/>
              </a:rPr>
              <a:t>s</a:t>
            </a:r>
            <a:r>
              <a:rPr sz="1600" b="1" spc="-25" dirty="0">
                <a:solidFill>
                  <a:srgbClr val="FFFFFF"/>
                </a:solidFill>
                <a:latin typeface="Arial"/>
                <a:cs typeface="Arial"/>
              </a:rPr>
              <a:t>s  </a:t>
            </a:r>
            <a:r>
              <a:rPr sz="1600" b="1" spc="50" dirty="0">
                <a:solidFill>
                  <a:srgbClr val="FFFFFF"/>
                </a:solidFill>
                <a:latin typeface="Arial"/>
                <a:cs typeface="Arial"/>
              </a:rPr>
              <a:t>f</a:t>
            </a:r>
            <a:r>
              <a:rPr sz="1600" b="1" spc="25" dirty="0">
                <a:solidFill>
                  <a:srgbClr val="FFFFFF"/>
                </a:solidFill>
                <a:latin typeface="Arial"/>
                <a:cs typeface="Arial"/>
              </a:rPr>
              <a:t>ra</a:t>
            </a:r>
            <a:r>
              <a:rPr sz="1600" b="1" spc="90" dirty="0">
                <a:solidFill>
                  <a:srgbClr val="FFFFFF"/>
                </a:solidFill>
                <a:latin typeface="Arial"/>
                <a:cs typeface="Arial"/>
              </a:rPr>
              <a:t>m</a:t>
            </a:r>
            <a:r>
              <a:rPr sz="1600" b="1" dirty="0">
                <a:solidFill>
                  <a:srgbClr val="FFFFFF"/>
                </a:solidFill>
                <a:latin typeface="Arial"/>
                <a:cs typeface="Arial"/>
              </a:rPr>
              <a:t>e</a:t>
            </a:r>
            <a:r>
              <a:rPr sz="1600" b="1" spc="105" dirty="0">
                <a:solidFill>
                  <a:srgbClr val="FFFFFF"/>
                </a:solidFill>
                <a:latin typeface="Arial"/>
                <a:cs typeface="Arial"/>
              </a:rPr>
              <a:t>w</a:t>
            </a:r>
            <a:r>
              <a:rPr sz="1600" b="1" spc="15" dirty="0">
                <a:solidFill>
                  <a:srgbClr val="FFFFFF"/>
                </a:solidFill>
                <a:latin typeface="Arial"/>
                <a:cs typeface="Arial"/>
              </a:rPr>
              <a:t>o</a:t>
            </a:r>
            <a:r>
              <a:rPr sz="1600" b="1" spc="-15" dirty="0">
                <a:solidFill>
                  <a:srgbClr val="FFFFFF"/>
                </a:solidFill>
                <a:latin typeface="Arial"/>
                <a:cs typeface="Arial"/>
              </a:rPr>
              <a:t>r</a:t>
            </a:r>
            <a:r>
              <a:rPr sz="1600" b="1" spc="95" dirty="0">
                <a:solidFill>
                  <a:srgbClr val="FFFFFF"/>
                </a:solidFill>
                <a:latin typeface="Arial"/>
                <a:cs typeface="Arial"/>
              </a:rPr>
              <a:t>k</a:t>
            </a:r>
            <a:r>
              <a:rPr sz="1600" b="1" spc="-40" dirty="0">
                <a:solidFill>
                  <a:srgbClr val="FFFFFF"/>
                </a:solidFill>
                <a:latin typeface="Arial"/>
                <a:cs typeface="Arial"/>
              </a:rPr>
              <a:t>s</a:t>
            </a:r>
            <a:r>
              <a:rPr sz="1600" b="1" spc="-190" dirty="0">
                <a:solidFill>
                  <a:srgbClr val="FFFFFF"/>
                </a:solidFill>
                <a:latin typeface="Arial"/>
                <a:cs typeface="Arial"/>
              </a:rPr>
              <a:t> </a:t>
            </a:r>
            <a:r>
              <a:rPr sz="1600" b="1" spc="50" dirty="0">
                <a:solidFill>
                  <a:srgbClr val="FFFFFF"/>
                </a:solidFill>
                <a:latin typeface="Arial"/>
                <a:cs typeface="Arial"/>
              </a:rPr>
              <a:t>f</a:t>
            </a:r>
            <a:r>
              <a:rPr sz="1600" b="1" spc="15" dirty="0">
                <a:solidFill>
                  <a:srgbClr val="FFFFFF"/>
                </a:solidFill>
                <a:latin typeface="Arial"/>
                <a:cs typeface="Arial"/>
              </a:rPr>
              <a:t>o</a:t>
            </a:r>
            <a:r>
              <a:rPr sz="1600" b="1" spc="65" dirty="0">
                <a:solidFill>
                  <a:srgbClr val="FFFFFF"/>
                </a:solidFill>
                <a:latin typeface="Arial"/>
                <a:cs typeface="Arial"/>
              </a:rPr>
              <a:t>r</a:t>
            </a:r>
            <a:r>
              <a:rPr sz="1600" b="1" spc="-190" dirty="0">
                <a:solidFill>
                  <a:srgbClr val="FFFFFF"/>
                </a:solidFill>
                <a:latin typeface="Arial"/>
                <a:cs typeface="Arial"/>
              </a:rPr>
              <a:t> </a:t>
            </a:r>
            <a:r>
              <a:rPr sz="1600" b="1" spc="-5" dirty="0">
                <a:solidFill>
                  <a:srgbClr val="FFFFFF"/>
                </a:solidFill>
                <a:latin typeface="Arial"/>
                <a:cs typeface="Arial"/>
              </a:rPr>
              <a:t>i</a:t>
            </a:r>
            <a:r>
              <a:rPr sz="1600" b="1" spc="95" dirty="0">
                <a:solidFill>
                  <a:srgbClr val="FFFFFF"/>
                </a:solidFill>
                <a:latin typeface="Arial"/>
                <a:cs typeface="Arial"/>
              </a:rPr>
              <a:t>m</a:t>
            </a:r>
            <a:r>
              <a:rPr sz="1600" b="1" spc="-25" dirty="0">
                <a:solidFill>
                  <a:srgbClr val="FFFFFF"/>
                </a:solidFill>
                <a:latin typeface="Arial"/>
                <a:cs typeface="Arial"/>
              </a:rPr>
              <a:t>p</a:t>
            </a:r>
            <a:r>
              <a:rPr sz="1600" b="1" spc="-30" dirty="0">
                <a:solidFill>
                  <a:srgbClr val="FFFFFF"/>
                </a:solidFill>
                <a:latin typeface="Arial"/>
                <a:cs typeface="Arial"/>
              </a:rPr>
              <a:t>l</a:t>
            </a:r>
            <a:r>
              <a:rPr sz="1600" b="1" spc="35" dirty="0">
                <a:solidFill>
                  <a:srgbClr val="FFFFFF"/>
                </a:solidFill>
                <a:latin typeface="Arial"/>
                <a:cs typeface="Arial"/>
              </a:rPr>
              <a:t>e</a:t>
            </a:r>
            <a:r>
              <a:rPr sz="1600" b="1" spc="90" dirty="0">
                <a:solidFill>
                  <a:srgbClr val="FFFFFF"/>
                </a:solidFill>
                <a:latin typeface="Arial"/>
                <a:cs typeface="Arial"/>
              </a:rPr>
              <a:t>m</a:t>
            </a:r>
            <a:r>
              <a:rPr sz="1600" b="1" spc="20" dirty="0">
                <a:solidFill>
                  <a:srgbClr val="FFFFFF"/>
                </a:solidFill>
                <a:latin typeface="Arial"/>
                <a:cs typeface="Arial"/>
              </a:rPr>
              <a:t>e</a:t>
            </a:r>
            <a:r>
              <a:rPr sz="1600" b="1" dirty="0">
                <a:solidFill>
                  <a:srgbClr val="FFFFFF"/>
                </a:solidFill>
                <a:latin typeface="Arial"/>
                <a:cs typeface="Arial"/>
              </a:rPr>
              <a:t>n</a:t>
            </a:r>
            <a:r>
              <a:rPr sz="1600" b="1" spc="135" dirty="0">
                <a:solidFill>
                  <a:srgbClr val="FFFFFF"/>
                </a:solidFill>
                <a:latin typeface="Arial"/>
                <a:cs typeface="Arial"/>
              </a:rPr>
              <a:t>t</a:t>
            </a:r>
            <a:r>
              <a:rPr sz="1600" b="1" spc="-5" dirty="0">
                <a:solidFill>
                  <a:srgbClr val="FFFFFF"/>
                </a:solidFill>
                <a:latin typeface="Arial"/>
                <a:cs typeface="Arial"/>
              </a:rPr>
              <a:t>i</a:t>
            </a:r>
            <a:r>
              <a:rPr sz="1600" b="1" dirty="0">
                <a:solidFill>
                  <a:srgbClr val="FFFFFF"/>
                </a:solidFill>
                <a:latin typeface="Arial"/>
                <a:cs typeface="Arial"/>
              </a:rPr>
              <a:t>n</a:t>
            </a:r>
            <a:r>
              <a:rPr sz="1600" b="1" spc="-10" dirty="0">
                <a:solidFill>
                  <a:srgbClr val="FFFFFF"/>
                </a:solidFill>
                <a:latin typeface="Arial"/>
                <a:cs typeface="Arial"/>
              </a:rPr>
              <a:t>g</a:t>
            </a:r>
            <a:r>
              <a:rPr sz="1600" b="1" spc="-190" dirty="0">
                <a:solidFill>
                  <a:srgbClr val="FFFFFF"/>
                </a:solidFill>
                <a:latin typeface="Arial"/>
                <a:cs typeface="Arial"/>
              </a:rPr>
              <a:t> </a:t>
            </a:r>
            <a:r>
              <a:rPr sz="1600" b="1" spc="-40" dirty="0">
                <a:solidFill>
                  <a:srgbClr val="FFFFFF"/>
                </a:solidFill>
                <a:latin typeface="Arial"/>
                <a:cs typeface="Arial"/>
              </a:rPr>
              <a:t>A</a:t>
            </a:r>
            <a:r>
              <a:rPr sz="1600" b="1" spc="-90" dirty="0">
                <a:solidFill>
                  <a:srgbClr val="FFFFFF"/>
                </a:solidFill>
                <a:latin typeface="Arial"/>
                <a:cs typeface="Arial"/>
              </a:rPr>
              <a:t>g</a:t>
            </a:r>
            <a:r>
              <a:rPr sz="1600" b="1" spc="-5" dirty="0">
                <a:solidFill>
                  <a:srgbClr val="FFFFFF"/>
                </a:solidFill>
                <a:latin typeface="Arial"/>
                <a:cs typeface="Arial"/>
              </a:rPr>
              <a:t>i</a:t>
            </a:r>
            <a:r>
              <a:rPr sz="1600" b="1" spc="-30" dirty="0">
                <a:solidFill>
                  <a:srgbClr val="FFFFFF"/>
                </a:solidFill>
                <a:latin typeface="Arial"/>
                <a:cs typeface="Arial"/>
              </a:rPr>
              <a:t>l</a:t>
            </a:r>
            <a:r>
              <a:rPr sz="1600" b="1" spc="35" dirty="0">
                <a:solidFill>
                  <a:srgbClr val="FFFFFF"/>
                </a:solidFill>
                <a:latin typeface="Arial"/>
                <a:cs typeface="Arial"/>
              </a:rPr>
              <a:t>e</a:t>
            </a:r>
            <a:r>
              <a:rPr sz="1600" b="1" spc="15" dirty="0">
                <a:solidFill>
                  <a:srgbClr val="FFFFFF"/>
                </a:solidFill>
                <a:latin typeface="Arial"/>
                <a:cs typeface="Arial"/>
              </a:rPr>
              <a:t>.</a:t>
            </a:r>
            <a:endParaRPr sz="1600" dirty="0">
              <a:latin typeface="Arial"/>
              <a:cs typeface="Arial"/>
            </a:endParaRPr>
          </a:p>
          <a:p>
            <a:pPr marL="12700" marR="5080">
              <a:lnSpc>
                <a:spcPct val="121800"/>
              </a:lnSpc>
              <a:spcBef>
                <a:spcPts val="1290"/>
              </a:spcBef>
            </a:pPr>
            <a:r>
              <a:rPr sz="1300" spc="-15" dirty="0">
                <a:solidFill>
                  <a:srgbClr val="FFFFFF"/>
                </a:solidFill>
                <a:latin typeface="Roboto Lt"/>
                <a:cs typeface="Roboto Lt"/>
              </a:rPr>
              <a:t>It </a:t>
            </a:r>
            <a:r>
              <a:rPr sz="1300" spc="-25" dirty="0">
                <a:solidFill>
                  <a:srgbClr val="FFFFFF"/>
                </a:solidFill>
                <a:latin typeface="Roboto Lt"/>
                <a:cs typeface="Roboto Lt"/>
              </a:rPr>
              <a:t>is an </a:t>
            </a:r>
            <a:r>
              <a:rPr sz="1300" spc="-35" dirty="0">
                <a:solidFill>
                  <a:srgbClr val="FFFFFF"/>
                </a:solidFill>
                <a:latin typeface="Roboto Lt"/>
                <a:cs typeface="Roboto Lt"/>
              </a:rPr>
              <a:t>iterative </a:t>
            </a:r>
            <a:r>
              <a:rPr sz="1300" spc="-30" dirty="0">
                <a:solidFill>
                  <a:srgbClr val="FFFFFF"/>
                </a:solidFill>
                <a:latin typeface="Roboto Lt"/>
                <a:cs typeface="Roboto Lt"/>
              </a:rPr>
              <a:t>development </a:t>
            </a:r>
            <a:r>
              <a:rPr sz="1300" spc="-20" dirty="0">
                <a:solidFill>
                  <a:srgbClr val="FFFFFF"/>
                </a:solidFill>
                <a:latin typeface="Roboto Lt"/>
                <a:cs typeface="Roboto Lt"/>
              </a:rPr>
              <a:t>model often </a:t>
            </a:r>
            <a:r>
              <a:rPr sz="1300" spc="-25" dirty="0">
                <a:solidFill>
                  <a:srgbClr val="FFFFFF"/>
                </a:solidFill>
                <a:latin typeface="Roboto Lt"/>
                <a:cs typeface="Roboto Lt"/>
              </a:rPr>
              <a:t>used </a:t>
            </a:r>
            <a:r>
              <a:rPr sz="1300" spc="-30" dirty="0">
                <a:solidFill>
                  <a:srgbClr val="FFFFFF"/>
                </a:solidFill>
                <a:latin typeface="Roboto Lt"/>
                <a:cs typeface="Roboto Lt"/>
              </a:rPr>
              <a:t>to </a:t>
            </a:r>
            <a:r>
              <a:rPr sz="1300" spc="-25" dirty="0">
                <a:solidFill>
                  <a:srgbClr val="FFFFFF"/>
                </a:solidFill>
                <a:latin typeface="Roboto Lt"/>
                <a:cs typeface="Roboto Lt"/>
              </a:rPr>
              <a:t> manage complex software and product </a:t>
            </a:r>
            <a:r>
              <a:rPr sz="1300" spc="-20" dirty="0">
                <a:solidFill>
                  <a:srgbClr val="FFFFFF"/>
                </a:solidFill>
                <a:latin typeface="Roboto Lt"/>
                <a:cs typeface="Roboto Lt"/>
              </a:rPr>
              <a:t> </a:t>
            </a:r>
            <a:r>
              <a:rPr sz="1300" spc="-30" dirty="0">
                <a:solidFill>
                  <a:srgbClr val="FFFFFF"/>
                </a:solidFill>
                <a:latin typeface="Roboto Lt"/>
                <a:cs typeface="Roboto Lt"/>
              </a:rPr>
              <a:t>development. </a:t>
            </a:r>
            <a:r>
              <a:rPr sz="1300" spc="-35" dirty="0">
                <a:solidFill>
                  <a:srgbClr val="FFFFFF"/>
                </a:solidFill>
                <a:latin typeface="Roboto Lt"/>
                <a:cs typeface="Roboto Lt"/>
              </a:rPr>
              <a:t>Fixed-length</a:t>
            </a:r>
            <a:r>
              <a:rPr sz="1300" spc="-25" dirty="0">
                <a:solidFill>
                  <a:srgbClr val="FFFFFF"/>
                </a:solidFill>
                <a:latin typeface="Roboto Lt"/>
                <a:cs typeface="Roboto Lt"/>
              </a:rPr>
              <a:t> </a:t>
            </a:r>
            <a:r>
              <a:rPr sz="1300" spc="-30" dirty="0">
                <a:solidFill>
                  <a:srgbClr val="FFFFFF"/>
                </a:solidFill>
                <a:latin typeface="Roboto Lt"/>
                <a:cs typeface="Roboto Lt"/>
              </a:rPr>
              <a:t>iterations, </a:t>
            </a:r>
            <a:r>
              <a:rPr sz="1300" spc="-25" dirty="0">
                <a:solidFill>
                  <a:srgbClr val="FFFFFF"/>
                </a:solidFill>
                <a:latin typeface="Roboto Lt"/>
                <a:cs typeface="Roboto Lt"/>
              </a:rPr>
              <a:t>called </a:t>
            </a:r>
            <a:r>
              <a:rPr sz="1300" spc="-30" dirty="0">
                <a:solidFill>
                  <a:srgbClr val="FFFFFF"/>
                </a:solidFill>
                <a:latin typeface="Roboto Lt"/>
                <a:cs typeface="Roboto Lt"/>
              </a:rPr>
              <a:t>sprints </a:t>
            </a:r>
            <a:r>
              <a:rPr sz="1300" spc="-25" dirty="0">
                <a:solidFill>
                  <a:srgbClr val="FFFFFF"/>
                </a:solidFill>
                <a:latin typeface="Roboto Lt"/>
                <a:cs typeface="Roboto Lt"/>
              </a:rPr>
              <a:t> </a:t>
            </a:r>
            <a:r>
              <a:rPr sz="1300" spc="-30" dirty="0">
                <a:solidFill>
                  <a:srgbClr val="FFFFFF"/>
                </a:solidFill>
                <a:latin typeface="Roboto Lt"/>
                <a:cs typeface="Roboto Lt"/>
              </a:rPr>
              <a:t>lasting </a:t>
            </a:r>
            <a:r>
              <a:rPr lang="en-US" sz="1300" spc="-20" dirty="0">
                <a:solidFill>
                  <a:srgbClr val="FFFFFF"/>
                </a:solidFill>
                <a:latin typeface="Roboto Lt"/>
                <a:cs typeface="Roboto Lt"/>
              </a:rPr>
              <a:t>2</a:t>
            </a:r>
            <a:r>
              <a:rPr sz="1300" spc="-20" dirty="0">
                <a:solidFill>
                  <a:srgbClr val="FFFFFF"/>
                </a:solidFill>
                <a:latin typeface="Roboto Lt"/>
                <a:cs typeface="Roboto Lt"/>
              </a:rPr>
              <a:t> </a:t>
            </a:r>
            <a:r>
              <a:rPr sz="1300" spc="-30" dirty="0">
                <a:solidFill>
                  <a:srgbClr val="FFFFFF"/>
                </a:solidFill>
                <a:latin typeface="Roboto Lt"/>
                <a:cs typeface="Roboto Lt"/>
              </a:rPr>
              <a:t>to </a:t>
            </a:r>
            <a:r>
              <a:rPr lang="en-US" sz="1300" spc="-20" dirty="0">
                <a:solidFill>
                  <a:srgbClr val="FFFFFF"/>
                </a:solidFill>
                <a:latin typeface="Roboto Lt"/>
                <a:cs typeface="Roboto Lt"/>
              </a:rPr>
              <a:t>4</a:t>
            </a:r>
            <a:r>
              <a:rPr sz="1300" spc="-20" dirty="0">
                <a:solidFill>
                  <a:srgbClr val="FFFFFF"/>
                </a:solidFill>
                <a:latin typeface="Roboto Lt"/>
                <a:cs typeface="Roboto Lt"/>
              </a:rPr>
              <a:t> </a:t>
            </a:r>
            <a:r>
              <a:rPr sz="1300" spc="-25" dirty="0">
                <a:solidFill>
                  <a:srgbClr val="FFFFFF"/>
                </a:solidFill>
                <a:latin typeface="Roboto Lt"/>
                <a:cs typeface="Roboto Lt"/>
              </a:rPr>
              <a:t>weeks </a:t>
            </a:r>
            <a:r>
              <a:rPr sz="1300" spc="-20" dirty="0">
                <a:solidFill>
                  <a:srgbClr val="FFFFFF"/>
                </a:solidFill>
                <a:latin typeface="Roboto Lt"/>
                <a:cs typeface="Roboto Lt"/>
              </a:rPr>
              <a:t>long, </a:t>
            </a:r>
            <a:r>
              <a:rPr sz="1300" spc="-30" dirty="0">
                <a:solidFill>
                  <a:srgbClr val="FFFFFF"/>
                </a:solidFill>
                <a:latin typeface="Roboto Lt"/>
                <a:cs typeface="Roboto Lt"/>
              </a:rPr>
              <a:t>allow </a:t>
            </a:r>
            <a:r>
              <a:rPr sz="1300" spc="-25" dirty="0">
                <a:solidFill>
                  <a:srgbClr val="FFFFFF"/>
                </a:solidFill>
                <a:latin typeface="Roboto Lt"/>
                <a:cs typeface="Roboto Lt"/>
              </a:rPr>
              <a:t>the </a:t>
            </a:r>
            <a:r>
              <a:rPr sz="1300" spc="-30" dirty="0">
                <a:solidFill>
                  <a:srgbClr val="FFFFFF"/>
                </a:solidFill>
                <a:latin typeface="Roboto Lt"/>
                <a:cs typeface="Roboto Lt"/>
              </a:rPr>
              <a:t>team to </a:t>
            </a:r>
            <a:r>
              <a:rPr sz="1300" spc="-25" dirty="0">
                <a:solidFill>
                  <a:srgbClr val="FFFFFF"/>
                </a:solidFill>
                <a:latin typeface="Roboto Lt"/>
                <a:cs typeface="Roboto Lt"/>
              </a:rPr>
              <a:t> </a:t>
            </a:r>
            <a:r>
              <a:rPr sz="1300" spc="-30" dirty="0">
                <a:solidFill>
                  <a:srgbClr val="FFFFFF"/>
                </a:solidFill>
                <a:latin typeface="Roboto Lt"/>
                <a:cs typeface="Roboto Lt"/>
              </a:rPr>
              <a:t>ship </a:t>
            </a:r>
            <a:r>
              <a:rPr sz="1300" spc="-25" dirty="0">
                <a:solidFill>
                  <a:srgbClr val="FFFFFF"/>
                </a:solidFill>
                <a:latin typeface="Roboto Lt"/>
                <a:cs typeface="Roboto Lt"/>
              </a:rPr>
              <a:t>software </a:t>
            </a:r>
            <a:r>
              <a:rPr sz="1300" spc="-15" dirty="0">
                <a:solidFill>
                  <a:srgbClr val="FFFFFF"/>
                </a:solidFill>
                <a:latin typeface="Roboto Lt"/>
                <a:cs typeface="Roboto Lt"/>
              </a:rPr>
              <a:t>on </a:t>
            </a:r>
            <a:r>
              <a:rPr sz="1300" spc="-5" dirty="0">
                <a:solidFill>
                  <a:srgbClr val="FFFFFF"/>
                </a:solidFill>
                <a:latin typeface="Roboto Lt"/>
                <a:cs typeface="Roboto Lt"/>
              </a:rPr>
              <a:t>a </a:t>
            </a:r>
            <a:r>
              <a:rPr sz="1300" spc="-30" dirty="0">
                <a:solidFill>
                  <a:srgbClr val="FFFFFF"/>
                </a:solidFill>
                <a:latin typeface="Roboto Lt"/>
                <a:cs typeface="Roboto Lt"/>
              </a:rPr>
              <a:t>regular </a:t>
            </a:r>
            <a:r>
              <a:rPr sz="1300" spc="-20" dirty="0">
                <a:solidFill>
                  <a:srgbClr val="FFFFFF"/>
                </a:solidFill>
                <a:latin typeface="Roboto Lt"/>
                <a:cs typeface="Roboto Lt"/>
              </a:rPr>
              <a:t>cadence. At </a:t>
            </a:r>
            <a:r>
              <a:rPr sz="1300" spc="-25" dirty="0">
                <a:solidFill>
                  <a:srgbClr val="FFFFFF"/>
                </a:solidFill>
                <a:latin typeface="Roboto Lt"/>
                <a:cs typeface="Roboto Lt"/>
              </a:rPr>
              <a:t>the </a:t>
            </a:r>
            <a:r>
              <a:rPr sz="1300" spc="-20" dirty="0">
                <a:solidFill>
                  <a:srgbClr val="FFFFFF"/>
                </a:solidFill>
                <a:latin typeface="Roboto Lt"/>
                <a:cs typeface="Roboto Lt"/>
              </a:rPr>
              <a:t>end </a:t>
            </a:r>
            <a:r>
              <a:rPr sz="1300" spc="-15" dirty="0">
                <a:solidFill>
                  <a:srgbClr val="FFFFFF"/>
                </a:solidFill>
                <a:latin typeface="Roboto Lt"/>
                <a:cs typeface="Roboto Lt"/>
              </a:rPr>
              <a:t>of </a:t>
            </a:r>
            <a:r>
              <a:rPr sz="1300" spc="-10" dirty="0">
                <a:solidFill>
                  <a:srgbClr val="FFFFFF"/>
                </a:solidFill>
                <a:latin typeface="Roboto Lt"/>
                <a:cs typeface="Roboto Lt"/>
              </a:rPr>
              <a:t> </a:t>
            </a:r>
            <a:r>
              <a:rPr sz="1300" spc="-20" dirty="0">
                <a:solidFill>
                  <a:srgbClr val="FFFFFF"/>
                </a:solidFill>
                <a:latin typeface="Roboto Lt"/>
                <a:cs typeface="Roboto Lt"/>
              </a:rPr>
              <a:t>each </a:t>
            </a:r>
            <a:r>
              <a:rPr sz="1300" spc="-30" dirty="0">
                <a:solidFill>
                  <a:srgbClr val="FFFFFF"/>
                </a:solidFill>
                <a:latin typeface="Roboto Lt"/>
                <a:cs typeface="Roboto Lt"/>
              </a:rPr>
              <a:t>sprint, stakeholders </a:t>
            </a:r>
            <a:r>
              <a:rPr sz="1300" spc="-25" dirty="0">
                <a:solidFill>
                  <a:srgbClr val="FFFFFF"/>
                </a:solidFill>
                <a:latin typeface="Roboto Lt"/>
                <a:cs typeface="Roboto Lt"/>
              </a:rPr>
              <a:t>and </a:t>
            </a:r>
            <a:r>
              <a:rPr sz="1300" spc="-30" dirty="0">
                <a:solidFill>
                  <a:srgbClr val="FFFFFF"/>
                </a:solidFill>
                <a:latin typeface="Roboto Lt"/>
                <a:cs typeface="Roboto Lt"/>
              </a:rPr>
              <a:t>team </a:t>
            </a:r>
            <a:r>
              <a:rPr sz="1300" spc="-20" dirty="0">
                <a:solidFill>
                  <a:srgbClr val="FFFFFF"/>
                </a:solidFill>
                <a:latin typeface="Roboto Lt"/>
                <a:cs typeface="Roboto Lt"/>
              </a:rPr>
              <a:t>members </a:t>
            </a:r>
            <a:r>
              <a:rPr sz="1300" spc="-15" dirty="0">
                <a:solidFill>
                  <a:srgbClr val="FFFFFF"/>
                </a:solidFill>
                <a:latin typeface="Roboto Lt"/>
                <a:cs typeface="Roboto Lt"/>
              </a:rPr>
              <a:t>meet </a:t>
            </a:r>
            <a:r>
              <a:rPr sz="1300" spc="-305" dirty="0">
                <a:solidFill>
                  <a:srgbClr val="FFFFFF"/>
                </a:solidFill>
                <a:latin typeface="Roboto Lt"/>
                <a:cs typeface="Roboto Lt"/>
              </a:rPr>
              <a:t> </a:t>
            </a:r>
            <a:r>
              <a:rPr sz="1300" spc="-30" dirty="0">
                <a:solidFill>
                  <a:srgbClr val="FFFFFF"/>
                </a:solidFill>
                <a:latin typeface="Roboto Lt"/>
                <a:cs typeface="Roboto Lt"/>
              </a:rPr>
              <a:t>to</a:t>
            </a:r>
            <a:r>
              <a:rPr sz="1300" spc="-35" dirty="0">
                <a:solidFill>
                  <a:srgbClr val="FFFFFF"/>
                </a:solidFill>
                <a:latin typeface="Roboto Lt"/>
                <a:cs typeface="Roboto Lt"/>
              </a:rPr>
              <a:t> </a:t>
            </a:r>
            <a:r>
              <a:rPr sz="1300" spc="-30" dirty="0">
                <a:solidFill>
                  <a:srgbClr val="FFFFFF"/>
                </a:solidFill>
                <a:latin typeface="Roboto Lt"/>
                <a:cs typeface="Roboto Lt"/>
              </a:rPr>
              <a:t>plan </a:t>
            </a:r>
            <a:r>
              <a:rPr sz="1300" spc="-15" dirty="0">
                <a:solidFill>
                  <a:srgbClr val="FFFFFF"/>
                </a:solidFill>
                <a:latin typeface="Roboto Lt"/>
                <a:cs typeface="Roboto Lt"/>
              </a:rPr>
              <a:t>next</a:t>
            </a:r>
            <a:r>
              <a:rPr sz="1300" spc="-30" dirty="0">
                <a:solidFill>
                  <a:srgbClr val="FFFFFF"/>
                </a:solidFill>
                <a:latin typeface="Roboto Lt"/>
                <a:cs typeface="Roboto Lt"/>
              </a:rPr>
              <a:t> steps.</a:t>
            </a:r>
            <a:endParaRPr sz="1300" dirty="0">
              <a:latin typeface="Roboto Lt"/>
              <a:cs typeface="Roboto Lt"/>
            </a:endParaRPr>
          </a:p>
        </p:txBody>
      </p:sp>
      <p:pic>
        <p:nvPicPr>
          <p:cNvPr id="5" name="object 5"/>
          <p:cNvPicPr/>
          <p:nvPr/>
        </p:nvPicPr>
        <p:blipFill>
          <a:blip r:embed="rId2" cstate="print"/>
          <a:stretch>
            <a:fillRect/>
          </a:stretch>
        </p:blipFill>
        <p:spPr>
          <a:xfrm>
            <a:off x="5029200" y="0"/>
            <a:ext cx="4114800" cy="5943600"/>
          </a:xfrm>
          <a:prstGeom prst="rect">
            <a:avLst/>
          </a:prstGeom>
        </p:spPr>
      </p:pic>
      <p:sp>
        <p:nvSpPr>
          <p:cNvPr id="6" name="object 6"/>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14</a:t>
            </a:r>
            <a:endParaRPr spc="35" dirty="0"/>
          </a:p>
        </p:txBody>
      </p:sp>
      <p:sp>
        <p:nvSpPr>
          <p:cNvPr id="7" name="object 7"/>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Agile Methodology</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1490980"/>
          </a:xfrm>
          <a:custGeom>
            <a:avLst/>
            <a:gdLst/>
            <a:ahLst/>
            <a:cxnLst/>
            <a:rect l="l" t="t" r="r" b="b"/>
            <a:pathLst>
              <a:path w="9144000" h="1490980">
                <a:moveTo>
                  <a:pt x="9144000" y="0"/>
                </a:moveTo>
                <a:lnTo>
                  <a:pt x="0" y="0"/>
                </a:lnTo>
                <a:lnTo>
                  <a:pt x="0" y="1490472"/>
                </a:lnTo>
                <a:lnTo>
                  <a:pt x="9144000" y="1490472"/>
                </a:lnTo>
                <a:lnTo>
                  <a:pt x="9144000" y="0"/>
                </a:lnTo>
                <a:close/>
              </a:path>
            </a:pathLst>
          </a:custGeom>
          <a:solidFill>
            <a:srgbClr val="0072EB"/>
          </a:solidFill>
        </p:spPr>
        <p:txBody>
          <a:bodyPr wrap="square" lIns="0" tIns="0" rIns="0" bIns="0" rtlCol="0"/>
          <a:lstStyle/>
          <a:p>
            <a:endParaRPr/>
          </a:p>
        </p:txBody>
      </p:sp>
      <p:sp>
        <p:nvSpPr>
          <p:cNvPr id="3" name="object 3"/>
          <p:cNvSpPr txBox="1">
            <a:spLocks noGrp="1"/>
          </p:cNvSpPr>
          <p:nvPr>
            <p:ph type="title"/>
          </p:nvPr>
        </p:nvSpPr>
        <p:spPr>
          <a:xfrm>
            <a:off x="526368" y="411876"/>
            <a:ext cx="3931285" cy="711200"/>
          </a:xfrm>
          <a:prstGeom prst="rect">
            <a:avLst/>
          </a:prstGeom>
        </p:spPr>
        <p:txBody>
          <a:bodyPr vert="horz" wrap="square" lIns="0" tIns="12700" rIns="0" bIns="0" rtlCol="0">
            <a:spAutoFit/>
          </a:bodyPr>
          <a:lstStyle/>
          <a:p>
            <a:pPr marL="12700">
              <a:lnSpc>
                <a:spcPct val="100000"/>
              </a:lnSpc>
              <a:spcBef>
                <a:spcPts val="100"/>
              </a:spcBef>
            </a:pPr>
            <a:r>
              <a:rPr spc="-520" dirty="0"/>
              <a:t>R</a:t>
            </a:r>
            <a:r>
              <a:rPr spc="-85" dirty="0"/>
              <a:t>ol</a:t>
            </a:r>
            <a:r>
              <a:rPr spc="-50" dirty="0"/>
              <a:t>e</a:t>
            </a:r>
            <a:r>
              <a:rPr spc="-105" dirty="0"/>
              <a:t>s</a:t>
            </a:r>
            <a:r>
              <a:rPr spc="-535" dirty="0"/>
              <a:t> </a:t>
            </a:r>
            <a:r>
              <a:rPr spc="-55" dirty="0"/>
              <a:t>i</a:t>
            </a:r>
            <a:r>
              <a:rPr spc="265" dirty="0"/>
              <a:t>n</a:t>
            </a:r>
            <a:r>
              <a:rPr spc="-535" dirty="0"/>
              <a:t> </a:t>
            </a:r>
            <a:r>
              <a:rPr spc="-640" dirty="0"/>
              <a:t>S</a:t>
            </a:r>
            <a:r>
              <a:rPr spc="-320" dirty="0"/>
              <a:t>c</a:t>
            </a:r>
            <a:r>
              <a:rPr spc="105" dirty="0"/>
              <a:t>r</a:t>
            </a:r>
            <a:r>
              <a:rPr spc="5" dirty="0"/>
              <a:t>u</a:t>
            </a:r>
            <a:r>
              <a:rPr spc="495" dirty="0"/>
              <a:t>m</a:t>
            </a:r>
          </a:p>
        </p:txBody>
      </p:sp>
      <p:grpSp>
        <p:nvGrpSpPr>
          <p:cNvPr id="4" name="object 4"/>
          <p:cNvGrpSpPr/>
          <p:nvPr/>
        </p:nvGrpSpPr>
        <p:grpSpPr>
          <a:xfrm>
            <a:off x="419100" y="1490472"/>
            <a:ext cx="8305800" cy="3881754"/>
            <a:chOff x="419100" y="1490472"/>
            <a:chExt cx="8305800" cy="3881754"/>
          </a:xfrm>
        </p:grpSpPr>
        <p:sp>
          <p:nvSpPr>
            <p:cNvPr id="5" name="object 5"/>
            <p:cNvSpPr/>
            <p:nvPr/>
          </p:nvSpPr>
          <p:spPr>
            <a:xfrm>
              <a:off x="5956300" y="1490472"/>
              <a:ext cx="2768600" cy="3881754"/>
            </a:xfrm>
            <a:custGeom>
              <a:avLst/>
              <a:gdLst/>
              <a:ahLst/>
              <a:cxnLst/>
              <a:rect l="l" t="t" r="r" b="b"/>
              <a:pathLst>
                <a:path w="2768600" h="3881754">
                  <a:moveTo>
                    <a:pt x="2768600" y="0"/>
                  </a:moveTo>
                  <a:lnTo>
                    <a:pt x="0" y="0"/>
                  </a:lnTo>
                  <a:lnTo>
                    <a:pt x="0" y="3881628"/>
                  </a:lnTo>
                  <a:lnTo>
                    <a:pt x="2768600" y="3881628"/>
                  </a:lnTo>
                  <a:lnTo>
                    <a:pt x="2768600" y="0"/>
                  </a:lnTo>
                  <a:close/>
                </a:path>
              </a:pathLst>
            </a:custGeom>
            <a:solidFill>
              <a:srgbClr val="D8E9FC"/>
            </a:solidFill>
          </p:spPr>
          <p:txBody>
            <a:bodyPr wrap="square" lIns="0" tIns="0" rIns="0" bIns="0" rtlCol="0"/>
            <a:lstStyle/>
            <a:p>
              <a:endParaRPr/>
            </a:p>
          </p:txBody>
        </p:sp>
        <p:sp>
          <p:nvSpPr>
            <p:cNvPr id="6" name="object 6"/>
            <p:cNvSpPr/>
            <p:nvPr/>
          </p:nvSpPr>
          <p:spPr>
            <a:xfrm>
              <a:off x="419100" y="1490472"/>
              <a:ext cx="2768600" cy="3881754"/>
            </a:xfrm>
            <a:custGeom>
              <a:avLst/>
              <a:gdLst/>
              <a:ahLst/>
              <a:cxnLst/>
              <a:rect l="l" t="t" r="r" b="b"/>
              <a:pathLst>
                <a:path w="2768600" h="3881754">
                  <a:moveTo>
                    <a:pt x="2768600" y="0"/>
                  </a:moveTo>
                  <a:lnTo>
                    <a:pt x="0" y="0"/>
                  </a:lnTo>
                  <a:lnTo>
                    <a:pt x="0" y="3881628"/>
                  </a:lnTo>
                  <a:lnTo>
                    <a:pt x="2768600" y="3881628"/>
                  </a:lnTo>
                  <a:lnTo>
                    <a:pt x="2768600" y="0"/>
                  </a:lnTo>
                  <a:close/>
                </a:path>
              </a:pathLst>
            </a:custGeom>
            <a:solidFill>
              <a:srgbClr val="F2F7FE"/>
            </a:solidFill>
          </p:spPr>
          <p:txBody>
            <a:bodyPr wrap="square" lIns="0" tIns="0" rIns="0" bIns="0" rtlCol="0"/>
            <a:lstStyle/>
            <a:p>
              <a:endParaRPr/>
            </a:p>
          </p:txBody>
        </p:sp>
        <p:sp>
          <p:nvSpPr>
            <p:cNvPr id="7" name="object 7"/>
            <p:cNvSpPr/>
            <p:nvPr/>
          </p:nvSpPr>
          <p:spPr>
            <a:xfrm>
              <a:off x="3187700" y="1490472"/>
              <a:ext cx="2768600" cy="3881754"/>
            </a:xfrm>
            <a:custGeom>
              <a:avLst/>
              <a:gdLst/>
              <a:ahLst/>
              <a:cxnLst/>
              <a:rect l="l" t="t" r="r" b="b"/>
              <a:pathLst>
                <a:path w="2768600" h="3881754">
                  <a:moveTo>
                    <a:pt x="2768600" y="0"/>
                  </a:moveTo>
                  <a:lnTo>
                    <a:pt x="0" y="0"/>
                  </a:lnTo>
                  <a:lnTo>
                    <a:pt x="0" y="3881628"/>
                  </a:lnTo>
                  <a:lnTo>
                    <a:pt x="2768600" y="3881628"/>
                  </a:lnTo>
                  <a:lnTo>
                    <a:pt x="2768600" y="0"/>
                  </a:lnTo>
                  <a:close/>
                </a:path>
              </a:pathLst>
            </a:custGeom>
            <a:solidFill>
              <a:srgbClr val="E5F0FD"/>
            </a:solidFill>
          </p:spPr>
          <p:txBody>
            <a:bodyPr wrap="square" lIns="0" tIns="0" rIns="0" bIns="0" rtlCol="0"/>
            <a:lstStyle/>
            <a:p>
              <a:endParaRPr/>
            </a:p>
          </p:txBody>
        </p:sp>
      </p:grpSp>
      <p:sp>
        <p:nvSpPr>
          <p:cNvPr id="8" name="object 8"/>
          <p:cNvSpPr txBox="1"/>
          <p:nvPr/>
        </p:nvSpPr>
        <p:spPr>
          <a:xfrm>
            <a:off x="706785" y="1840098"/>
            <a:ext cx="2130425" cy="3175000"/>
          </a:xfrm>
          <a:prstGeom prst="rect">
            <a:avLst/>
          </a:prstGeom>
        </p:spPr>
        <p:txBody>
          <a:bodyPr vert="horz" wrap="square" lIns="0" tIns="141605" rIns="0" bIns="0" rtlCol="0">
            <a:spAutoFit/>
          </a:bodyPr>
          <a:lstStyle/>
          <a:p>
            <a:pPr marL="12700">
              <a:lnSpc>
                <a:spcPct val="100000"/>
              </a:lnSpc>
              <a:spcBef>
                <a:spcPts val="1115"/>
              </a:spcBef>
            </a:pPr>
            <a:r>
              <a:rPr sz="2700" b="1" spc="75" dirty="0">
                <a:solidFill>
                  <a:srgbClr val="333333"/>
                </a:solidFill>
                <a:latin typeface="Arial"/>
                <a:cs typeface="Arial"/>
              </a:rPr>
              <a:t>Owner</a:t>
            </a:r>
            <a:endParaRPr sz="2700">
              <a:latin typeface="Arial"/>
              <a:cs typeface="Arial"/>
            </a:endParaRPr>
          </a:p>
          <a:p>
            <a:pPr marL="12700" marR="5080">
              <a:lnSpc>
                <a:spcPct val="123200"/>
              </a:lnSpc>
              <a:spcBef>
                <a:spcPts val="140"/>
              </a:spcBef>
            </a:pPr>
            <a:r>
              <a:rPr sz="1150" spc="-5" dirty="0">
                <a:solidFill>
                  <a:srgbClr val="333333"/>
                </a:solidFill>
                <a:latin typeface="Roboto Lt"/>
                <a:cs typeface="Roboto Lt"/>
              </a:rPr>
              <a:t>The Scrum </a:t>
            </a:r>
            <a:r>
              <a:rPr sz="1150" spc="-10" dirty="0">
                <a:solidFill>
                  <a:srgbClr val="333333"/>
                </a:solidFill>
                <a:latin typeface="Roboto Lt"/>
                <a:cs typeface="Roboto Lt"/>
              </a:rPr>
              <a:t>Product Owner </a:t>
            </a:r>
            <a:r>
              <a:rPr sz="1150" spc="-15" dirty="0">
                <a:solidFill>
                  <a:srgbClr val="333333"/>
                </a:solidFill>
                <a:latin typeface="Roboto Lt"/>
                <a:cs typeface="Roboto Lt"/>
              </a:rPr>
              <a:t>has </a:t>
            </a:r>
            <a:r>
              <a:rPr sz="1150" spc="-10" dirty="0">
                <a:solidFill>
                  <a:srgbClr val="333333"/>
                </a:solidFill>
                <a:latin typeface="Roboto Lt"/>
                <a:cs typeface="Roboto Lt"/>
              </a:rPr>
              <a:t> the </a:t>
            </a:r>
            <a:r>
              <a:rPr sz="1150" spc="-20" dirty="0">
                <a:solidFill>
                  <a:srgbClr val="333333"/>
                </a:solidFill>
                <a:latin typeface="Roboto Lt"/>
                <a:cs typeface="Roboto Lt"/>
              </a:rPr>
              <a:t>vision </a:t>
            </a:r>
            <a:r>
              <a:rPr sz="1150" spc="-5" dirty="0">
                <a:solidFill>
                  <a:srgbClr val="333333"/>
                </a:solidFill>
                <a:latin typeface="Roboto Lt"/>
                <a:cs typeface="Roboto Lt"/>
              </a:rPr>
              <a:t>of </a:t>
            </a:r>
            <a:r>
              <a:rPr sz="1150" spc="-15" dirty="0">
                <a:solidFill>
                  <a:srgbClr val="333333"/>
                </a:solidFill>
                <a:latin typeface="Roboto Lt"/>
                <a:cs typeface="Roboto Lt"/>
              </a:rPr>
              <a:t>what to build </a:t>
            </a:r>
            <a:r>
              <a:rPr sz="1150" spc="-10" dirty="0">
                <a:solidFill>
                  <a:srgbClr val="333333"/>
                </a:solidFill>
                <a:latin typeface="Roboto Lt"/>
                <a:cs typeface="Roboto Lt"/>
              </a:rPr>
              <a:t>and </a:t>
            </a:r>
            <a:r>
              <a:rPr sz="1150" spc="-5" dirty="0">
                <a:solidFill>
                  <a:srgbClr val="333333"/>
                </a:solidFill>
                <a:latin typeface="Roboto Lt"/>
                <a:cs typeface="Roboto Lt"/>
              </a:rPr>
              <a:t> </a:t>
            </a:r>
            <a:r>
              <a:rPr sz="1150" spc="-20" dirty="0">
                <a:solidFill>
                  <a:srgbClr val="333333"/>
                </a:solidFill>
                <a:latin typeface="Roboto Lt"/>
                <a:cs typeface="Roboto Lt"/>
              </a:rPr>
              <a:t>conveys </a:t>
            </a:r>
            <a:r>
              <a:rPr sz="1150" spc="-15" dirty="0">
                <a:solidFill>
                  <a:srgbClr val="333333"/>
                </a:solidFill>
                <a:latin typeface="Roboto Lt"/>
                <a:cs typeface="Roboto Lt"/>
              </a:rPr>
              <a:t>that to </a:t>
            </a:r>
            <a:r>
              <a:rPr sz="1150" spc="-10" dirty="0">
                <a:solidFill>
                  <a:srgbClr val="333333"/>
                </a:solidFill>
                <a:latin typeface="Roboto Lt"/>
                <a:cs typeface="Roboto Lt"/>
              </a:rPr>
              <a:t>the </a:t>
            </a:r>
            <a:r>
              <a:rPr sz="1150" spc="-15" dirty="0">
                <a:solidFill>
                  <a:srgbClr val="333333"/>
                </a:solidFill>
                <a:latin typeface="Roboto Lt"/>
                <a:cs typeface="Roboto Lt"/>
              </a:rPr>
              <a:t>team. </a:t>
            </a:r>
            <a:r>
              <a:rPr sz="1150" spc="5" dirty="0">
                <a:solidFill>
                  <a:srgbClr val="333333"/>
                </a:solidFill>
                <a:latin typeface="Roboto Lt"/>
                <a:cs typeface="Roboto Lt"/>
              </a:rPr>
              <a:t>He </a:t>
            </a:r>
            <a:r>
              <a:rPr sz="1150" dirty="0">
                <a:solidFill>
                  <a:srgbClr val="333333"/>
                </a:solidFill>
                <a:latin typeface="Roboto Lt"/>
                <a:cs typeface="Roboto Lt"/>
              </a:rPr>
              <a:t>or </a:t>
            </a:r>
            <a:r>
              <a:rPr sz="1150" spc="5" dirty="0">
                <a:solidFill>
                  <a:srgbClr val="333333"/>
                </a:solidFill>
                <a:latin typeface="Roboto Lt"/>
                <a:cs typeface="Roboto Lt"/>
              </a:rPr>
              <a:t> </a:t>
            </a:r>
            <a:r>
              <a:rPr sz="1150" spc="-10" dirty="0">
                <a:solidFill>
                  <a:srgbClr val="333333"/>
                </a:solidFill>
                <a:latin typeface="Roboto Lt"/>
                <a:cs typeface="Roboto Lt"/>
              </a:rPr>
              <a:t>she </a:t>
            </a:r>
            <a:r>
              <a:rPr sz="1150" spc="-15" dirty="0">
                <a:solidFill>
                  <a:srgbClr val="333333"/>
                </a:solidFill>
                <a:latin typeface="Roboto Lt"/>
                <a:cs typeface="Roboto Lt"/>
              </a:rPr>
              <a:t>focuses </a:t>
            </a:r>
            <a:r>
              <a:rPr sz="1150" dirty="0">
                <a:solidFill>
                  <a:srgbClr val="333333"/>
                </a:solidFill>
                <a:latin typeface="Roboto Lt"/>
                <a:cs typeface="Roboto Lt"/>
              </a:rPr>
              <a:t>on </a:t>
            </a:r>
            <a:r>
              <a:rPr sz="1150" spc="-15" dirty="0">
                <a:solidFill>
                  <a:srgbClr val="333333"/>
                </a:solidFill>
                <a:latin typeface="Roboto Lt"/>
                <a:cs typeface="Roboto Lt"/>
              </a:rPr>
              <a:t>business </a:t>
            </a:r>
            <a:r>
              <a:rPr sz="1150" spc="-10" dirty="0">
                <a:solidFill>
                  <a:srgbClr val="333333"/>
                </a:solidFill>
                <a:latin typeface="Roboto Lt"/>
                <a:cs typeface="Roboto Lt"/>
              </a:rPr>
              <a:t>and </a:t>
            </a:r>
            <a:r>
              <a:rPr sz="1150" spc="-5" dirty="0">
                <a:solidFill>
                  <a:srgbClr val="333333"/>
                </a:solidFill>
                <a:latin typeface="Roboto Lt"/>
                <a:cs typeface="Roboto Lt"/>
              </a:rPr>
              <a:t> </a:t>
            </a:r>
            <a:r>
              <a:rPr sz="1150" spc="-15" dirty="0">
                <a:solidFill>
                  <a:srgbClr val="333333"/>
                </a:solidFill>
                <a:latin typeface="Roboto Lt"/>
                <a:cs typeface="Roboto Lt"/>
              </a:rPr>
              <a:t>market requirements, </a:t>
            </a:r>
            <a:r>
              <a:rPr sz="1150" spc="-20" dirty="0">
                <a:solidFill>
                  <a:srgbClr val="333333"/>
                </a:solidFill>
                <a:latin typeface="Roboto Lt"/>
                <a:cs typeface="Roboto Lt"/>
              </a:rPr>
              <a:t>prioritizing </a:t>
            </a:r>
            <a:r>
              <a:rPr sz="1150" spc="-15" dirty="0">
                <a:solidFill>
                  <a:srgbClr val="333333"/>
                </a:solidFill>
                <a:latin typeface="Roboto Lt"/>
                <a:cs typeface="Roboto Lt"/>
              </a:rPr>
              <a:t> </a:t>
            </a:r>
            <a:r>
              <a:rPr sz="1150" spc="-10" dirty="0">
                <a:solidFill>
                  <a:srgbClr val="333333"/>
                </a:solidFill>
                <a:latin typeface="Roboto Lt"/>
                <a:cs typeface="Roboto Lt"/>
              </a:rPr>
              <a:t>the work </a:t>
            </a:r>
            <a:r>
              <a:rPr sz="1150" spc="-15" dirty="0">
                <a:solidFill>
                  <a:srgbClr val="333333"/>
                </a:solidFill>
                <a:latin typeface="Roboto Lt"/>
                <a:cs typeface="Roboto Lt"/>
              </a:rPr>
              <a:t>that </a:t>
            </a:r>
            <a:r>
              <a:rPr sz="1150" spc="-10" dirty="0">
                <a:solidFill>
                  <a:srgbClr val="333333"/>
                </a:solidFill>
                <a:latin typeface="Roboto Lt"/>
                <a:cs typeface="Roboto Lt"/>
              </a:rPr>
              <a:t>needs </a:t>
            </a:r>
            <a:r>
              <a:rPr sz="1150" spc="-15" dirty="0">
                <a:solidFill>
                  <a:srgbClr val="333333"/>
                </a:solidFill>
                <a:latin typeface="Roboto Lt"/>
                <a:cs typeface="Roboto Lt"/>
              </a:rPr>
              <a:t>to </a:t>
            </a:r>
            <a:r>
              <a:rPr sz="1150" dirty="0">
                <a:solidFill>
                  <a:srgbClr val="333333"/>
                </a:solidFill>
                <a:latin typeface="Roboto Lt"/>
                <a:cs typeface="Roboto Lt"/>
              </a:rPr>
              <a:t>be </a:t>
            </a:r>
            <a:r>
              <a:rPr sz="1150" spc="-10" dirty="0">
                <a:solidFill>
                  <a:srgbClr val="333333"/>
                </a:solidFill>
                <a:latin typeface="Roboto Lt"/>
                <a:cs typeface="Roboto Lt"/>
              </a:rPr>
              <a:t>done, </a:t>
            </a:r>
            <a:r>
              <a:rPr sz="1150" spc="-5" dirty="0">
                <a:solidFill>
                  <a:srgbClr val="333333"/>
                </a:solidFill>
                <a:latin typeface="Roboto Lt"/>
                <a:cs typeface="Roboto Lt"/>
              </a:rPr>
              <a:t> </a:t>
            </a:r>
            <a:r>
              <a:rPr sz="1150" spc="-15" dirty="0">
                <a:solidFill>
                  <a:srgbClr val="333333"/>
                </a:solidFill>
                <a:latin typeface="Roboto Lt"/>
                <a:cs typeface="Roboto Lt"/>
              </a:rPr>
              <a:t>managing </a:t>
            </a:r>
            <a:r>
              <a:rPr sz="1150" spc="-10" dirty="0">
                <a:solidFill>
                  <a:srgbClr val="333333"/>
                </a:solidFill>
                <a:latin typeface="Roboto Lt"/>
                <a:cs typeface="Roboto Lt"/>
              </a:rPr>
              <a:t>the backlog, </a:t>
            </a:r>
            <a:r>
              <a:rPr sz="1150" spc="-20" dirty="0">
                <a:solidFill>
                  <a:srgbClr val="333333"/>
                </a:solidFill>
                <a:latin typeface="Roboto Lt"/>
                <a:cs typeface="Roboto Lt"/>
              </a:rPr>
              <a:t>providing </a:t>
            </a:r>
            <a:r>
              <a:rPr sz="1150" spc="-15" dirty="0">
                <a:solidFill>
                  <a:srgbClr val="333333"/>
                </a:solidFill>
                <a:latin typeface="Roboto Lt"/>
                <a:cs typeface="Roboto Lt"/>
              </a:rPr>
              <a:t> guidance </a:t>
            </a:r>
            <a:r>
              <a:rPr sz="1150" dirty="0">
                <a:solidFill>
                  <a:srgbClr val="333333"/>
                </a:solidFill>
                <a:latin typeface="Roboto Lt"/>
                <a:cs typeface="Roboto Lt"/>
              </a:rPr>
              <a:t>on </a:t>
            </a:r>
            <a:r>
              <a:rPr sz="1150" spc="-15" dirty="0">
                <a:solidFill>
                  <a:srgbClr val="333333"/>
                </a:solidFill>
                <a:latin typeface="Roboto Lt"/>
                <a:cs typeface="Roboto Lt"/>
              </a:rPr>
              <a:t>which </a:t>
            </a:r>
            <a:r>
              <a:rPr sz="1150" spc="-20" dirty="0">
                <a:solidFill>
                  <a:srgbClr val="333333"/>
                </a:solidFill>
                <a:latin typeface="Roboto Lt"/>
                <a:cs typeface="Roboto Lt"/>
              </a:rPr>
              <a:t>features </a:t>
            </a:r>
            <a:r>
              <a:rPr sz="1150" spc="-15" dirty="0">
                <a:solidFill>
                  <a:srgbClr val="333333"/>
                </a:solidFill>
                <a:latin typeface="Roboto Lt"/>
                <a:cs typeface="Roboto Lt"/>
              </a:rPr>
              <a:t>to </a:t>
            </a:r>
            <a:r>
              <a:rPr sz="1150" spc="-10" dirty="0">
                <a:solidFill>
                  <a:srgbClr val="333333"/>
                </a:solidFill>
                <a:latin typeface="Roboto Lt"/>
                <a:cs typeface="Roboto Lt"/>
              </a:rPr>
              <a:t> </a:t>
            </a:r>
            <a:r>
              <a:rPr sz="1150" spc="-15" dirty="0">
                <a:solidFill>
                  <a:srgbClr val="333333"/>
                </a:solidFill>
                <a:latin typeface="Roboto Lt"/>
                <a:cs typeface="Roboto Lt"/>
              </a:rPr>
              <a:t>ship </a:t>
            </a:r>
            <a:r>
              <a:rPr sz="1150" spc="-5" dirty="0">
                <a:solidFill>
                  <a:srgbClr val="333333"/>
                </a:solidFill>
                <a:latin typeface="Roboto Lt"/>
                <a:cs typeface="Roboto Lt"/>
              </a:rPr>
              <a:t>next, </a:t>
            </a:r>
            <a:r>
              <a:rPr sz="1150" spc="-10" dirty="0">
                <a:solidFill>
                  <a:srgbClr val="333333"/>
                </a:solidFill>
                <a:latin typeface="Roboto Lt"/>
                <a:cs typeface="Roboto Lt"/>
              </a:rPr>
              <a:t>and </a:t>
            </a:r>
            <a:r>
              <a:rPr sz="1150" spc="-20" dirty="0">
                <a:solidFill>
                  <a:srgbClr val="333333"/>
                </a:solidFill>
                <a:latin typeface="Roboto Lt"/>
                <a:cs typeface="Roboto Lt"/>
              </a:rPr>
              <a:t>interacting </a:t>
            </a:r>
            <a:r>
              <a:rPr sz="1150" spc="-15" dirty="0">
                <a:solidFill>
                  <a:srgbClr val="333333"/>
                </a:solidFill>
                <a:latin typeface="Roboto Lt"/>
                <a:cs typeface="Roboto Lt"/>
              </a:rPr>
              <a:t>with </a:t>
            </a:r>
            <a:r>
              <a:rPr sz="1150" spc="-10" dirty="0">
                <a:solidFill>
                  <a:srgbClr val="333333"/>
                </a:solidFill>
                <a:latin typeface="Roboto Lt"/>
                <a:cs typeface="Roboto Lt"/>
              </a:rPr>
              <a:t>the </a:t>
            </a:r>
            <a:r>
              <a:rPr sz="1150" spc="-265" dirty="0">
                <a:solidFill>
                  <a:srgbClr val="333333"/>
                </a:solidFill>
                <a:latin typeface="Roboto Lt"/>
                <a:cs typeface="Roboto Lt"/>
              </a:rPr>
              <a:t> </a:t>
            </a:r>
            <a:r>
              <a:rPr sz="1150" spc="-15" dirty="0">
                <a:solidFill>
                  <a:srgbClr val="333333"/>
                </a:solidFill>
                <a:latin typeface="Roboto Lt"/>
                <a:cs typeface="Roboto Lt"/>
              </a:rPr>
              <a:t>team </a:t>
            </a:r>
            <a:r>
              <a:rPr sz="1150" spc="-10" dirty="0">
                <a:solidFill>
                  <a:srgbClr val="333333"/>
                </a:solidFill>
                <a:latin typeface="Roboto Lt"/>
                <a:cs typeface="Roboto Lt"/>
              </a:rPr>
              <a:t>and </a:t>
            </a:r>
            <a:r>
              <a:rPr sz="1150" spc="-15" dirty="0">
                <a:solidFill>
                  <a:srgbClr val="333333"/>
                </a:solidFill>
                <a:latin typeface="Roboto Lt"/>
                <a:cs typeface="Roboto Lt"/>
              </a:rPr>
              <a:t>other stakeholders to </a:t>
            </a:r>
            <a:r>
              <a:rPr sz="1150" spc="-10" dirty="0">
                <a:solidFill>
                  <a:srgbClr val="333333"/>
                </a:solidFill>
                <a:latin typeface="Roboto Lt"/>
                <a:cs typeface="Roboto Lt"/>
              </a:rPr>
              <a:t> </a:t>
            </a:r>
            <a:r>
              <a:rPr sz="1150" spc="-15" dirty="0">
                <a:solidFill>
                  <a:srgbClr val="333333"/>
                </a:solidFill>
                <a:latin typeface="Roboto Lt"/>
                <a:cs typeface="Roboto Lt"/>
              </a:rPr>
              <a:t>make sure </a:t>
            </a:r>
            <a:r>
              <a:rPr sz="1150" spc="-10" dirty="0">
                <a:solidFill>
                  <a:srgbClr val="333333"/>
                </a:solidFill>
                <a:latin typeface="Roboto Lt"/>
                <a:cs typeface="Roboto Lt"/>
              </a:rPr>
              <a:t>everyone </a:t>
            </a:r>
            <a:r>
              <a:rPr sz="1150" spc="-20" dirty="0">
                <a:solidFill>
                  <a:srgbClr val="333333"/>
                </a:solidFill>
                <a:latin typeface="Roboto Lt"/>
                <a:cs typeface="Roboto Lt"/>
              </a:rPr>
              <a:t>understands </a:t>
            </a:r>
            <a:r>
              <a:rPr sz="1150" spc="-265" dirty="0">
                <a:solidFill>
                  <a:srgbClr val="333333"/>
                </a:solidFill>
                <a:latin typeface="Roboto Lt"/>
                <a:cs typeface="Roboto Lt"/>
              </a:rPr>
              <a:t> </a:t>
            </a:r>
            <a:r>
              <a:rPr sz="1150" spc="-10" dirty="0">
                <a:solidFill>
                  <a:srgbClr val="333333"/>
                </a:solidFill>
                <a:latin typeface="Roboto Lt"/>
                <a:cs typeface="Roboto Lt"/>
              </a:rPr>
              <a:t>the</a:t>
            </a:r>
            <a:r>
              <a:rPr sz="1150" spc="-30" dirty="0">
                <a:solidFill>
                  <a:srgbClr val="333333"/>
                </a:solidFill>
                <a:latin typeface="Roboto Lt"/>
                <a:cs typeface="Roboto Lt"/>
              </a:rPr>
              <a:t> </a:t>
            </a:r>
            <a:r>
              <a:rPr sz="1150" spc="-15" dirty="0">
                <a:solidFill>
                  <a:srgbClr val="333333"/>
                </a:solidFill>
                <a:latin typeface="Roboto Lt"/>
                <a:cs typeface="Roboto Lt"/>
              </a:rPr>
              <a:t>items</a:t>
            </a:r>
            <a:r>
              <a:rPr sz="1150" spc="-30" dirty="0">
                <a:solidFill>
                  <a:srgbClr val="333333"/>
                </a:solidFill>
                <a:latin typeface="Roboto Lt"/>
                <a:cs typeface="Roboto Lt"/>
              </a:rPr>
              <a:t> </a:t>
            </a:r>
            <a:r>
              <a:rPr sz="1150" dirty="0">
                <a:solidFill>
                  <a:srgbClr val="333333"/>
                </a:solidFill>
                <a:latin typeface="Roboto Lt"/>
                <a:cs typeface="Roboto Lt"/>
              </a:rPr>
              <a:t>on</a:t>
            </a:r>
            <a:r>
              <a:rPr sz="1150" spc="-25" dirty="0">
                <a:solidFill>
                  <a:srgbClr val="333333"/>
                </a:solidFill>
                <a:latin typeface="Roboto Lt"/>
                <a:cs typeface="Roboto Lt"/>
              </a:rPr>
              <a:t> </a:t>
            </a:r>
            <a:r>
              <a:rPr sz="1150" spc="-10" dirty="0">
                <a:solidFill>
                  <a:srgbClr val="333333"/>
                </a:solidFill>
                <a:latin typeface="Roboto Lt"/>
                <a:cs typeface="Roboto Lt"/>
              </a:rPr>
              <a:t>the</a:t>
            </a:r>
            <a:r>
              <a:rPr sz="1150" spc="-30" dirty="0">
                <a:solidFill>
                  <a:srgbClr val="333333"/>
                </a:solidFill>
                <a:latin typeface="Roboto Lt"/>
                <a:cs typeface="Roboto Lt"/>
              </a:rPr>
              <a:t> </a:t>
            </a:r>
            <a:r>
              <a:rPr sz="1150" spc="-10" dirty="0">
                <a:solidFill>
                  <a:srgbClr val="333333"/>
                </a:solidFill>
                <a:latin typeface="Roboto Lt"/>
                <a:cs typeface="Roboto Lt"/>
              </a:rPr>
              <a:t>product</a:t>
            </a:r>
            <a:r>
              <a:rPr sz="1150" spc="-30" dirty="0">
                <a:solidFill>
                  <a:srgbClr val="333333"/>
                </a:solidFill>
                <a:latin typeface="Roboto Lt"/>
                <a:cs typeface="Roboto Lt"/>
              </a:rPr>
              <a:t> </a:t>
            </a:r>
            <a:r>
              <a:rPr sz="1150" spc="-10" dirty="0">
                <a:solidFill>
                  <a:srgbClr val="333333"/>
                </a:solidFill>
                <a:latin typeface="Roboto Lt"/>
                <a:cs typeface="Roboto Lt"/>
              </a:rPr>
              <a:t>backlog.</a:t>
            </a:r>
            <a:endParaRPr sz="1150">
              <a:latin typeface="Roboto Lt"/>
              <a:cs typeface="Roboto Lt"/>
            </a:endParaRPr>
          </a:p>
        </p:txBody>
      </p:sp>
      <p:sp>
        <p:nvSpPr>
          <p:cNvPr id="9" name="object 9"/>
          <p:cNvSpPr txBox="1"/>
          <p:nvPr/>
        </p:nvSpPr>
        <p:spPr>
          <a:xfrm>
            <a:off x="706785" y="1676952"/>
            <a:ext cx="3830954" cy="436880"/>
          </a:xfrm>
          <a:prstGeom prst="rect">
            <a:avLst/>
          </a:prstGeom>
        </p:spPr>
        <p:txBody>
          <a:bodyPr vert="horz" wrap="square" lIns="0" tIns="12700" rIns="0" bIns="0" rtlCol="0">
            <a:spAutoFit/>
          </a:bodyPr>
          <a:lstStyle/>
          <a:p>
            <a:pPr marL="12700">
              <a:lnSpc>
                <a:spcPct val="100000"/>
              </a:lnSpc>
              <a:spcBef>
                <a:spcPts val="100"/>
              </a:spcBef>
              <a:tabLst>
                <a:tab pos="2780665" algn="l"/>
              </a:tabLst>
            </a:pPr>
            <a:r>
              <a:rPr sz="2700" b="1" spc="-20" dirty="0">
                <a:solidFill>
                  <a:srgbClr val="333333"/>
                </a:solidFill>
                <a:latin typeface="Arial"/>
                <a:cs typeface="Arial"/>
              </a:rPr>
              <a:t>Product	</a:t>
            </a:r>
            <a:r>
              <a:rPr sz="2700" b="1" spc="-65" dirty="0">
                <a:solidFill>
                  <a:srgbClr val="333333"/>
                </a:solidFill>
                <a:latin typeface="Arial"/>
                <a:cs typeface="Arial"/>
              </a:rPr>
              <a:t>Scrum</a:t>
            </a:r>
            <a:endParaRPr sz="2700">
              <a:latin typeface="Arial"/>
              <a:cs typeface="Arial"/>
            </a:endParaRPr>
          </a:p>
        </p:txBody>
      </p:sp>
      <p:sp>
        <p:nvSpPr>
          <p:cNvPr id="10" name="object 10"/>
          <p:cNvSpPr txBox="1"/>
          <p:nvPr/>
        </p:nvSpPr>
        <p:spPr>
          <a:xfrm>
            <a:off x="3475384" y="1840098"/>
            <a:ext cx="2156460" cy="2527300"/>
          </a:xfrm>
          <a:prstGeom prst="rect">
            <a:avLst/>
          </a:prstGeom>
        </p:spPr>
        <p:txBody>
          <a:bodyPr vert="horz" wrap="square" lIns="0" tIns="141605" rIns="0" bIns="0" rtlCol="0">
            <a:spAutoFit/>
          </a:bodyPr>
          <a:lstStyle/>
          <a:p>
            <a:pPr marL="12700">
              <a:lnSpc>
                <a:spcPct val="100000"/>
              </a:lnSpc>
              <a:spcBef>
                <a:spcPts val="1115"/>
              </a:spcBef>
            </a:pPr>
            <a:r>
              <a:rPr sz="2700" b="1" spc="80" dirty="0">
                <a:solidFill>
                  <a:srgbClr val="333333"/>
                </a:solidFill>
                <a:latin typeface="Arial"/>
                <a:cs typeface="Arial"/>
              </a:rPr>
              <a:t>Master</a:t>
            </a:r>
            <a:endParaRPr sz="2700" dirty="0">
              <a:latin typeface="Arial"/>
              <a:cs typeface="Arial"/>
            </a:endParaRPr>
          </a:p>
          <a:p>
            <a:pPr marL="12700" marR="5080">
              <a:lnSpc>
                <a:spcPct val="123200"/>
              </a:lnSpc>
              <a:spcBef>
                <a:spcPts val="140"/>
              </a:spcBef>
            </a:pPr>
            <a:r>
              <a:rPr sz="1150" spc="-5" dirty="0">
                <a:solidFill>
                  <a:srgbClr val="333333"/>
                </a:solidFill>
                <a:latin typeface="Roboto Lt"/>
                <a:cs typeface="Roboto Lt"/>
              </a:rPr>
              <a:t>Often </a:t>
            </a:r>
            <a:r>
              <a:rPr sz="1150" spc="-15" dirty="0">
                <a:solidFill>
                  <a:srgbClr val="333333"/>
                </a:solidFill>
                <a:latin typeface="Roboto Lt"/>
                <a:cs typeface="Roboto Lt"/>
              </a:rPr>
              <a:t>considered </a:t>
            </a:r>
            <a:r>
              <a:rPr sz="1150" spc="-10" dirty="0">
                <a:solidFill>
                  <a:srgbClr val="333333"/>
                </a:solidFill>
                <a:latin typeface="Roboto Lt"/>
                <a:cs typeface="Roboto Lt"/>
              </a:rPr>
              <a:t>the </a:t>
            </a:r>
            <a:r>
              <a:rPr sz="1150" spc="-5" dirty="0">
                <a:solidFill>
                  <a:srgbClr val="333333"/>
                </a:solidFill>
                <a:latin typeface="Roboto Lt"/>
                <a:cs typeface="Roboto Lt"/>
              </a:rPr>
              <a:t>coach </a:t>
            </a:r>
            <a:r>
              <a:rPr sz="1150" spc="-10" dirty="0">
                <a:solidFill>
                  <a:srgbClr val="333333"/>
                </a:solidFill>
                <a:latin typeface="Roboto Lt"/>
                <a:cs typeface="Roboto Lt"/>
              </a:rPr>
              <a:t>for </a:t>
            </a:r>
            <a:r>
              <a:rPr sz="1150" spc="-5" dirty="0">
                <a:solidFill>
                  <a:srgbClr val="333333"/>
                </a:solidFill>
                <a:latin typeface="Roboto Lt"/>
                <a:cs typeface="Roboto Lt"/>
              </a:rPr>
              <a:t> </a:t>
            </a:r>
            <a:r>
              <a:rPr sz="1150" spc="-10" dirty="0">
                <a:solidFill>
                  <a:srgbClr val="333333"/>
                </a:solidFill>
                <a:latin typeface="Roboto Lt"/>
                <a:cs typeface="Roboto Lt"/>
              </a:rPr>
              <a:t>the </a:t>
            </a:r>
            <a:r>
              <a:rPr sz="1150" spc="-15" dirty="0">
                <a:solidFill>
                  <a:srgbClr val="333333"/>
                </a:solidFill>
                <a:latin typeface="Roboto Lt"/>
                <a:cs typeface="Roboto Lt"/>
              </a:rPr>
              <a:t>team, </a:t>
            </a:r>
            <a:r>
              <a:rPr sz="1150" spc="-10" dirty="0">
                <a:solidFill>
                  <a:srgbClr val="333333"/>
                </a:solidFill>
                <a:latin typeface="Roboto Lt"/>
                <a:cs typeface="Roboto Lt"/>
              </a:rPr>
              <a:t>the </a:t>
            </a:r>
            <a:r>
              <a:rPr sz="1150" spc="-5" dirty="0">
                <a:solidFill>
                  <a:srgbClr val="333333"/>
                </a:solidFill>
                <a:latin typeface="Roboto Lt"/>
                <a:cs typeface="Roboto Lt"/>
              </a:rPr>
              <a:t>Scrum </a:t>
            </a:r>
            <a:r>
              <a:rPr sz="1150" spc="-15" dirty="0">
                <a:solidFill>
                  <a:srgbClr val="333333"/>
                </a:solidFill>
                <a:latin typeface="Roboto Lt"/>
                <a:cs typeface="Roboto Lt"/>
              </a:rPr>
              <a:t>Master helps </a:t>
            </a:r>
            <a:r>
              <a:rPr sz="1150" spc="-265" dirty="0">
                <a:solidFill>
                  <a:srgbClr val="333333"/>
                </a:solidFill>
                <a:latin typeface="Roboto Lt"/>
                <a:cs typeface="Roboto Lt"/>
              </a:rPr>
              <a:t> </a:t>
            </a:r>
            <a:r>
              <a:rPr sz="1150" spc="-10" dirty="0">
                <a:solidFill>
                  <a:srgbClr val="333333"/>
                </a:solidFill>
                <a:latin typeface="Roboto Lt"/>
                <a:cs typeface="Roboto Lt"/>
              </a:rPr>
              <a:t>the </a:t>
            </a:r>
            <a:r>
              <a:rPr sz="1150" spc="-15" dirty="0">
                <a:solidFill>
                  <a:srgbClr val="333333"/>
                </a:solidFill>
                <a:latin typeface="Roboto Lt"/>
                <a:cs typeface="Roboto Lt"/>
              </a:rPr>
              <a:t>team </a:t>
            </a:r>
            <a:r>
              <a:rPr sz="1150" dirty="0">
                <a:solidFill>
                  <a:srgbClr val="333333"/>
                </a:solidFill>
                <a:latin typeface="Roboto Lt"/>
                <a:cs typeface="Roboto Lt"/>
              </a:rPr>
              <a:t>do </a:t>
            </a:r>
            <a:r>
              <a:rPr sz="1150" spc="-15" dirty="0">
                <a:solidFill>
                  <a:srgbClr val="333333"/>
                </a:solidFill>
                <a:latin typeface="Roboto Lt"/>
                <a:cs typeface="Roboto Lt"/>
              </a:rPr>
              <a:t>their </a:t>
            </a:r>
            <a:r>
              <a:rPr sz="1150" spc="-10" dirty="0">
                <a:solidFill>
                  <a:srgbClr val="333333"/>
                </a:solidFill>
                <a:latin typeface="Roboto Lt"/>
                <a:cs typeface="Roboto Lt"/>
              </a:rPr>
              <a:t>best </a:t>
            </a:r>
            <a:r>
              <a:rPr sz="1150" spc="-15" dirty="0">
                <a:solidFill>
                  <a:srgbClr val="333333"/>
                </a:solidFill>
                <a:latin typeface="Roboto Lt"/>
                <a:cs typeface="Roboto Lt"/>
              </a:rPr>
              <a:t>possible </a:t>
            </a:r>
            <a:r>
              <a:rPr sz="1150" spc="-10" dirty="0">
                <a:solidFill>
                  <a:srgbClr val="333333"/>
                </a:solidFill>
                <a:latin typeface="Roboto Lt"/>
                <a:cs typeface="Roboto Lt"/>
              </a:rPr>
              <a:t> </a:t>
            </a:r>
            <a:r>
              <a:rPr sz="1150" spc="-5" dirty="0">
                <a:solidFill>
                  <a:srgbClr val="333333"/>
                </a:solidFill>
                <a:latin typeface="Roboto Lt"/>
                <a:cs typeface="Roboto Lt"/>
              </a:rPr>
              <a:t>work. </a:t>
            </a:r>
            <a:r>
              <a:rPr sz="1150" spc="-15" dirty="0">
                <a:solidFill>
                  <a:srgbClr val="333333"/>
                </a:solidFill>
                <a:latin typeface="Roboto Lt"/>
                <a:cs typeface="Roboto Lt"/>
              </a:rPr>
              <a:t>This </a:t>
            </a:r>
            <a:r>
              <a:rPr sz="1150" spc="-10" dirty="0">
                <a:solidFill>
                  <a:srgbClr val="333333"/>
                </a:solidFill>
                <a:latin typeface="Roboto Lt"/>
                <a:cs typeface="Roboto Lt"/>
              </a:rPr>
              <a:t>means </a:t>
            </a:r>
            <a:r>
              <a:rPr sz="1150" spc="-20" dirty="0">
                <a:solidFill>
                  <a:srgbClr val="333333"/>
                </a:solidFill>
                <a:latin typeface="Roboto Lt"/>
                <a:cs typeface="Roboto Lt"/>
              </a:rPr>
              <a:t>organizing </a:t>
            </a:r>
            <a:r>
              <a:rPr sz="1150" spc="-15" dirty="0">
                <a:solidFill>
                  <a:srgbClr val="333333"/>
                </a:solidFill>
                <a:latin typeface="Roboto Lt"/>
                <a:cs typeface="Roboto Lt"/>
              </a:rPr>
              <a:t> </a:t>
            </a:r>
            <a:r>
              <a:rPr sz="1150" spc="-10" dirty="0">
                <a:solidFill>
                  <a:srgbClr val="333333"/>
                </a:solidFill>
                <a:latin typeface="Roboto Lt"/>
                <a:cs typeface="Roboto Lt"/>
              </a:rPr>
              <a:t>meetings,</a:t>
            </a:r>
            <a:r>
              <a:rPr sz="1150" spc="-35" dirty="0">
                <a:solidFill>
                  <a:srgbClr val="333333"/>
                </a:solidFill>
                <a:latin typeface="Roboto Lt"/>
                <a:cs typeface="Roboto Lt"/>
              </a:rPr>
              <a:t> </a:t>
            </a:r>
            <a:r>
              <a:rPr sz="1150" spc="-15" dirty="0">
                <a:solidFill>
                  <a:srgbClr val="333333"/>
                </a:solidFill>
                <a:latin typeface="Roboto Lt"/>
                <a:cs typeface="Roboto Lt"/>
              </a:rPr>
              <a:t>dealing</a:t>
            </a:r>
            <a:r>
              <a:rPr sz="1150" spc="-35" dirty="0">
                <a:solidFill>
                  <a:srgbClr val="333333"/>
                </a:solidFill>
                <a:latin typeface="Roboto Lt"/>
                <a:cs typeface="Roboto Lt"/>
              </a:rPr>
              <a:t> </a:t>
            </a:r>
            <a:r>
              <a:rPr sz="1150" spc="-15" dirty="0">
                <a:solidFill>
                  <a:srgbClr val="333333"/>
                </a:solidFill>
                <a:latin typeface="Roboto Lt"/>
                <a:cs typeface="Roboto Lt"/>
              </a:rPr>
              <a:t>with</a:t>
            </a:r>
            <a:r>
              <a:rPr sz="1150" spc="-30" dirty="0">
                <a:solidFill>
                  <a:srgbClr val="333333"/>
                </a:solidFill>
                <a:latin typeface="Roboto Lt"/>
                <a:cs typeface="Roboto Lt"/>
              </a:rPr>
              <a:t> </a:t>
            </a:r>
            <a:r>
              <a:rPr sz="1150" spc="-15" dirty="0">
                <a:solidFill>
                  <a:srgbClr val="333333"/>
                </a:solidFill>
                <a:latin typeface="Roboto Lt"/>
                <a:cs typeface="Roboto Lt"/>
              </a:rPr>
              <a:t>roadblocks </a:t>
            </a:r>
            <a:r>
              <a:rPr sz="1150" spc="-265" dirty="0">
                <a:solidFill>
                  <a:srgbClr val="333333"/>
                </a:solidFill>
                <a:latin typeface="Roboto Lt"/>
                <a:cs typeface="Roboto Lt"/>
              </a:rPr>
              <a:t> </a:t>
            </a:r>
            <a:r>
              <a:rPr sz="1150" spc="-10" dirty="0">
                <a:solidFill>
                  <a:srgbClr val="333333"/>
                </a:solidFill>
                <a:latin typeface="Roboto Lt"/>
                <a:cs typeface="Roboto Lt"/>
              </a:rPr>
              <a:t>and </a:t>
            </a:r>
            <a:r>
              <a:rPr sz="1150" spc="-15" dirty="0">
                <a:solidFill>
                  <a:srgbClr val="333333"/>
                </a:solidFill>
                <a:latin typeface="Roboto Lt"/>
                <a:cs typeface="Roboto Lt"/>
              </a:rPr>
              <a:t>challenges, </a:t>
            </a:r>
            <a:r>
              <a:rPr sz="1150" spc="-10" dirty="0">
                <a:solidFill>
                  <a:srgbClr val="333333"/>
                </a:solidFill>
                <a:latin typeface="Roboto Lt"/>
                <a:cs typeface="Roboto Lt"/>
              </a:rPr>
              <a:t>and </a:t>
            </a:r>
            <a:r>
              <a:rPr sz="1150" spc="-15" dirty="0">
                <a:solidFill>
                  <a:srgbClr val="333333"/>
                </a:solidFill>
                <a:latin typeface="Roboto Lt"/>
                <a:cs typeface="Roboto Lt"/>
              </a:rPr>
              <a:t>working with</a:t>
            </a:r>
            <a:r>
              <a:rPr sz="1150" spc="-10" dirty="0">
                <a:solidFill>
                  <a:srgbClr val="333333"/>
                </a:solidFill>
                <a:latin typeface="Roboto Lt"/>
                <a:cs typeface="Roboto Lt"/>
              </a:rPr>
              <a:t> the Product Owner </a:t>
            </a:r>
            <a:r>
              <a:rPr sz="1150" spc="-15" dirty="0">
                <a:solidFill>
                  <a:srgbClr val="333333"/>
                </a:solidFill>
                <a:latin typeface="Roboto Lt"/>
                <a:cs typeface="Roboto Lt"/>
              </a:rPr>
              <a:t>to ensure </a:t>
            </a:r>
            <a:r>
              <a:rPr sz="1150" spc="-10" dirty="0">
                <a:solidFill>
                  <a:srgbClr val="333333"/>
                </a:solidFill>
                <a:latin typeface="Roboto Lt"/>
                <a:cs typeface="Roboto Lt"/>
              </a:rPr>
              <a:t>the</a:t>
            </a:r>
            <a:r>
              <a:rPr sz="1150" spc="-5" dirty="0">
                <a:solidFill>
                  <a:srgbClr val="333333"/>
                </a:solidFill>
                <a:latin typeface="Roboto Lt"/>
                <a:cs typeface="Roboto Lt"/>
              </a:rPr>
              <a:t> </a:t>
            </a:r>
            <a:r>
              <a:rPr sz="1150" spc="-15" dirty="0">
                <a:solidFill>
                  <a:srgbClr val="333333"/>
                </a:solidFill>
                <a:latin typeface="Roboto Lt"/>
                <a:cs typeface="Roboto Lt"/>
              </a:rPr>
              <a:t>product </a:t>
            </a:r>
            <a:r>
              <a:rPr sz="1150" spc="-10" dirty="0">
                <a:solidFill>
                  <a:srgbClr val="333333"/>
                </a:solidFill>
                <a:latin typeface="Roboto Lt"/>
                <a:cs typeface="Roboto Lt"/>
              </a:rPr>
              <a:t>backlog </a:t>
            </a:r>
            <a:r>
              <a:rPr sz="1150" spc="-15" dirty="0">
                <a:solidFill>
                  <a:srgbClr val="333333"/>
                </a:solidFill>
                <a:latin typeface="Roboto Lt"/>
                <a:cs typeface="Roboto Lt"/>
              </a:rPr>
              <a:t>is ready </a:t>
            </a:r>
            <a:r>
              <a:rPr sz="1150" spc="-10" dirty="0">
                <a:solidFill>
                  <a:srgbClr val="333333"/>
                </a:solidFill>
                <a:latin typeface="Roboto Lt"/>
                <a:cs typeface="Roboto Lt"/>
              </a:rPr>
              <a:t>for the</a:t>
            </a:r>
            <a:r>
              <a:rPr sz="1150" spc="-5" dirty="0">
                <a:solidFill>
                  <a:srgbClr val="333333"/>
                </a:solidFill>
                <a:latin typeface="Roboto Lt"/>
                <a:cs typeface="Roboto Lt"/>
              </a:rPr>
              <a:t> next</a:t>
            </a:r>
            <a:r>
              <a:rPr sz="1150" spc="-25" dirty="0">
                <a:solidFill>
                  <a:srgbClr val="333333"/>
                </a:solidFill>
                <a:latin typeface="Roboto Lt"/>
                <a:cs typeface="Roboto Lt"/>
              </a:rPr>
              <a:t> </a:t>
            </a:r>
            <a:r>
              <a:rPr sz="1150" spc="-15" dirty="0">
                <a:solidFill>
                  <a:srgbClr val="333333"/>
                </a:solidFill>
                <a:latin typeface="Roboto Lt"/>
                <a:cs typeface="Roboto Lt"/>
              </a:rPr>
              <a:t>sprint.</a:t>
            </a:r>
            <a:endParaRPr sz="1150" dirty="0">
              <a:latin typeface="Roboto Lt"/>
              <a:cs typeface="Roboto Lt"/>
            </a:endParaRPr>
          </a:p>
        </p:txBody>
      </p:sp>
      <p:sp>
        <p:nvSpPr>
          <p:cNvPr id="11" name="object 11"/>
          <p:cNvSpPr txBox="1"/>
          <p:nvPr/>
        </p:nvSpPr>
        <p:spPr>
          <a:xfrm>
            <a:off x="6243985" y="1676952"/>
            <a:ext cx="1062355" cy="436880"/>
          </a:xfrm>
          <a:prstGeom prst="rect">
            <a:avLst/>
          </a:prstGeom>
        </p:spPr>
        <p:txBody>
          <a:bodyPr vert="horz" wrap="square" lIns="0" tIns="12700" rIns="0" bIns="0" rtlCol="0">
            <a:spAutoFit/>
          </a:bodyPr>
          <a:lstStyle/>
          <a:p>
            <a:pPr marL="12700">
              <a:lnSpc>
                <a:spcPct val="100000"/>
              </a:lnSpc>
              <a:spcBef>
                <a:spcPts val="100"/>
              </a:spcBef>
            </a:pPr>
            <a:r>
              <a:rPr sz="2700" b="1" spc="-65" dirty="0">
                <a:solidFill>
                  <a:srgbClr val="333333"/>
                </a:solidFill>
                <a:latin typeface="Arial"/>
                <a:cs typeface="Arial"/>
              </a:rPr>
              <a:t>Scrum</a:t>
            </a:r>
            <a:endParaRPr sz="2700">
              <a:latin typeface="Arial"/>
              <a:cs typeface="Arial"/>
            </a:endParaRPr>
          </a:p>
        </p:txBody>
      </p:sp>
      <p:sp>
        <p:nvSpPr>
          <p:cNvPr id="12" name="object 12"/>
          <p:cNvSpPr txBox="1"/>
          <p:nvPr/>
        </p:nvSpPr>
        <p:spPr>
          <a:xfrm>
            <a:off x="6243985" y="1840098"/>
            <a:ext cx="2193290" cy="2095500"/>
          </a:xfrm>
          <a:prstGeom prst="rect">
            <a:avLst/>
          </a:prstGeom>
        </p:spPr>
        <p:txBody>
          <a:bodyPr vert="horz" wrap="square" lIns="0" tIns="141605" rIns="0" bIns="0" rtlCol="0">
            <a:spAutoFit/>
          </a:bodyPr>
          <a:lstStyle/>
          <a:p>
            <a:pPr marL="12700">
              <a:lnSpc>
                <a:spcPct val="100000"/>
              </a:lnSpc>
              <a:spcBef>
                <a:spcPts val="1115"/>
              </a:spcBef>
            </a:pPr>
            <a:r>
              <a:rPr sz="2700" b="1" spc="5" dirty="0">
                <a:solidFill>
                  <a:srgbClr val="333333"/>
                </a:solidFill>
                <a:latin typeface="Arial"/>
                <a:cs typeface="Arial"/>
              </a:rPr>
              <a:t>Team</a:t>
            </a:r>
            <a:endParaRPr sz="2700">
              <a:latin typeface="Arial"/>
              <a:cs typeface="Arial"/>
            </a:endParaRPr>
          </a:p>
          <a:p>
            <a:pPr marL="12700" marR="5080">
              <a:lnSpc>
                <a:spcPct val="123200"/>
              </a:lnSpc>
              <a:spcBef>
                <a:spcPts val="140"/>
              </a:spcBef>
            </a:pPr>
            <a:r>
              <a:rPr sz="1150" spc="-5" dirty="0">
                <a:solidFill>
                  <a:srgbClr val="333333"/>
                </a:solidFill>
                <a:latin typeface="Roboto Lt"/>
                <a:cs typeface="Roboto Lt"/>
              </a:rPr>
              <a:t>The Scrum </a:t>
            </a:r>
            <a:r>
              <a:rPr sz="1150" spc="-30" dirty="0">
                <a:solidFill>
                  <a:srgbClr val="333333"/>
                </a:solidFill>
                <a:latin typeface="Roboto Lt"/>
                <a:cs typeface="Roboto Lt"/>
              </a:rPr>
              <a:t>Team </a:t>
            </a:r>
            <a:r>
              <a:rPr sz="1150" spc="-15" dirty="0">
                <a:solidFill>
                  <a:srgbClr val="333333"/>
                </a:solidFill>
                <a:latin typeface="Roboto Lt"/>
                <a:cs typeface="Roboto Lt"/>
              </a:rPr>
              <a:t>is </a:t>
            </a:r>
            <a:r>
              <a:rPr sz="1150" spc="-10" dirty="0">
                <a:solidFill>
                  <a:srgbClr val="333333"/>
                </a:solidFill>
                <a:latin typeface="Roboto Lt"/>
                <a:cs typeface="Roboto Lt"/>
              </a:rPr>
              <a:t>comprised </a:t>
            </a:r>
            <a:r>
              <a:rPr sz="1150" spc="-5" dirty="0">
                <a:solidFill>
                  <a:srgbClr val="333333"/>
                </a:solidFill>
                <a:latin typeface="Roboto Lt"/>
                <a:cs typeface="Roboto Lt"/>
              </a:rPr>
              <a:t>of </a:t>
            </a:r>
            <a:r>
              <a:rPr sz="1150" dirty="0">
                <a:solidFill>
                  <a:srgbClr val="333333"/>
                </a:solidFill>
                <a:latin typeface="Roboto Lt"/>
                <a:cs typeface="Roboto Lt"/>
              </a:rPr>
              <a:t> </a:t>
            </a:r>
            <a:r>
              <a:rPr sz="1150" spc="-10" dirty="0">
                <a:solidFill>
                  <a:srgbClr val="333333"/>
                </a:solidFill>
                <a:latin typeface="Roboto Lt"/>
                <a:cs typeface="Roboto Lt"/>
              </a:rPr>
              <a:t>five </a:t>
            </a:r>
            <a:r>
              <a:rPr sz="1150" spc="-15" dirty="0">
                <a:solidFill>
                  <a:srgbClr val="333333"/>
                </a:solidFill>
                <a:latin typeface="Roboto Lt"/>
                <a:cs typeface="Roboto Lt"/>
              </a:rPr>
              <a:t>to seven </a:t>
            </a:r>
            <a:r>
              <a:rPr sz="1150" spc="-5" dirty="0">
                <a:solidFill>
                  <a:srgbClr val="333333"/>
                </a:solidFill>
                <a:latin typeface="Roboto Lt"/>
                <a:cs typeface="Roboto Lt"/>
              </a:rPr>
              <a:t>members. </a:t>
            </a:r>
            <a:r>
              <a:rPr sz="1150" spc="-25" dirty="0">
                <a:solidFill>
                  <a:srgbClr val="333333"/>
                </a:solidFill>
                <a:latin typeface="Roboto Lt"/>
                <a:cs typeface="Roboto Lt"/>
              </a:rPr>
              <a:t>Unlike </a:t>
            </a:r>
            <a:r>
              <a:rPr sz="1150" spc="-20" dirty="0">
                <a:solidFill>
                  <a:srgbClr val="333333"/>
                </a:solidFill>
                <a:latin typeface="Roboto Lt"/>
                <a:cs typeface="Roboto Lt"/>
              </a:rPr>
              <a:t> traditional </a:t>
            </a:r>
            <a:r>
              <a:rPr sz="1150" spc="-15" dirty="0">
                <a:solidFill>
                  <a:srgbClr val="333333"/>
                </a:solidFill>
                <a:latin typeface="Roboto Lt"/>
                <a:cs typeface="Roboto Lt"/>
              </a:rPr>
              <a:t>development teams, </a:t>
            </a:r>
            <a:r>
              <a:rPr sz="1150" spc="-10" dirty="0">
                <a:solidFill>
                  <a:srgbClr val="333333"/>
                </a:solidFill>
                <a:latin typeface="Roboto Lt"/>
                <a:cs typeface="Roboto Lt"/>
              </a:rPr>
              <a:t> </a:t>
            </a:r>
            <a:r>
              <a:rPr sz="1150" spc="-15" dirty="0">
                <a:solidFill>
                  <a:srgbClr val="333333"/>
                </a:solidFill>
                <a:latin typeface="Roboto Lt"/>
                <a:cs typeface="Roboto Lt"/>
              </a:rPr>
              <a:t>there are not </a:t>
            </a:r>
            <a:r>
              <a:rPr sz="1150" spc="-20" dirty="0">
                <a:solidFill>
                  <a:srgbClr val="333333"/>
                </a:solidFill>
                <a:latin typeface="Roboto Lt"/>
                <a:cs typeface="Roboto Lt"/>
              </a:rPr>
              <a:t>distinct </a:t>
            </a:r>
            <a:r>
              <a:rPr sz="1150" spc="-15" dirty="0">
                <a:solidFill>
                  <a:srgbClr val="333333"/>
                </a:solidFill>
                <a:latin typeface="Roboto Lt"/>
                <a:cs typeface="Roboto Lt"/>
              </a:rPr>
              <a:t>roles </a:t>
            </a:r>
            <a:r>
              <a:rPr sz="1150" spc="-25" dirty="0">
                <a:solidFill>
                  <a:srgbClr val="333333"/>
                </a:solidFill>
                <a:latin typeface="Roboto Lt"/>
                <a:cs typeface="Roboto Lt"/>
              </a:rPr>
              <a:t>like </a:t>
            </a:r>
            <a:r>
              <a:rPr sz="1150" spc="-20" dirty="0">
                <a:solidFill>
                  <a:srgbClr val="333333"/>
                </a:solidFill>
                <a:latin typeface="Roboto Lt"/>
                <a:cs typeface="Roboto Lt"/>
              </a:rPr>
              <a:t> programmer, </a:t>
            </a:r>
            <a:r>
              <a:rPr sz="1150" spc="-25" dirty="0">
                <a:solidFill>
                  <a:srgbClr val="333333"/>
                </a:solidFill>
                <a:latin typeface="Roboto Lt"/>
                <a:cs typeface="Roboto Lt"/>
              </a:rPr>
              <a:t>designer, </a:t>
            </a:r>
            <a:r>
              <a:rPr sz="1150" dirty="0">
                <a:solidFill>
                  <a:srgbClr val="333333"/>
                </a:solidFill>
                <a:latin typeface="Roboto Lt"/>
                <a:cs typeface="Roboto Lt"/>
              </a:rPr>
              <a:t>or </a:t>
            </a:r>
            <a:r>
              <a:rPr sz="1150" spc="-30" dirty="0">
                <a:solidFill>
                  <a:srgbClr val="333333"/>
                </a:solidFill>
                <a:latin typeface="Roboto Lt"/>
                <a:cs typeface="Roboto Lt"/>
              </a:rPr>
              <a:t>tester. </a:t>
            </a:r>
            <a:r>
              <a:rPr sz="1150" spc="-25" dirty="0">
                <a:solidFill>
                  <a:srgbClr val="333333"/>
                </a:solidFill>
                <a:latin typeface="Roboto Lt"/>
                <a:cs typeface="Roboto Lt"/>
              </a:rPr>
              <a:t> </a:t>
            </a:r>
            <a:r>
              <a:rPr sz="1150" spc="-10" dirty="0">
                <a:solidFill>
                  <a:srgbClr val="333333"/>
                </a:solidFill>
                <a:latin typeface="Roboto Lt"/>
                <a:cs typeface="Roboto Lt"/>
              </a:rPr>
              <a:t>Everyone</a:t>
            </a:r>
            <a:r>
              <a:rPr sz="1150" spc="-45" dirty="0">
                <a:solidFill>
                  <a:srgbClr val="333333"/>
                </a:solidFill>
                <a:latin typeface="Roboto Lt"/>
                <a:cs typeface="Roboto Lt"/>
              </a:rPr>
              <a:t> </a:t>
            </a:r>
            <a:r>
              <a:rPr sz="1150" dirty="0">
                <a:solidFill>
                  <a:srgbClr val="333333"/>
                </a:solidFill>
                <a:latin typeface="Roboto Lt"/>
                <a:cs typeface="Roboto Lt"/>
              </a:rPr>
              <a:t>on</a:t>
            </a:r>
            <a:r>
              <a:rPr sz="1150" spc="-40" dirty="0">
                <a:solidFill>
                  <a:srgbClr val="333333"/>
                </a:solidFill>
                <a:latin typeface="Roboto Lt"/>
                <a:cs typeface="Roboto Lt"/>
              </a:rPr>
              <a:t> </a:t>
            </a:r>
            <a:r>
              <a:rPr sz="1150" spc="-10" dirty="0">
                <a:solidFill>
                  <a:srgbClr val="333333"/>
                </a:solidFill>
                <a:latin typeface="Roboto Lt"/>
                <a:cs typeface="Roboto Lt"/>
              </a:rPr>
              <a:t>the</a:t>
            </a:r>
            <a:r>
              <a:rPr sz="1150" spc="-40" dirty="0">
                <a:solidFill>
                  <a:srgbClr val="333333"/>
                </a:solidFill>
                <a:latin typeface="Roboto Lt"/>
                <a:cs typeface="Roboto Lt"/>
              </a:rPr>
              <a:t> </a:t>
            </a:r>
            <a:r>
              <a:rPr sz="1150" spc="-15" dirty="0">
                <a:solidFill>
                  <a:srgbClr val="333333"/>
                </a:solidFill>
                <a:latin typeface="Roboto Lt"/>
                <a:cs typeface="Roboto Lt"/>
              </a:rPr>
              <a:t>project</a:t>
            </a:r>
            <a:r>
              <a:rPr sz="1150" spc="-40" dirty="0">
                <a:solidFill>
                  <a:srgbClr val="333333"/>
                </a:solidFill>
                <a:latin typeface="Roboto Lt"/>
                <a:cs typeface="Roboto Lt"/>
              </a:rPr>
              <a:t> </a:t>
            </a:r>
            <a:r>
              <a:rPr sz="1150" spc="-15" dirty="0">
                <a:solidFill>
                  <a:srgbClr val="333333"/>
                </a:solidFill>
                <a:latin typeface="Roboto Lt"/>
                <a:cs typeface="Roboto Lt"/>
              </a:rPr>
              <a:t>completes </a:t>
            </a:r>
            <a:r>
              <a:rPr sz="1150" spc="-265" dirty="0">
                <a:solidFill>
                  <a:srgbClr val="333333"/>
                </a:solidFill>
                <a:latin typeface="Roboto Lt"/>
                <a:cs typeface="Roboto Lt"/>
              </a:rPr>
              <a:t> </a:t>
            </a:r>
            <a:r>
              <a:rPr sz="1150" spc="-10" dirty="0">
                <a:solidFill>
                  <a:srgbClr val="333333"/>
                </a:solidFill>
                <a:latin typeface="Roboto Lt"/>
                <a:cs typeface="Roboto Lt"/>
              </a:rPr>
              <a:t>the</a:t>
            </a:r>
            <a:r>
              <a:rPr sz="1150" spc="-25" dirty="0">
                <a:solidFill>
                  <a:srgbClr val="333333"/>
                </a:solidFill>
                <a:latin typeface="Roboto Lt"/>
                <a:cs typeface="Roboto Lt"/>
              </a:rPr>
              <a:t> </a:t>
            </a:r>
            <a:r>
              <a:rPr sz="1150" spc="-10" dirty="0">
                <a:solidFill>
                  <a:srgbClr val="333333"/>
                </a:solidFill>
                <a:latin typeface="Roboto Lt"/>
                <a:cs typeface="Roboto Lt"/>
              </a:rPr>
              <a:t>set</a:t>
            </a:r>
            <a:r>
              <a:rPr sz="1150" spc="-20" dirty="0">
                <a:solidFill>
                  <a:srgbClr val="333333"/>
                </a:solidFill>
                <a:latin typeface="Roboto Lt"/>
                <a:cs typeface="Roboto Lt"/>
              </a:rPr>
              <a:t> </a:t>
            </a:r>
            <a:r>
              <a:rPr sz="1150" spc="-5" dirty="0">
                <a:solidFill>
                  <a:srgbClr val="333333"/>
                </a:solidFill>
                <a:latin typeface="Roboto Lt"/>
                <a:cs typeface="Roboto Lt"/>
              </a:rPr>
              <a:t>of</a:t>
            </a:r>
            <a:r>
              <a:rPr sz="1150" spc="-20" dirty="0">
                <a:solidFill>
                  <a:srgbClr val="333333"/>
                </a:solidFill>
                <a:latin typeface="Roboto Lt"/>
                <a:cs typeface="Roboto Lt"/>
              </a:rPr>
              <a:t> </a:t>
            </a:r>
            <a:r>
              <a:rPr sz="1150" spc="-10" dirty="0">
                <a:solidFill>
                  <a:srgbClr val="333333"/>
                </a:solidFill>
                <a:latin typeface="Roboto Lt"/>
                <a:cs typeface="Roboto Lt"/>
              </a:rPr>
              <a:t>work</a:t>
            </a:r>
            <a:r>
              <a:rPr sz="1150" spc="-25" dirty="0">
                <a:solidFill>
                  <a:srgbClr val="333333"/>
                </a:solidFill>
                <a:latin typeface="Roboto Lt"/>
                <a:cs typeface="Roboto Lt"/>
              </a:rPr>
              <a:t> together.</a:t>
            </a:r>
            <a:endParaRPr sz="1150">
              <a:latin typeface="Roboto Lt"/>
              <a:cs typeface="Roboto Lt"/>
            </a:endParaRPr>
          </a:p>
        </p:txBody>
      </p:sp>
      <p:sp>
        <p:nvSpPr>
          <p:cNvPr id="13" name="object 13"/>
          <p:cNvSpPr/>
          <p:nvPr/>
        </p:nvSpPr>
        <p:spPr>
          <a:xfrm>
            <a:off x="7495144" y="281801"/>
            <a:ext cx="1038860" cy="966469"/>
          </a:xfrm>
          <a:custGeom>
            <a:avLst/>
            <a:gdLst/>
            <a:ahLst/>
            <a:cxnLst/>
            <a:rect l="l" t="t" r="r" b="b"/>
            <a:pathLst>
              <a:path w="1038859" h="966469">
                <a:moveTo>
                  <a:pt x="519239" y="0"/>
                </a:moveTo>
                <a:lnTo>
                  <a:pt x="471776" y="9580"/>
                </a:lnTo>
                <a:lnTo>
                  <a:pt x="433057" y="35725"/>
                </a:lnTo>
                <a:lnTo>
                  <a:pt x="406919" y="74496"/>
                </a:lnTo>
                <a:lnTo>
                  <a:pt x="397332" y="121907"/>
                </a:lnTo>
                <a:lnTo>
                  <a:pt x="399813" y="146502"/>
                </a:lnTo>
                <a:lnTo>
                  <a:pt x="418174" y="190130"/>
                </a:lnTo>
                <a:lnTo>
                  <a:pt x="446725" y="219894"/>
                </a:lnTo>
                <a:lnTo>
                  <a:pt x="462013" y="229577"/>
                </a:lnTo>
                <a:lnTo>
                  <a:pt x="440340" y="237875"/>
                </a:lnTo>
                <a:lnTo>
                  <a:pt x="401223" y="261672"/>
                </a:lnTo>
                <a:lnTo>
                  <a:pt x="360820" y="305133"/>
                </a:lnTo>
                <a:lnTo>
                  <a:pt x="332066" y="373478"/>
                </a:lnTo>
                <a:lnTo>
                  <a:pt x="328180" y="412013"/>
                </a:lnTo>
                <a:lnTo>
                  <a:pt x="328180" y="418363"/>
                </a:lnTo>
                <a:lnTo>
                  <a:pt x="333273" y="423494"/>
                </a:lnTo>
                <a:lnTo>
                  <a:pt x="705345" y="423494"/>
                </a:lnTo>
                <a:lnTo>
                  <a:pt x="710501" y="418363"/>
                </a:lnTo>
                <a:lnTo>
                  <a:pt x="710501" y="412013"/>
                </a:lnTo>
                <a:lnTo>
                  <a:pt x="709339" y="400494"/>
                </a:lnTo>
                <a:lnTo>
                  <a:pt x="351548" y="400494"/>
                </a:lnTo>
                <a:lnTo>
                  <a:pt x="356479" y="369972"/>
                </a:lnTo>
                <a:lnTo>
                  <a:pt x="381457" y="315751"/>
                </a:lnTo>
                <a:lnTo>
                  <a:pt x="425358" y="272601"/>
                </a:lnTo>
                <a:lnTo>
                  <a:pt x="485383" y="247329"/>
                </a:lnTo>
                <a:lnTo>
                  <a:pt x="519302" y="243878"/>
                </a:lnTo>
                <a:lnTo>
                  <a:pt x="609719" y="243878"/>
                </a:lnTo>
                <a:lnTo>
                  <a:pt x="598309" y="237843"/>
                </a:lnTo>
                <a:lnTo>
                  <a:pt x="576592" y="229577"/>
                </a:lnTo>
                <a:lnTo>
                  <a:pt x="584425" y="225005"/>
                </a:lnTo>
                <a:lnTo>
                  <a:pt x="590479" y="220852"/>
                </a:lnTo>
                <a:lnTo>
                  <a:pt x="519239" y="220852"/>
                </a:lnTo>
                <a:lnTo>
                  <a:pt x="499320" y="218835"/>
                </a:lnTo>
                <a:lnTo>
                  <a:pt x="463939" y="203927"/>
                </a:lnTo>
                <a:lnTo>
                  <a:pt x="428140" y="160416"/>
                </a:lnTo>
                <a:lnTo>
                  <a:pt x="420433" y="121907"/>
                </a:lnTo>
                <a:lnTo>
                  <a:pt x="422426" y="102000"/>
                </a:lnTo>
                <a:lnTo>
                  <a:pt x="437235" y="66639"/>
                </a:lnTo>
                <a:lnTo>
                  <a:pt x="480758" y="30802"/>
                </a:lnTo>
                <a:lnTo>
                  <a:pt x="519239" y="22986"/>
                </a:lnTo>
                <a:lnTo>
                  <a:pt x="590036" y="22986"/>
                </a:lnTo>
                <a:lnTo>
                  <a:pt x="587415" y="20825"/>
                </a:lnTo>
                <a:lnTo>
                  <a:pt x="566705" y="9580"/>
                </a:lnTo>
                <a:lnTo>
                  <a:pt x="543823" y="2476"/>
                </a:lnTo>
                <a:lnTo>
                  <a:pt x="519239" y="0"/>
                </a:lnTo>
                <a:close/>
              </a:path>
              <a:path w="1038859" h="966469">
                <a:moveTo>
                  <a:pt x="609719" y="243878"/>
                </a:moveTo>
                <a:lnTo>
                  <a:pt x="519302" y="243878"/>
                </a:lnTo>
                <a:lnTo>
                  <a:pt x="553218" y="247297"/>
                </a:lnTo>
                <a:lnTo>
                  <a:pt x="584854" y="257128"/>
                </a:lnTo>
                <a:lnTo>
                  <a:pt x="638213" y="293116"/>
                </a:lnTo>
                <a:lnTo>
                  <a:pt x="672088" y="341547"/>
                </a:lnTo>
                <a:lnTo>
                  <a:pt x="687133" y="400494"/>
                </a:lnTo>
                <a:lnTo>
                  <a:pt x="709339" y="400494"/>
                </a:lnTo>
                <a:lnTo>
                  <a:pt x="695472" y="337602"/>
                </a:lnTo>
                <a:lnTo>
                  <a:pt x="654545" y="276821"/>
                </a:lnTo>
                <a:lnTo>
                  <a:pt x="618655" y="248604"/>
                </a:lnTo>
                <a:lnTo>
                  <a:pt x="609719" y="243878"/>
                </a:lnTo>
                <a:close/>
              </a:path>
              <a:path w="1038859" h="966469">
                <a:moveTo>
                  <a:pt x="590036" y="22986"/>
                </a:moveTo>
                <a:lnTo>
                  <a:pt x="519239" y="22986"/>
                </a:lnTo>
                <a:lnTo>
                  <a:pt x="539183" y="25010"/>
                </a:lnTo>
                <a:lnTo>
                  <a:pt x="557739" y="30802"/>
                </a:lnTo>
                <a:lnTo>
                  <a:pt x="601294" y="66671"/>
                </a:lnTo>
                <a:lnTo>
                  <a:pt x="616119" y="102011"/>
                </a:lnTo>
                <a:lnTo>
                  <a:pt x="618121" y="121907"/>
                </a:lnTo>
                <a:lnTo>
                  <a:pt x="616118" y="141866"/>
                </a:lnTo>
                <a:lnTo>
                  <a:pt x="601276" y="177242"/>
                </a:lnTo>
                <a:lnTo>
                  <a:pt x="557823" y="213056"/>
                </a:lnTo>
                <a:lnTo>
                  <a:pt x="519239" y="220852"/>
                </a:lnTo>
                <a:lnTo>
                  <a:pt x="590479" y="220852"/>
                </a:lnTo>
                <a:lnTo>
                  <a:pt x="620368" y="190056"/>
                </a:lnTo>
                <a:lnTo>
                  <a:pt x="638728" y="146454"/>
                </a:lnTo>
                <a:lnTo>
                  <a:pt x="641210" y="121907"/>
                </a:lnTo>
                <a:lnTo>
                  <a:pt x="638720" y="97343"/>
                </a:lnTo>
                <a:lnTo>
                  <a:pt x="631602" y="74472"/>
                </a:lnTo>
                <a:lnTo>
                  <a:pt x="620361" y="53773"/>
                </a:lnTo>
                <a:lnTo>
                  <a:pt x="605485" y="35725"/>
                </a:lnTo>
                <a:lnTo>
                  <a:pt x="590036" y="22986"/>
                </a:lnTo>
                <a:close/>
              </a:path>
              <a:path w="1038859" h="966469">
                <a:moveTo>
                  <a:pt x="191058" y="543293"/>
                </a:moveTo>
                <a:lnTo>
                  <a:pt x="143600" y="553453"/>
                </a:lnTo>
                <a:lnTo>
                  <a:pt x="104876" y="578853"/>
                </a:lnTo>
                <a:lnTo>
                  <a:pt x="78746" y="618223"/>
                </a:lnTo>
                <a:lnTo>
                  <a:pt x="69151" y="665213"/>
                </a:lnTo>
                <a:lnTo>
                  <a:pt x="71633" y="689343"/>
                </a:lnTo>
                <a:lnTo>
                  <a:pt x="89993" y="733793"/>
                </a:lnTo>
                <a:lnTo>
                  <a:pt x="118527" y="763003"/>
                </a:lnTo>
                <a:lnTo>
                  <a:pt x="133845" y="773163"/>
                </a:lnTo>
                <a:lnTo>
                  <a:pt x="112097" y="780783"/>
                </a:lnTo>
                <a:lnTo>
                  <a:pt x="73001" y="804913"/>
                </a:lnTo>
                <a:lnTo>
                  <a:pt x="32623" y="848093"/>
                </a:lnTo>
                <a:lnTo>
                  <a:pt x="3878" y="916673"/>
                </a:lnTo>
                <a:lnTo>
                  <a:pt x="0" y="954773"/>
                </a:lnTo>
                <a:lnTo>
                  <a:pt x="0" y="961123"/>
                </a:lnTo>
                <a:lnTo>
                  <a:pt x="5092" y="966203"/>
                </a:lnTo>
                <a:lnTo>
                  <a:pt x="377164" y="966203"/>
                </a:lnTo>
                <a:lnTo>
                  <a:pt x="382257" y="961123"/>
                </a:lnTo>
                <a:lnTo>
                  <a:pt x="382257" y="954773"/>
                </a:lnTo>
                <a:lnTo>
                  <a:pt x="381094" y="943343"/>
                </a:lnTo>
                <a:lnTo>
                  <a:pt x="23444" y="943343"/>
                </a:lnTo>
                <a:lnTo>
                  <a:pt x="28311" y="912863"/>
                </a:lnTo>
                <a:lnTo>
                  <a:pt x="53224" y="859523"/>
                </a:lnTo>
                <a:lnTo>
                  <a:pt x="97136" y="816343"/>
                </a:lnTo>
                <a:lnTo>
                  <a:pt x="157193" y="790943"/>
                </a:lnTo>
                <a:lnTo>
                  <a:pt x="191058" y="787133"/>
                </a:lnTo>
                <a:lnTo>
                  <a:pt x="281405" y="787133"/>
                </a:lnTo>
                <a:lnTo>
                  <a:pt x="270106" y="780783"/>
                </a:lnTo>
                <a:lnTo>
                  <a:pt x="248424" y="773163"/>
                </a:lnTo>
                <a:lnTo>
                  <a:pt x="256240" y="768083"/>
                </a:lnTo>
                <a:lnTo>
                  <a:pt x="261809" y="764273"/>
                </a:lnTo>
                <a:lnTo>
                  <a:pt x="191122" y="764273"/>
                </a:lnTo>
                <a:lnTo>
                  <a:pt x="171105" y="761733"/>
                </a:lnTo>
                <a:lnTo>
                  <a:pt x="121145" y="735063"/>
                </a:lnTo>
                <a:lnTo>
                  <a:pt x="99904" y="703313"/>
                </a:lnTo>
                <a:lnTo>
                  <a:pt x="92113" y="665213"/>
                </a:lnTo>
                <a:lnTo>
                  <a:pt x="94127" y="644893"/>
                </a:lnTo>
                <a:lnTo>
                  <a:pt x="109043" y="609333"/>
                </a:lnTo>
                <a:lnTo>
                  <a:pt x="152539" y="573773"/>
                </a:lnTo>
                <a:lnTo>
                  <a:pt x="191058" y="566153"/>
                </a:lnTo>
                <a:lnTo>
                  <a:pt x="262206" y="566153"/>
                </a:lnTo>
                <a:lnTo>
                  <a:pt x="259199" y="563613"/>
                </a:lnTo>
                <a:lnTo>
                  <a:pt x="238493" y="553453"/>
                </a:lnTo>
                <a:lnTo>
                  <a:pt x="215615" y="545833"/>
                </a:lnTo>
                <a:lnTo>
                  <a:pt x="191058" y="543293"/>
                </a:lnTo>
                <a:close/>
              </a:path>
              <a:path w="1038859" h="966469">
                <a:moveTo>
                  <a:pt x="847547" y="543293"/>
                </a:moveTo>
                <a:lnTo>
                  <a:pt x="800119" y="553453"/>
                </a:lnTo>
                <a:lnTo>
                  <a:pt x="761377" y="578853"/>
                </a:lnTo>
                <a:lnTo>
                  <a:pt x="735236" y="618223"/>
                </a:lnTo>
                <a:lnTo>
                  <a:pt x="725639" y="665213"/>
                </a:lnTo>
                <a:lnTo>
                  <a:pt x="728121" y="689343"/>
                </a:lnTo>
                <a:lnTo>
                  <a:pt x="746487" y="733793"/>
                </a:lnTo>
                <a:lnTo>
                  <a:pt x="775007" y="763003"/>
                </a:lnTo>
                <a:lnTo>
                  <a:pt x="790257" y="773163"/>
                </a:lnTo>
                <a:lnTo>
                  <a:pt x="768612" y="780783"/>
                </a:lnTo>
                <a:lnTo>
                  <a:pt x="729508" y="804913"/>
                </a:lnTo>
                <a:lnTo>
                  <a:pt x="689140" y="848093"/>
                </a:lnTo>
                <a:lnTo>
                  <a:pt x="660386" y="916673"/>
                </a:lnTo>
                <a:lnTo>
                  <a:pt x="656501" y="954773"/>
                </a:lnTo>
                <a:lnTo>
                  <a:pt x="656501" y="961123"/>
                </a:lnTo>
                <a:lnTo>
                  <a:pt x="661657" y="966203"/>
                </a:lnTo>
                <a:lnTo>
                  <a:pt x="1033652" y="966203"/>
                </a:lnTo>
                <a:lnTo>
                  <a:pt x="1038745" y="961123"/>
                </a:lnTo>
                <a:lnTo>
                  <a:pt x="1038745" y="954773"/>
                </a:lnTo>
                <a:lnTo>
                  <a:pt x="1037585" y="943343"/>
                </a:lnTo>
                <a:lnTo>
                  <a:pt x="679869" y="943343"/>
                </a:lnTo>
                <a:lnTo>
                  <a:pt x="684755" y="912863"/>
                </a:lnTo>
                <a:lnTo>
                  <a:pt x="709729" y="859523"/>
                </a:lnTo>
                <a:lnTo>
                  <a:pt x="753594" y="816343"/>
                </a:lnTo>
                <a:lnTo>
                  <a:pt x="813676" y="790943"/>
                </a:lnTo>
                <a:lnTo>
                  <a:pt x="847547" y="787133"/>
                </a:lnTo>
                <a:lnTo>
                  <a:pt x="937901" y="787133"/>
                </a:lnTo>
                <a:lnTo>
                  <a:pt x="926597" y="780783"/>
                </a:lnTo>
                <a:lnTo>
                  <a:pt x="904913" y="773163"/>
                </a:lnTo>
                <a:lnTo>
                  <a:pt x="912729" y="768083"/>
                </a:lnTo>
                <a:lnTo>
                  <a:pt x="918304" y="764273"/>
                </a:lnTo>
                <a:lnTo>
                  <a:pt x="847547" y="764273"/>
                </a:lnTo>
                <a:lnTo>
                  <a:pt x="827598" y="761733"/>
                </a:lnTo>
                <a:lnTo>
                  <a:pt x="777633" y="735063"/>
                </a:lnTo>
                <a:lnTo>
                  <a:pt x="756431" y="703313"/>
                </a:lnTo>
                <a:lnTo>
                  <a:pt x="748677" y="665213"/>
                </a:lnTo>
                <a:lnTo>
                  <a:pt x="750680" y="644893"/>
                </a:lnTo>
                <a:lnTo>
                  <a:pt x="765544" y="609333"/>
                </a:lnTo>
                <a:lnTo>
                  <a:pt x="809032" y="573773"/>
                </a:lnTo>
                <a:lnTo>
                  <a:pt x="847547" y="566153"/>
                </a:lnTo>
                <a:lnTo>
                  <a:pt x="918752" y="566153"/>
                </a:lnTo>
                <a:lnTo>
                  <a:pt x="915745" y="563613"/>
                </a:lnTo>
                <a:lnTo>
                  <a:pt x="895013" y="553453"/>
                </a:lnTo>
                <a:lnTo>
                  <a:pt x="872110" y="545833"/>
                </a:lnTo>
                <a:lnTo>
                  <a:pt x="847547" y="543293"/>
                </a:lnTo>
                <a:close/>
              </a:path>
              <a:path w="1038859" h="966469">
                <a:moveTo>
                  <a:pt x="281405" y="787133"/>
                </a:moveTo>
                <a:lnTo>
                  <a:pt x="191058" y="787133"/>
                </a:lnTo>
                <a:lnTo>
                  <a:pt x="224996" y="790943"/>
                </a:lnTo>
                <a:lnTo>
                  <a:pt x="256549" y="799833"/>
                </a:lnTo>
                <a:lnTo>
                  <a:pt x="310032" y="836663"/>
                </a:lnTo>
                <a:lnTo>
                  <a:pt x="343850" y="884923"/>
                </a:lnTo>
                <a:lnTo>
                  <a:pt x="358876" y="943343"/>
                </a:lnTo>
                <a:lnTo>
                  <a:pt x="381094" y="943343"/>
                </a:lnTo>
                <a:lnTo>
                  <a:pt x="367257" y="881113"/>
                </a:lnTo>
                <a:lnTo>
                  <a:pt x="326301" y="820153"/>
                </a:lnTo>
                <a:lnTo>
                  <a:pt x="290444" y="792213"/>
                </a:lnTo>
                <a:lnTo>
                  <a:pt x="281405" y="787133"/>
                </a:lnTo>
                <a:close/>
              </a:path>
              <a:path w="1038859" h="966469">
                <a:moveTo>
                  <a:pt x="937901" y="787133"/>
                </a:moveTo>
                <a:lnTo>
                  <a:pt x="847686" y="787133"/>
                </a:lnTo>
                <a:lnTo>
                  <a:pt x="881537" y="790943"/>
                </a:lnTo>
                <a:lnTo>
                  <a:pt x="913101" y="799833"/>
                </a:lnTo>
                <a:lnTo>
                  <a:pt x="966533" y="836663"/>
                </a:lnTo>
                <a:lnTo>
                  <a:pt x="1000369" y="884923"/>
                </a:lnTo>
                <a:lnTo>
                  <a:pt x="1015364" y="943343"/>
                </a:lnTo>
                <a:lnTo>
                  <a:pt x="1037585" y="943343"/>
                </a:lnTo>
                <a:lnTo>
                  <a:pt x="1023777" y="881113"/>
                </a:lnTo>
                <a:lnTo>
                  <a:pt x="982852" y="820153"/>
                </a:lnTo>
                <a:lnTo>
                  <a:pt x="946945" y="792213"/>
                </a:lnTo>
                <a:lnTo>
                  <a:pt x="937901" y="787133"/>
                </a:lnTo>
                <a:close/>
              </a:path>
              <a:path w="1038859" h="966469">
                <a:moveTo>
                  <a:pt x="525792" y="446773"/>
                </a:moveTo>
                <a:lnTo>
                  <a:pt x="513029" y="446773"/>
                </a:lnTo>
                <a:lnTo>
                  <a:pt x="507860" y="451853"/>
                </a:lnTo>
                <a:lnTo>
                  <a:pt x="507860" y="535673"/>
                </a:lnTo>
                <a:lnTo>
                  <a:pt x="491319" y="539483"/>
                </a:lnTo>
                <a:lnTo>
                  <a:pt x="449592" y="563613"/>
                </a:lnTo>
                <a:lnTo>
                  <a:pt x="428456" y="595363"/>
                </a:lnTo>
                <a:lnTo>
                  <a:pt x="420712" y="633463"/>
                </a:lnTo>
                <a:lnTo>
                  <a:pt x="421986" y="649973"/>
                </a:lnTo>
                <a:lnTo>
                  <a:pt x="425673" y="665213"/>
                </a:lnTo>
                <a:lnTo>
                  <a:pt x="431573" y="679183"/>
                </a:lnTo>
                <a:lnTo>
                  <a:pt x="439483" y="691883"/>
                </a:lnTo>
                <a:lnTo>
                  <a:pt x="378840" y="752843"/>
                </a:lnTo>
                <a:lnTo>
                  <a:pt x="374370" y="756653"/>
                </a:lnTo>
                <a:lnTo>
                  <a:pt x="374370" y="764273"/>
                </a:lnTo>
                <a:lnTo>
                  <a:pt x="378840" y="768083"/>
                </a:lnTo>
                <a:lnTo>
                  <a:pt x="383298" y="773163"/>
                </a:lnTo>
                <a:lnTo>
                  <a:pt x="390626" y="773163"/>
                </a:lnTo>
                <a:lnTo>
                  <a:pt x="395160" y="768083"/>
                </a:lnTo>
                <a:lnTo>
                  <a:pt x="455040" y="708393"/>
                </a:lnTo>
                <a:lnTo>
                  <a:pt x="504072" y="708393"/>
                </a:lnTo>
                <a:lnTo>
                  <a:pt x="489889" y="703313"/>
                </a:lnTo>
                <a:lnTo>
                  <a:pt x="477069" y="696963"/>
                </a:lnTo>
                <a:lnTo>
                  <a:pt x="465924" y="686803"/>
                </a:lnTo>
                <a:lnTo>
                  <a:pt x="465226" y="686803"/>
                </a:lnTo>
                <a:lnTo>
                  <a:pt x="463410" y="684263"/>
                </a:lnTo>
                <a:lnTo>
                  <a:pt x="462991" y="684263"/>
                </a:lnTo>
                <a:lnTo>
                  <a:pt x="454919" y="674103"/>
                </a:lnTo>
                <a:lnTo>
                  <a:pt x="448864" y="661403"/>
                </a:lnTo>
                <a:lnTo>
                  <a:pt x="445058" y="647433"/>
                </a:lnTo>
                <a:lnTo>
                  <a:pt x="443737" y="633463"/>
                </a:lnTo>
                <a:lnTo>
                  <a:pt x="445272" y="618223"/>
                </a:lnTo>
                <a:lnTo>
                  <a:pt x="465924" y="580123"/>
                </a:lnTo>
                <a:lnTo>
                  <a:pt x="504104" y="559803"/>
                </a:lnTo>
                <a:lnTo>
                  <a:pt x="519379" y="558533"/>
                </a:lnTo>
                <a:lnTo>
                  <a:pt x="582891" y="558533"/>
                </a:lnTo>
                <a:lnTo>
                  <a:pt x="576694" y="553453"/>
                </a:lnTo>
                <a:lnTo>
                  <a:pt x="562735" y="545833"/>
                </a:lnTo>
                <a:lnTo>
                  <a:pt x="547402" y="539483"/>
                </a:lnTo>
                <a:lnTo>
                  <a:pt x="530961" y="535673"/>
                </a:lnTo>
                <a:lnTo>
                  <a:pt x="530961" y="451853"/>
                </a:lnTo>
                <a:lnTo>
                  <a:pt x="525792" y="446773"/>
                </a:lnTo>
                <a:close/>
              </a:path>
              <a:path w="1038859" h="966469">
                <a:moveTo>
                  <a:pt x="618357" y="707123"/>
                </a:moveTo>
                <a:lnTo>
                  <a:pt x="585596" y="707123"/>
                </a:lnTo>
                <a:lnTo>
                  <a:pt x="651192" y="773163"/>
                </a:lnTo>
                <a:lnTo>
                  <a:pt x="658444" y="773163"/>
                </a:lnTo>
                <a:lnTo>
                  <a:pt x="662978" y="768083"/>
                </a:lnTo>
                <a:lnTo>
                  <a:pt x="667448" y="764273"/>
                </a:lnTo>
                <a:lnTo>
                  <a:pt x="667448" y="756653"/>
                </a:lnTo>
                <a:lnTo>
                  <a:pt x="618357" y="707123"/>
                </a:lnTo>
                <a:close/>
              </a:path>
              <a:path w="1038859" h="966469">
                <a:moveTo>
                  <a:pt x="262206" y="566153"/>
                </a:moveTo>
                <a:lnTo>
                  <a:pt x="191058" y="566153"/>
                </a:lnTo>
                <a:lnTo>
                  <a:pt x="210984" y="568693"/>
                </a:lnTo>
                <a:lnTo>
                  <a:pt x="229546" y="573773"/>
                </a:lnTo>
                <a:lnTo>
                  <a:pt x="273010" y="609333"/>
                </a:lnTo>
                <a:lnTo>
                  <a:pt x="287926" y="644893"/>
                </a:lnTo>
                <a:lnTo>
                  <a:pt x="289940" y="665213"/>
                </a:lnTo>
                <a:lnTo>
                  <a:pt x="287927" y="685533"/>
                </a:lnTo>
                <a:lnTo>
                  <a:pt x="282157" y="703313"/>
                </a:lnTo>
                <a:lnTo>
                  <a:pt x="273037" y="721093"/>
                </a:lnTo>
                <a:lnTo>
                  <a:pt x="260972" y="735063"/>
                </a:lnTo>
                <a:lnTo>
                  <a:pt x="246336" y="747763"/>
                </a:lnTo>
                <a:lnTo>
                  <a:pt x="229577" y="756653"/>
                </a:lnTo>
                <a:lnTo>
                  <a:pt x="211038" y="761733"/>
                </a:lnTo>
                <a:lnTo>
                  <a:pt x="191122" y="764273"/>
                </a:lnTo>
                <a:lnTo>
                  <a:pt x="261809" y="764273"/>
                </a:lnTo>
                <a:lnTo>
                  <a:pt x="292150" y="733793"/>
                </a:lnTo>
                <a:lnTo>
                  <a:pt x="310493" y="689343"/>
                </a:lnTo>
                <a:lnTo>
                  <a:pt x="312966" y="665213"/>
                </a:lnTo>
                <a:lnTo>
                  <a:pt x="310493" y="641083"/>
                </a:lnTo>
                <a:lnTo>
                  <a:pt x="303395" y="618223"/>
                </a:lnTo>
                <a:lnTo>
                  <a:pt x="292150" y="596633"/>
                </a:lnTo>
                <a:lnTo>
                  <a:pt x="277240" y="578853"/>
                </a:lnTo>
                <a:lnTo>
                  <a:pt x="262206" y="566153"/>
                </a:lnTo>
                <a:close/>
              </a:path>
              <a:path w="1038859" h="966469">
                <a:moveTo>
                  <a:pt x="918752" y="566153"/>
                </a:moveTo>
                <a:lnTo>
                  <a:pt x="847547" y="566153"/>
                </a:lnTo>
                <a:lnTo>
                  <a:pt x="867501" y="568693"/>
                </a:lnTo>
                <a:lnTo>
                  <a:pt x="886067" y="573773"/>
                </a:lnTo>
                <a:lnTo>
                  <a:pt x="917473" y="595363"/>
                </a:lnTo>
                <a:lnTo>
                  <a:pt x="938707" y="627113"/>
                </a:lnTo>
                <a:lnTo>
                  <a:pt x="946492" y="665213"/>
                </a:lnTo>
                <a:lnTo>
                  <a:pt x="944481" y="685533"/>
                </a:lnTo>
                <a:lnTo>
                  <a:pt x="938715" y="703313"/>
                </a:lnTo>
                <a:lnTo>
                  <a:pt x="929599" y="721093"/>
                </a:lnTo>
                <a:lnTo>
                  <a:pt x="917536" y="735063"/>
                </a:lnTo>
                <a:lnTo>
                  <a:pt x="902884" y="747763"/>
                </a:lnTo>
                <a:lnTo>
                  <a:pt x="886109" y="756653"/>
                </a:lnTo>
                <a:lnTo>
                  <a:pt x="867568" y="761733"/>
                </a:lnTo>
                <a:lnTo>
                  <a:pt x="847686" y="764273"/>
                </a:lnTo>
                <a:lnTo>
                  <a:pt x="918304" y="764273"/>
                </a:lnTo>
                <a:lnTo>
                  <a:pt x="948681" y="733793"/>
                </a:lnTo>
                <a:lnTo>
                  <a:pt x="967038" y="689343"/>
                </a:lnTo>
                <a:lnTo>
                  <a:pt x="969517" y="665213"/>
                </a:lnTo>
                <a:lnTo>
                  <a:pt x="967038" y="641083"/>
                </a:lnTo>
                <a:lnTo>
                  <a:pt x="959927" y="618223"/>
                </a:lnTo>
                <a:lnTo>
                  <a:pt x="948681" y="596633"/>
                </a:lnTo>
                <a:lnTo>
                  <a:pt x="933792" y="578853"/>
                </a:lnTo>
                <a:lnTo>
                  <a:pt x="918752" y="566153"/>
                </a:lnTo>
                <a:close/>
              </a:path>
              <a:path w="1038859" h="966469">
                <a:moveTo>
                  <a:pt x="504072" y="708393"/>
                </a:moveTo>
                <a:lnTo>
                  <a:pt x="455040" y="708393"/>
                </a:lnTo>
                <a:lnTo>
                  <a:pt x="468950" y="718553"/>
                </a:lnTo>
                <a:lnTo>
                  <a:pt x="484504" y="726173"/>
                </a:lnTo>
                <a:lnTo>
                  <a:pt x="501393" y="731253"/>
                </a:lnTo>
                <a:lnTo>
                  <a:pt x="519302" y="732523"/>
                </a:lnTo>
                <a:lnTo>
                  <a:pt x="537973" y="731253"/>
                </a:lnTo>
                <a:lnTo>
                  <a:pt x="555459" y="726173"/>
                </a:lnTo>
                <a:lnTo>
                  <a:pt x="571441" y="717283"/>
                </a:lnTo>
                <a:lnTo>
                  <a:pt x="582058" y="709663"/>
                </a:lnTo>
                <a:lnTo>
                  <a:pt x="519302" y="709663"/>
                </a:lnTo>
                <a:lnTo>
                  <a:pt x="504072" y="708393"/>
                </a:lnTo>
                <a:close/>
              </a:path>
              <a:path w="1038859" h="966469">
                <a:moveTo>
                  <a:pt x="582891" y="558533"/>
                </a:moveTo>
                <a:lnTo>
                  <a:pt x="519379" y="558533"/>
                </a:lnTo>
                <a:lnTo>
                  <a:pt x="534635" y="559803"/>
                </a:lnTo>
                <a:lnTo>
                  <a:pt x="548820" y="563613"/>
                </a:lnTo>
                <a:lnTo>
                  <a:pt x="582026" y="591553"/>
                </a:lnTo>
                <a:lnTo>
                  <a:pt x="594944" y="633463"/>
                </a:lnTo>
                <a:lnTo>
                  <a:pt x="593402" y="648703"/>
                </a:lnTo>
                <a:lnTo>
                  <a:pt x="572833" y="686803"/>
                </a:lnTo>
                <a:lnTo>
                  <a:pt x="534576" y="708393"/>
                </a:lnTo>
                <a:lnTo>
                  <a:pt x="519302" y="709663"/>
                </a:lnTo>
                <a:lnTo>
                  <a:pt x="582058" y="709663"/>
                </a:lnTo>
                <a:lnTo>
                  <a:pt x="585596" y="707123"/>
                </a:lnTo>
                <a:lnTo>
                  <a:pt x="618357" y="707123"/>
                </a:lnTo>
                <a:lnTo>
                  <a:pt x="600735" y="689343"/>
                </a:lnTo>
                <a:lnTo>
                  <a:pt x="608031" y="676643"/>
                </a:lnTo>
                <a:lnTo>
                  <a:pt x="613471" y="663943"/>
                </a:lnTo>
                <a:lnTo>
                  <a:pt x="616871" y="648703"/>
                </a:lnTo>
                <a:lnTo>
                  <a:pt x="618045" y="633463"/>
                </a:lnTo>
                <a:lnTo>
                  <a:pt x="616023" y="614413"/>
                </a:lnTo>
                <a:lnTo>
                  <a:pt x="610239" y="595363"/>
                </a:lnTo>
                <a:lnTo>
                  <a:pt x="601120" y="578853"/>
                </a:lnTo>
                <a:lnTo>
                  <a:pt x="589089" y="563613"/>
                </a:lnTo>
                <a:lnTo>
                  <a:pt x="582891" y="558533"/>
                </a:lnTo>
                <a:close/>
              </a:path>
            </a:pathLst>
          </a:custGeom>
          <a:solidFill>
            <a:srgbClr val="3F95F0"/>
          </a:solidFill>
        </p:spPr>
        <p:txBody>
          <a:bodyPr wrap="square" lIns="0" tIns="0" rIns="0" bIns="0" rtlCol="0"/>
          <a:lstStyle/>
          <a:p>
            <a:endParaRPr/>
          </a:p>
        </p:txBody>
      </p:sp>
      <p:sp>
        <p:nvSpPr>
          <p:cNvPr id="14" name="object 14"/>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spc="35" dirty="0"/>
              <a:t>1</a:t>
            </a:r>
            <a:r>
              <a:rPr lang="en-US" spc="35" dirty="0"/>
              <a:t>5</a:t>
            </a:r>
            <a:endParaRPr spc="35" dirty="0"/>
          </a:p>
        </p:txBody>
      </p:sp>
      <p:sp>
        <p:nvSpPr>
          <p:cNvPr id="15" name="object 15"/>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a:t>Agile Methodology</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rum Framework">
            <a:extLst>
              <a:ext uri="{FF2B5EF4-FFF2-40B4-BE49-F238E27FC236}">
                <a16:creationId xmlns:a16="http://schemas.microsoft.com/office/drawing/2014/main" id="{EAD7FCE5-725F-695B-4906-C97C635E20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5731" y="1676400"/>
            <a:ext cx="7384368" cy="3998584"/>
          </a:xfrm>
          <a:prstGeom prst="rect">
            <a:avLst/>
          </a:prstGeom>
          <a:noFill/>
          <a:extLst>
            <a:ext uri="{909E8E84-426E-40DD-AFC4-6F175D3DCCD1}">
              <a14:hiddenFill xmlns:a14="http://schemas.microsoft.com/office/drawing/2010/main">
                <a:solidFill>
                  <a:srgbClr val="FFFFFF"/>
                </a:solidFill>
              </a14:hiddenFill>
            </a:ext>
          </a:extLst>
        </p:spPr>
      </p:pic>
      <p:sp>
        <p:nvSpPr>
          <p:cNvPr id="4" name="object 17">
            <a:extLst>
              <a:ext uri="{FF2B5EF4-FFF2-40B4-BE49-F238E27FC236}">
                <a16:creationId xmlns:a16="http://schemas.microsoft.com/office/drawing/2014/main" id="{1C796DBA-9353-EC74-8BD2-8D74F584B97F}"/>
              </a:ext>
            </a:extLst>
          </p:cNvPr>
          <p:cNvSpPr/>
          <p:nvPr/>
        </p:nvSpPr>
        <p:spPr>
          <a:xfrm>
            <a:off x="0" y="0"/>
            <a:ext cx="9144000" cy="1490980"/>
          </a:xfrm>
          <a:custGeom>
            <a:avLst/>
            <a:gdLst/>
            <a:ahLst/>
            <a:cxnLst/>
            <a:rect l="l" t="t" r="r" b="b"/>
            <a:pathLst>
              <a:path w="9144000" h="1490980">
                <a:moveTo>
                  <a:pt x="9144000" y="0"/>
                </a:moveTo>
                <a:lnTo>
                  <a:pt x="0" y="0"/>
                </a:lnTo>
                <a:lnTo>
                  <a:pt x="0" y="1490472"/>
                </a:lnTo>
                <a:lnTo>
                  <a:pt x="9144000" y="1490472"/>
                </a:lnTo>
                <a:lnTo>
                  <a:pt x="9144000" y="0"/>
                </a:lnTo>
                <a:close/>
              </a:path>
            </a:pathLst>
          </a:custGeom>
          <a:solidFill>
            <a:srgbClr val="0072EB"/>
          </a:solidFill>
        </p:spPr>
        <p:txBody>
          <a:bodyPr wrap="square" lIns="0" tIns="0" rIns="0" bIns="0" rtlCol="0"/>
          <a:lstStyle/>
          <a:p>
            <a:endParaRPr/>
          </a:p>
        </p:txBody>
      </p:sp>
      <p:sp>
        <p:nvSpPr>
          <p:cNvPr id="5" name="object 18">
            <a:extLst>
              <a:ext uri="{FF2B5EF4-FFF2-40B4-BE49-F238E27FC236}">
                <a16:creationId xmlns:a16="http://schemas.microsoft.com/office/drawing/2014/main" id="{05C0E107-E10A-99AF-ED7D-ECB1927F6DB7}"/>
              </a:ext>
            </a:extLst>
          </p:cNvPr>
          <p:cNvSpPr txBox="1">
            <a:spLocks noGrp="1"/>
          </p:cNvSpPr>
          <p:nvPr>
            <p:ph type="title"/>
          </p:nvPr>
        </p:nvSpPr>
        <p:spPr>
          <a:xfrm>
            <a:off x="370451" y="437227"/>
            <a:ext cx="8403097" cy="705321"/>
          </a:xfrm>
          <a:prstGeom prst="rect">
            <a:avLst/>
          </a:prstGeom>
        </p:spPr>
        <p:txBody>
          <a:bodyPr vert="horz" wrap="square" lIns="0" tIns="12700" rIns="0" bIns="0" rtlCol="0">
            <a:spAutoFit/>
          </a:bodyPr>
          <a:lstStyle/>
          <a:p>
            <a:pPr marL="12700" algn="l">
              <a:lnSpc>
                <a:spcPct val="100000"/>
              </a:lnSpc>
              <a:spcBef>
                <a:spcPts val="100"/>
              </a:spcBef>
            </a:pPr>
            <a:r>
              <a:rPr lang="en-US" dirty="0"/>
              <a:t>Step</a:t>
            </a:r>
            <a:r>
              <a:rPr dirty="0"/>
              <a:t>s in the Scrum</a:t>
            </a:r>
            <a:r>
              <a:rPr lang="en-US" dirty="0"/>
              <a:t> </a:t>
            </a:r>
            <a:r>
              <a:rPr dirty="0"/>
              <a:t>Process</a:t>
            </a:r>
          </a:p>
        </p:txBody>
      </p:sp>
      <p:sp>
        <p:nvSpPr>
          <p:cNvPr id="6" name="Footer Placeholder 5">
            <a:extLst>
              <a:ext uri="{FF2B5EF4-FFF2-40B4-BE49-F238E27FC236}">
                <a16:creationId xmlns:a16="http://schemas.microsoft.com/office/drawing/2014/main" id="{A0CB0D4C-22DA-80E0-D64D-42B5C5FC4094}"/>
              </a:ext>
            </a:extLst>
          </p:cNvPr>
          <p:cNvSpPr>
            <a:spLocks noGrp="1"/>
          </p:cNvSpPr>
          <p:nvPr>
            <p:ph type="ftr" sz="quarter" idx="5"/>
          </p:nvPr>
        </p:nvSpPr>
        <p:spPr>
          <a:xfrm>
            <a:off x="6634705" y="5571421"/>
            <a:ext cx="1627504" cy="153888"/>
          </a:xfrm>
        </p:spPr>
        <p:txBody>
          <a:bodyPr/>
          <a:lstStyle/>
          <a:p>
            <a:pPr marL="12700" algn="r">
              <a:lnSpc>
                <a:spcPct val="100000"/>
              </a:lnSpc>
              <a:spcBef>
                <a:spcPts val="25"/>
              </a:spcBef>
            </a:pPr>
            <a:r>
              <a:rPr lang="en-MY" spc="-25" dirty="0"/>
              <a:t>Agile Methodology</a:t>
            </a:r>
            <a:endParaRPr lang="en-MY" dirty="0"/>
          </a:p>
        </p:txBody>
      </p:sp>
      <p:sp>
        <p:nvSpPr>
          <p:cNvPr id="7" name="Slide Number Placeholder 6">
            <a:extLst>
              <a:ext uri="{FF2B5EF4-FFF2-40B4-BE49-F238E27FC236}">
                <a16:creationId xmlns:a16="http://schemas.microsoft.com/office/drawing/2014/main" id="{53C7F43E-DCB0-F696-093A-7CFD75AAFF70}"/>
              </a:ext>
            </a:extLst>
          </p:cNvPr>
          <p:cNvSpPr>
            <a:spLocks noGrp="1"/>
          </p:cNvSpPr>
          <p:nvPr>
            <p:ph type="sldNum" sz="quarter" idx="7"/>
          </p:nvPr>
        </p:nvSpPr>
        <p:spPr/>
        <p:txBody>
          <a:bodyPr/>
          <a:lstStyle/>
          <a:p>
            <a:pPr marL="38100">
              <a:lnSpc>
                <a:spcPct val="100000"/>
              </a:lnSpc>
              <a:spcBef>
                <a:spcPts val="190"/>
              </a:spcBef>
            </a:pPr>
            <a:fld id="{81D60167-4931-47E6-BA6A-407CBD079E47}" type="slidenum">
              <a:rPr lang="en-MY" spc="35" smtClean="0"/>
              <a:t>16</a:t>
            </a:fld>
            <a:endParaRPr lang="en-MY" spc="35" dirty="0"/>
          </a:p>
        </p:txBody>
      </p:sp>
    </p:spTree>
    <p:extLst>
      <p:ext uri="{BB962C8B-B14F-4D97-AF65-F5344CB8AC3E}">
        <p14:creationId xmlns:p14="http://schemas.microsoft.com/office/powerpoint/2010/main" val="635541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956300" y="1490472"/>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D8E9FC"/>
          </a:solidFill>
        </p:spPr>
        <p:txBody>
          <a:bodyPr wrap="square" lIns="0" tIns="0" rIns="0" bIns="0" rtlCol="0"/>
          <a:lstStyle/>
          <a:p>
            <a:endParaRPr/>
          </a:p>
        </p:txBody>
      </p:sp>
      <p:grpSp>
        <p:nvGrpSpPr>
          <p:cNvPr id="3" name="object 3"/>
          <p:cNvGrpSpPr/>
          <p:nvPr/>
        </p:nvGrpSpPr>
        <p:grpSpPr>
          <a:xfrm>
            <a:off x="419100" y="1490472"/>
            <a:ext cx="8305800" cy="3881754"/>
            <a:chOff x="419100" y="1490472"/>
            <a:chExt cx="8305800" cy="3881754"/>
          </a:xfrm>
        </p:grpSpPr>
        <p:sp>
          <p:nvSpPr>
            <p:cNvPr id="4" name="object 4"/>
            <p:cNvSpPr/>
            <p:nvPr/>
          </p:nvSpPr>
          <p:spPr>
            <a:xfrm>
              <a:off x="419100" y="1490472"/>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F2F7FE"/>
            </a:solidFill>
          </p:spPr>
          <p:txBody>
            <a:bodyPr wrap="square" lIns="0" tIns="0" rIns="0" bIns="0" rtlCol="0"/>
            <a:lstStyle/>
            <a:p>
              <a:endParaRPr/>
            </a:p>
          </p:txBody>
        </p:sp>
        <p:sp>
          <p:nvSpPr>
            <p:cNvPr id="5" name="object 5"/>
            <p:cNvSpPr/>
            <p:nvPr/>
          </p:nvSpPr>
          <p:spPr>
            <a:xfrm>
              <a:off x="3187700" y="1490472"/>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E5F0FD"/>
            </a:solidFill>
          </p:spPr>
          <p:txBody>
            <a:bodyPr wrap="square" lIns="0" tIns="0" rIns="0" bIns="0" rtlCol="0"/>
            <a:lstStyle/>
            <a:p>
              <a:endParaRPr/>
            </a:p>
          </p:txBody>
        </p:sp>
        <p:sp>
          <p:nvSpPr>
            <p:cNvPr id="6" name="object 6"/>
            <p:cNvSpPr/>
            <p:nvPr/>
          </p:nvSpPr>
          <p:spPr>
            <a:xfrm>
              <a:off x="5956300" y="3431286"/>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B2D4F9"/>
            </a:solidFill>
          </p:spPr>
          <p:txBody>
            <a:bodyPr wrap="square" lIns="0" tIns="0" rIns="0" bIns="0" rtlCol="0"/>
            <a:lstStyle/>
            <a:p>
              <a:endParaRPr/>
            </a:p>
          </p:txBody>
        </p:sp>
        <p:sp>
          <p:nvSpPr>
            <p:cNvPr id="7" name="object 7"/>
            <p:cNvSpPr/>
            <p:nvPr/>
          </p:nvSpPr>
          <p:spPr>
            <a:xfrm>
              <a:off x="419100" y="3431286"/>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CCE2FB"/>
            </a:solidFill>
          </p:spPr>
          <p:txBody>
            <a:bodyPr wrap="square" lIns="0" tIns="0" rIns="0" bIns="0" rtlCol="0"/>
            <a:lstStyle/>
            <a:p>
              <a:endParaRPr/>
            </a:p>
          </p:txBody>
        </p:sp>
        <p:sp>
          <p:nvSpPr>
            <p:cNvPr id="8" name="object 8"/>
            <p:cNvSpPr/>
            <p:nvPr/>
          </p:nvSpPr>
          <p:spPr>
            <a:xfrm>
              <a:off x="3187700" y="3431286"/>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BFDBFA"/>
            </a:solidFill>
          </p:spPr>
          <p:txBody>
            <a:bodyPr wrap="square" lIns="0" tIns="0" rIns="0" bIns="0" rtlCol="0"/>
            <a:lstStyle/>
            <a:p>
              <a:endParaRPr/>
            </a:p>
          </p:txBody>
        </p:sp>
      </p:grpSp>
      <p:sp>
        <p:nvSpPr>
          <p:cNvPr id="9" name="object 9"/>
          <p:cNvSpPr txBox="1"/>
          <p:nvPr/>
        </p:nvSpPr>
        <p:spPr>
          <a:xfrm>
            <a:off x="524093" y="3304665"/>
            <a:ext cx="2428240" cy="1849120"/>
          </a:xfrm>
          <a:prstGeom prst="rect">
            <a:avLst/>
          </a:prstGeom>
        </p:spPr>
        <p:txBody>
          <a:bodyPr vert="horz" wrap="square" lIns="0" tIns="220345" rIns="0" bIns="0" rtlCol="0">
            <a:spAutoFit/>
          </a:bodyPr>
          <a:lstStyle/>
          <a:p>
            <a:pPr marL="516890" marR="754380" indent="-479425">
              <a:lnSpc>
                <a:spcPct val="64900"/>
              </a:lnSpc>
              <a:spcBef>
                <a:spcPts val="1735"/>
              </a:spcBef>
            </a:pPr>
            <a:r>
              <a:rPr sz="5700" b="1" spc="195" baseline="-22660" dirty="0">
                <a:solidFill>
                  <a:srgbClr val="0072EB"/>
                </a:solidFill>
                <a:latin typeface="Arial"/>
                <a:cs typeface="Arial"/>
              </a:rPr>
              <a:t>4</a:t>
            </a:r>
            <a:r>
              <a:rPr sz="5700" b="1" spc="705" baseline="-22660" dirty="0">
                <a:solidFill>
                  <a:srgbClr val="0072EB"/>
                </a:solidFill>
                <a:latin typeface="Arial"/>
                <a:cs typeface="Arial"/>
              </a:rPr>
              <a:t> </a:t>
            </a:r>
            <a:r>
              <a:rPr sz="1550" b="1" spc="-45" dirty="0">
                <a:solidFill>
                  <a:srgbClr val="333333"/>
                </a:solidFill>
                <a:latin typeface="Arial"/>
                <a:cs typeface="Arial"/>
              </a:rPr>
              <a:t>D</a:t>
            </a:r>
            <a:r>
              <a:rPr sz="1550" b="1" spc="30" dirty="0">
                <a:solidFill>
                  <a:srgbClr val="333333"/>
                </a:solidFill>
                <a:latin typeface="Arial"/>
                <a:cs typeface="Arial"/>
              </a:rPr>
              <a:t>ai</a:t>
            </a:r>
            <a:r>
              <a:rPr sz="1550" b="1" spc="20" dirty="0">
                <a:solidFill>
                  <a:srgbClr val="333333"/>
                </a:solidFill>
                <a:latin typeface="Arial"/>
                <a:cs typeface="Arial"/>
              </a:rPr>
              <a:t>l</a:t>
            </a:r>
            <a:r>
              <a:rPr sz="1550" b="1" spc="95" dirty="0">
                <a:solidFill>
                  <a:srgbClr val="333333"/>
                </a:solidFill>
                <a:latin typeface="Arial"/>
                <a:cs typeface="Arial"/>
              </a:rPr>
              <a:t>y</a:t>
            </a:r>
            <a:r>
              <a:rPr sz="1550" b="1" spc="-150" dirty="0">
                <a:solidFill>
                  <a:srgbClr val="333333"/>
                </a:solidFill>
                <a:latin typeface="Arial"/>
                <a:cs typeface="Arial"/>
              </a:rPr>
              <a:t> </a:t>
            </a:r>
            <a:r>
              <a:rPr sz="1550" b="1" spc="-185" dirty="0">
                <a:solidFill>
                  <a:srgbClr val="333333"/>
                </a:solidFill>
                <a:latin typeface="Arial"/>
                <a:cs typeface="Arial"/>
              </a:rPr>
              <a:t>S</a:t>
            </a:r>
            <a:r>
              <a:rPr sz="1550" b="1" spc="-70" dirty="0">
                <a:solidFill>
                  <a:srgbClr val="333333"/>
                </a:solidFill>
                <a:latin typeface="Arial"/>
                <a:cs typeface="Arial"/>
              </a:rPr>
              <a:t>c</a:t>
            </a:r>
            <a:r>
              <a:rPr sz="1550" b="1" spc="70" dirty="0">
                <a:solidFill>
                  <a:srgbClr val="333333"/>
                </a:solidFill>
                <a:latin typeface="Arial"/>
                <a:cs typeface="Arial"/>
              </a:rPr>
              <a:t>r</a:t>
            </a:r>
            <a:r>
              <a:rPr sz="1550" b="1" spc="40" dirty="0">
                <a:solidFill>
                  <a:srgbClr val="333333"/>
                </a:solidFill>
                <a:latin typeface="Arial"/>
                <a:cs typeface="Arial"/>
              </a:rPr>
              <a:t>u</a:t>
            </a:r>
            <a:r>
              <a:rPr sz="1550" b="1" spc="105" dirty="0">
                <a:solidFill>
                  <a:srgbClr val="333333"/>
                </a:solidFill>
                <a:latin typeface="Arial"/>
                <a:cs typeface="Arial"/>
              </a:rPr>
              <a:t>m  </a:t>
            </a:r>
            <a:r>
              <a:rPr sz="1550" b="1" spc="30" dirty="0">
                <a:solidFill>
                  <a:srgbClr val="333333"/>
                </a:solidFill>
                <a:latin typeface="Arial"/>
                <a:cs typeface="Arial"/>
              </a:rPr>
              <a:t>meetings</a:t>
            </a:r>
            <a:endParaRPr sz="1550">
              <a:latin typeface="Arial"/>
              <a:cs typeface="Arial"/>
            </a:endParaRPr>
          </a:p>
          <a:p>
            <a:pPr marL="516890" marR="30480">
              <a:lnSpc>
                <a:spcPct val="111100"/>
              </a:lnSpc>
              <a:spcBef>
                <a:spcPts val="310"/>
              </a:spcBef>
            </a:pPr>
            <a:r>
              <a:rPr sz="900" spc="-5" dirty="0">
                <a:solidFill>
                  <a:srgbClr val="333333"/>
                </a:solidFill>
                <a:latin typeface="Roboto Lt"/>
                <a:cs typeface="Roboto Lt"/>
              </a:rPr>
              <a:t>The</a:t>
            </a:r>
            <a:r>
              <a:rPr sz="900" spc="-30" dirty="0">
                <a:solidFill>
                  <a:srgbClr val="333333"/>
                </a:solidFill>
                <a:latin typeface="Roboto Lt"/>
                <a:cs typeface="Roboto Lt"/>
              </a:rPr>
              <a:t> </a:t>
            </a:r>
            <a:r>
              <a:rPr sz="900" spc="-15" dirty="0">
                <a:solidFill>
                  <a:srgbClr val="333333"/>
                </a:solidFill>
                <a:latin typeface="Roboto Lt"/>
                <a:cs typeface="Roboto Lt"/>
              </a:rPr>
              <a:t>Daily</a:t>
            </a:r>
            <a:r>
              <a:rPr sz="900" spc="-25" dirty="0">
                <a:solidFill>
                  <a:srgbClr val="333333"/>
                </a:solidFill>
                <a:latin typeface="Roboto Lt"/>
                <a:cs typeface="Roboto Lt"/>
              </a:rPr>
              <a:t> </a:t>
            </a:r>
            <a:r>
              <a:rPr sz="900" spc="-5" dirty="0">
                <a:solidFill>
                  <a:srgbClr val="333333"/>
                </a:solidFill>
                <a:latin typeface="Roboto Lt"/>
                <a:cs typeface="Roboto Lt"/>
              </a:rPr>
              <a:t>Scrum</a:t>
            </a:r>
            <a:r>
              <a:rPr sz="900" spc="-25" dirty="0">
                <a:solidFill>
                  <a:srgbClr val="333333"/>
                </a:solidFill>
                <a:latin typeface="Roboto Lt"/>
                <a:cs typeface="Roboto Lt"/>
              </a:rPr>
              <a:t> </a:t>
            </a:r>
            <a:r>
              <a:rPr sz="900" spc="-15" dirty="0">
                <a:solidFill>
                  <a:srgbClr val="333333"/>
                </a:solidFill>
                <a:latin typeface="Roboto Lt"/>
                <a:cs typeface="Roboto Lt"/>
              </a:rPr>
              <a:t>is</a:t>
            </a:r>
            <a:r>
              <a:rPr sz="900" spc="-25" dirty="0">
                <a:solidFill>
                  <a:srgbClr val="333333"/>
                </a:solidFill>
                <a:latin typeface="Roboto Lt"/>
                <a:cs typeface="Roboto Lt"/>
              </a:rPr>
              <a:t> </a:t>
            </a:r>
            <a:r>
              <a:rPr sz="900" spc="-5" dirty="0">
                <a:solidFill>
                  <a:srgbClr val="333333"/>
                </a:solidFill>
                <a:latin typeface="Roboto Lt"/>
                <a:cs typeface="Roboto Lt"/>
              </a:rPr>
              <a:t>a</a:t>
            </a:r>
            <a:r>
              <a:rPr sz="900" spc="-25" dirty="0">
                <a:solidFill>
                  <a:srgbClr val="333333"/>
                </a:solidFill>
                <a:latin typeface="Roboto Lt"/>
                <a:cs typeface="Roboto Lt"/>
              </a:rPr>
              <a:t> 15-minute stand- </a:t>
            </a:r>
            <a:r>
              <a:rPr sz="900" spc="-204" dirty="0">
                <a:solidFill>
                  <a:srgbClr val="333333"/>
                </a:solidFill>
                <a:latin typeface="Roboto Lt"/>
                <a:cs typeface="Roboto Lt"/>
              </a:rPr>
              <a:t> </a:t>
            </a:r>
            <a:r>
              <a:rPr sz="900" spc="-10" dirty="0">
                <a:solidFill>
                  <a:srgbClr val="333333"/>
                </a:solidFill>
                <a:latin typeface="Roboto Lt"/>
                <a:cs typeface="Roboto Lt"/>
              </a:rPr>
              <a:t>up meeting </a:t>
            </a:r>
            <a:r>
              <a:rPr sz="900" spc="-15" dirty="0">
                <a:solidFill>
                  <a:srgbClr val="333333"/>
                </a:solidFill>
                <a:latin typeface="Roboto Lt"/>
                <a:cs typeface="Roboto Lt"/>
              </a:rPr>
              <a:t>that </a:t>
            </a:r>
            <a:r>
              <a:rPr sz="900" spc="-10" dirty="0">
                <a:solidFill>
                  <a:srgbClr val="333333"/>
                </a:solidFill>
                <a:latin typeface="Roboto Lt"/>
                <a:cs typeface="Roboto Lt"/>
              </a:rPr>
              <a:t>happens at the </a:t>
            </a:r>
            <a:r>
              <a:rPr sz="900" spc="-5" dirty="0">
                <a:solidFill>
                  <a:srgbClr val="333333"/>
                </a:solidFill>
                <a:latin typeface="Roboto Lt"/>
                <a:cs typeface="Roboto Lt"/>
              </a:rPr>
              <a:t>same </a:t>
            </a:r>
            <a:r>
              <a:rPr sz="900" dirty="0">
                <a:solidFill>
                  <a:srgbClr val="333333"/>
                </a:solidFill>
                <a:latin typeface="Roboto Lt"/>
                <a:cs typeface="Roboto Lt"/>
              </a:rPr>
              <a:t> </a:t>
            </a:r>
            <a:r>
              <a:rPr sz="900" spc="-10" dirty="0">
                <a:solidFill>
                  <a:srgbClr val="333333"/>
                </a:solidFill>
                <a:latin typeface="Roboto Lt"/>
                <a:cs typeface="Roboto Lt"/>
              </a:rPr>
              <a:t>time and place </a:t>
            </a:r>
            <a:r>
              <a:rPr sz="900" spc="-5" dirty="0">
                <a:solidFill>
                  <a:srgbClr val="333333"/>
                </a:solidFill>
                <a:latin typeface="Roboto Lt"/>
                <a:cs typeface="Roboto Lt"/>
              </a:rPr>
              <a:t>every </a:t>
            </a:r>
            <a:r>
              <a:rPr sz="900" spc="-15" dirty="0">
                <a:solidFill>
                  <a:srgbClr val="333333"/>
                </a:solidFill>
                <a:latin typeface="Roboto Lt"/>
                <a:cs typeface="Roboto Lt"/>
              </a:rPr>
              <a:t>day </a:t>
            </a:r>
            <a:r>
              <a:rPr sz="900" spc="-10" dirty="0">
                <a:solidFill>
                  <a:srgbClr val="333333"/>
                </a:solidFill>
                <a:latin typeface="Roboto Lt"/>
                <a:cs typeface="Roboto Lt"/>
              </a:rPr>
              <a:t>during the </a:t>
            </a:r>
            <a:r>
              <a:rPr sz="900" spc="-5" dirty="0">
                <a:solidFill>
                  <a:srgbClr val="333333"/>
                </a:solidFill>
                <a:latin typeface="Roboto Lt"/>
                <a:cs typeface="Roboto Lt"/>
              </a:rPr>
              <a:t> </a:t>
            </a:r>
            <a:r>
              <a:rPr sz="900" spc="-10" dirty="0">
                <a:solidFill>
                  <a:srgbClr val="333333"/>
                </a:solidFill>
                <a:latin typeface="Roboto Lt"/>
                <a:cs typeface="Roboto Lt"/>
              </a:rPr>
              <a:t>sprint. </a:t>
            </a:r>
            <a:r>
              <a:rPr sz="900" spc="-15" dirty="0">
                <a:solidFill>
                  <a:srgbClr val="333333"/>
                </a:solidFill>
                <a:latin typeface="Roboto Lt"/>
                <a:cs typeface="Roboto Lt"/>
              </a:rPr>
              <a:t>During </a:t>
            </a:r>
            <a:r>
              <a:rPr sz="900" spc="-10" dirty="0">
                <a:solidFill>
                  <a:srgbClr val="333333"/>
                </a:solidFill>
                <a:latin typeface="Roboto Lt"/>
                <a:cs typeface="Roboto Lt"/>
              </a:rPr>
              <a:t>the meeting </a:t>
            </a:r>
            <a:r>
              <a:rPr sz="900" spc="-5" dirty="0">
                <a:solidFill>
                  <a:srgbClr val="333333"/>
                </a:solidFill>
                <a:latin typeface="Roboto Lt"/>
                <a:cs typeface="Roboto Lt"/>
              </a:rPr>
              <a:t>each </a:t>
            </a:r>
            <a:r>
              <a:rPr sz="900" spc="-10" dirty="0">
                <a:solidFill>
                  <a:srgbClr val="333333"/>
                </a:solidFill>
                <a:latin typeface="Roboto Lt"/>
                <a:cs typeface="Roboto Lt"/>
              </a:rPr>
              <a:t>team </a:t>
            </a:r>
            <a:r>
              <a:rPr sz="900" spc="-5" dirty="0">
                <a:solidFill>
                  <a:srgbClr val="333333"/>
                </a:solidFill>
                <a:latin typeface="Roboto Lt"/>
                <a:cs typeface="Roboto Lt"/>
              </a:rPr>
              <a:t> member</a:t>
            </a:r>
            <a:r>
              <a:rPr sz="900" spc="35" dirty="0">
                <a:solidFill>
                  <a:srgbClr val="333333"/>
                </a:solidFill>
                <a:latin typeface="Roboto Lt"/>
                <a:cs typeface="Roboto Lt"/>
              </a:rPr>
              <a:t> </a:t>
            </a:r>
            <a:r>
              <a:rPr sz="900" spc="-10" dirty="0">
                <a:solidFill>
                  <a:srgbClr val="333333"/>
                </a:solidFill>
                <a:latin typeface="Roboto Lt"/>
                <a:cs typeface="Roboto Lt"/>
              </a:rPr>
              <a:t>talks</a:t>
            </a:r>
            <a:r>
              <a:rPr sz="900" spc="35" dirty="0">
                <a:solidFill>
                  <a:srgbClr val="333333"/>
                </a:solidFill>
                <a:latin typeface="Roboto Lt"/>
                <a:cs typeface="Roboto Lt"/>
              </a:rPr>
              <a:t> </a:t>
            </a:r>
            <a:r>
              <a:rPr sz="900" spc="-5" dirty="0">
                <a:solidFill>
                  <a:srgbClr val="333333"/>
                </a:solidFill>
                <a:latin typeface="Roboto Lt"/>
                <a:cs typeface="Roboto Lt"/>
              </a:rPr>
              <a:t>about</a:t>
            </a:r>
            <a:r>
              <a:rPr sz="900" spc="35" dirty="0">
                <a:solidFill>
                  <a:srgbClr val="333333"/>
                </a:solidFill>
                <a:latin typeface="Roboto Lt"/>
                <a:cs typeface="Roboto Lt"/>
              </a:rPr>
              <a:t> </a:t>
            </a:r>
            <a:r>
              <a:rPr sz="900" spc="-15" dirty="0">
                <a:solidFill>
                  <a:srgbClr val="333333"/>
                </a:solidFill>
                <a:latin typeface="Roboto Lt"/>
                <a:cs typeface="Roboto Lt"/>
              </a:rPr>
              <a:t>what</a:t>
            </a:r>
            <a:r>
              <a:rPr sz="900" spc="40" dirty="0">
                <a:solidFill>
                  <a:srgbClr val="333333"/>
                </a:solidFill>
                <a:latin typeface="Roboto Lt"/>
                <a:cs typeface="Roboto Lt"/>
              </a:rPr>
              <a:t> </a:t>
            </a:r>
            <a:r>
              <a:rPr sz="900" spc="-15" dirty="0">
                <a:solidFill>
                  <a:srgbClr val="333333"/>
                </a:solidFill>
                <a:latin typeface="Roboto Lt"/>
                <a:cs typeface="Roboto Lt"/>
              </a:rPr>
              <a:t>they </a:t>
            </a:r>
            <a:r>
              <a:rPr sz="900" spc="-10" dirty="0">
                <a:solidFill>
                  <a:srgbClr val="333333"/>
                </a:solidFill>
                <a:latin typeface="Roboto Lt"/>
                <a:cs typeface="Roboto Lt"/>
              </a:rPr>
              <a:t> worked </a:t>
            </a:r>
            <a:r>
              <a:rPr sz="900" spc="-5" dirty="0">
                <a:solidFill>
                  <a:srgbClr val="333333"/>
                </a:solidFill>
                <a:latin typeface="Roboto Lt"/>
                <a:cs typeface="Roboto Lt"/>
              </a:rPr>
              <a:t>on </a:t>
            </a:r>
            <a:r>
              <a:rPr sz="900" spc="-10" dirty="0">
                <a:solidFill>
                  <a:srgbClr val="333333"/>
                </a:solidFill>
                <a:latin typeface="Roboto Lt"/>
                <a:cs typeface="Roboto Lt"/>
              </a:rPr>
              <a:t>the </a:t>
            </a:r>
            <a:r>
              <a:rPr sz="900" spc="-15" dirty="0">
                <a:solidFill>
                  <a:srgbClr val="333333"/>
                </a:solidFill>
                <a:latin typeface="Roboto Lt"/>
                <a:cs typeface="Roboto Lt"/>
              </a:rPr>
              <a:t>day </a:t>
            </a:r>
            <a:r>
              <a:rPr sz="900" spc="-10" dirty="0">
                <a:solidFill>
                  <a:srgbClr val="333333"/>
                </a:solidFill>
                <a:latin typeface="Roboto Lt"/>
                <a:cs typeface="Roboto Lt"/>
              </a:rPr>
              <a:t>before, </a:t>
            </a:r>
            <a:r>
              <a:rPr sz="900" spc="-15" dirty="0">
                <a:solidFill>
                  <a:srgbClr val="333333"/>
                </a:solidFill>
                <a:latin typeface="Roboto Lt"/>
                <a:cs typeface="Roboto Lt"/>
              </a:rPr>
              <a:t>what they’ll </a:t>
            </a:r>
            <a:r>
              <a:rPr sz="900" spc="-10" dirty="0">
                <a:solidFill>
                  <a:srgbClr val="333333"/>
                </a:solidFill>
                <a:latin typeface="Roboto Lt"/>
                <a:cs typeface="Roboto Lt"/>
              </a:rPr>
              <a:t> work</a:t>
            </a:r>
            <a:r>
              <a:rPr sz="900" spc="-25" dirty="0">
                <a:solidFill>
                  <a:srgbClr val="333333"/>
                </a:solidFill>
                <a:latin typeface="Roboto Lt"/>
                <a:cs typeface="Roboto Lt"/>
              </a:rPr>
              <a:t> </a:t>
            </a:r>
            <a:r>
              <a:rPr sz="900" spc="-5" dirty="0">
                <a:solidFill>
                  <a:srgbClr val="333333"/>
                </a:solidFill>
                <a:latin typeface="Roboto Lt"/>
                <a:cs typeface="Roboto Lt"/>
              </a:rPr>
              <a:t>on</a:t>
            </a:r>
            <a:r>
              <a:rPr sz="900" spc="-20" dirty="0">
                <a:solidFill>
                  <a:srgbClr val="333333"/>
                </a:solidFill>
                <a:latin typeface="Roboto Lt"/>
                <a:cs typeface="Roboto Lt"/>
              </a:rPr>
              <a:t> today, </a:t>
            </a:r>
            <a:r>
              <a:rPr sz="900" spc="-10" dirty="0">
                <a:solidFill>
                  <a:srgbClr val="333333"/>
                </a:solidFill>
                <a:latin typeface="Roboto Lt"/>
                <a:cs typeface="Roboto Lt"/>
              </a:rPr>
              <a:t>and</a:t>
            </a:r>
            <a:r>
              <a:rPr sz="900" spc="-20" dirty="0">
                <a:solidFill>
                  <a:srgbClr val="333333"/>
                </a:solidFill>
                <a:latin typeface="Roboto Lt"/>
                <a:cs typeface="Roboto Lt"/>
              </a:rPr>
              <a:t> any </a:t>
            </a:r>
            <a:r>
              <a:rPr sz="900" spc="-10" dirty="0">
                <a:solidFill>
                  <a:srgbClr val="333333"/>
                </a:solidFill>
                <a:latin typeface="Roboto Lt"/>
                <a:cs typeface="Roboto Lt"/>
              </a:rPr>
              <a:t>roadblocks.</a:t>
            </a:r>
            <a:endParaRPr sz="900">
              <a:latin typeface="Roboto Lt"/>
              <a:cs typeface="Roboto Lt"/>
            </a:endParaRPr>
          </a:p>
        </p:txBody>
      </p:sp>
      <p:sp>
        <p:nvSpPr>
          <p:cNvPr id="10" name="object 10"/>
          <p:cNvSpPr txBox="1"/>
          <p:nvPr/>
        </p:nvSpPr>
        <p:spPr>
          <a:xfrm>
            <a:off x="3295868" y="3304665"/>
            <a:ext cx="2239010" cy="1391920"/>
          </a:xfrm>
          <a:prstGeom prst="rect">
            <a:avLst/>
          </a:prstGeom>
        </p:spPr>
        <p:txBody>
          <a:bodyPr vert="horz" wrap="square" lIns="0" tIns="220345" rIns="0" bIns="0" rtlCol="0">
            <a:spAutoFit/>
          </a:bodyPr>
          <a:lstStyle/>
          <a:p>
            <a:pPr marL="516890" marR="421005" indent="-479425">
              <a:lnSpc>
                <a:spcPct val="64900"/>
              </a:lnSpc>
              <a:spcBef>
                <a:spcPts val="1735"/>
              </a:spcBef>
            </a:pPr>
            <a:r>
              <a:rPr sz="5700" b="1" spc="195" baseline="-22660" dirty="0">
                <a:solidFill>
                  <a:srgbClr val="0072EB"/>
                </a:solidFill>
                <a:latin typeface="Arial"/>
                <a:cs typeface="Arial"/>
              </a:rPr>
              <a:t>5</a:t>
            </a:r>
            <a:r>
              <a:rPr sz="5700" b="1" spc="705" baseline="-22660" dirty="0">
                <a:solidFill>
                  <a:srgbClr val="0072EB"/>
                </a:solidFill>
                <a:latin typeface="Arial"/>
                <a:cs typeface="Arial"/>
              </a:rPr>
              <a:t> </a:t>
            </a:r>
            <a:r>
              <a:rPr sz="1550" b="1" spc="-185" dirty="0">
                <a:solidFill>
                  <a:srgbClr val="333333"/>
                </a:solidFill>
                <a:latin typeface="Arial"/>
                <a:cs typeface="Arial"/>
              </a:rPr>
              <a:t>S</a:t>
            </a:r>
            <a:r>
              <a:rPr sz="1550" b="1" dirty="0">
                <a:solidFill>
                  <a:srgbClr val="333333"/>
                </a:solidFill>
                <a:latin typeface="Arial"/>
                <a:cs typeface="Arial"/>
              </a:rPr>
              <a:t>p</a:t>
            </a:r>
            <a:r>
              <a:rPr sz="1550" b="1" spc="40" dirty="0">
                <a:solidFill>
                  <a:srgbClr val="333333"/>
                </a:solidFill>
                <a:latin typeface="Arial"/>
                <a:cs typeface="Arial"/>
              </a:rPr>
              <a:t>ri</a:t>
            </a:r>
            <a:r>
              <a:rPr sz="1550" b="1" spc="30" dirty="0">
                <a:solidFill>
                  <a:srgbClr val="333333"/>
                </a:solidFill>
                <a:latin typeface="Arial"/>
                <a:cs typeface="Arial"/>
              </a:rPr>
              <a:t>n</a:t>
            </a:r>
            <a:r>
              <a:rPr sz="1550" b="1" spc="204" dirty="0">
                <a:solidFill>
                  <a:srgbClr val="333333"/>
                </a:solidFill>
                <a:latin typeface="Arial"/>
                <a:cs typeface="Arial"/>
              </a:rPr>
              <a:t>t</a:t>
            </a:r>
            <a:r>
              <a:rPr sz="1550" b="1" spc="-150" dirty="0">
                <a:solidFill>
                  <a:srgbClr val="333333"/>
                </a:solidFill>
                <a:latin typeface="Arial"/>
                <a:cs typeface="Arial"/>
              </a:rPr>
              <a:t> </a:t>
            </a:r>
            <a:r>
              <a:rPr sz="1550" b="1" spc="35" dirty="0">
                <a:solidFill>
                  <a:srgbClr val="333333"/>
                </a:solidFill>
                <a:latin typeface="Arial"/>
                <a:cs typeface="Arial"/>
              </a:rPr>
              <a:t>r</a:t>
            </a:r>
            <a:r>
              <a:rPr sz="1550" b="1" spc="55" dirty="0">
                <a:solidFill>
                  <a:srgbClr val="333333"/>
                </a:solidFill>
                <a:latin typeface="Arial"/>
                <a:cs typeface="Arial"/>
              </a:rPr>
              <a:t>e</a:t>
            </a:r>
            <a:r>
              <a:rPr sz="1550" b="1" spc="40" dirty="0">
                <a:solidFill>
                  <a:srgbClr val="333333"/>
                </a:solidFill>
                <a:latin typeface="Arial"/>
                <a:cs typeface="Arial"/>
              </a:rPr>
              <a:t>v</a:t>
            </a:r>
            <a:r>
              <a:rPr sz="1550" b="1" spc="10" dirty="0">
                <a:solidFill>
                  <a:srgbClr val="333333"/>
                </a:solidFill>
                <a:latin typeface="Arial"/>
                <a:cs typeface="Arial"/>
              </a:rPr>
              <a:t>i</a:t>
            </a:r>
            <a:r>
              <a:rPr sz="1550" b="1" spc="30" dirty="0">
                <a:solidFill>
                  <a:srgbClr val="333333"/>
                </a:solidFill>
                <a:latin typeface="Arial"/>
                <a:cs typeface="Arial"/>
              </a:rPr>
              <a:t>e</a:t>
            </a:r>
            <a:r>
              <a:rPr sz="1550" b="1" spc="125" dirty="0">
                <a:solidFill>
                  <a:srgbClr val="333333"/>
                </a:solidFill>
                <a:latin typeface="Arial"/>
                <a:cs typeface="Arial"/>
              </a:rPr>
              <a:t>w  </a:t>
            </a:r>
            <a:r>
              <a:rPr sz="1550" b="1" spc="60" dirty="0">
                <a:solidFill>
                  <a:srgbClr val="333333"/>
                </a:solidFill>
                <a:latin typeface="Arial"/>
                <a:cs typeface="Arial"/>
              </a:rPr>
              <a:t>meeting</a:t>
            </a:r>
            <a:endParaRPr sz="1550">
              <a:latin typeface="Arial"/>
              <a:cs typeface="Arial"/>
            </a:endParaRPr>
          </a:p>
          <a:p>
            <a:pPr marL="516890" marR="30480">
              <a:lnSpc>
                <a:spcPct val="111100"/>
              </a:lnSpc>
              <a:spcBef>
                <a:spcPts val="310"/>
              </a:spcBef>
            </a:pPr>
            <a:r>
              <a:rPr sz="900" spc="-5" dirty="0">
                <a:solidFill>
                  <a:srgbClr val="333333"/>
                </a:solidFill>
                <a:latin typeface="Roboto Lt"/>
                <a:cs typeface="Roboto Lt"/>
              </a:rPr>
              <a:t>At</a:t>
            </a:r>
            <a:r>
              <a:rPr sz="900" spc="-30" dirty="0">
                <a:solidFill>
                  <a:srgbClr val="333333"/>
                </a:solidFill>
                <a:latin typeface="Roboto Lt"/>
                <a:cs typeface="Roboto Lt"/>
              </a:rPr>
              <a:t> </a:t>
            </a:r>
            <a:r>
              <a:rPr sz="900" spc="-10" dirty="0">
                <a:solidFill>
                  <a:srgbClr val="333333"/>
                </a:solidFill>
                <a:latin typeface="Roboto Lt"/>
                <a:cs typeface="Roboto Lt"/>
              </a:rPr>
              <a:t>the</a:t>
            </a:r>
            <a:r>
              <a:rPr sz="900" spc="-25" dirty="0">
                <a:solidFill>
                  <a:srgbClr val="333333"/>
                </a:solidFill>
                <a:latin typeface="Roboto Lt"/>
                <a:cs typeface="Roboto Lt"/>
              </a:rPr>
              <a:t> </a:t>
            </a:r>
            <a:r>
              <a:rPr sz="900" spc="-5" dirty="0">
                <a:solidFill>
                  <a:srgbClr val="333333"/>
                </a:solidFill>
                <a:latin typeface="Roboto Lt"/>
                <a:cs typeface="Roboto Lt"/>
              </a:rPr>
              <a:t>end</a:t>
            </a:r>
            <a:r>
              <a:rPr sz="900" spc="-25" dirty="0">
                <a:solidFill>
                  <a:srgbClr val="333333"/>
                </a:solidFill>
                <a:latin typeface="Roboto Lt"/>
                <a:cs typeface="Roboto Lt"/>
              </a:rPr>
              <a:t> </a:t>
            </a:r>
            <a:r>
              <a:rPr sz="900" spc="-5" dirty="0">
                <a:solidFill>
                  <a:srgbClr val="333333"/>
                </a:solidFill>
                <a:latin typeface="Roboto Lt"/>
                <a:cs typeface="Roboto Lt"/>
              </a:rPr>
              <a:t>of</a:t>
            </a:r>
            <a:r>
              <a:rPr sz="900" spc="-30" dirty="0">
                <a:solidFill>
                  <a:srgbClr val="333333"/>
                </a:solidFill>
                <a:latin typeface="Roboto Lt"/>
                <a:cs typeface="Roboto Lt"/>
              </a:rPr>
              <a:t> </a:t>
            </a:r>
            <a:r>
              <a:rPr sz="900" spc="-5" dirty="0">
                <a:solidFill>
                  <a:srgbClr val="333333"/>
                </a:solidFill>
                <a:latin typeface="Roboto Lt"/>
                <a:cs typeface="Roboto Lt"/>
              </a:rPr>
              <a:t>each</a:t>
            </a:r>
            <a:r>
              <a:rPr sz="900" spc="-25" dirty="0">
                <a:solidFill>
                  <a:srgbClr val="333333"/>
                </a:solidFill>
                <a:latin typeface="Roboto Lt"/>
                <a:cs typeface="Roboto Lt"/>
              </a:rPr>
              <a:t> </a:t>
            </a:r>
            <a:r>
              <a:rPr sz="900" spc="-10" dirty="0">
                <a:solidFill>
                  <a:srgbClr val="333333"/>
                </a:solidFill>
                <a:latin typeface="Roboto Lt"/>
                <a:cs typeface="Roboto Lt"/>
              </a:rPr>
              <a:t>sprint,</a:t>
            </a:r>
            <a:r>
              <a:rPr sz="900" spc="-25" dirty="0">
                <a:solidFill>
                  <a:srgbClr val="333333"/>
                </a:solidFill>
                <a:latin typeface="Roboto Lt"/>
                <a:cs typeface="Roboto Lt"/>
              </a:rPr>
              <a:t> </a:t>
            </a:r>
            <a:r>
              <a:rPr sz="900" spc="-10" dirty="0">
                <a:solidFill>
                  <a:srgbClr val="333333"/>
                </a:solidFill>
                <a:latin typeface="Roboto Lt"/>
                <a:cs typeface="Roboto Lt"/>
              </a:rPr>
              <a:t>the</a:t>
            </a:r>
            <a:r>
              <a:rPr sz="900" spc="-25" dirty="0">
                <a:solidFill>
                  <a:srgbClr val="333333"/>
                </a:solidFill>
                <a:latin typeface="Roboto Lt"/>
                <a:cs typeface="Roboto Lt"/>
              </a:rPr>
              <a:t> </a:t>
            </a:r>
            <a:r>
              <a:rPr sz="900" spc="-10" dirty="0">
                <a:solidFill>
                  <a:srgbClr val="333333"/>
                </a:solidFill>
                <a:latin typeface="Roboto Lt"/>
                <a:cs typeface="Roboto Lt"/>
              </a:rPr>
              <a:t>team </a:t>
            </a:r>
            <a:r>
              <a:rPr sz="900" spc="-204" dirty="0">
                <a:solidFill>
                  <a:srgbClr val="333333"/>
                </a:solidFill>
                <a:latin typeface="Roboto Lt"/>
                <a:cs typeface="Roboto Lt"/>
              </a:rPr>
              <a:t> </a:t>
            </a:r>
            <a:r>
              <a:rPr sz="900" spc="-10" dirty="0">
                <a:solidFill>
                  <a:srgbClr val="333333"/>
                </a:solidFill>
                <a:latin typeface="Roboto Lt"/>
                <a:cs typeface="Roboto Lt"/>
              </a:rPr>
              <a:t>presents the work </a:t>
            </a:r>
            <a:r>
              <a:rPr sz="900" spc="-15" dirty="0">
                <a:solidFill>
                  <a:srgbClr val="333333"/>
                </a:solidFill>
                <a:latin typeface="Roboto Lt"/>
                <a:cs typeface="Roboto Lt"/>
              </a:rPr>
              <a:t>they have </a:t>
            </a:r>
            <a:r>
              <a:rPr sz="900" spc="-10" dirty="0">
                <a:solidFill>
                  <a:srgbClr val="333333"/>
                </a:solidFill>
                <a:latin typeface="Roboto Lt"/>
                <a:cs typeface="Roboto Lt"/>
              </a:rPr>
              <a:t> </a:t>
            </a:r>
            <a:r>
              <a:rPr sz="900" spc="-5" dirty="0">
                <a:solidFill>
                  <a:srgbClr val="333333"/>
                </a:solidFill>
                <a:latin typeface="Roboto Lt"/>
                <a:cs typeface="Roboto Lt"/>
              </a:rPr>
              <a:t>completed </a:t>
            </a:r>
            <a:r>
              <a:rPr sz="900" spc="-10" dirty="0">
                <a:solidFill>
                  <a:srgbClr val="333333"/>
                </a:solidFill>
                <a:latin typeface="Roboto Lt"/>
                <a:cs typeface="Roboto Lt"/>
              </a:rPr>
              <a:t>as </a:t>
            </a:r>
            <a:r>
              <a:rPr sz="900" spc="-5" dirty="0">
                <a:solidFill>
                  <a:srgbClr val="333333"/>
                </a:solidFill>
                <a:latin typeface="Roboto Lt"/>
                <a:cs typeface="Roboto Lt"/>
              </a:rPr>
              <a:t>a </a:t>
            </a:r>
            <a:r>
              <a:rPr sz="900" spc="-15" dirty="0">
                <a:solidFill>
                  <a:srgbClr val="333333"/>
                </a:solidFill>
                <a:latin typeface="Roboto Lt"/>
                <a:cs typeface="Roboto Lt"/>
              </a:rPr>
              <a:t>live </a:t>
            </a:r>
            <a:r>
              <a:rPr sz="900" spc="-5" dirty="0">
                <a:solidFill>
                  <a:srgbClr val="333333"/>
                </a:solidFill>
                <a:latin typeface="Roboto Lt"/>
                <a:cs typeface="Roboto Lt"/>
              </a:rPr>
              <a:t>demo </a:t>
            </a:r>
            <a:r>
              <a:rPr sz="900" spc="-10" dirty="0">
                <a:solidFill>
                  <a:srgbClr val="333333"/>
                </a:solidFill>
                <a:latin typeface="Roboto Lt"/>
                <a:cs typeface="Roboto Lt"/>
              </a:rPr>
              <a:t>rather </a:t>
            </a:r>
            <a:r>
              <a:rPr sz="900" spc="-5" dirty="0">
                <a:solidFill>
                  <a:srgbClr val="333333"/>
                </a:solidFill>
                <a:latin typeface="Roboto Lt"/>
                <a:cs typeface="Roboto Lt"/>
              </a:rPr>
              <a:t> </a:t>
            </a:r>
            <a:r>
              <a:rPr sz="900" spc="-15" dirty="0">
                <a:solidFill>
                  <a:srgbClr val="333333"/>
                </a:solidFill>
                <a:latin typeface="Roboto Lt"/>
                <a:cs typeface="Roboto Lt"/>
              </a:rPr>
              <a:t>than</a:t>
            </a:r>
            <a:r>
              <a:rPr sz="900" spc="-25" dirty="0">
                <a:solidFill>
                  <a:srgbClr val="333333"/>
                </a:solidFill>
                <a:latin typeface="Roboto Lt"/>
                <a:cs typeface="Roboto Lt"/>
              </a:rPr>
              <a:t> </a:t>
            </a:r>
            <a:r>
              <a:rPr sz="900" spc="-5" dirty="0">
                <a:solidFill>
                  <a:srgbClr val="333333"/>
                </a:solidFill>
                <a:latin typeface="Roboto Lt"/>
                <a:cs typeface="Roboto Lt"/>
              </a:rPr>
              <a:t>a</a:t>
            </a:r>
            <a:r>
              <a:rPr sz="900" spc="-20" dirty="0">
                <a:solidFill>
                  <a:srgbClr val="333333"/>
                </a:solidFill>
                <a:latin typeface="Roboto Lt"/>
                <a:cs typeface="Roboto Lt"/>
              </a:rPr>
              <a:t> </a:t>
            </a:r>
            <a:r>
              <a:rPr sz="900" spc="-10" dirty="0">
                <a:solidFill>
                  <a:srgbClr val="333333"/>
                </a:solidFill>
                <a:latin typeface="Roboto Lt"/>
                <a:cs typeface="Roboto Lt"/>
              </a:rPr>
              <a:t>presentation.</a:t>
            </a:r>
            <a:endParaRPr sz="900">
              <a:latin typeface="Roboto Lt"/>
              <a:cs typeface="Roboto Lt"/>
            </a:endParaRPr>
          </a:p>
        </p:txBody>
      </p:sp>
      <p:sp>
        <p:nvSpPr>
          <p:cNvPr id="11" name="object 11"/>
          <p:cNvSpPr txBox="1"/>
          <p:nvPr/>
        </p:nvSpPr>
        <p:spPr>
          <a:xfrm>
            <a:off x="6067643" y="3304665"/>
            <a:ext cx="2473325" cy="1582420"/>
          </a:xfrm>
          <a:prstGeom prst="rect">
            <a:avLst/>
          </a:prstGeom>
        </p:spPr>
        <p:txBody>
          <a:bodyPr vert="horz" wrap="square" lIns="0" tIns="17145" rIns="0" bIns="0" rtlCol="0">
            <a:spAutoFit/>
          </a:bodyPr>
          <a:lstStyle/>
          <a:p>
            <a:pPr marL="38100">
              <a:lnSpc>
                <a:spcPts val="4155"/>
              </a:lnSpc>
              <a:spcBef>
                <a:spcPts val="135"/>
              </a:spcBef>
            </a:pPr>
            <a:r>
              <a:rPr sz="5700" b="1" spc="195" baseline="-22660" dirty="0">
                <a:solidFill>
                  <a:srgbClr val="0072EB"/>
                </a:solidFill>
                <a:latin typeface="Arial"/>
                <a:cs typeface="Arial"/>
              </a:rPr>
              <a:t>6</a:t>
            </a:r>
            <a:r>
              <a:rPr sz="5700" b="1" spc="637" baseline="-22660" dirty="0">
                <a:solidFill>
                  <a:srgbClr val="0072EB"/>
                </a:solidFill>
                <a:latin typeface="Arial"/>
                <a:cs typeface="Arial"/>
              </a:rPr>
              <a:t> </a:t>
            </a:r>
            <a:r>
              <a:rPr sz="1550" b="1" spc="10" dirty="0">
                <a:solidFill>
                  <a:srgbClr val="333333"/>
                </a:solidFill>
                <a:latin typeface="Arial"/>
                <a:cs typeface="Arial"/>
              </a:rPr>
              <a:t>Sprint</a:t>
            </a:r>
            <a:endParaRPr sz="1550">
              <a:latin typeface="Arial"/>
              <a:cs typeface="Arial"/>
            </a:endParaRPr>
          </a:p>
          <a:p>
            <a:pPr marL="516890">
              <a:lnSpc>
                <a:spcPts val="1275"/>
              </a:lnSpc>
            </a:pPr>
            <a:r>
              <a:rPr sz="1550" b="1" spc="40" dirty="0">
                <a:solidFill>
                  <a:srgbClr val="333333"/>
                </a:solidFill>
                <a:latin typeface="Arial"/>
                <a:cs typeface="Arial"/>
              </a:rPr>
              <a:t>retrospective</a:t>
            </a:r>
            <a:endParaRPr sz="1550">
              <a:latin typeface="Arial"/>
              <a:cs typeface="Arial"/>
            </a:endParaRPr>
          </a:p>
          <a:p>
            <a:pPr marL="516890">
              <a:lnSpc>
                <a:spcPts val="1680"/>
              </a:lnSpc>
            </a:pPr>
            <a:r>
              <a:rPr sz="1550" b="1" spc="60" dirty="0">
                <a:solidFill>
                  <a:srgbClr val="333333"/>
                </a:solidFill>
                <a:latin typeface="Arial"/>
                <a:cs typeface="Arial"/>
              </a:rPr>
              <a:t>meeting</a:t>
            </a:r>
            <a:endParaRPr sz="1550">
              <a:latin typeface="Arial"/>
              <a:cs typeface="Arial"/>
            </a:endParaRPr>
          </a:p>
          <a:p>
            <a:pPr marL="516890" marR="30480">
              <a:lnSpc>
                <a:spcPct val="111100"/>
              </a:lnSpc>
              <a:spcBef>
                <a:spcPts val="310"/>
              </a:spcBef>
            </a:pPr>
            <a:r>
              <a:rPr sz="900" spc="-5" dirty="0">
                <a:solidFill>
                  <a:srgbClr val="333333"/>
                </a:solidFill>
                <a:latin typeface="Roboto Lt"/>
                <a:cs typeface="Roboto Lt"/>
              </a:rPr>
              <a:t>Also</a:t>
            </a:r>
            <a:r>
              <a:rPr sz="900" spc="-25" dirty="0">
                <a:solidFill>
                  <a:srgbClr val="333333"/>
                </a:solidFill>
                <a:latin typeface="Roboto Lt"/>
                <a:cs typeface="Roboto Lt"/>
              </a:rPr>
              <a:t> </a:t>
            </a:r>
            <a:r>
              <a:rPr sz="900" spc="-10" dirty="0">
                <a:solidFill>
                  <a:srgbClr val="333333"/>
                </a:solidFill>
                <a:latin typeface="Roboto Lt"/>
                <a:cs typeface="Roboto Lt"/>
              </a:rPr>
              <a:t>at</a:t>
            </a:r>
            <a:r>
              <a:rPr sz="900" spc="-25" dirty="0">
                <a:solidFill>
                  <a:srgbClr val="333333"/>
                </a:solidFill>
                <a:latin typeface="Roboto Lt"/>
                <a:cs typeface="Roboto Lt"/>
              </a:rPr>
              <a:t> </a:t>
            </a:r>
            <a:r>
              <a:rPr sz="900" spc="-10" dirty="0">
                <a:solidFill>
                  <a:srgbClr val="333333"/>
                </a:solidFill>
                <a:latin typeface="Roboto Lt"/>
                <a:cs typeface="Roboto Lt"/>
              </a:rPr>
              <a:t>the</a:t>
            </a:r>
            <a:r>
              <a:rPr sz="900" spc="-25" dirty="0">
                <a:solidFill>
                  <a:srgbClr val="333333"/>
                </a:solidFill>
                <a:latin typeface="Roboto Lt"/>
                <a:cs typeface="Roboto Lt"/>
              </a:rPr>
              <a:t> </a:t>
            </a:r>
            <a:r>
              <a:rPr sz="900" spc="-5" dirty="0">
                <a:solidFill>
                  <a:srgbClr val="333333"/>
                </a:solidFill>
                <a:latin typeface="Roboto Lt"/>
                <a:cs typeface="Roboto Lt"/>
              </a:rPr>
              <a:t>end</a:t>
            </a:r>
            <a:r>
              <a:rPr sz="900" spc="-25" dirty="0">
                <a:solidFill>
                  <a:srgbClr val="333333"/>
                </a:solidFill>
                <a:latin typeface="Roboto Lt"/>
                <a:cs typeface="Roboto Lt"/>
              </a:rPr>
              <a:t> </a:t>
            </a:r>
            <a:r>
              <a:rPr sz="900" spc="-5" dirty="0">
                <a:solidFill>
                  <a:srgbClr val="333333"/>
                </a:solidFill>
                <a:latin typeface="Roboto Lt"/>
                <a:cs typeface="Roboto Lt"/>
              </a:rPr>
              <a:t>of</a:t>
            </a:r>
            <a:r>
              <a:rPr sz="900" spc="-25" dirty="0">
                <a:solidFill>
                  <a:srgbClr val="333333"/>
                </a:solidFill>
                <a:latin typeface="Roboto Lt"/>
                <a:cs typeface="Roboto Lt"/>
              </a:rPr>
              <a:t> </a:t>
            </a:r>
            <a:r>
              <a:rPr sz="900" spc="-5" dirty="0">
                <a:solidFill>
                  <a:srgbClr val="333333"/>
                </a:solidFill>
                <a:latin typeface="Roboto Lt"/>
                <a:cs typeface="Roboto Lt"/>
              </a:rPr>
              <a:t>each</a:t>
            </a:r>
            <a:r>
              <a:rPr sz="900" spc="-25" dirty="0">
                <a:solidFill>
                  <a:srgbClr val="333333"/>
                </a:solidFill>
                <a:latin typeface="Roboto Lt"/>
                <a:cs typeface="Roboto Lt"/>
              </a:rPr>
              <a:t> </a:t>
            </a:r>
            <a:r>
              <a:rPr sz="900" spc="-10" dirty="0">
                <a:solidFill>
                  <a:srgbClr val="333333"/>
                </a:solidFill>
                <a:latin typeface="Roboto Lt"/>
                <a:cs typeface="Roboto Lt"/>
              </a:rPr>
              <a:t>sprint,</a:t>
            </a:r>
            <a:r>
              <a:rPr sz="900" spc="-20" dirty="0">
                <a:solidFill>
                  <a:srgbClr val="333333"/>
                </a:solidFill>
                <a:latin typeface="Roboto Lt"/>
                <a:cs typeface="Roboto Lt"/>
              </a:rPr>
              <a:t> </a:t>
            </a:r>
            <a:r>
              <a:rPr sz="900" spc="-10" dirty="0">
                <a:solidFill>
                  <a:srgbClr val="333333"/>
                </a:solidFill>
                <a:latin typeface="Roboto Lt"/>
                <a:cs typeface="Roboto Lt"/>
              </a:rPr>
              <a:t>the</a:t>
            </a:r>
            <a:r>
              <a:rPr sz="900" spc="-25" dirty="0">
                <a:solidFill>
                  <a:srgbClr val="333333"/>
                </a:solidFill>
                <a:latin typeface="Roboto Lt"/>
                <a:cs typeface="Roboto Lt"/>
              </a:rPr>
              <a:t> </a:t>
            </a:r>
            <a:r>
              <a:rPr sz="900" spc="-10" dirty="0">
                <a:solidFill>
                  <a:srgbClr val="333333"/>
                </a:solidFill>
                <a:latin typeface="Roboto Lt"/>
                <a:cs typeface="Roboto Lt"/>
              </a:rPr>
              <a:t>team </a:t>
            </a:r>
            <a:r>
              <a:rPr sz="900" spc="-204" dirty="0">
                <a:solidFill>
                  <a:srgbClr val="333333"/>
                </a:solidFill>
                <a:latin typeface="Roboto Lt"/>
                <a:cs typeface="Roboto Lt"/>
              </a:rPr>
              <a:t> </a:t>
            </a:r>
            <a:r>
              <a:rPr sz="900" spc="-10" dirty="0">
                <a:solidFill>
                  <a:srgbClr val="333333"/>
                </a:solidFill>
                <a:latin typeface="Roboto Lt"/>
                <a:cs typeface="Roboto Lt"/>
              </a:rPr>
              <a:t>reflects </a:t>
            </a:r>
            <a:r>
              <a:rPr sz="900" spc="-5" dirty="0">
                <a:solidFill>
                  <a:srgbClr val="333333"/>
                </a:solidFill>
                <a:latin typeface="Roboto Lt"/>
                <a:cs typeface="Roboto Lt"/>
              </a:rPr>
              <a:t>on </a:t>
            </a:r>
            <a:r>
              <a:rPr sz="900" spc="-10" dirty="0">
                <a:solidFill>
                  <a:srgbClr val="333333"/>
                </a:solidFill>
                <a:latin typeface="Roboto Lt"/>
                <a:cs typeface="Roboto Lt"/>
              </a:rPr>
              <a:t>how </a:t>
            </a:r>
            <a:r>
              <a:rPr sz="900" spc="-15" dirty="0">
                <a:solidFill>
                  <a:srgbClr val="333333"/>
                </a:solidFill>
                <a:latin typeface="Roboto Lt"/>
                <a:cs typeface="Roboto Lt"/>
              </a:rPr>
              <a:t>well </a:t>
            </a:r>
            <a:r>
              <a:rPr sz="900" spc="-5" dirty="0">
                <a:solidFill>
                  <a:srgbClr val="333333"/>
                </a:solidFill>
                <a:latin typeface="Roboto Lt"/>
                <a:cs typeface="Roboto Lt"/>
              </a:rPr>
              <a:t>Scrum </a:t>
            </a:r>
            <a:r>
              <a:rPr sz="900" spc="-15" dirty="0">
                <a:solidFill>
                  <a:srgbClr val="333333"/>
                </a:solidFill>
                <a:latin typeface="Roboto Lt"/>
                <a:cs typeface="Roboto Lt"/>
              </a:rPr>
              <a:t>is </a:t>
            </a:r>
            <a:r>
              <a:rPr sz="900" spc="-10" dirty="0">
                <a:solidFill>
                  <a:srgbClr val="333333"/>
                </a:solidFill>
                <a:latin typeface="Roboto Lt"/>
                <a:cs typeface="Roboto Lt"/>
              </a:rPr>
              <a:t>working </a:t>
            </a:r>
            <a:r>
              <a:rPr sz="900" spc="-5" dirty="0">
                <a:solidFill>
                  <a:srgbClr val="333333"/>
                </a:solidFill>
                <a:latin typeface="Roboto Lt"/>
                <a:cs typeface="Roboto Lt"/>
              </a:rPr>
              <a:t> </a:t>
            </a:r>
            <a:r>
              <a:rPr sz="900" spc="-10" dirty="0">
                <a:solidFill>
                  <a:srgbClr val="333333"/>
                </a:solidFill>
                <a:latin typeface="Roboto Lt"/>
                <a:cs typeface="Roboto Lt"/>
              </a:rPr>
              <a:t>for them and talks </a:t>
            </a:r>
            <a:r>
              <a:rPr sz="900" spc="-5" dirty="0">
                <a:solidFill>
                  <a:srgbClr val="333333"/>
                </a:solidFill>
                <a:latin typeface="Roboto Lt"/>
                <a:cs typeface="Roboto Lt"/>
              </a:rPr>
              <a:t>about </a:t>
            </a:r>
            <a:r>
              <a:rPr sz="900" spc="-20" dirty="0">
                <a:solidFill>
                  <a:srgbClr val="333333"/>
                </a:solidFill>
                <a:latin typeface="Roboto Lt"/>
                <a:cs typeface="Roboto Lt"/>
              </a:rPr>
              <a:t>any </a:t>
            </a:r>
            <a:r>
              <a:rPr sz="900" spc="-10" dirty="0">
                <a:solidFill>
                  <a:srgbClr val="333333"/>
                </a:solidFill>
                <a:latin typeface="Roboto Lt"/>
                <a:cs typeface="Roboto Lt"/>
              </a:rPr>
              <a:t>changes </a:t>
            </a:r>
            <a:r>
              <a:rPr sz="900" spc="-5" dirty="0">
                <a:solidFill>
                  <a:srgbClr val="333333"/>
                </a:solidFill>
                <a:latin typeface="Roboto Lt"/>
                <a:cs typeface="Roboto Lt"/>
              </a:rPr>
              <a:t> </a:t>
            </a:r>
            <a:r>
              <a:rPr sz="900" spc="-15" dirty="0">
                <a:solidFill>
                  <a:srgbClr val="333333"/>
                </a:solidFill>
                <a:latin typeface="Roboto Lt"/>
                <a:cs typeface="Roboto Lt"/>
              </a:rPr>
              <a:t>that</a:t>
            </a:r>
            <a:r>
              <a:rPr sz="900" spc="-20" dirty="0">
                <a:solidFill>
                  <a:srgbClr val="333333"/>
                </a:solidFill>
                <a:latin typeface="Roboto Lt"/>
                <a:cs typeface="Roboto Lt"/>
              </a:rPr>
              <a:t> </a:t>
            </a:r>
            <a:r>
              <a:rPr sz="900" spc="-5" dirty="0">
                <a:solidFill>
                  <a:srgbClr val="333333"/>
                </a:solidFill>
                <a:latin typeface="Roboto Lt"/>
                <a:cs typeface="Roboto Lt"/>
              </a:rPr>
              <a:t>need</a:t>
            </a:r>
            <a:r>
              <a:rPr sz="900" spc="-20" dirty="0">
                <a:solidFill>
                  <a:srgbClr val="333333"/>
                </a:solidFill>
                <a:latin typeface="Roboto Lt"/>
                <a:cs typeface="Roboto Lt"/>
              </a:rPr>
              <a:t> </a:t>
            </a:r>
            <a:r>
              <a:rPr sz="900" spc="-15" dirty="0">
                <a:solidFill>
                  <a:srgbClr val="333333"/>
                </a:solidFill>
                <a:latin typeface="Roboto Lt"/>
                <a:cs typeface="Roboto Lt"/>
              </a:rPr>
              <a:t>to</a:t>
            </a:r>
            <a:r>
              <a:rPr sz="900" spc="-20" dirty="0">
                <a:solidFill>
                  <a:srgbClr val="333333"/>
                </a:solidFill>
                <a:latin typeface="Roboto Lt"/>
                <a:cs typeface="Roboto Lt"/>
              </a:rPr>
              <a:t> </a:t>
            </a:r>
            <a:r>
              <a:rPr sz="900" spc="-5" dirty="0">
                <a:solidFill>
                  <a:srgbClr val="333333"/>
                </a:solidFill>
                <a:latin typeface="Roboto Lt"/>
                <a:cs typeface="Roboto Lt"/>
              </a:rPr>
              <a:t>be</a:t>
            </a:r>
            <a:r>
              <a:rPr sz="900" spc="-15" dirty="0">
                <a:solidFill>
                  <a:srgbClr val="333333"/>
                </a:solidFill>
                <a:latin typeface="Roboto Lt"/>
                <a:cs typeface="Roboto Lt"/>
              </a:rPr>
              <a:t> </a:t>
            </a:r>
            <a:r>
              <a:rPr sz="900" spc="-10" dirty="0">
                <a:solidFill>
                  <a:srgbClr val="333333"/>
                </a:solidFill>
                <a:latin typeface="Roboto Lt"/>
                <a:cs typeface="Roboto Lt"/>
              </a:rPr>
              <a:t>made</a:t>
            </a:r>
            <a:r>
              <a:rPr sz="900" spc="-20" dirty="0">
                <a:solidFill>
                  <a:srgbClr val="333333"/>
                </a:solidFill>
                <a:latin typeface="Roboto Lt"/>
                <a:cs typeface="Roboto Lt"/>
              </a:rPr>
              <a:t> </a:t>
            </a:r>
            <a:r>
              <a:rPr sz="900" spc="-10" dirty="0">
                <a:solidFill>
                  <a:srgbClr val="333333"/>
                </a:solidFill>
                <a:latin typeface="Roboto Lt"/>
                <a:cs typeface="Roboto Lt"/>
              </a:rPr>
              <a:t>in</a:t>
            </a:r>
            <a:r>
              <a:rPr sz="900" spc="-20" dirty="0">
                <a:solidFill>
                  <a:srgbClr val="333333"/>
                </a:solidFill>
                <a:latin typeface="Roboto Lt"/>
                <a:cs typeface="Roboto Lt"/>
              </a:rPr>
              <a:t> </a:t>
            </a:r>
            <a:r>
              <a:rPr sz="900" spc="-10" dirty="0">
                <a:solidFill>
                  <a:srgbClr val="333333"/>
                </a:solidFill>
                <a:latin typeface="Roboto Lt"/>
                <a:cs typeface="Roboto Lt"/>
              </a:rPr>
              <a:t>the</a:t>
            </a:r>
            <a:r>
              <a:rPr sz="900" spc="-20" dirty="0">
                <a:solidFill>
                  <a:srgbClr val="333333"/>
                </a:solidFill>
                <a:latin typeface="Roboto Lt"/>
                <a:cs typeface="Roboto Lt"/>
              </a:rPr>
              <a:t> </a:t>
            </a:r>
            <a:r>
              <a:rPr sz="900" spc="-5" dirty="0">
                <a:solidFill>
                  <a:srgbClr val="333333"/>
                </a:solidFill>
                <a:latin typeface="Roboto Lt"/>
                <a:cs typeface="Roboto Lt"/>
              </a:rPr>
              <a:t>next</a:t>
            </a:r>
            <a:r>
              <a:rPr sz="900" spc="-15" dirty="0">
                <a:solidFill>
                  <a:srgbClr val="333333"/>
                </a:solidFill>
                <a:latin typeface="Roboto Lt"/>
                <a:cs typeface="Roboto Lt"/>
              </a:rPr>
              <a:t> </a:t>
            </a:r>
            <a:r>
              <a:rPr sz="900" spc="-10" dirty="0">
                <a:solidFill>
                  <a:srgbClr val="333333"/>
                </a:solidFill>
                <a:latin typeface="Roboto Lt"/>
                <a:cs typeface="Roboto Lt"/>
              </a:rPr>
              <a:t>sprint.</a:t>
            </a:r>
            <a:endParaRPr sz="900">
              <a:latin typeface="Roboto Lt"/>
              <a:cs typeface="Roboto Lt"/>
            </a:endParaRPr>
          </a:p>
        </p:txBody>
      </p:sp>
      <p:sp>
        <p:nvSpPr>
          <p:cNvPr id="12" name="object 12"/>
          <p:cNvSpPr txBox="1"/>
          <p:nvPr/>
        </p:nvSpPr>
        <p:spPr>
          <a:xfrm>
            <a:off x="549493" y="1653581"/>
            <a:ext cx="311150" cy="610235"/>
          </a:xfrm>
          <a:prstGeom prst="rect">
            <a:avLst/>
          </a:prstGeom>
        </p:spPr>
        <p:txBody>
          <a:bodyPr vert="horz" wrap="square" lIns="0" tIns="17145" rIns="0" bIns="0" rtlCol="0">
            <a:spAutoFit/>
          </a:bodyPr>
          <a:lstStyle/>
          <a:p>
            <a:pPr marL="12700">
              <a:lnSpc>
                <a:spcPct val="100000"/>
              </a:lnSpc>
              <a:spcBef>
                <a:spcPts val="135"/>
              </a:spcBef>
            </a:pPr>
            <a:r>
              <a:rPr sz="3800" b="1" spc="130" dirty="0">
                <a:solidFill>
                  <a:srgbClr val="0072EB"/>
                </a:solidFill>
                <a:latin typeface="Arial"/>
                <a:cs typeface="Arial"/>
              </a:rPr>
              <a:t>1</a:t>
            </a:r>
            <a:endParaRPr sz="3800">
              <a:latin typeface="Arial"/>
              <a:cs typeface="Arial"/>
            </a:endParaRPr>
          </a:p>
        </p:txBody>
      </p:sp>
      <p:sp>
        <p:nvSpPr>
          <p:cNvPr id="13" name="object 13"/>
          <p:cNvSpPr txBox="1"/>
          <p:nvPr/>
        </p:nvSpPr>
        <p:spPr>
          <a:xfrm>
            <a:off x="1028700" y="1651467"/>
            <a:ext cx="1788160" cy="1009015"/>
          </a:xfrm>
          <a:prstGeom prst="rect">
            <a:avLst/>
          </a:prstGeom>
        </p:spPr>
        <p:txBody>
          <a:bodyPr vert="horz" wrap="square" lIns="0" tIns="110489" rIns="0" bIns="0" rtlCol="0">
            <a:spAutoFit/>
          </a:bodyPr>
          <a:lstStyle/>
          <a:p>
            <a:pPr marL="12700">
              <a:lnSpc>
                <a:spcPct val="100000"/>
              </a:lnSpc>
              <a:spcBef>
                <a:spcPts val="869"/>
              </a:spcBef>
            </a:pPr>
            <a:r>
              <a:rPr sz="1550" b="1" spc="-114" dirty="0">
                <a:solidFill>
                  <a:srgbClr val="333333"/>
                </a:solidFill>
                <a:latin typeface="Arial"/>
                <a:cs typeface="Arial"/>
              </a:rPr>
              <a:t>P</a:t>
            </a:r>
            <a:r>
              <a:rPr sz="1550" b="1" spc="70" dirty="0">
                <a:solidFill>
                  <a:srgbClr val="333333"/>
                </a:solidFill>
                <a:latin typeface="Arial"/>
                <a:cs typeface="Arial"/>
              </a:rPr>
              <a:t>r</a:t>
            </a:r>
            <a:r>
              <a:rPr sz="1550" b="1" spc="-10" dirty="0">
                <a:solidFill>
                  <a:srgbClr val="333333"/>
                </a:solidFill>
                <a:latin typeface="Arial"/>
                <a:cs typeface="Arial"/>
              </a:rPr>
              <a:t>o</a:t>
            </a:r>
            <a:r>
              <a:rPr sz="1550" b="1" spc="-5" dirty="0">
                <a:solidFill>
                  <a:srgbClr val="333333"/>
                </a:solidFill>
                <a:latin typeface="Arial"/>
                <a:cs typeface="Arial"/>
              </a:rPr>
              <a:t>d</a:t>
            </a:r>
            <a:r>
              <a:rPr sz="1550" b="1" spc="40" dirty="0">
                <a:solidFill>
                  <a:srgbClr val="333333"/>
                </a:solidFill>
                <a:latin typeface="Arial"/>
                <a:cs typeface="Arial"/>
              </a:rPr>
              <a:t>u</a:t>
            </a:r>
            <a:r>
              <a:rPr sz="1550" b="1" spc="-60" dirty="0">
                <a:solidFill>
                  <a:srgbClr val="333333"/>
                </a:solidFill>
                <a:latin typeface="Arial"/>
                <a:cs typeface="Arial"/>
              </a:rPr>
              <a:t>c</a:t>
            </a:r>
            <a:r>
              <a:rPr sz="1550" b="1" spc="204" dirty="0">
                <a:solidFill>
                  <a:srgbClr val="333333"/>
                </a:solidFill>
                <a:latin typeface="Arial"/>
                <a:cs typeface="Arial"/>
              </a:rPr>
              <a:t>t</a:t>
            </a:r>
            <a:r>
              <a:rPr sz="1550" b="1" spc="-150" dirty="0">
                <a:solidFill>
                  <a:srgbClr val="333333"/>
                </a:solidFill>
                <a:latin typeface="Arial"/>
                <a:cs typeface="Arial"/>
              </a:rPr>
              <a:t> </a:t>
            </a:r>
            <a:r>
              <a:rPr sz="1550" b="1" spc="-5" dirty="0">
                <a:solidFill>
                  <a:srgbClr val="333333"/>
                </a:solidFill>
                <a:latin typeface="Arial"/>
                <a:cs typeface="Arial"/>
              </a:rPr>
              <a:t>b</a:t>
            </a:r>
            <a:r>
              <a:rPr sz="1550" b="1" spc="45" dirty="0">
                <a:solidFill>
                  <a:srgbClr val="333333"/>
                </a:solidFill>
                <a:latin typeface="Arial"/>
                <a:cs typeface="Arial"/>
              </a:rPr>
              <a:t>a</a:t>
            </a:r>
            <a:r>
              <a:rPr sz="1550" b="1" spc="-70" dirty="0">
                <a:solidFill>
                  <a:srgbClr val="333333"/>
                </a:solidFill>
                <a:latin typeface="Arial"/>
                <a:cs typeface="Arial"/>
              </a:rPr>
              <a:t>c</a:t>
            </a:r>
            <a:r>
              <a:rPr sz="1550" b="1" spc="120" dirty="0">
                <a:solidFill>
                  <a:srgbClr val="333333"/>
                </a:solidFill>
                <a:latin typeface="Arial"/>
                <a:cs typeface="Arial"/>
              </a:rPr>
              <a:t>k</a:t>
            </a:r>
            <a:r>
              <a:rPr sz="1550" b="1" spc="-25" dirty="0">
                <a:solidFill>
                  <a:srgbClr val="333333"/>
                </a:solidFill>
                <a:latin typeface="Arial"/>
                <a:cs typeface="Arial"/>
              </a:rPr>
              <a:t>l</a:t>
            </a:r>
            <a:r>
              <a:rPr sz="1550" b="1" spc="15" dirty="0">
                <a:solidFill>
                  <a:srgbClr val="333333"/>
                </a:solidFill>
                <a:latin typeface="Arial"/>
                <a:cs typeface="Arial"/>
              </a:rPr>
              <a:t>o</a:t>
            </a:r>
            <a:r>
              <a:rPr sz="1550" b="1" spc="5" dirty="0">
                <a:solidFill>
                  <a:srgbClr val="333333"/>
                </a:solidFill>
                <a:latin typeface="Arial"/>
                <a:cs typeface="Arial"/>
              </a:rPr>
              <a:t>g</a:t>
            </a:r>
            <a:endParaRPr sz="1550">
              <a:latin typeface="Arial"/>
              <a:cs typeface="Arial"/>
            </a:endParaRPr>
          </a:p>
          <a:p>
            <a:pPr marL="12700" marR="5080">
              <a:lnSpc>
                <a:spcPct val="111100"/>
              </a:lnSpc>
              <a:spcBef>
                <a:spcPts val="310"/>
              </a:spcBef>
            </a:pPr>
            <a:r>
              <a:rPr sz="900" spc="-5" dirty="0">
                <a:solidFill>
                  <a:srgbClr val="333333"/>
                </a:solidFill>
                <a:latin typeface="Roboto Lt"/>
                <a:cs typeface="Roboto Lt"/>
              </a:rPr>
              <a:t>The </a:t>
            </a:r>
            <a:r>
              <a:rPr sz="900" spc="-10" dirty="0">
                <a:solidFill>
                  <a:srgbClr val="333333"/>
                </a:solidFill>
                <a:latin typeface="Roboto Lt"/>
                <a:cs typeface="Roboto Lt"/>
              </a:rPr>
              <a:t>product </a:t>
            </a:r>
            <a:r>
              <a:rPr sz="900" spc="-5" dirty="0">
                <a:solidFill>
                  <a:srgbClr val="333333"/>
                </a:solidFill>
                <a:latin typeface="Roboto Lt"/>
                <a:cs typeface="Roboto Lt"/>
              </a:rPr>
              <a:t>backlog </a:t>
            </a:r>
            <a:r>
              <a:rPr sz="900" spc="-15" dirty="0">
                <a:solidFill>
                  <a:srgbClr val="333333"/>
                </a:solidFill>
                <a:latin typeface="Roboto Lt"/>
                <a:cs typeface="Roboto Lt"/>
              </a:rPr>
              <a:t>is </a:t>
            </a:r>
            <a:r>
              <a:rPr sz="900" spc="-10" dirty="0">
                <a:solidFill>
                  <a:srgbClr val="333333"/>
                </a:solidFill>
                <a:latin typeface="Roboto Lt"/>
                <a:cs typeface="Roboto Lt"/>
              </a:rPr>
              <a:t>not </a:t>
            </a:r>
            <a:r>
              <a:rPr sz="900" spc="-5" dirty="0">
                <a:solidFill>
                  <a:srgbClr val="333333"/>
                </a:solidFill>
                <a:latin typeface="Roboto Lt"/>
                <a:cs typeface="Roboto Lt"/>
              </a:rPr>
              <a:t>a </a:t>
            </a:r>
            <a:r>
              <a:rPr sz="900" spc="-10" dirty="0">
                <a:solidFill>
                  <a:srgbClr val="333333"/>
                </a:solidFill>
                <a:latin typeface="Roboto Lt"/>
                <a:cs typeface="Roboto Lt"/>
              </a:rPr>
              <a:t>list </a:t>
            </a:r>
            <a:r>
              <a:rPr sz="900" spc="-5" dirty="0">
                <a:solidFill>
                  <a:srgbClr val="333333"/>
                </a:solidFill>
                <a:latin typeface="Roboto Lt"/>
                <a:cs typeface="Roboto Lt"/>
              </a:rPr>
              <a:t>of </a:t>
            </a:r>
            <a:r>
              <a:rPr sz="900" dirty="0">
                <a:solidFill>
                  <a:srgbClr val="333333"/>
                </a:solidFill>
                <a:latin typeface="Roboto Lt"/>
                <a:cs typeface="Roboto Lt"/>
              </a:rPr>
              <a:t> </a:t>
            </a:r>
            <a:r>
              <a:rPr sz="900" spc="-15" dirty="0">
                <a:solidFill>
                  <a:srgbClr val="333333"/>
                </a:solidFill>
                <a:latin typeface="Roboto Lt"/>
                <a:cs typeface="Roboto Lt"/>
              </a:rPr>
              <a:t>things to </a:t>
            </a:r>
            <a:r>
              <a:rPr sz="900" spc="-5" dirty="0">
                <a:solidFill>
                  <a:srgbClr val="333333"/>
                </a:solidFill>
                <a:latin typeface="Roboto Lt"/>
                <a:cs typeface="Roboto Lt"/>
              </a:rPr>
              <a:t>be completed, but </a:t>
            </a:r>
            <a:r>
              <a:rPr sz="900" spc="-10" dirty="0">
                <a:solidFill>
                  <a:srgbClr val="333333"/>
                </a:solidFill>
                <a:latin typeface="Roboto Lt"/>
                <a:cs typeface="Roboto Lt"/>
              </a:rPr>
              <a:t>rather </a:t>
            </a:r>
            <a:r>
              <a:rPr sz="900" spc="-5" dirty="0">
                <a:solidFill>
                  <a:srgbClr val="333333"/>
                </a:solidFill>
                <a:latin typeface="Roboto Lt"/>
                <a:cs typeface="Roboto Lt"/>
              </a:rPr>
              <a:t>it </a:t>
            </a:r>
            <a:r>
              <a:rPr sz="900" spc="-204" dirty="0">
                <a:solidFill>
                  <a:srgbClr val="333333"/>
                </a:solidFill>
                <a:latin typeface="Roboto Lt"/>
                <a:cs typeface="Roboto Lt"/>
              </a:rPr>
              <a:t> </a:t>
            </a:r>
            <a:r>
              <a:rPr sz="900" spc="-15" dirty="0">
                <a:solidFill>
                  <a:srgbClr val="333333"/>
                </a:solidFill>
                <a:latin typeface="Roboto Lt"/>
                <a:cs typeface="Roboto Lt"/>
              </a:rPr>
              <a:t>is </a:t>
            </a:r>
            <a:r>
              <a:rPr sz="900" spc="-5" dirty="0">
                <a:solidFill>
                  <a:srgbClr val="333333"/>
                </a:solidFill>
                <a:latin typeface="Roboto Lt"/>
                <a:cs typeface="Roboto Lt"/>
              </a:rPr>
              <a:t>a </a:t>
            </a:r>
            <a:r>
              <a:rPr sz="900" spc="-10" dirty="0">
                <a:solidFill>
                  <a:srgbClr val="333333"/>
                </a:solidFill>
                <a:latin typeface="Roboto Lt"/>
                <a:cs typeface="Roboto Lt"/>
              </a:rPr>
              <a:t>list </a:t>
            </a:r>
            <a:r>
              <a:rPr sz="900" spc="-5" dirty="0">
                <a:solidFill>
                  <a:srgbClr val="333333"/>
                </a:solidFill>
                <a:latin typeface="Roboto Lt"/>
                <a:cs typeface="Roboto Lt"/>
              </a:rPr>
              <a:t>of </a:t>
            </a:r>
            <a:r>
              <a:rPr sz="900" spc="-15" dirty="0">
                <a:solidFill>
                  <a:srgbClr val="333333"/>
                </a:solidFill>
                <a:latin typeface="Roboto Lt"/>
                <a:cs typeface="Roboto Lt"/>
              </a:rPr>
              <a:t>all </a:t>
            </a:r>
            <a:r>
              <a:rPr sz="900" spc="-10" dirty="0">
                <a:solidFill>
                  <a:srgbClr val="333333"/>
                </a:solidFill>
                <a:latin typeface="Roboto Lt"/>
                <a:cs typeface="Roboto Lt"/>
              </a:rPr>
              <a:t>the desired </a:t>
            </a:r>
            <a:r>
              <a:rPr sz="900" spc="-15" dirty="0">
                <a:solidFill>
                  <a:srgbClr val="333333"/>
                </a:solidFill>
                <a:latin typeface="Roboto Lt"/>
                <a:cs typeface="Roboto Lt"/>
              </a:rPr>
              <a:t>features </a:t>
            </a:r>
            <a:r>
              <a:rPr sz="900" spc="-10" dirty="0">
                <a:solidFill>
                  <a:srgbClr val="333333"/>
                </a:solidFill>
                <a:latin typeface="Roboto Lt"/>
                <a:cs typeface="Roboto Lt"/>
              </a:rPr>
              <a:t>for </a:t>
            </a:r>
            <a:r>
              <a:rPr sz="900" spc="-210" dirty="0">
                <a:solidFill>
                  <a:srgbClr val="333333"/>
                </a:solidFill>
                <a:latin typeface="Roboto Lt"/>
                <a:cs typeface="Roboto Lt"/>
              </a:rPr>
              <a:t> </a:t>
            </a:r>
            <a:r>
              <a:rPr sz="900" spc="-10" dirty="0">
                <a:solidFill>
                  <a:srgbClr val="333333"/>
                </a:solidFill>
                <a:latin typeface="Roboto Lt"/>
                <a:cs typeface="Roboto Lt"/>
              </a:rPr>
              <a:t>the</a:t>
            </a:r>
            <a:r>
              <a:rPr sz="900" spc="-25" dirty="0">
                <a:solidFill>
                  <a:srgbClr val="333333"/>
                </a:solidFill>
                <a:latin typeface="Roboto Lt"/>
                <a:cs typeface="Roboto Lt"/>
              </a:rPr>
              <a:t> </a:t>
            </a:r>
            <a:r>
              <a:rPr sz="900" spc="-10" dirty="0">
                <a:solidFill>
                  <a:srgbClr val="333333"/>
                </a:solidFill>
                <a:latin typeface="Roboto Lt"/>
                <a:cs typeface="Roboto Lt"/>
              </a:rPr>
              <a:t>product.</a:t>
            </a:r>
            <a:endParaRPr sz="900">
              <a:latin typeface="Roboto Lt"/>
              <a:cs typeface="Roboto Lt"/>
            </a:endParaRPr>
          </a:p>
        </p:txBody>
      </p:sp>
      <p:sp>
        <p:nvSpPr>
          <p:cNvPr id="14" name="object 14"/>
          <p:cNvSpPr txBox="1"/>
          <p:nvPr/>
        </p:nvSpPr>
        <p:spPr>
          <a:xfrm>
            <a:off x="3321268" y="1653581"/>
            <a:ext cx="311150" cy="610235"/>
          </a:xfrm>
          <a:prstGeom prst="rect">
            <a:avLst/>
          </a:prstGeom>
        </p:spPr>
        <p:txBody>
          <a:bodyPr vert="horz" wrap="square" lIns="0" tIns="17145" rIns="0" bIns="0" rtlCol="0">
            <a:spAutoFit/>
          </a:bodyPr>
          <a:lstStyle/>
          <a:p>
            <a:pPr marL="12700">
              <a:lnSpc>
                <a:spcPct val="100000"/>
              </a:lnSpc>
              <a:spcBef>
                <a:spcPts val="135"/>
              </a:spcBef>
            </a:pPr>
            <a:r>
              <a:rPr sz="3800" b="1" spc="130" dirty="0">
                <a:solidFill>
                  <a:srgbClr val="0072EB"/>
                </a:solidFill>
                <a:latin typeface="Arial"/>
                <a:cs typeface="Arial"/>
              </a:rPr>
              <a:t>2</a:t>
            </a:r>
            <a:endParaRPr sz="3800">
              <a:latin typeface="Arial"/>
              <a:cs typeface="Arial"/>
            </a:endParaRPr>
          </a:p>
        </p:txBody>
      </p:sp>
      <p:sp>
        <p:nvSpPr>
          <p:cNvPr id="15" name="object 15"/>
          <p:cNvSpPr txBox="1"/>
          <p:nvPr/>
        </p:nvSpPr>
        <p:spPr>
          <a:xfrm>
            <a:off x="3800475" y="1651467"/>
            <a:ext cx="1894839" cy="1466215"/>
          </a:xfrm>
          <a:prstGeom prst="rect">
            <a:avLst/>
          </a:prstGeom>
        </p:spPr>
        <p:txBody>
          <a:bodyPr vert="horz" wrap="square" lIns="0" tIns="110489" rIns="0" bIns="0" rtlCol="0">
            <a:spAutoFit/>
          </a:bodyPr>
          <a:lstStyle/>
          <a:p>
            <a:pPr marL="12700">
              <a:lnSpc>
                <a:spcPct val="100000"/>
              </a:lnSpc>
              <a:spcBef>
                <a:spcPts val="869"/>
              </a:spcBef>
            </a:pPr>
            <a:r>
              <a:rPr sz="1550" b="1" spc="-185" dirty="0">
                <a:solidFill>
                  <a:srgbClr val="333333"/>
                </a:solidFill>
                <a:latin typeface="Arial"/>
                <a:cs typeface="Arial"/>
              </a:rPr>
              <a:t>S</a:t>
            </a:r>
            <a:r>
              <a:rPr sz="1550" b="1" dirty="0">
                <a:solidFill>
                  <a:srgbClr val="333333"/>
                </a:solidFill>
                <a:latin typeface="Arial"/>
                <a:cs typeface="Arial"/>
              </a:rPr>
              <a:t>p</a:t>
            </a:r>
            <a:r>
              <a:rPr sz="1550" b="1" spc="40" dirty="0">
                <a:solidFill>
                  <a:srgbClr val="333333"/>
                </a:solidFill>
                <a:latin typeface="Arial"/>
                <a:cs typeface="Arial"/>
              </a:rPr>
              <a:t>ri</a:t>
            </a:r>
            <a:r>
              <a:rPr sz="1550" b="1" spc="30" dirty="0">
                <a:solidFill>
                  <a:srgbClr val="333333"/>
                </a:solidFill>
                <a:latin typeface="Arial"/>
                <a:cs typeface="Arial"/>
              </a:rPr>
              <a:t>n</a:t>
            </a:r>
            <a:r>
              <a:rPr sz="1550" b="1" spc="204" dirty="0">
                <a:solidFill>
                  <a:srgbClr val="333333"/>
                </a:solidFill>
                <a:latin typeface="Arial"/>
                <a:cs typeface="Arial"/>
              </a:rPr>
              <a:t>t</a:t>
            </a:r>
            <a:r>
              <a:rPr sz="1550" b="1" spc="-150" dirty="0">
                <a:solidFill>
                  <a:srgbClr val="333333"/>
                </a:solidFill>
                <a:latin typeface="Arial"/>
                <a:cs typeface="Arial"/>
              </a:rPr>
              <a:t> </a:t>
            </a:r>
            <a:r>
              <a:rPr sz="1550" b="1" dirty="0">
                <a:solidFill>
                  <a:srgbClr val="333333"/>
                </a:solidFill>
                <a:latin typeface="Arial"/>
                <a:cs typeface="Arial"/>
              </a:rPr>
              <a:t>p</a:t>
            </a:r>
            <a:r>
              <a:rPr sz="1550" b="1" spc="10" dirty="0">
                <a:solidFill>
                  <a:srgbClr val="333333"/>
                </a:solidFill>
                <a:latin typeface="Arial"/>
                <a:cs typeface="Arial"/>
              </a:rPr>
              <a:t>l</a:t>
            </a:r>
            <a:r>
              <a:rPr sz="1550" b="1" spc="45" dirty="0">
                <a:solidFill>
                  <a:srgbClr val="333333"/>
                </a:solidFill>
                <a:latin typeface="Arial"/>
                <a:cs typeface="Arial"/>
              </a:rPr>
              <a:t>a</a:t>
            </a:r>
            <a:r>
              <a:rPr sz="1550" b="1" spc="50" dirty="0">
                <a:solidFill>
                  <a:srgbClr val="333333"/>
                </a:solidFill>
                <a:latin typeface="Arial"/>
                <a:cs typeface="Arial"/>
              </a:rPr>
              <a:t>n</a:t>
            </a:r>
            <a:r>
              <a:rPr sz="1550" b="1" spc="40" dirty="0">
                <a:solidFill>
                  <a:srgbClr val="333333"/>
                </a:solidFill>
                <a:latin typeface="Arial"/>
                <a:cs typeface="Arial"/>
              </a:rPr>
              <a:t>n</a:t>
            </a:r>
            <a:r>
              <a:rPr sz="1550" b="1" spc="15" dirty="0">
                <a:solidFill>
                  <a:srgbClr val="333333"/>
                </a:solidFill>
                <a:latin typeface="Arial"/>
                <a:cs typeface="Arial"/>
              </a:rPr>
              <a:t>i</a:t>
            </a:r>
            <a:r>
              <a:rPr sz="1550" b="1" spc="35" dirty="0">
                <a:solidFill>
                  <a:srgbClr val="333333"/>
                </a:solidFill>
                <a:latin typeface="Arial"/>
                <a:cs typeface="Arial"/>
              </a:rPr>
              <a:t>n</a:t>
            </a:r>
            <a:r>
              <a:rPr sz="1550" b="1" spc="5" dirty="0">
                <a:solidFill>
                  <a:srgbClr val="333333"/>
                </a:solidFill>
                <a:latin typeface="Arial"/>
                <a:cs typeface="Arial"/>
              </a:rPr>
              <a:t>g</a:t>
            </a:r>
            <a:endParaRPr sz="1550">
              <a:latin typeface="Arial"/>
              <a:cs typeface="Arial"/>
            </a:endParaRPr>
          </a:p>
          <a:p>
            <a:pPr marL="12700" marR="5080">
              <a:lnSpc>
                <a:spcPct val="111100"/>
              </a:lnSpc>
              <a:spcBef>
                <a:spcPts val="310"/>
              </a:spcBef>
            </a:pPr>
            <a:r>
              <a:rPr sz="900" spc="-10" dirty="0">
                <a:solidFill>
                  <a:srgbClr val="333333"/>
                </a:solidFill>
                <a:latin typeface="Roboto Lt"/>
                <a:cs typeface="Roboto Lt"/>
              </a:rPr>
              <a:t>Before</a:t>
            </a:r>
            <a:r>
              <a:rPr sz="900" spc="-30" dirty="0">
                <a:solidFill>
                  <a:srgbClr val="333333"/>
                </a:solidFill>
                <a:latin typeface="Roboto Lt"/>
                <a:cs typeface="Roboto Lt"/>
              </a:rPr>
              <a:t> </a:t>
            </a:r>
            <a:r>
              <a:rPr sz="900" spc="-5" dirty="0">
                <a:solidFill>
                  <a:srgbClr val="333333"/>
                </a:solidFill>
                <a:latin typeface="Roboto Lt"/>
                <a:cs typeface="Roboto Lt"/>
              </a:rPr>
              <a:t>each</a:t>
            </a:r>
            <a:r>
              <a:rPr sz="900" spc="-25" dirty="0">
                <a:solidFill>
                  <a:srgbClr val="333333"/>
                </a:solidFill>
                <a:latin typeface="Roboto Lt"/>
                <a:cs typeface="Roboto Lt"/>
              </a:rPr>
              <a:t> </a:t>
            </a:r>
            <a:r>
              <a:rPr sz="900" spc="-10" dirty="0">
                <a:solidFill>
                  <a:srgbClr val="333333"/>
                </a:solidFill>
                <a:latin typeface="Roboto Lt"/>
                <a:cs typeface="Roboto Lt"/>
              </a:rPr>
              <a:t>sprint,</a:t>
            </a:r>
            <a:r>
              <a:rPr sz="900" spc="-25" dirty="0">
                <a:solidFill>
                  <a:srgbClr val="333333"/>
                </a:solidFill>
                <a:latin typeface="Roboto Lt"/>
                <a:cs typeface="Roboto Lt"/>
              </a:rPr>
              <a:t> </a:t>
            </a:r>
            <a:r>
              <a:rPr sz="900" spc="-10" dirty="0">
                <a:solidFill>
                  <a:srgbClr val="333333"/>
                </a:solidFill>
                <a:latin typeface="Roboto Lt"/>
                <a:cs typeface="Roboto Lt"/>
              </a:rPr>
              <a:t>the</a:t>
            </a:r>
            <a:r>
              <a:rPr sz="900" spc="-25" dirty="0">
                <a:solidFill>
                  <a:srgbClr val="333333"/>
                </a:solidFill>
                <a:latin typeface="Roboto Lt"/>
                <a:cs typeface="Roboto Lt"/>
              </a:rPr>
              <a:t> </a:t>
            </a:r>
            <a:r>
              <a:rPr sz="900" spc="-10" dirty="0">
                <a:solidFill>
                  <a:srgbClr val="333333"/>
                </a:solidFill>
                <a:latin typeface="Roboto Lt"/>
                <a:cs typeface="Roboto Lt"/>
              </a:rPr>
              <a:t>Product</a:t>
            </a:r>
            <a:r>
              <a:rPr sz="900" spc="-25" dirty="0">
                <a:solidFill>
                  <a:srgbClr val="333333"/>
                </a:solidFill>
                <a:latin typeface="Roboto Lt"/>
                <a:cs typeface="Roboto Lt"/>
              </a:rPr>
              <a:t> </a:t>
            </a:r>
            <a:r>
              <a:rPr sz="900" spc="-5" dirty="0">
                <a:solidFill>
                  <a:srgbClr val="333333"/>
                </a:solidFill>
                <a:latin typeface="Roboto Lt"/>
                <a:cs typeface="Roboto Lt"/>
              </a:rPr>
              <a:t>Owner </a:t>
            </a:r>
            <a:r>
              <a:rPr sz="900" spc="-204" dirty="0">
                <a:solidFill>
                  <a:srgbClr val="333333"/>
                </a:solidFill>
                <a:latin typeface="Roboto Lt"/>
                <a:cs typeface="Roboto Lt"/>
              </a:rPr>
              <a:t> </a:t>
            </a:r>
            <a:r>
              <a:rPr sz="900" spc="-10" dirty="0">
                <a:solidFill>
                  <a:srgbClr val="333333"/>
                </a:solidFill>
                <a:latin typeface="Roboto Lt"/>
                <a:cs typeface="Roboto Lt"/>
              </a:rPr>
              <a:t>presents the top items </a:t>
            </a:r>
            <a:r>
              <a:rPr sz="900" spc="-5" dirty="0">
                <a:solidFill>
                  <a:srgbClr val="333333"/>
                </a:solidFill>
                <a:latin typeface="Roboto Lt"/>
                <a:cs typeface="Roboto Lt"/>
              </a:rPr>
              <a:t>on </a:t>
            </a:r>
            <a:r>
              <a:rPr sz="900" spc="-10" dirty="0">
                <a:solidFill>
                  <a:srgbClr val="333333"/>
                </a:solidFill>
                <a:latin typeface="Roboto Lt"/>
                <a:cs typeface="Roboto Lt"/>
              </a:rPr>
              <a:t>the </a:t>
            </a:r>
            <a:r>
              <a:rPr sz="900" spc="-5" dirty="0">
                <a:solidFill>
                  <a:srgbClr val="333333"/>
                </a:solidFill>
                <a:latin typeface="Roboto Lt"/>
                <a:cs typeface="Roboto Lt"/>
              </a:rPr>
              <a:t>backlog </a:t>
            </a:r>
            <a:r>
              <a:rPr sz="900" spc="-204" dirty="0">
                <a:solidFill>
                  <a:srgbClr val="333333"/>
                </a:solidFill>
                <a:latin typeface="Roboto Lt"/>
                <a:cs typeface="Roboto Lt"/>
              </a:rPr>
              <a:t> </a:t>
            </a:r>
            <a:r>
              <a:rPr sz="900" spc="-10" dirty="0">
                <a:solidFill>
                  <a:srgbClr val="333333"/>
                </a:solidFill>
                <a:latin typeface="Roboto Lt"/>
                <a:cs typeface="Roboto Lt"/>
              </a:rPr>
              <a:t>in</a:t>
            </a:r>
            <a:r>
              <a:rPr sz="900" spc="30" dirty="0">
                <a:solidFill>
                  <a:srgbClr val="333333"/>
                </a:solidFill>
                <a:latin typeface="Roboto Lt"/>
                <a:cs typeface="Roboto Lt"/>
              </a:rPr>
              <a:t> </a:t>
            </a:r>
            <a:r>
              <a:rPr sz="900" spc="-5" dirty="0">
                <a:solidFill>
                  <a:srgbClr val="333333"/>
                </a:solidFill>
                <a:latin typeface="Roboto Lt"/>
                <a:cs typeface="Roboto Lt"/>
              </a:rPr>
              <a:t>a</a:t>
            </a:r>
            <a:r>
              <a:rPr sz="900" spc="30" dirty="0">
                <a:solidFill>
                  <a:srgbClr val="333333"/>
                </a:solidFill>
                <a:latin typeface="Roboto Lt"/>
                <a:cs typeface="Roboto Lt"/>
              </a:rPr>
              <a:t> </a:t>
            </a:r>
            <a:r>
              <a:rPr sz="900" spc="-10" dirty="0">
                <a:solidFill>
                  <a:srgbClr val="333333"/>
                </a:solidFill>
                <a:latin typeface="Roboto Lt"/>
                <a:cs typeface="Roboto Lt"/>
              </a:rPr>
              <a:t>sprint</a:t>
            </a:r>
            <a:r>
              <a:rPr sz="900" spc="30" dirty="0">
                <a:solidFill>
                  <a:srgbClr val="333333"/>
                </a:solidFill>
                <a:latin typeface="Roboto Lt"/>
                <a:cs typeface="Roboto Lt"/>
              </a:rPr>
              <a:t> </a:t>
            </a:r>
            <a:r>
              <a:rPr sz="900" spc="-15" dirty="0">
                <a:solidFill>
                  <a:srgbClr val="333333"/>
                </a:solidFill>
                <a:latin typeface="Roboto Lt"/>
                <a:cs typeface="Roboto Lt"/>
              </a:rPr>
              <a:t>planning</a:t>
            </a:r>
            <a:r>
              <a:rPr sz="900" spc="35" dirty="0">
                <a:solidFill>
                  <a:srgbClr val="333333"/>
                </a:solidFill>
                <a:latin typeface="Roboto Lt"/>
                <a:cs typeface="Roboto Lt"/>
              </a:rPr>
              <a:t> </a:t>
            </a:r>
            <a:r>
              <a:rPr sz="900" spc="-10" dirty="0">
                <a:solidFill>
                  <a:srgbClr val="333333"/>
                </a:solidFill>
                <a:latin typeface="Roboto Lt"/>
                <a:cs typeface="Roboto Lt"/>
              </a:rPr>
              <a:t>meeting.</a:t>
            </a:r>
            <a:r>
              <a:rPr sz="900" spc="30" dirty="0">
                <a:solidFill>
                  <a:srgbClr val="333333"/>
                </a:solidFill>
                <a:latin typeface="Roboto Lt"/>
                <a:cs typeface="Roboto Lt"/>
              </a:rPr>
              <a:t> </a:t>
            </a:r>
            <a:r>
              <a:rPr sz="900" spc="-5" dirty="0">
                <a:solidFill>
                  <a:srgbClr val="333333"/>
                </a:solidFill>
                <a:latin typeface="Roboto Lt"/>
                <a:cs typeface="Roboto Lt"/>
              </a:rPr>
              <a:t>The </a:t>
            </a:r>
            <a:r>
              <a:rPr sz="900" dirty="0">
                <a:solidFill>
                  <a:srgbClr val="333333"/>
                </a:solidFill>
                <a:latin typeface="Roboto Lt"/>
                <a:cs typeface="Roboto Lt"/>
              </a:rPr>
              <a:t> </a:t>
            </a:r>
            <a:r>
              <a:rPr sz="900" spc="-10" dirty="0">
                <a:solidFill>
                  <a:srgbClr val="333333"/>
                </a:solidFill>
                <a:latin typeface="Roboto Lt"/>
                <a:cs typeface="Roboto Lt"/>
              </a:rPr>
              <a:t>team determines the work </a:t>
            </a:r>
            <a:r>
              <a:rPr sz="900" spc="-15" dirty="0">
                <a:solidFill>
                  <a:srgbClr val="333333"/>
                </a:solidFill>
                <a:latin typeface="Roboto Lt"/>
                <a:cs typeface="Roboto Lt"/>
              </a:rPr>
              <a:t>they </a:t>
            </a:r>
            <a:r>
              <a:rPr sz="900" spc="-10" dirty="0">
                <a:solidFill>
                  <a:srgbClr val="333333"/>
                </a:solidFill>
                <a:latin typeface="Roboto Lt"/>
                <a:cs typeface="Roboto Lt"/>
              </a:rPr>
              <a:t>can </a:t>
            </a:r>
            <a:r>
              <a:rPr sz="900" spc="-5" dirty="0">
                <a:solidFill>
                  <a:srgbClr val="333333"/>
                </a:solidFill>
                <a:latin typeface="Roboto Lt"/>
                <a:cs typeface="Roboto Lt"/>
              </a:rPr>
              <a:t> </a:t>
            </a:r>
            <a:r>
              <a:rPr sz="900" spc="-10" dirty="0">
                <a:solidFill>
                  <a:srgbClr val="333333"/>
                </a:solidFill>
                <a:latin typeface="Roboto Lt"/>
                <a:cs typeface="Roboto Lt"/>
              </a:rPr>
              <a:t>complete during the sprint and moves </a:t>
            </a:r>
            <a:r>
              <a:rPr sz="900" spc="-204" dirty="0">
                <a:solidFill>
                  <a:srgbClr val="333333"/>
                </a:solidFill>
                <a:latin typeface="Roboto Lt"/>
                <a:cs typeface="Roboto Lt"/>
              </a:rPr>
              <a:t> </a:t>
            </a:r>
            <a:r>
              <a:rPr sz="900" spc="-10" dirty="0">
                <a:solidFill>
                  <a:srgbClr val="333333"/>
                </a:solidFill>
                <a:latin typeface="Roboto Lt"/>
                <a:cs typeface="Roboto Lt"/>
              </a:rPr>
              <a:t>the work </a:t>
            </a:r>
            <a:r>
              <a:rPr sz="900" spc="-5" dirty="0">
                <a:solidFill>
                  <a:srgbClr val="333333"/>
                </a:solidFill>
                <a:latin typeface="Roboto Lt"/>
                <a:cs typeface="Roboto Lt"/>
              </a:rPr>
              <a:t>from </a:t>
            </a:r>
            <a:r>
              <a:rPr sz="900" spc="-10" dirty="0">
                <a:solidFill>
                  <a:srgbClr val="333333"/>
                </a:solidFill>
                <a:latin typeface="Roboto Lt"/>
                <a:cs typeface="Roboto Lt"/>
              </a:rPr>
              <a:t>the product </a:t>
            </a:r>
            <a:r>
              <a:rPr sz="900" spc="-5" dirty="0">
                <a:solidFill>
                  <a:srgbClr val="333333"/>
                </a:solidFill>
                <a:latin typeface="Roboto Lt"/>
                <a:cs typeface="Roboto Lt"/>
              </a:rPr>
              <a:t>backlog </a:t>
            </a:r>
            <a:r>
              <a:rPr sz="900" spc="-15" dirty="0">
                <a:solidFill>
                  <a:srgbClr val="333333"/>
                </a:solidFill>
                <a:latin typeface="Roboto Lt"/>
                <a:cs typeface="Roboto Lt"/>
              </a:rPr>
              <a:t>to </a:t>
            </a:r>
            <a:r>
              <a:rPr sz="900" spc="-10" dirty="0">
                <a:solidFill>
                  <a:srgbClr val="333333"/>
                </a:solidFill>
                <a:latin typeface="Roboto Lt"/>
                <a:cs typeface="Roboto Lt"/>
              </a:rPr>
              <a:t> the</a:t>
            </a:r>
            <a:r>
              <a:rPr sz="900" spc="-25" dirty="0">
                <a:solidFill>
                  <a:srgbClr val="333333"/>
                </a:solidFill>
                <a:latin typeface="Roboto Lt"/>
                <a:cs typeface="Roboto Lt"/>
              </a:rPr>
              <a:t> </a:t>
            </a:r>
            <a:r>
              <a:rPr sz="900" spc="-10" dirty="0">
                <a:solidFill>
                  <a:srgbClr val="333333"/>
                </a:solidFill>
                <a:latin typeface="Roboto Lt"/>
                <a:cs typeface="Roboto Lt"/>
              </a:rPr>
              <a:t>sprint</a:t>
            </a:r>
            <a:r>
              <a:rPr sz="900" spc="-20" dirty="0">
                <a:solidFill>
                  <a:srgbClr val="333333"/>
                </a:solidFill>
                <a:latin typeface="Roboto Lt"/>
                <a:cs typeface="Roboto Lt"/>
              </a:rPr>
              <a:t> </a:t>
            </a:r>
            <a:r>
              <a:rPr sz="900" spc="-5" dirty="0">
                <a:solidFill>
                  <a:srgbClr val="333333"/>
                </a:solidFill>
                <a:latin typeface="Roboto Lt"/>
                <a:cs typeface="Roboto Lt"/>
              </a:rPr>
              <a:t>backlog.</a:t>
            </a:r>
            <a:endParaRPr sz="900">
              <a:latin typeface="Roboto Lt"/>
              <a:cs typeface="Roboto Lt"/>
            </a:endParaRPr>
          </a:p>
        </p:txBody>
      </p:sp>
      <p:sp>
        <p:nvSpPr>
          <p:cNvPr id="16" name="object 16"/>
          <p:cNvSpPr txBox="1"/>
          <p:nvPr/>
        </p:nvSpPr>
        <p:spPr>
          <a:xfrm>
            <a:off x="6077308" y="1505247"/>
            <a:ext cx="2317750" cy="1658531"/>
          </a:xfrm>
          <a:prstGeom prst="rect">
            <a:avLst/>
          </a:prstGeom>
        </p:spPr>
        <p:txBody>
          <a:bodyPr vert="horz" wrap="square" lIns="0" tIns="17145" rIns="0" bIns="0" rtlCol="0">
            <a:spAutoFit/>
          </a:bodyPr>
          <a:lstStyle/>
          <a:p>
            <a:pPr marL="38100">
              <a:lnSpc>
                <a:spcPts val="4155"/>
              </a:lnSpc>
              <a:spcBef>
                <a:spcPts val="135"/>
              </a:spcBef>
            </a:pPr>
            <a:r>
              <a:rPr sz="5700" b="1" spc="195" baseline="-22660" dirty="0">
                <a:solidFill>
                  <a:srgbClr val="0072EB"/>
                </a:solidFill>
                <a:latin typeface="Arial"/>
                <a:cs typeface="Arial"/>
              </a:rPr>
              <a:t>3</a:t>
            </a:r>
            <a:r>
              <a:rPr sz="5700" b="1" spc="630" baseline="-22660" dirty="0">
                <a:solidFill>
                  <a:srgbClr val="0072EB"/>
                </a:solidFill>
                <a:latin typeface="Arial"/>
                <a:cs typeface="Arial"/>
              </a:rPr>
              <a:t> </a:t>
            </a:r>
            <a:r>
              <a:rPr lang="en-US" sz="1550" b="1" spc="-15" dirty="0">
                <a:solidFill>
                  <a:srgbClr val="333333"/>
                </a:solidFill>
                <a:latin typeface="Arial"/>
                <a:cs typeface="Arial"/>
              </a:rPr>
              <a:t>Sprint B</a:t>
            </a:r>
            <a:r>
              <a:rPr sz="1550" b="1" spc="-15" dirty="0">
                <a:solidFill>
                  <a:srgbClr val="333333"/>
                </a:solidFill>
                <a:latin typeface="Arial"/>
                <a:cs typeface="Arial"/>
              </a:rPr>
              <a:t>acklog</a:t>
            </a:r>
            <a:endParaRPr sz="1550" dirty="0">
              <a:latin typeface="Arial"/>
              <a:cs typeface="Arial"/>
            </a:endParaRPr>
          </a:p>
          <a:p>
            <a:pPr marL="516890" marR="30480">
              <a:lnSpc>
                <a:spcPct val="111100"/>
              </a:lnSpc>
              <a:spcBef>
                <a:spcPts val="310"/>
              </a:spcBef>
            </a:pPr>
            <a:r>
              <a:rPr lang="en-US" sz="900" spc="-5" dirty="0">
                <a:solidFill>
                  <a:srgbClr val="333333"/>
                </a:solidFill>
                <a:latin typeface="Roboto Lt"/>
                <a:cs typeface="Roboto Lt"/>
              </a:rPr>
              <a:t>A sprint backlog is a list of work items your team plans to complete during a project sprint. A clear sprint backlog prevents scope creep by clarifying exactly what your team will be doing—and not doing—during each sprint.</a:t>
            </a:r>
            <a:endParaRPr sz="900" dirty="0">
              <a:latin typeface="Roboto Lt"/>
              <a:cs typeface="Roboto Lt"/>
            </a:endParaRPr>
          </a:p>
        </p:txBody>
      </p:sp>
      <p:sp>
        <p:nvSpPr>
          <p:cNvPr id="17" name="object 17"/>
          <p:cNvSpPr/>
          <p:nvPr/>
        </p:nvSpPr>
        <p:spPr>
          <a:xfrm>
            <a:off x="0" y="0"/>
            <a:ext cx="9144000" cy="1490980"/>
          </a:xfrm>
          <a:custGeom>
            <a:avLst/>
            <a:gdLst/>
            <a:ahLst/>
            <a:cxnLst/>
            <a:rect l="l" t="t" r="r" b="b"/>
            <a:pathLst>
              <a:path w="9144000" h="1490980">
                <a:moveTo>
                  <a:pt x="9144000" y="0"/>
                </a:moveTo>
                <a:lnTo>
                  <a:pt x="0" y="0"/>
                </a:lnTo>
                <a:lnTo>
                  <a:pt x="0" y="1490472"/>
                </a:lnTo>
                <a:lnTo>
                  <a:pt x="9144000" y="1490472"/>
                </a:lnTo>
                <a:lnTo>
                  <a:pt x="9144000" y="0"/>
                </a:lnTo>
                <a:close/>
              </a:path>
            </a:pathLst>
          </a:custGeom>
          <a:solidFill>
            <a:srgbClr val="0072EB"/>
          </a:solidFill>
        </p:spPr>
        <p:txBody>
          <a:bodyPr wrap="square" lIns="0" tIns="0" rIns="0" bIns="0" rtlCol="0"/>
          <a:lstStyle/>
          <a:p>
            <a:endParaRPr/>
          </a:p>
        </p:txBody>
      </p:sp>
      <p:sp>
        <p:nvSpPr>
          <p:cNvPr id="18" name="object 18"/>
          <p:cNvSpPr txBox="1">
            <a:spLocks noGrp="1"/>
          </p:cNvSpPr>
          <p:nvPr>
            <p:ph type="title"/>
          </p:nvPr>
        </p:nvSpPr>
        <p:spPr>
          <a:xfrm>
            <a:off x="526367" y="424576"/>
            <a:ext cx="7735841" cy="705321"/>
          </a:xfrm>
          <a:prstGeom prst="rect">
            <a:avLst/>
          </a:prstGeom>
        </p:spPr>
        <p:txBody>
          <a:bodyPr vert="horz" wrap="square" lIns="0" tIns="12700" rIns="0" bIns="0" rtlCol="0">
            <a:spAutoFit/>
          </a:bodyPr>
          <a:lstStyle/>
          <a:p>
            <a:pPr marL="12700">
              <a:lnSpc>
                <a:spcPct val="100000"/>
              </a:lnSpc>
              <a:spcBef>
                <a:spcPts val="100"/>
              </a:spcBef>
            </a:pPr>
            <a:r>
              <a:rPr lang="en-US" dirty="0"/>
              <a:t>Step</a:t>
            </a:r>
            <a:r>
              <a:rPr dirty="0"/>
              <a:t>s in the Scrum</a:t>
            </a:r>
            <a:r>
              <a:rPr lang="en-US" dirty="0"/>
              <a:t> </a:t>
            </a:r>
            <a:r>
              <a:rPr dirty="0"/>
              <a:t>Process</a:t>
            </a:r>
          </a:p>
        </p:txBody>
      </p:sp>
      <p:sp>
        <p:nvSpPr>
          <p:cNvPr id="19" name="object 19"/>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spc="35" dirty="0"/>
              <a:t>1</a:t>
            </a:r>
            <a:r>
              <a:rPr lang="en-US" spc="35" dirty="0"/>
              <a:t>7</a:t>
            </a:r>
            <a:endParaRPr spc="35" dirty="0"/>
          </a:p>
        </p:txBody>
      </p:sp>
      <p:sp>
        <p:nvSpPr>
          <p:cNvPr id="20" name="object 20"/>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Agile Methodology</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62B90-F017-D192-02F0-6FB3D9BA003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54E44B6-29F9-E015-3EFD-D49A986E2136}"/>
              </a:ext>
            </a:extLst>
          </p:cNvPr>
          <p:cNvSpPr/>
          <p:nvPr/>
        </p:nvSpPr>
        <p:spPr>
          <a:xfrm>
            <a:off x="0" y="0"/>
            <a:ext cx="3168650" cy="5943600"/>
          </a:xfrm>
          <a:custGeom>
            <a:avLst/>
            <a:gdLst/>
            <a:ahLst/>
            <a:cxnLst/>
            <a:rect l="l" t="t" r="r" b="b"/>
            <a:pathLst>
              <a:path w="5029200" h="5943600">
                <a:moveTo>
                  <a:pt x="5029200" y="0"/>
                </a:moveTo>
                <a:lnTo>
                  <a:pt x="0" y="0"/>
                </a:lnTo>
                <a:lnTo>
                  <a:pt x="0" y="5943600"/>
                </a:lnTo>
                <a:lnTo>
                  <a:pt x="5029200" y="5943600"/>
                </a:lnTo>
                <a:lnTo>
                  <a:pt x="5029200" y="0"/>
                </a:lnTo>
                <a:close/>
              </a:path>
            </a:pathLst>
          </a:custGeom>
          <a:solidFill>
            <a:schemeClr val="accent2">
              <a:lumMod val="75000"/>
            </a:schemeClr>
          </a:solidFill>
        </p:spPr>
        <p:txBody>
          <a:bodyPr wrap="square" lIns="0" tIns="0" rIns="0" bIns="0" rtlCol="0"/>
          <a:lstStyle/>
          <a:p>
            <a:endParaRPr/>
          </a:p>
        </p:txBody>
      </p:sp>
      <p:sp>
        <p:nvSpPr>
          <p:cNvPr id="3" name="object 3">
            <a:extLst>
              <a:ext uri="{FF2B5EF4-FFF2-40B4-BE49-F238E27FC236}">
                <a16:creationId xmlns:a16="http://schemas.microsoft.com/office/drawing/2014/main" id="{991CF4B7-23C3-D99E-F907-41239DB3E18E}"/>
              </a:ext>
            </a:extLst>
          </p:cNvPr>
          <p:cNvSpPr txBox="1">
            <a:spLocks noGrp="1"/>
          </p:cNvSpPr>
          <p:nvPr>
            <p:ph type="title"/>
          </p:nvPr>
        </p:nvSpPr>
        <p:spPr>
          <a:xfrm>
            <a:off x="526368" y="510301"/>
            <a:ext cx="2521632" cy="1313180"/>
          </a:xfrm>
          <a:prstGeom prst="rect">
            <a:avLst/>
          </a:prstGeom>
        </p:spPr>
        <p:txBody>
          <a:bodyPr vert="horz" wrap="square" lIns="0" tIns="106680" rIns="0" bIns="0" rtlCol="0">
            <a:spAutoFit/>
          </a:bodyPr>
          <a:lstStyle/>
          <a:p>
            <a:pPr marL="12700" marR="5080">
              <a:lnSpc>
                <a:spcPts val="4700"/>
              </a:lnSpc>
              <a:spcBef>
                <a:spcPts val="840"/>
              </a:spcBef>
            </a:pPr>
            <a:r>
              <a:rPr lang="en-US" spc="-80" dirty="0"/>
              <a:t>Lets discuss</a:t>
            </a:r>
            <a:endParaRPr spc="240" dirty="0"/>
          </a:p>
        </p:txBody>
      </p:sp>
      <p:sp>
        <p:nvSpPr>
          <p:cNvPr id="7" name="object 7">
            <a:extLst>
              <a:ext uri="{FF2B5EF4-FFF2-40B4-BE49-F238E27FC236}">
                <a16:creationId xmlns:a16="http://schemas.microsoft.com/office/drawing/2014/main" id="{DA52DE2B-D530-ADE4-6249-416CC8FE7B96}"/>
              </a:ext>
            </a:extLst>
          </p:cNvPr>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spc="35" dirty="0"/>
              <a:t>1</a:t>
            </a:r>
            <a:r>
              <a:rPr lang="en-US" spc="35" dirty="0"/>
              <a:t>8</a:t>
            </a:r>
          </a:p>
        </p:txBody>
      </p:sp>
      <p:sp>
        <p:nvSpPr>
          <p:cNvPr id="8" name="object 8">
            <a:extLst>
              <a:ext uri="{FF2B5EF4-FFF2-40B4-BE49-F238E27FC236}">
                <a16:creationId xmlns:a16="http://schemas.microsoft.com/office/drawing/2014/main" id="{C4FB79FF-2278-D855-3DBB-B8EEB1027402}"/>
              </a:ext>
            </a:extLst>
          </p:cNvPr>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Agile Methodology</a:t>
            </a:r>
            <a:endParaRPr dirty="0"/>
          </a:p>
        </p:txBody>
      </p:sp>
      <p:sp>
        <p:nvSpPr>
          <p:cNvPr id="4" name="object 4">
            <a:extLst>
              <a:ext uri="{FF2B5EF4-FFF2-40B4-BE49-F238E27FC236}">
                <a16:creationId xmlns:a16="http://schemas.microsoft.com/office/drawing/2014/main" id="{27C22F26-C2D9-9386-FE0E-A8D7DF79AC06}"/>
              </a:ext>
            </a:extLst>
          </p:cNvPr>
          <p:cNvSpPr txBox="1"/>
          <p:nvPr/>
        </p:nvSpPr>
        <p:spPr>
          <a:xfrm>
            <a:off x="511725" y="2009148"/>
            <a:ext cx="2197465" cy="745076"/>
          </a:xfrm>
          <a:prstGeom prst="rect">
            <a:avLst/>
          </a:prstGeom>
        </p:spPr>
        <p:txBody>
          <a:bodyPr vert="horz" wrap="square" lIns="0" tIns="7620" rIns="0" bIns="0" rtlCol="0">
            <a:spAutoFit/>
          </a:bodyPr>
          <a:lstStyle/>
          <a:p>
            <a:pPr marL="12700" marR="5080">
              <a:lnSpc>
                <a:spcPct val="102099"/>
              </a:lnSpc>
              <a:spcBef>
                <a:spcPts val="60"/>
              </a:spcBef>
            </a:pPr>
            <a:r>
              <a:rPr lang="en-US" sz="1600" dirty="0">
                <a:solidFill>
                  <a:schemeClr val="bg1"/>
                </a:solidFill>
                <a:latin typeface="Arial"/>
                <a:cs typeface="Arial"/>
              </a:rPr>
              <a:t>Is PO a real user or a member of the development team?</a:t>
            </a:r>
          </a:p>
        </p:txBody>
      </p:sp>
      <p:sp>
        <p:nvSpPr>
          <p:cNvPr id="5" name="object 5">
            <a:extLst>
              <a:ext uri="{FF2B5EF4-FFF2-40B4-BE49-F238E27FC236}">
                <a16:creationId xmlns:a16="http://schemas.microsoft.com/office/drawing/2014/main" id="{F022A93A-0BC2-679D-6056-D265CCA4DAA7}"/>
              </a:ext>
            </a:extLst>
          </p:cNvPr>
          <p:cNvSpPr txBox="1"/>
          <p:nvPr/>
        </p:nvSpPr>
        <p:spPr>
          <a:xfrm>
            <a:off x="3392106" y="594386"/>
            <a:ext cx="5240169" cy="4754828"/>
          </a:xfrm>
          <a:prstGeom prst="rect">
            <a:avLst/>
          </a:prstGeom>
        </p:spPr>
        <p:txBody>
          <a:bodyPr vert="horz" wrap="square" lIns="0" tIns="12700" rIns="0" bIns="0" rtlCol="0">
            <a:spAutoFit/>
          </a:bodyPr>
          <a:lstStyle/>
          <a:p>
            <a:pPr marL="298450" marR="5080" indent="-285750">
              <a:lnSpc>
                <a:spcPct val="121800"/>
              </a:lnSpc>
              <a:spcBef>
                <a:spcPts val="100"/>
              </a:spcBef>
              <a:buFont typeface="Arial" panose="020B0604020202020204" pitchFamily="34" charset="0"/>
              <a:buChar char="•"/>
            </a:pPr>
            <a:r>
              <a:rPr lang="en-US" sz="1300" dirty="0">
                <a:latin typeface="Roboto Lt"/>
                <a:cs typeface="Roboto Lt"/>
              </a:rPr>
              <a:t>The </a:t>
            </a:r>
            <a:r>
              <a:rPr lang="en-US" sz="1300" b="1" dirty="0">
                <a:latin typeface="Roboto Lt"/>
                <a:cs typeface="Roboto Lt"/>
              </a:rPr>
              <a:t>PO</a:t>
            </a:r>
            <a:r>
              <a:rPr lang="en-US" sz="1300" dirty="0">
                <a:latin typeface="Roboto Lt"/>
                <a:cs typeface="Roboto Lt"/>
              </a:rPr>
              <a:t> is a representative of the business side or the stakeholders.</a:t>
            </a:r>
          </a:p>
          <a:p>
            <a:pPr marL="298450" marR="5080" indent="-285750">
              <a:lnSpc>
                <a:spcPct val="121800"/>
              </a:lnSpc>
              <a:spcBef>
                <a:spcPts val="100"/>
              </a:spcBef>
              <a:buFont typeface="Arial" panose="020B0604020202020204" pitchFamily="34" charset="0"/>
              <a:buChar char="•"/>
            </a:pPr>
            <a:r>
              <a:rPr lang="en-US" sz="1300" dirty="0">
                <a:latin typeface="Roboto Lt"/>
                <a:cs typeface="Roboto Lt"/>
              </a:rPr>
              <a:t>They own the product backlog and are responsible for defining and prioritizing features based on the business goals and user needs.</a:t>
            </a:r>
          </a:p>
          <a:p>
            <a:pPr marL="298450" marR="5080" indent="-285750">
              <a:lnSpc>
                <a:spcPct val="121800"/>
              </a:lnSpc>
              <a:spcBef>
                <a:spcPts val="100"/>
              </a:spcBef>
              <a:buFont typeface="Arial" panose="020B0604020202020204" pitchFamily="34" charset="0"/>
              <a:buChar char="•"/>
            </a:pPr>
            <a:r>
              <a:rPr lang="en-US" sz="1300" dirty="0">
                <a:latin typeface="Roboto Lt"/>
                <a:cs typeface="Roboto Lt"/>
              </a:rPr>
              <a:t>They ensure the team builds the right product and delivers maximum value.</a:t>
            </a:r>
          </a:p>
          <a:p>
            <a:pPr marL="298450" marR="5080" indent="-285750">
              <a:lnSpc>
                <a:spcPct val="121800"/>
              </a:lnSpc>
              <a:spcBef>
                <a:spcPts val="100"/>
              </a:spcBef>
              <a:buFont typeface="Arial" panose="020B0604020202020204" pitchFamily="34" charset="0"/>
              <a:buChar char="•"/>
            </a:pPr>
            <a:r>
              <a:rPr lang="en-US" sz="1300" dirty="0">
                <a:latin typeface="Roboto Lt"/>
                <a:cs typeface="Roboto Lt"/>
              </a:rPr>
              <a:t>Relationship with Real Users</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While the PO is not usually a real user, they should have a deep understanding of the users’ needs.</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They may gather insights by:</a:t>
            </a:r>
          </a:p>
          <a:p>
            <a:pPr marL="1212850" marR="5080" lvl="2" indent="-285750">
              <a:lnSpc>
                <a:spcPct val="121800"/>
              </a:lnSpc>
              <a:spcBef>
                <a:spcPts val="100"/>
              </a:spcBef>
              <a:buFont typeface="Arial" panose="020B0604020202020204" pitchFamily="34" charset="0"/>
              <a:buChar char="•"/>
            </a:pPr>
            <a:r>
              <a:rPr lang="en-US" sz="1300" dirty="0">
                <a:latin typeface="Roboto Lt"/>
                <a:cs typeface="Roboto Lt"/>
              </a:rPr>
              <a:t>Interacting directly with users through interviews, surveys, or feedback sessions.</a:t>
            </a:r>
          </a:p>
          <a:p>
            <a:pPr marL="1212850" marR="5080" lvl="2" indent="-285750">
              <a:lnSpc>
                <a:spcPct val="121800"/>
              </a:lnSpc>
              <a:spcBef>
                <a:spcPts val="100"/>
              </a:spcBef>
              <a:buFont typeface="Arial" panose="020B0604020202020204" pitchFamily="34" charset="0"/>
              <a:buChar char="•"/>
            </a:pPr>
            <a:r>
              <a:rPr lang="en-US" sz="1300" dirty="0">
                <a:latin typeface="Roboto Lt"/>
                <a:cs typeface="Roboto Lt"/>
              </a:rPr>
              <a:t>Collaborating with stakeholders who have close contact with end-users (e.g., marketing or customer support teams).</a:t>
            </a:r>
          </a:p>
          <a:p>
            <a:pPr marL="298450" marR="5080" indent="-285750">
              <a:lnSpc>
                <a:spcPct val="121800"/>
              </a:lnSpc>
              <a:spcBef>
                <a:spcPts val="100"/>
              </a:spcBef>
              <a:buFont typeface="Arial" panose="020B0604020202020204" pitchFamily="34" charset="0"/>
              <a:buChar char="•"/>
            </a:pPr>
            <a:r>
              <a:rPr lang="en-US" sz="1300" dirty="0">
                <a:latin typeface="Roboto Lt"/>
                <a:cs typeface="Roboto Lt"/>
              </a:rPr>
              <a:t>Relationship with the Development Team</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The PO works closely with the team but is not a developer.</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They clarify the "what" and "why" of features, while the development team decides "how" to implement them.</a:t>
            </a:r>
            <a:endParaRPr sz="1300" dirty="0">
              <a:latin typeface="Roboto Lt"/>
              <a:cs typeface="Roboto Lt"/>
            </a:endParaRPr>
          </a:p>
        </p:txBody>
      </p:sp>
    </p:spTree>
    <p:extLst>
      <p:ext uri="{BB962C8B-B14F-4D97-AF65-F5344CB8AC3E}">
        <p14:creationId xmlns:p14="http://schemas.microsoft.com/office/powerpoint/2010/main" val="1721808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1920239"/>
          </a:xfrm>
          <a:custGeom>
            <a:avLst/>
            <a:gdLst/>
            <a:ahLst/>
            <a:cxnLst/>
            <a:rect l="l" t="t" r="r" b="b"/>
            <a:pathLst>
              <a:path w="9144000" h="1920239">
                <a:moveTo>
                  <a:pt x="9144000" y="0"/>
                </a:moveTo>
                <a:lnTo>
                  <a:pt x="0" y="0"/>
                </a:lnTo>
                <a:lnTo>
                  <a:pt x="0" y="1920074"/>
                </a:lnTo>
                <a:lnTo>
                  <a:pt x="9144000" y="1920074"/>
                </a:lnTo>
                <a:lnTo>
                  <a:pt x="9144000" y="0"/>
                </a:lnTo>
                <a:close/>
              </a:path>
            </a:pathLst>
          </a:custGeom>
          <a:solidFill>
            <a:srgbClr val="0072EB"/>
          </a:solidFill>
        </p:spPr>
        <p:txBody>
          <a:bodyPr wrap="square" lIns="0" tIns="0" rIns="0" bIns="0" rtlCol="0"/>
          <a:lstStyle/>
          <a:p>
            <a:endParaRPr/>
          </a:p>
        </p:txBody>
      </p:sp>
      <p:sp>
        <p:nvSpPr>
          <p:cNvPr id="3" name="object 3"/>
          <p:cNvSpPr txBox="1">
            <a:spLocks noGrp="1"/>
          </p:cNvSpPr>
          <p:nvPr>
            <p:ph type="title"/>
          </p:nvPr>
        </p:nvSpPr>
        <p:spPr>
          <a:xfrm>
            <a:off x="526368" y="214049"/>
            <a:ext cx="8094980" cy="1380490"/>
          </a:xfrm>
          <a:prstGeom prst="rect">
            <a:avLst/>
          </a:prstGeom>
        </p:spPr>
        <p:txBody>
          <a:bodyPr vert="horz" wrap="square" lIns="0" tIns="210185" rIns="0" bIns="0" rtlCol="0">
            <a:spAutoFit/>
          </a:bodyPr>
          <a:lstStyle/>
          <a:p>
            <a:pPr marL="12700">
              <a:lnSpc>
                <a:spcPct val="100000"/>
              </a:lnSpc>
              <a:spcBef>
                <a:spcPts val="1655"/>
              </a:spcBef>
            </a:pPr>
            <a:r>
              <a:rPr spc="-595" dirty="0"/>
              <a:t>T</a:t>
            </a:r>
            <a:r>
              <a:rPr spc="-160" dirty="0"/>
              <a:t>o</a:t>
            </a:r>
            <a:r>
              <a:rPr spc="-155" dirty="0"/>
              <a:t>o</a:t>
            </a:r>
            <a:r>
              <a:rPr spc="-65" dirty="0"/>
              <a:t>l</a:t>
            </a:r>
            <a:r>
              <a:rPr spc="-105" dirty="0"/>
              <a:t>s</a:t>
            </a:r>
            <a:r>
              <a:rPr spc="-535" dirty="0"/>
              <a:t> </a:t>
            </a:r>
            <a:r>
              <a:rPr spc="40" dirty="0"/>
              <a:t>a</a:t>
            </a:r>
            <a:r>
              <a:rPr spc="5" dirty="0"/>
              <a:t>n</a:t>
            </a:r>
            <a:r>
              <a:rPr spc="145" dirty="0"/>
              <a:t>d</a:t>
            </a:r>
            <a:r>
              <a:rPr spc="-535" dirty="0"/>
              <a:t> </a:t>
            </a:r>
            <a:r>
              <a:rPr spc="-195" dirty="0"/>
              <a:t>A</a:t>
            </a:r>
            <a:r>
              <a:rPr spc="185" dirty="0"/>
              <a:t>r</a:t>
            </a:r>
            <a:r>
              <a:rPr spc="350" dirty="0"/>
              <a:t>t</a:t>
            </a:r>
            <a:r>
              <a:rPr spc="-55" dirty="0"/>
              <a:t>i</a:t>
            </a:r>
            <a:r>
              <a:rPr spc="45" dirty="0"/>
              <a:t>f</a:t>
            </a:r>
            <a:r>
              <a:rPr spc="25" dirty="0"/>
              <a:t>a</a:t>
            </a:r>
            <a:r>
              <a:rPr spc="-290" dirty="0"/>
              <a:t>c</a:t>
            </a:r>
            <a:r>
              <a:rPr spc="335" dirty="0"/>
              <a:t>t</a:t>
            </a:r>
            <a:r>
              <a:rPr spc="-105" dirty="0"/>
              <a:t>s</a:t>
            </a:r>
            <a:r>
              <a:rPr spc="-535" dirty="0"/>
              <a:t> </a:t>
            </a:r>
            <a:r>
              <a:rPr spc="-55" dirty="0"/>
              <a:t>i</a:t>
            </a:r>
            <a:r>
              <a:rPr spc="265" dirty="0"/>
              <a:t>n</a:t>
            </a:r>
            <a:r>
              <a:rPr spc="-530" dirty="0"/>
              <a:t> </a:t>
            </a:r>
            <a:r>
              <a:rPr spc="-640" dirty="0"/>
              <a:t>S</a:t>
            </a:r>
            <a:r>
              <a:rPr spc="-320" dirty="0"/>
              <a:t>c</a:t>
            </a:r>
            <a:r>
              <a:rPr spc="110" dirty="0"/>
              <a:t>r</a:t>
            </a:r>
            <a:r>
              <a:rPr spc="5" dirty="0"/>
              <a:t>u</a:t>
            </a:r>
            <a:r>
              <a:rPr spc="495" dirty="0"/>
              <a:t>m</a:t>
            </a:r>
          </a:p>
          <a:p>
            <a:pPr marL="12700" marR="5080">
              <a:lnSpc>
                <a:spcPct val="109000"/>
              </a:lnSpc>
              <a:spcBef>
                <a:spcPts val="310"/>
              </a:spcBef>
            </a:pPr>
            <a:r>
              <a:rPr sz="1300" b="0" spc="-30" dirty="0">
                <a:latin typeface="Roboto Lt"/>
                <a:cs typeface="Roboto Lt"/>
              </a:rPr>
              <a:t>In</a:t>
            </a:r>
            <a:r>
              <a:rPr sz="1300" b="0" spc="-20" dirty="0">
                <a:latin typeface="Roboto Lt"/>
                <a:cs typeface="Roboto Lt"/>
              </a:rPr>
              <a:t> </a:t>
            </a:r>
            <a:r>
              <a:rPr sz="1300" b="0" spc="-30" dirty="0">
                <a:latin typeface="Roboto Lt"/>
                <a:cs typeface="Roboto Lt"/>
              </a:rPr>
              <a:t>addition</a:t>
            </a:r>
            <a:r>
              <a:rPr sz="1300" b="0" spc="-20" dirty="0">
                <a:latin typeface="Roboto Lt"/>
                <a:cs typeface="Roboto Lt"/>
              </a:rPr>
              <a:t> </a:t>
            </a:r>
            <a:r>
              <a:rPr sz="1300" b="0" spc="-30" dirty="0">
                <a:latin typeface="Roboto Lt"/>
                <a:cs typeface="Roboto Lt"/>
              </a:rPr>
              <a:t>to</a:t>
            </a:r>
            <a:r>
              <a:rPr sz="1300" b="0" spc="-20" dirty="0">
                <a:latin typeface="Roboto Lt"/>
                <a:cs typeface="Roboto Lt"/>
              </a:rPr>
              <a:t> </a:t>
            </a:r>
            <a:r>
              <a:rPr sz="1300" b="0" spc="-30" dirty="0">
                <a:latin typeface="Roboto Lt"/>
                <a:cs typeface="Roboto Lt"/>
              </a:rPr>
              <a:t>roles</a:t>
            </a:r>
            <a:r>
              <a:rPr sz="1300" b="0" spc="-20" dirty="0">
                <a:latin typeface="Roboto Lt"/>
                <a:cs typeface="Roboto Lt"/>
              </a:rPr>
              <a:t> </a:t>
            </a:r>
            <a:r>
              <a:rPr sz="1300" b="0" spc="-25" dirty="0">
                <a:latin typeface="Roboto Lt"/>
                <a:cs typeface="Roboto Lt"/>
              </a:rPr>
              <a:t>and</a:t>
            </a:r>
            <a:r>
              <a:rPr sz="1300" b="0" spc="-20" dirty="0">
                <a:latin typeface="Roboto Lt"/>
                <a:cs typeface="Roboto Lt"/>
              </a:rPr>
              <a:t> </a:t>
            </a:r>
            <a:r>
              <a:rPr sz="1300" b="0" spc="-25" dirty="0">
                <a:latin typeface="Roboto Lt"/>
                <a:cs typeface="Roboto Lt"/>
              </a:rPr>
              <a:t>ceremonies,</a:t>
            </a:r>
            <a:r>
              <a:rPr sz="1300" b="0" spc="-20" dirty="0">
                <a:latin typeface="Roboto Lt"/>
                <a:cs typeface="Roboto Lt"/>
              </a:rPr>
              <a:t> Scrum </a:t>
            </a:r>
            <a:r>
              <a:rPr sz="1300" b="0" spc="-30" dirty="0">
                <a:latin typeface="Roboto Lt"/>
                <a:cs typeface="Roboto Lt"/>
              </a:rPr>
              <a:t>projects</a:t>
            </a:r>
            <a:r>
              <a:rPr sz="1300" b="0" spc="-20" dirty="0">
                <a:latin typeface="Roboto Lt"/>
                <a:cs typeface="Roboto Lt"/>
              </a:rPr>
              <a:t> </a:t>
            </a:r>
            <a:r>
              <a:rPr sz="1300" b="0" spc="-30" dirty="0">
                <a:latin typeface="Roboto Lt"/>
                <a:cs typeface="Roboto Lt"/>
              </a:rPr>
              <a:t>also</a:t>
            </a:r>
            <a:r>
              <a:rPr sz="1300" b="0" spc="-20" dirty="0">
                <a:latin typeface="Roboto Lt"/>
                <a:cs typeface="Roboto Lt"/>
              </a:rPr>
              <a:t> </a:t>
            </a:r>
            <a:r>
              <a:rPr sz="1300" b="0" spc="-30" dirty="0">
                <a:latin typeface="Roboto Lt"/>
                <a:cs typeface="Roboto Lt"/>
              </a:rPr>
              <a:t>include</a:t>
            </a:r>
            <a:r>
              <a:rPr sz="1300" b="0" spc="-20" dirty="0">
                <a:latin typeface="Roboto Lt"/>
                <a:cs typeface="Roboto Lt"/>
              </a:rPr>
              <a:t> certain </a:t>
            </a:r>
            <a:r>
              <a:rPr sz="1300" b="0" spc="-30" dirty="0">
                <a:latin typeface="Roboto Lt"/>
                <a:cs typeface="Roboto Lt"/>
              </a:rPr>
              <a:t>tools</a:t>
            </a:r>
            <a:r>
              <a:rPr sz="1300" b="0" spc="-20" dirty="0">
                <a:latin typeface="Roboto Lt"/>
                <a:cs typeface="Roboto Lt"/>
              </a:rPr>
              <a:t> </a:t>
            </a:r>
            <a:r>
              <a:rPr sz="1300" b="0" spc="-25" dirty="0">
                <a:latin typeface="Roboto Lt"/>
                <a:cs typeface="Roboto Lt"/>
              </a:rPr>
              <a:t>and</a:t>
            </a:r>
            <a:r>
              <a:rPr sz="1300" b="0" spc="-20" dirty="0">
                <a:latin typeface="Roboto Lt"/>
                <a:cs typeface="Roboto Lt"/>
              </a:rPr>
              <a:t> </a:t>
            </a:r>
            <a:r>
              <a:rPr sz="1300" b="0" spc="-45" dirty="0">
                <a:latin typeface="Roboto Lt"/>
                <a:cs typeface="Roboto Lt"/>
              </a:rPr>
              <a:t>“artifacts”.</a:t>
            </a:r>
            <a:r>
              <a:rPr sz="1300" b="0" spc="-20" dirty="0">
                <a:latin typeface="Roboto Lt"/>
                <a:cs typeface="Roboto Lt"/>
              </a:rPr>
              <a:t> </a:t>
            </a:r>
            <a:r>
              <a:rPr sz="1300" b="0" spc="-15" dirty="0">
                <a:latin typeface="Roboto Lt"/>
                <a:cs typeface="Roboto Lt"/>
              </a:rPr>
              <a:t>For </a:t>
            </a:r>
            <a:r>
              <a:rPr sz="1300" b="0" spc="-30" dirty="0">
                <a:latin typeface="Roboto Lt"/>
                <a:cs typeface="Roboto Lt"/>
              </a:rPr>
              <a:t>example,</a:t>
            </a:r>
            <a:r>
              <a:rPr sz="1300" b="0" spc="-20" dirty="0">
                <a:latin typeface="Roboto Lt"/>
                <a:cs typeface="Roboto Lt"/>
              </a:rPr>
              <a:t> </a:t>
            </a:r>
            <a:r>
              <a:rPr sz="1300" b="0" spc="-25" dirty="0">
                <a:latin typeface="Roboto Lt"/>
                <a:cs typeface="Roboto Lt"/>
              </a:rPr>
              <a:t>the</a:t>
            </a:r>
            <a:r>
              <a:rPr sz="1300" b="0" spc="-20" dirty="0">
                <a:latin typeface="Roboto Lt"/>
                <a:cs typeface="Roboto Lt"/>
              </a:rPr>
              <a:t> </a:t>
            </a:r>
            <a:r>
              <a:rPr sz="1300" b="0" spc="-30" dirty="0">
                <a:latin typeface="Roboto Lt"/>
                <a:cs typeface="Roboto Lt"/>
              </a:rPr>
              <a:t>team </a:t>
            </a:r>
            <a:r>
              <a:rPr sz="1300" b="0" spc="-25" dirty="0">
                <a:latin typeface="Roboto Lt"/>
                <a:cs typeface="Roboto Lt"/>
              </a:rPr>
              <a:t> </a:t>
            </a:r>
            <a:r>
              <a:rPr sz="1300" b="0" spc="-30" dirty="0">
                <a:latin typeface="Roboto Lt"/>
                <a:cs typeface="Roboto Lt"/>
              </a:rPr>
              <a:t>uses</a:t>
            </a:r>
            <a:r>
              <a:rPr sz="1300" b="0" spc="-25" dirty="0">
                <a:latin typeface="Roboto Lt"/>
                <a:cs typeface="Roboto Lt"/>
              </a:rPr>
              <a:t> </a:t>
            </a:r>
            <a:r>
              <a:rPr sz="1300" b="0" spc="-5" dirty="0">
                <a:latin typeface="Roboto Lt"/>
                <a:cs typeface="Roboto Lt"/>
              </a:rPr>
              <a:t>a</a:t>
            </a:r>
            <a:r>
              <a:rPr sz="1300" b="0" spc="-25" dirty="0">
                <a:latin typeface="Roboto Lt"/>
                <a:cs typeface="Roboto Lt"/>
              </a:rPr>
              <a:t> </a:t>
            </a:r>
            <a:r>
              <a:rPr sz="1300" b="0" spc="-20" dirty="0">
                <a:latin typeface="Roboto Lt"/>
                <a:cs typeface="Roboto Lt"/>
              </a:rPr>
              <a:t>Scrum</a:t>
            </a:r>
            <a:r>
              <a:rPr sz="1300" b="0" spc="-25" dirty="0">
                <a:latin typeface="Roboto Lt"/>
                <a:cs typeface="Roboto Lt"/>
              </a:rPr>
              <a:t> board </a:t>
            </a:r>
            <a:r>
              <a:rPr sz="1300" b="0" spc="-30" dirty="0">
                <a:latin typeface="Roboto Lt"/>
                <a:cs typeface="Roboto Lt"/>
              </a:rPr>
              <a:t>to</a:t>
            </a:r>
            <a:r>
              <a:rPr sz="1300" b="0" spc="-25" dirty="0">
                <a:latin typeface="Roboto Lt"/>
                <a:cs typeface="Roboto Lt"/>
              </a:rPr>
              <a:t> </a:t>
            </a:r>
            <a:r>
              <a:rPr sz="1300" b="0" spc="-35" dirty="0">
                <a:latin typeface="Roboto Lt"/>
                <a:cs typeface="Roboto Lt"/>
              </a:rPr>
              <a:t>visualize</a:t>
            </a:r>
            <a:r>
              <a:rPr sz="1300" b="0" spc="-25" dirty="0">
                <a:latin typeface="Roboto Lt"/>
                <a:cs typeface="Roboto Lt"/>
              </a:rPr>
              <a:t> the backlog </a:t>
            </a:r>
            <a:r>
              <a:rPr sz="1300" b="0" spc="-15" dirty="0">
                <a:latin typeface="Roboto Lt"/>
                <a:cs typeface="Roboto Lt"/>
              </a:rPr>
              <a:t>or</a:t>
            </a:r>
            <a:r>
              <a:rPr sz="1300" b="0" spc="-25" dirty="0">
                <a:latin typeface="Roboto Lt"/>
                <a:cs typeface="Roboto Lt"/>
              </a:rPr>
              <a:t> </a:t>
            </a:r>
            <a:r>
              <a:rPr sz="1300" b="0" spc="-5" dirty="0">
                <a:latin typeface="Roboto Lt"/>
                <a:cs typeface="Roboto Lt"/>
              </a:rPr>
              <a:t>a</a:t>
            </a:r>
            <a:r>
              <a:rPr sz="1300" b="0" spc="-25" dirty="0">
                <a:latin typeface="Roboto Lt"/>
                <a:cs typeface="Roboto Lt"/>
              </a:rPr>
              <a:t> </a:t>
            </a:r>
            <a:r>
              <a:rPr sz="1300" b="0" spc="-30" dirty="0">
                <a:latin typeface="Roboto Lt"/>
                <a:cs typeface="Roboto Lt"/>
              </a:rPr>
              <a:t>burndown</a:t>
            </a:r>
            <a:r>
              <a:rPr sz="1300" b="0" spc="-25" dirty="0">
                <a:latin typeface="Roboto Lt"/>
                <a:cs typeface="Roboto Lt"/>
              </a:rPr>
              <a:t> </a:t>
            </a:r>
            <a:r>
              <a:rPr sz="1300" b="0" spc="-15" dirty="0">
                <a:latin typeface="Roboto Lt"/>
                <a:cs typeface="Roboto Lt"/>
              </a:rPr>
              <a:t>chart</a:t>
            </a:r>
            <a:r>
              <a:rPr sz="1300" b="0" spc="-25" dirty="0">
                <a:latin typeface="Roboto Lt"/>
                <a:cs typeface="Roboto Lt"/>
              </a:rPr>
              <a:t> </a:t>
            </a:r>
            <a:r>
              <a:rPr sz="1300" b="0" spc="-30" dirty="0">
                <a:latin typeface="Roboto Lt"/>
                <a:cs typeface="Roboto Lt"/>
              </a:rPr>
              <a:t>to</a:t>
            </a:r>
            <a:r>
              <a:rPr sz="1300" b="0" spc="-25" dirty="0">
                <a:latin typeface="Roboto Lt"/>
                <a:cs typeface="Roboto Lt"/>
              </a:rPr>
              <a:t> </a:t>
            </a:r>
            <a:r>
              <a:rPr sz="1300" b="0" spc="-30" dirty="0">
                <a:latin typeface="Roboto Lt"/>
                <a:cs typeface="Roboto Lt"/>
              </a:rPr>
              <a:t>show</a:t>
            </a:r>
            <a:r>
              <a:rPr sz="1300" b="0" spc="-25" dirty="0">
                <a:latin typeface="Roboto Lt"/>
                <a:cs typeface="Roboto Lt"/>
              </a:rPr>
              <a:t> </a:t>
            </a:r>
            <a:r>
              <a:rPr sz="1300" b="0" spc="-30" dirty="0">
                <a:latin typeface="Roboto Lt"/>
                <a:cs typeface="Roboto Lt"/>
              </a:rPr>
              <a:t>outstanding</a:t>
            </a:r>
            <a:r>
              <a:rPr sz="1300" b="0" spc="-25" dirty="0">
                <a:latin typeface="Roboto Lt"/>
                <a:cs typeface="Roboto Lt"/>
              </a:rPr>
              <a:t> </a:t>
            </a:r>
            <a:r>
              <a:rPr sz="1300" b="0" spc="-20" dirty="0">
                <a:latin typeface="Roboto Lt"/>
                <a:cs typeface="Roboto Lt"/>
              </a:rPr>
              <a:t>work.</a:t>
            </a:r>
            <a:r>
              <a:rPr sz="1300" b="0" spc="-25" dirty="0">
                <a:latin typeface="Roboto Lt"/>
                <a:cs typeface="Roboto Lt"/>
              </a:rPr>
              <a:t> </a:t>
            </a:r>
            <a:r>
              <a:rPr sz="1300" b="0" spc="-20" dirty="0">
                <a:latin typeface="Roboto Lt"/>
                <a:cs typeface="Roboto Lt"/>
              </a:rPr>
              <a:t>The</a:t>
            </a:r>
            <a:r>
              <a:rPr sz="1300" b="0" spc="-25" dirty="0">
                <a:latin typeface="Roboto Lt"/>
                <a:cs typeface="Roboto Lt"/>
              </a:rPr>
              <a:t> </a:t>
            </a:r>
            <a:r>
              <a:rPr sz="1300" b="0" spc="-20" dirty="0">
                <a:latin typeface="Roboto Lt"/>
                <a:cs typeface="Roboto Lt"/>
              </a:rPr>
              <a:t>most</a:t>
            </a:r>
            <a:r>
              <a:rPr sz="1300" b="0" spc="-25" dirty="0">
                <a:latin typeface="Roboto Lt"/>
                <a:cs typeface="Roboto Lt"/>
              </a:rPr>
              <a:t> </a:t>
            </a:r>
            <a:r>
              <a:rPr sz="1300" b="0" spc="-20" dirty="0">
                <a:latin typeface="Roboto Lt"/>
                <a:cs typeface="Roboto Lt"/>
              </a:rPr>
              <a:t>common</a:t>
            </a:r>
            <a:r>
              <a:rPr sz="1300" b="0" spc="-25" dirty="0">
                <a:latin typeface="Roboto Lt"/>
                <a:cs typeface="Roboto Lt"/>
              </a:rPr>
              <a:t> </a:t>
            </a:r>
            <a:r>
              <a:rPr sz="1300" b="0" spc="-30" dirty="0">
                <a:latin typeface="Roboto Lt"/>
                <a:cs typeface="Roboto Lt"/>
              </a:rPr>
              <a:t>are:</a:t>
            </a:r>
            <a:endParaRPr sz="1300">
              <a:latin typeface="Roboto Lt"/>
              <a:cs typeface="Roboto Lt"/>
            </a:endParaRPr>
          </a:p>
        </p:txBody>
      </p:sp>
      <p:grpSp>
        <p:nvGrpSpPr>
          <p:cNvPr id="4" name="object 4"/>
          <p:cNvGrpSpPr/>
          <p:nvPr/>
        </p:nvGrpSpPr>
        <p:grpSpPr>
          <a:xfrm>
            <a:off x="419100" y="1920074"/>
            <a:ext cx="8305800" cy="3452495"/>
            <a:chOff x="419100" y="1920074"/>
            <a:chExt cx="8305800" cy="3452495"/>
          </a:xfrm>
        </p:grpSpPr>
        <p:sp>
          <p:nvSpPr>
            <p:cNvPr id="5" name="object 5"/>
            <p:cNvSpPr/>
            <p:nvPr/>
          </p:nvSpPr>
          <p:spPr>
            <a:xfrm>
              <a:off x="3742664" y="1920074"/>
              <a:ext cx="1661795" cy="3452495"/>
            </a:xfrm>
            <a:custGeom>
              <a:avLst/>
              <a:gdLst/>
              <a:ahLst/>
              <a:cxnLst/>
              <a:rect l="l" t="t" r="r" b="b"/>
              <a:pathLst>
                <a:path w="1661795" h="3452495">
                  <a:moveTo>
                    <a:pt x="1661782" y="0"/>
                  </a:moveTo>
                  <a:lnTo>
                    <a:pt x="0" y="0"/>
                  </a:lnTo>
                  <a:lnTo>
                    <a:pt x="0" y="3452025"/>
                  </a:lnTo>
                  <a:lnTo>
                    <a:pt x="1661782" y="3452025"/>
                  </a:lnTo>
                  <a:lnTo>
                    <a:pt x="1661782" y="0"/>
                  </a:lnTo>
                  <a:close/>
                </a:path>
              </a:pathLst>
            </a:custGeom>
            <a:solidFill>
              <a:srgbClr val="D8E9FC"/>
            </a:solidFill>
          </p:spPr>
          <p:txBody>
            <a:bodyPr wrap="square" lIns="0" tIns="0" rIns="0" bIns="0" rtlCol="0"/>
            <a:lstStyle/>
            <a:p>
              <a:endParaRPr/>
            </a:p>
          </p:txBody>
        </p:sp>
        <p:sp>
          <p:nvSpPr>
            <p:cNvPr id="6" name="object 6"/>
            <p:cNvSpPr/>
            <p:nvPr/>
          </p:nvSpPr>
          <p:spPr>
            <a:xfrm>
              <a:off x="5401335" y="1920074"/>
              <a:ext cx="1661795" cy="3452495"/>
            </a:xfrm>
            <a:custGeom>
              <a:avLst/>
              <a:gdLst/>
              <a:ahLst/>
              <a:cxnLst/>
              <a:rect l="l" t="t" r="r" b="b"/>
              <a:pathLst>
                <a:path w="1661795" h="3452495">
                  <a:moveTo>
                    <a:pt x="1661782" y="0"/>
                  </a:moveTo>
                  <a:lnTo>
                    <a:pt x="0" y="0"/>
                  </a:lnTo>
                  <a:lnTo>
                    <a:pt x="0" y="3452025"/>
                  </a:lnTo>
                  <a:lnTo>
                    <a:pt x="1661782" y="3452025"/>
                  </a:lnTo>
                  <a:lnTo>
                    <a:pt x="1661782" y="0"/>
                  </a:lnTo>
                  <a:close/>
                </a:path>
              </a:pathLst>
            </a:custGeom>
            <a:solidFill>
              <a:srgbClr val="CCE2FB"/>
            </a:solidFill>
          </p:spPr>
          <p:txBody>
            <a:bodyPr wrap="square" lIns="0" tIns="0" rIns="0" bIns="0" rtlCol="0"/>
            <a:lstStyle/>
            <a:p>
              <a:endParaRPr/>
            </a:p>
          </p:txBody>
        </p:sp>
        <p:sp>
          <p:nvSpPr>
            <p:cNvPr id="7" name="object 7"/>
            <p:cNvSpPr/>
            <p:nvPr/>
          </p:nvSpPr>
          <p:spPr>
            <a:xfrm>
              <a:off x="7063117" y="1920074"/>
              <a:ext cx="1661795" cy="3452495"/>
            </a:xfrm>
            <a:custGeom>
              <a:avLst/>
              <a:gdLst/>
              <a:ahLst/>
              <a:cxnLst/>
              <a:rect l="l" t="t" r="r" b="b"/>
              <a:pathLst>
                <a:path w="1661795" h="3452495">
                  <a:moveTo>
                    <a:pt x="1661782" y="0"/>
                  </a:moveTo>
                  <a:lnTo>
                    <a:pt x="0" y="0"/>
                  </a:lnTo>
                  <a:lnTo>
                    <a:pt x="0" y="3452025"/>
                  </a:lnTo>
                  <a:lnTo>
                    <a:pt x="1661782" y="3452025"/>
                  </a:lnTo>
                  <a:lnTo>
                    <a:pt x="1661782" y="0"/>
                  </a:lnTo>
                  <a:close/>
                </a:path>
              </a:pathLst>
            </a:custGeom>
            <a:solidFill>
              <a:srgbClr val="BFDBFA"/>
            </a:solidFill>
          </p:spPr>
          <p:txBody>
            <a:bodyPr wrap="square" lIns="0" tIns="0" rIns="0" bIns="0" rtlCol="0"/>
            <a:lstStyle/>
            <a:p>
              <a:endParaRPr/>
            </a:p>
          </p:txBody>
        </p:sp>
        <p:sp>
          <p:nvSpPr>
            <p:cNvPr id="8" name="object 8"/>
            <p:cNvSpPr/>
            <p:nvPr/>
          </p:nvSpPr>
          <p:spPr>
            <a:xfrm>
              <a:off x="419100" y="1920074"/>
              <a:ext cx="1661795" cy="3452495"/>
            </a:xfrm>
            <a:custGeom>
              <a:avLst/>
              <a:gdLst/>
              <a:ahLst/>
              <a:cxnLst/>
              <a:rect l="l" t="t" r="r" b="b"/>
              <a:pathLst>
                <a:path w="1661795" h="3452495">
                  <a:moveTo>
                    <a:pt x="1661782" y="0"/>
                  </a:moveTo>
                  <a:lnTo>
                    <a:pt x="0" y="0"/>
                  </a:lnTo>
                  <a:lnTo>
                    <a:pt x="0" y="3452025"/>
                  </a:lnTo>
                  <a:lnTo>
                    <a:pt x="1661782" y="3452025"/>
                  </a:lnTo>
                  <a:lnTo>
                    <a:pt x="1661782" y="0"/>
                  </a:lnTo>
                  <a:close/>
                </a:path>
              </a:pathLst>
            </a:custGeom>
            <a:solidFill>
              <a:srgbClr val="F2F7FE"/>
            </a:solidFill>
          </p:spPr>
          <p:txBody>
            <a:bodyPr wrap="square" lIns="0" tIns="0" rIns="0" bIns="0" rtlCol="0"/>
            <a:lstStyle/>
            <a:p>
              <a:endParaRPr/>
            </a:p>
          </p:txBody>
        </p:sp>
        <p:sp>
          <p:nvSpPr>
            <p:cNvPr id="9" name="object 9"/>
            <p:cNvSpPr/>
            <p:nvPr/>
          </p:nvSpPr>
          <p:spPr>
            <a:xfrm>
              <a:off x="2080882" y="1920074"/>
              <a:ext cx="1661795" cy="3452495"/>
            </a:xfrm>
            <a:custGeom>
              <a:avLst/>
              <a:gdLst/>
              <a:ahLst/>
              <a:cxnLst/>
              <a:rect l="l" t="t" r="r" b="b"/>
              <a:pathLst>
                <a:path w="1661795" h="3452495">
                  <a:moveTo>
                    <a:pt x="1661782" y="0"/>
                  </a:moveTo>
                  <a:lnTo>
                    <a:pt x="0" y="0"/>
                  </a:lnTo>
                  <a:lnTo>
                    <a:pt x="0" y="3452025"/>
                  </a:lnTo>
                  <a:lnTo>
                    <a:pt x="1661782" y="3452025"/>
                  </a:lnTo>
                  <a:lnTo>
                    <a:pt x="1661782" y="0"/>
                  </a:lnTo>
                  <a:close/>
                </a:path>
              </a:pathLst>
            </a:custGeom>
            <a:solidFill>
              <a:srgbClr val="E5F0FD"/>
            </a:solidFill>
          </p:spPr>
          <p:txBody>
            <a:bodyPr wrap="square" lIns="0" tIns="0" rIns="0" bIns="0" rtlCol="0"/>
            <a:lstStyle/>
            <a:p>
              <a:endParaRPr/>
            </a:p>
          </p:txBody>
        </p:sp>
      </p:grpSp>
      <p:sp>
        <p:nvSpPr>
          <p:cNvPr id="10" name="object 10"/>
          <p:cNvSpPr txBox="1"/>
          <p:nvPr/>
        </p:nvSpPr>
        <p:spPr>
          <a:xfrm>
            <a:off x="611535" y="2766423"/>
            <a:ext cx="1254760" cy="2380615"/>
          </a:xfrm>
          <a:prstGeom prst="rect">
            <a:avLst/>
          </a:prstGeom>
        </p:spPr>
        <p:txBody>
          <a:bodyPr vert="horz" wrap="square" lIns="0" tIns="110489" rIns="0" bIns="0" rtlCol="0">
            <a:spAutoFit/>
          </a:bodyPr>
          <a:lstStyle/>
          <a:p>
            <a:pPr marL="12700">
              <a:lnSpc>
                <a:spcPct val="100000"/>
              </a:lnSpc>
              <a:spcBef>
                <a:spcPts val="869"/>
              </a:spcBef>
            </a:pPr>
            <a:r>
              <a:rPr sz="1550" b="1" spc="-185" dirty="0">
                <a:solidFill>
                  <a:srgbClr val="333333"/>
                </a:solidFill>
                <a:latin typeface="Arial"/>
                <a:cs typeface="Arial"/>
              </a:rPr>
              <a:t>S</a:t>
            </a:r>
            <a:r>
              <a:rPr sz="1550" b="1" spc="-70" dirty="0">
                <a:solidFill>
                  <a:srgbClr val="333333"/>
                </a:solidFill>
                <a:latin typeface="Arial"/>
                <a:cs typeface="Arial"/>
              </a:rPr>
              <a:t>c</a:t>
            </a:r>
            <a:r>
              <a:rPr sz="1550" b="1" spc="70" dirty="0">
                <a:solidFill>
                  <a:srgbClr val="333333"/>
                </a:solidFill>
                <a:latin typeface="Arial"/>
                <a:cs typeface="Arial"/>
              </a:rPr>
              <a:t>r</a:t>
            </a:r>
            <a:r>
              <a:rPr sz="1550" b="1" spc="40" dirty="0">
                <a:solidFill>
                  <a:srgbClr val="333333"/>
                </a:solidFill>
                <a:latin typeface="Arial"/>
                <a:cs typeface="Arial"/>
              </a:rPr>
              <a:t>u</a:t>
            </a:r>
            <a:r>
              <a:rPr sz="1550" b="1" spc="190" dirty="0">
                <a:solidFill>
                  <a:srgbClr val="333333"/>
                </a:solidFill>
                <a:latin typeface="Arial"/>
                <a:cs typeface="Arial"/>
              </a:rPr>
              <a:t>m</a:t>
            </a:r>
            <a:r>
              <a:rPr sz="1550" b="1" spc="-150" dirty="0">
                <a:solidFill>
                  <a:srgbClr val="333333"/>
                </a:solidFill>
                <a:latin typeface="Arial"/>
                <a:cs typeface="Arial"/>
              </a:rPr>
              <a:t> </a:t>
            </a:r>
            <a:r>
              <a:rPr sz="1550" b="1" spc="-5" dirty="0">
                <a:solidFill>
                  <a:srgbClr val="333333"/>
                </a:solidFill>
                <a:latin typeface="Arial"/>
                <a:cs typeface="Arial"/>
              </a:rPr>
              <a:t>b</a:t>
            </a:r>
            <a:r>
              <a:rPr sz="1550" b="1" spc="-15" dirty="0">
                <a:solidFill>
                  <a:srgbClr val="333333"/>
                </a:solidFill>
                <a:latin typeface="Arial"/>
                <a:cs typeface="Arial"/>
              </a:rPr>
              <a:t>o</a:t>
            </a:r>
            <a:r>
              <a:rPr sz="1550" b="1" spc="55" dirty="0">
                <a:solidFill>
                  <a:srgbClr val="333333"/>
                </a:solidFill>
                <a:latin typeface="Arial"/>
                <a:cs typeface="Arial"/>
              </a:rPr>
              <a:t>a</a:t>
            </a:r>
            <a:r>
              <a:rPr sz="1550" b="1" spc="70" dirty="0">
                <a:solidFill>
                  <a:srgbClr val="333333"/>
                </a:solidFill>
                <a:latin typeface="Arial"/>
                <a:cs typeface="Arial"/>
              </a:rPr>
              <a:t>r</a:t>
            </a:r>
            <a:r>
              <a:rPr sz="1550" b="1" spc="60" dirty="0">
                <a:solidFill>
                  <a:srgbClr val="333333"/>
                </a:solidFill>
                <a:latin typeface="Arial"/>
                <a:cs typeface="Arial"/>
              </a:rPr>
              <a:t>d</a:t>
            </a:r>
            <a:endParaRPr sz="1550" dirty="0">
              <a:latin typeface="Arial"/>
              <a:cs typeface="Arial"/>
            </a:endParaRPr>
          </a:p>
          <a:p>
            <a:pPr marL="12700" marR="13970">
              <a:lnSpc>
                <a:spcPct val="111100"/>
              </a:lnSpc>
              <a:spcBef>
                <a:spcPts val="310"/>
              </a:spcBef>
            </a:pPr>
            <a:r>
              <a:rPr sz="900" spc="-5" dirty="0">
                <a:solidFill>
                  <a:srgbClr val="333333"/>
                </a:solidFill>
                <a:latin typeface="Roboto Lt"/>
                <a:cs typeface="Roboto Lt"/>
              </a:rPr>
              <a:t>The Scrum </a:t>
            </a:r>
            <a:r>
              <a:rPr sz="900" spc="-10" dirty="0">
                <a:solidFill>
                  <a:srgbClr val="333333"/>
                </a:solidFill>
                <a:latin typeface="Roboto Lt"/>
                <a:cs typeface="Roboto Lt"/>
              </a:rPr>
              <a:t>board helps </a:t>
            </a:r>
            <a:r>
              <a:rPr sz="900" spc="-5" dirty="0">
                <a:solidFill>
                  <a:srgbClr val="333333"/>
                </a:solidFill>
                <a:latin typeface="Roboto Lt"/>
                <a:cs typeface="Roboto Lt"/>
              </a:rPr>
              <a:t> </a:t>
            </a:r>
            <a:r>
              <a:rPr sz="900" spc="-15" dirty="0">
                <a:solidFill>
                  <a:srgbClr val="333333"/>
                </a:solidFill>
                <a:latin typeface="Roboto Lt"/>
                <a:cs typeface="Roboto Lt"/>
              </a:rPr>
              <a:t>to visualize your </a:t>
            </a:r>
            <a:r>
              <a:rPr sz="900" spc="-10" dirty="0">
                <a:solidFill>
                  <a:srgbClr val="333333"/>
                </a:solidFill>
                <a:latin typeface="Roboto Lt"/>
                <a:cs typeface="Roboto Lt"/>
              </a:rPr>
              <a:t>sprint </a:t>
            </a:r>
            <a:r>
              <a:rPr sz="900" spc="-5" dirty="0">
                <a:solidFill>
                  <a:srgbClr val="333333"/>
                </a:solidFill>
                <a:latin typeface="Roboto Lt"/>
                <a:cs typeface="Roboto Lt"/>
              </a:rPr>
              <a:t> backlog </a:t>
            </a:r>
            <a:r>
              <a:rPr sz="900" spc="-10" dirty="0">
                <a:solidFill>
                  <a:srgbClr val="333333"/>
                </a:solidFill>
                <a:latin typeface="Roboto Lt"/>
                <a:cs typeface="Roboto Lt"/>
              </a:rPr>
              <a:t>and </a:t>
            </a:r>
            <a:r>
              <a:rPr sz="900" spc="-15" dirty="0">
                <a:solidFill>
                  <a:srgbClr val="333333"/>
                </a:solidFill>
                <a:latin typeface="Roboto Lt"/>
                <a:cs typeface="Roboto Lt"/>
              </a:rPr>
              <a:t>traditionally </a:t>
            </a:r>
            <a:r>
              <a:rPr sz="900" spc="-204" dirty="0">
                <a:solidFill>
                  <a:srgbClr val="333333"/>
                </a:solidFill>
                <a:latin typeface="Roboto Lt"/>
                <a:cs typeface="Roboto Lt"/>
              </a:rPr>
              <a:t> </a:t>
            </a:r>
            <a:r>
              <a:rPr sz="900" spc="-15" dirty="0">
                <a:solidFill>
                  <a:srgbClr val="333333"/>
                </a:solidFill>
                <a:latin typeface="Roboto Lt"/>
                <a:cs typeface="Roboto Lt"/>
              </a:rPr>
              <a:t>involves </a:t>
            </a:r>
            <a:r>
              <a:rPr sz="900" spc="-10" dirty="0">
                <a:solidFill>
                  <a:srgbClr val="333333"/>
                </a:solidFill>
                <a:latin typeface="Roboto Lt"/>
                <a:cs typeface="Roboto Lt"/>
              </a:rPr>
              <a:t>index cards </a:t>
            </a:r>
            <a:r>
              <a:rPr sz="900" spc="-5" dirty="0">
                <a:solidFill>
                  <a:srgbClr val="333333"/>
                </a:solidFill>
                <a:latin typeface="Roboto Lt"/>
                <a:cs typeface="Roboto Lt"/>
              </a:rPr>
              <a:t>or </a:t>
            </a:r>
            <a:r>
              <a:rPr sz="900" dirty="0">
                <a:solidFill>
                  <a:srgbClr val="333333"/>
                </a:solidFill>
                <a:latin typeface="Roboto Lt"/>
                <a:cs typeface="Roboto Lt"/>
              </a:rPr>
              <a:t> </a:t>
            </a:r>
            <a:r>
              <a:rPr sz="900" spc="-25" dirty="0">
                <a:solidFill>
                  <a:srgbClr val="333333"/>
                </a:solidFill>
                <a:latin typeface="Roboto Lt"/>
                <a:cs typeface="Roboto Lt"/>
              </a:rPr>
              <a:t>Post-It </a:t>
            </a:r>
            <a:r>
              <a:rPr sz="900" spc="-15" dirty="0">
                <a:solidFill>
                  <a:srgbClr val="333333"/>
                </a:solidFill>
                <a:latin typeface="Roboto Lt"/>
                <a:cs typeface="Roboto Lt"/>
              </a:rPr>
              <a:t>notes </a:t>
            </a:r>
            <a:r>
              <a:rPr sz="900" spc="-5" dirty="0">
                <a:solidFill>
                  <a:srgbClr val="333333"/>
                </a:solidFill>
                <a:latin typeface="Roboto Lt"/>
                <a:cs typeface="Roboto Lt"/>
              </a:rPr>
              <a:t>on a </a:t>
            </a:r>
            <a:r>
              <a:rPr sz="900" dirty="0">
                <a:solidFill>
                  <a:srgbClr val="333333"/>
                </a:solidFill>
                <a:latin typeface="Roboto Lt"/>
                <a:cs typeface="Roboto Lt"/>
              </a:rPr>
              <a:t> </a:t>
            </a:r>
            <a:r>
              <a:rPr sz="900" spc="-10" dirty="0">
                <a:solidFill>
                  <a:srgbClr val="333333"/>
                </a:solidFill>
                <a:latin typeface="Roboto Lt"/>
                <a:cs typeface="Roboto Lt"/>
              </a:rPr>
              <a:t>whiteboard.</a:t>
            </a:r>
            <a:r>
              <a:rPr sz="900" spc="-35" dirty="0">
                <a:solidFill>
                  <a:srgbClr val="333333"/>
                </a:solidFill>
                <a:latin typeface="Roboto Lt"/>
                <a:cs typeface="Roboto Lt"/>
              </a:rPr>
              <a:t> </a:t>
            </a:r>
            <a:r>
              <a:rPr sz="900" spc="-5" dirty="0">
                <a:solidFill>
                  <a:srgbClr val="333333"/>
                </a:solidFill>
                <a:latin typeface="Roboto Lt"/>
                <a:cs typeface="Roboto Lt"/>
              </a:rPr>
              <a:t>The</a:t>
            </a:r>
            <a:r>
              <a:rPr sz="900" spc="-35" dirty="0">
                <a:solidFill>
                  <a:srgbClr val="333333"/>
                </a:solidFill>
                <a:latin typeface="Roboto Lt"/>
                <a:cs typeface="Roboto Lt"/>
              </a:rPr>
              <a:t> </a:t>
            </a:r>
            <a:r>
              <a:rPr sz="900" spc="-10" dirty="0">
                <a:solidFill>
                  <a:srgbClr val="333333"/>
                </a:solidFill>
                <a:latin typeface="Roboto Lt"/>
                <a:cs typeface="Roboto Lt"/>
              </a:rPr>
              <a:t>board</a:t>
            </a:r>
            <a:r>
              <a:rPr sz="900" spc="-35" dirty="0">
                <a:solidFill>
                  <a:srgbClr val="333333"/>
                </a:solidFill>
                <a:latin typeface="Roboto Lt"/>
                <a:cs typeface="Roboto Lt"/>
              </a:rPr>
              <a:t> </a:t>
            </a:r>
            <a:r>
              <a:rPr sz="900" spc="-15" dirty="0">
                <a:solidFill>
                  <a:srgbClr val="333333"/>
                </a:solidFill>
                <a:latin typeface="Roboto Lt"/>
                <a:cs typeface="Roboto Lt"/>
              </a:rPr>
              <a:t>is </a:t>
            </a:r>
            <a:r>
              <a:rPr sz="900" spc="-204" dirty="0">
                <a:solidFill>
                  <a:srgbClr val="333333"/>
                </a:solidFill>
                <a:latin typeface="Roboto Lt"/>
                <a:cs typeface="Roboto Lt"/>
              </a:rPr>
              <a:t> </a:t>
            </a:r>
            <a:r>
              <a:rPr sz="900" spc="-15" dirty="0">
                <a:solidFill>
                  <a:srgbClr val="333333"/>
                </a:solidFill>
                <a:latin typeface="Roboto Lt"/>
                <a:cs typeface="Roboto Lt"/>
              </a:rPr>
              <a:t>usually </a:t>
            </a:r>
            <a:r>
              <a:rPr sz="900" spc="-10" dirty="0">
                <a:solidFill>
                  <a:srgbClr val="333333"/>
                </a:solidFill>
                <a:latin typeface="Roboto Lt"/>
                <a:cs typeface="Roboto Lt"/>
              </a:rPr>
              <a:t>divided </a:t>
            </a:r>
            <a:r>
              <a:rPr sz="900" spc="-15" dirty="0">
                <a:solidFill>
                  <a:srgbClr val="333333"/>
                </a:solidFill>
                <a:latin typeface="Roboto Lt"/>
                <a:cs typeface="Roboto Lt"/>
              </a:rPr>
              <a:t>into </a:t>
            </a:r>
            <a:r>
              <a:rPr sz="900" spc="-10" dirty="0">
                <a:solidFill>
                  <a:srgbClr val="333333"/>
                </a:solidFill>
                <a:latin typeface="Roboto Lt"/>
                <a:cs typeface="Roboto Lt"/>
              </a:rPr>
              <a:t>three </a:t>
            </a:r>
            <a:r>
              <a:rPr sz="900" spc="-204" dirty="0">
                <a:solidFill>
                  <a:srgbClr val="333333"/>
                </a:solidFill>
                <a:latin typeface="Roboto Lt"/>
                <a:cs typeface="Roboto Lt"/>
              </a:rPr>
              <a:t> </a:t>
            </a:r>
            <a:r>
              <a:rPr sz="900" spc="-10" dirty="0">
                <a:solidFill>
                  <a:srgbClr val="333333"/>
                </a:solidFill>
                <a:latin typeface="Roboto Lt"/>
                <a:cs typeface="Roboto Lt"/>
              </a:rPr>
              <a:t>categories:</a:t>
            </a:r>
            <a:r>
              <a:rPr sz="900" spc="-35" dirty="0">
                <a:solidFill>
                  <a:srgbClr val="333333"/>
                </a:solidFill>
                <a:latin typeface="Roboto Lt"/>
                <a:cs typeface="Roboto Lt"/>
              </a:rPr>
              <a:t> </a:t>
            </a:r>
            <a:r>
              <a:rPr sz="900" spc="-15" dirty="0">
                <a:solidFill>
                  <a:srgbClr val="333333"/>
                </a:solidFill>
                <a:latin typeface="Roboto Lt"/>
                <a:cs typeface="Roboto Lt"/>
              </a:rPr>
              <a:t>to</a:t>
            </a:r>
            <a:r>
              <a:rPr sz="900" spc="-30" dirty="0">
                <a:solidFill>
                  <a:srgbClr val="333333"/>
                </a:solidFill>
                <a:latin typeface="Roboto Lt"/>
                <a:cs typeface="Roboto Lt"/>
              </a:rPr>
              <a:t> </a:t>
            </a:r>
            <a:r>
              <a:rPr sz="900" spc="-5" dirty="0">
                <a:solidFill>
                  <a:srgbClr val="333333"/>
                </a:solidFill>
                <a:latin typeface="Roboto Lt"/>
                <a:cs typeface="Roboto Lt"/>
              </a:rPr>
              <a:t>do,</a:t>
            </a:r>
            <a:r>
              <a:rPr sz="900" spc="-30" dirty="0">
                <a:solidFill>
                  <a:srgbClr val="333333"/>
                </a:solidFill>
                <a:latin typeface="Roboto Lt"/>
                <a:cs typeface="Roboto Lt"/>
              </a:rPr>
              <a:t> </a:t>
            </a:r>
            <a:r>
              <a:rPr sz="900" spc="-10" dirty="0">
                <a:solidFill>
                  <a:srgbClr val="333333"/>
                </a:solidFill>
                <a:latin typeface="Roboto Lt"/>
                <a:cs typeface="Roboto Lt"/>
              </a:rPr>
              <a:t>work</a:t>
            </a:r>
            <a:r>
              <a:rPr sz="900" spc="-30" dirty="0">
                <a:solidFill>
                  <a:srgbClr val="333333"/>
                </a:solidFill>
                <a:latin typeface="Roboto Lt"/>
                <a:cs typeface="Roboto Lt"/>
              </a:rPr>
              <a:t> </a:t>
            </a:r>
            <a:r>
              <a:rPr sz="900" spc="-10" dirty="0">
                <a:solidFill>
                  <a:srgbClr val="333333"/>
                </a:solidFill>
                <a:latin typeface="Roboto Lt"/>
                <a:cs typeface="Roboto Lt"/>
              </a:rPr>
              <a:t>in </a:t>
            </a:r>
            <a:r>
              <a:rPr sz="900" spc="-204" dirty="0">
                <a:solidFill>
                  <a:srgbClr val="333333"/>
                </a:solidFill>
                <a:latin typeface="Roboto Lt"/>
                <a:cs typeface="Roboto Lt"/>
              </a:rPr>
              <a:t> </a:t>
            </a:r>
            <a:r>
              <a:rPr sz="900" spc="-10" dirty="0">
                <a:solidFill>
                  <a:srgbClr val="333333"/>
                </a:solidFill>
                <a:latin typeface="Roboto Lt"/>
                <a:cs typeface="Roboto Lt"/>
              </a:rPr>
              <a:t>progress, and </a:t>
            </a:r>
            <a:r>
              <a:rPr sz="900" spc="-5" dirty="0">
                <a:solidFill>
                  <a:srgbClr val="333333"/>
                </a:solidFill>
                <a:latin typeface="Roboto Lt"/>
                <a:cs typeface="Roboto Lt"/>
              </a:rPr>
              <a:t>done. The </a:t>
            </a:r>
            <a:r>
              <a:rPr sz="900" spc="-204" dirty="0">
                <a:solidFill>
                  <a:srgbClr val="333333"/>
                </a:solidFill>
                <a:latin typeface="Roboto Lt"/>
                <a:cs typeface="Roboto Lt"/>
              </a:rPr>
              <a:t> </a:t>
            </a:r>
            <a:r>
              <a:rPr sz="900" spc="-10" dirty="0">
                <a:solidFill>
                  <a:srgbClr val="333333"/>
                </a:solidFill>
                <a:latin typeface="Roboto Lt"/>
                <a:cs typeface="Roboto Lt"/>
              </a:rPr>
              <a:t>team </a:t>
            </a:r>
            <a:r>
              <a:rPr sz="900" spc="-15" dirty="0">
                <a:solidFill>
                  <a:srgbClr val="333333"/>
                </a:solidFill>
                <a:latin typeface="Roboto Lt"/>
                <a:cs typeface="Roboto Lt"/>
              </a:rPr>
              <a:t>updates </a:t>
            </a:r>
            <a:r>
              <a:rPr sz="900" spc="-10" dirty="0">
                <a:solidFill>
                  <a:srgbClr val="333333"/>
                </a:solidFill>
                <a:latin typeface="Roboto Lt"/>
                <a:cs typeface="Roboto Lt"/>
              </a:rPr>
              <a:t>the board </a:t>
            </a:r>
            <a:r>
              <a:rPr sz="900" spc="-5" dirty="0">
                <a:solidFill>
                  <a:srgbClr val="333333"/>
                </a:solidFill>
                <a:latin typeface="Roboto Lt"/>
                <a:cs typeface="Roboto Lt"/>
              </a:rPr>
              <a:t> </a:t>
            </a:r>
            <a:r>
              <a:rPr sz="900" spc="-20" dirty="0">
                <a:solidFill>
                  <a:srgbClr val="333333"/>
                </a:solidFill>
                <a:latin typeface="Roboto Lt"/>
                <a:cs typeface="Roboto Lt"/>
              </a:rPr>
              <a:t>b</a:t>
            </a:r>
            <a:r>
              <a:rPr sz="900" spc="-15" dirty="0">
                <a:solidFill>
                  <a:srgbClr val="333333"/>
                </a:solidFill>
                <a:latin typeface="Roboto Lt"/>
                <a:cs typeface="Roboto Lt"/>
              </a:rPr>
              <a:t>y</a:t>
            </a:r>
            <a:r>
              <a:rPr sz="900" spc="-20" dirty="0">
                <a:solidFill>
                  <a:srgbClr val="333333"/>
                </a:solidFill>
                <a:latin typeface="Roboto Lt"/>
                <a:cs typeface="Roboto Lt"/>
              </a:rPr>
              <a:t> </a:t>
            </a:r>
            <a:r>
              <a:rPr sz="900" spc="-5" dirty="0">
                <a:solidFill>
                  <a:srgbClr val="333333"/>
                </a:solidFill>
                <a:latin typeface="Roboto Lt"/>
                <a:cs typeface="Roboto Lt"/>
              </a:rPr>
              <a:t>m</a:t>
            </a:r>
            <a:r>
              <a:rPr sz="900" spc="-15" dirty="0">
                <a:solidFill>
                  <a:srgbClr val="333333"/>
                </a:solidFill>
                <a:latin typeface="Roboto Lt"/>
                <a:cs typeface="Roboto Lt"/>
              </a:rPr>
              <a:t>ovin</a:t>
            </a:r>
            <a:r>
              <a:rPr sz="900" spc="-5" dirty="0">
                <a:solidFill>
                  <a:srgbClr val="333333"/>
                </a:solidFill>
                <a:latin typeface="Roboto Lt"/>
                <a:cs typeface="Roboto Lt"/>
              </a:rPr>
              <a:t>g</a:t>
            </a:r>
            <a:r>
              <a:rPr sz="900" spc="-20" dirty="0">
                <a:solidFill>
                  <a:srgbClr val="333333"/>
                </a:solidFill>
                <a:latin typeface="Roboto Lt"/>
                <a:cs typeface="Roboto Lt"/>
              </a:rPr>
              <a:t> </a:t>
            </a:r>
            <a:r>
              <a:rPr sz="900" spc="-15" dirty="0">
                <a:solidFill>
                  <a:srgbClr val="333333"/>
                </a:solidFill>
                <a:latin typeface="Roboto Lt"/>
                <a:cs typeface="Roboto Lt"/>
              </a:rPr>
              <a:t>ta</a:t>
            </a:r>
            <a:r>
              <a:rPr sz="900" spc="-10" dirty="0">
                <a:solidFill>
                  <a:srgbClr val="333333"/>
                </a:solidFill>
                <a:latin typeface="Roboto Lt"/>
                <a:cs typeface="Roboto Lt"/>
              </a:rPr>
              <a:t>s</a:t>
            </a:r>
            <a:r>
              <a:rPr sz="900" spc="-15" dirty="0">
                <a:solidFill>
                  <a:srgbClr val="333333"/>
                </a:solidFill>
                <a:latin typeface="Roboto Lt"/>
                <a:cs typeface="Roboto Lt"/>
              </a:rPr>
              <a:t>k</a:t>
            </a:r>
            <a:r>
              <a:rPr sz="900" spc="-5" dirty="0">
                <a:solidFill>
                  <a:srgbClr val="333333"/>
                </a:solidFill>
                <a:latin typeface="Roboto Lt"/>
                <a:cs typeface="Roboto Lt"/>
              </a:rPr>
              <a:t>s</a:t>
            </a:r>
            <a:r>
              <a:rPr sz="900" spc="-20" dirty="0">
                <a:solidFill>
                  <a:srgbClr val="333333"/>
                </a:solidFill>
                <a:latin typeface="Roboto Lt"/>
                <a:cs typeface="Roboto Lt"/>
              </a:rPr>
              <a:t> </a:t>
            </a:r>
            <a:r>
              <a:rPr sz="900" spc="-30" dirty="0">
                <a:solidFill>
                  <a:srgbClr val="333333"/>
                </a:solidFill>
                <a:latin typeface="Roboto Lt"/>
                <a:cs typeface="Roboto Lt"/>
              </a:rPr>
              <a:t>(</a:t>
            </a:r>
            <a:r>
              <a:rPr sz="900" spc="-15" dirty="0">
                <a:solidFill>
                  <a:srgbClr val="333333"/>
                </a:solidFill>
                <a:latin typeface="Roboto Lt"/>
                <a:cs typeface="Roboto Lt"/>
              </a:rPr>
              <a:t>w</a:t>
            </a:r>
            <a:r>
              <a:rPr sz="900" spc="-10" dirty="0">
                <a:solidFill>
                  <a:srgbClr val="333333"/>
                </a:solidFill>
                <a:latin typeface="Roboto Lt"/>
                <a:cs typeface="Roboto Lt"/>
              </a:rPr>
              <a:t>r</a:t>
            </a:r>
            <a:r>
              <a:rPr sz="900" spc="-5" dirty="0">
                <a:solidFill>
                  <a:srgbClr val="333333"/>
                </a:solidFill>
                <a:latin typeface="Roboto Lt"/>
                <a:cs typeface="Roboto Lt"/>
              </a:rPr>
              <a:t>i</a:t>
            </a:r>
            <a:r>
              <a:rPr sz="900" spc="10" dirty="0">
                <a:solidFill>
                  <a:srgbClr val="333333"/>
                </a:solidFill>
                <a:latin typeface="Roboto Lt"/>
                <a:cs typeface="Roboto Lt"/>
              </a:rPr>
              <a:t>t</a:t>
            </a:r>
            <a:r>
              <a:rPr sz="900" spc="-30" dirty="0">
                <a:solidFill>
                  <a:srgbClr val="333333"/>
                </a:solidFill>
                <a:latin typeface="Roboto Lt"/>
                <a:cs typeface="Roboto Lt"/>
              </a:rPr>
              <a:t>t</a:t>
            </a:r>
            <a:r>
              <a:rPr sz="900" dirty="0">
                <a:solidFill>
                  <a:srgbClr val="333333"/>
                </a:solidFill>
                <a:latin typeface="Roboto Lt"/>
                <a:cs typeface="Roboto Lt"/>
              </a:rPr>
              <a:t>e</a:t>
            </a:r>
            <a:r>
              <a:rPr sz="900" spc="-5" dirty="0">
                <a:solidFill>
                  <a:srgbClr val="333333"/>
                </a:solidFill>
                <a:latin typeface="Roboto Lt"/>
                <a:cs typeface="Roboto Lt"/>
              </a:rPr>
              <a:t>n  on </a:t>
            </a:r>
            <a:r>
              <a:rPr sz="900" spc="-15" dirty="0">
                <a:solidFill>
                  <a:srgbClr val="333333"/>
                </a:solidFill>
                <a:latin typeface="Roboto Lt"/>
                <a:cs typeface="Roboto Lt"/>
              </a:rPr>
              <a:t>cards) </a:t>
            </a:r>
            <a:r>
              <a:rPr sz="900" spc="-10" dirty="0">
                <a:solidFill>
                  <a:srgbClr val="333333"/>
                </a:solidFill>
                <a:latin typeface="Roboto Lt"/>
                <a:cs typeface="Roboto Lt"/>
              </a:rPr>
              <a:t>through the </a:t>
            </a:r>
            <a:r>
              <a:rPr sz="900" spc="-5" dirty="0">
                <a:solidFill>
                  <a:srgbClr val="333333"/>
                </a:solidFill>
                <a:latin typeface="Roboto Lt"/>
                <a:cs typeface="Roboto Lt"/>
              </a:rPr>
              <a:t> </a:t>
            </a:r>
            <a:r>
              <a:rPr sz="900" spc="-10" dirty="0">
                <a:solidFill>
                  <a:srgbClr val="333333"/>
                </a:solidFill>
                <a:latin typeface="Roboto Lt"/>
                <a:cs typeface="Roboto Lt"/>
              </a:rPr>
              <a:t>columns</a:t>
            </a:r>
            <a:r>
              <a:rPr sz="900" spc="-30" dirty="0">
                <a:solidFill>
                  <a:srgbClr val="333333"/>
                </a:solidFill>
                <a:latin typeface="Roboto Lt"/>
                <a:cs typeface="Roboto Lt"/>
              </a:rPr>
              <a:t> </a:t>
            </a:r>
            <a:r>
              <a:rPr sz="900" spc="-5" dirty="0">
                <a:solidFill>
                  <a:srgbClr val="333333"/>
                </a:solidFill>
                <a:latin typeface="Roboto Lt"/>
                <a:cs typeface="Roboto Lt"/>
              </a:rPr>
              <a:t>on</a:t>
            </a:r>
            <a:r>
              <a:rPr sz="900" spc="-25" dirty="0">
                <a:solidFill>
                  <a:srgbClr val="333333"/>
                </a:solidFill>
                <a:latin typeface="Roboto Lt"/>
                <a:cs typeface="Roboto Lt"/>
              </a:rPr>
              <a:t> </a:t>
            </a:r>
            <a:r>
              <a:rPr sz="900" spc="-10" dirty="0">
                <a:solidFill>
                  <a:srgbClr val="333333"/>
                </a:solidFill>
                <a:latin typeface="Roboto Lt"/>
                <a:cs typeface="Roboto Lt"/>
              </a:rPr>
              <a:t>the</a:t>
            </a:r>
            <a:r>
              <a:rPr sz="900" spc="-25" dirty="0">
                <a:solidFill>
                  <a:srgbClr val="333333"/>
                </a:solidFill>
                <a:latin typeface="Roboto Lt"/>
                <a:cs typeface="Roboto Lt"/>
              </a:rPr>
              <a:t> </a:t>
            </a:r>
            <a:r>
              <a:rPr sz="900" spc="-10" dirty="0">
                <a:solidFill>
                  <a:srgbClr val="333333"/>
                </a:solidFill>
                <a:latin typeface="Roboto Lt"/>
                <a:cs typeface="Roboto Lt"/>
              </a:rPr>
              <a:t>board.</a:t>
            </a:r>
            <a:endParaRPr sz="900" dirty="0">
              <a:latin typeface="Roboto Lt"/>
              <a:cs typeface="Roboto Lt"/>
            </a:endParaRPr>
          </a:p>
        </p:txBody>
      </p:sp>
      <p:sp>
        <p:nvSpPr>
          <p:cNvPr id="11" name="object 11"/>
          <p:cNvSpPr txBox="1"/>
          <p:nvPr/>
        </p:nvSpPr>
        <p:spPr>
          <a:xfrm>
            <a:off x="2264073" y="2766423"/>
            <a:ext cx="1296035" cy="1313815"/>
          </a:xfrm>
          <a:prstGeom prst="rect">
            <a:avLst/>
          </a:prstGeom>
        </p:spPr>
        <p:txBody>
          <a:bodyPr vert="horz" wrap="square" lIns="0" tIns="110489" rIns="0" bIns="0" rtlCol="0">
            <a:spAutoFit/>
          </a:bodyPr>
          <a:lstStyle/>
          <a:p>
            <a:pPr marL="12700">
              <a:lnSpc>
                <a:spcPct val="100000"/>
              </a:lnSpc>
              <a:spcBef>
                <a:spcPts val="869"/>
              </a:spcBef>
            </a:pPr>
            <a:r>
              <a:rPr sz="1550" b="1" spc="-5" dirty="0">
                <a:solidFill>
                  <a:srgbClr val="333333"/>
                </a:solidFill>
                <a:latin typeface="Arial"/>
                <a:cs typeface="Arial"/>
              </a:rPr>
              <a:t>U</a:t>
            </a:r>
            <a:r>
              <a:rPr sz="1550" b="1" spc="-95" dirty="0">
                <a:solidFill>
                  <a:srgbClr val="333333"/>
                </a:solidFill>
                <a:latin typeface="Arial"/>
                <a:cs typeface="Arial"/>
              </a:rPr>
              <a:t>s</a:t>
            </a:r>
            <a:r>
              <a:rPr sz="1550" b="1" spc="50" dirty="0">
                <a:solidFill>
                  <a:srgbClr val="333333"/>
                </a:solidFill>
                <a:latin typeface="Arial"/>
                <a:cs typeface="Arial"/>
              </a:rPr>
              <a:t>e</a:t>
            </a:r>
            <a:r>
              <a:rPr sz="1550" b="1" spc="130" dirty="0">
                <a:solidFill>
                  <a:srgbClr val="333333"/>
                </a:solidFill>
                <a:latin typeface="Arial"/>
                <a:cs typeface="Arial"/>
              </a:rPr>
              <a:t>r</a:t>
            </a:r>
            <a:r>
              <a:rPr sz="1550" b="1" spc="-150" dirty="0">
                <a:solidFill>
                  <a:srgbClr val="333333"/>
                </a:solidFill>
                <a:latin typeface="Arial"/>
                <a:cs typeface="Arial"/>
              </a:rPr>
              <a:t> </a:t>
            </a:r>
            <a:r>
              <a:rPr sz="1550" b="1" spc="-85" dirty="0">
                <a:solidFill>
                  <a:srgbClr val="333333"/>
                </a:solidFill>
                <a:latin typeface="Arial"/>
                <a:cs typeface="Arial"/>
              </a:rPr>
              <a:t>s</a:t>
            </a:r>
            <a:r>
              <a:rPr sz="1550" b="1" spc="75" dirty="0">
                <a:solidFill>
                  <a:srgbClr val="333333"/>
                </a:solidFill>
                <a:latin typeface="Arial"/>
                <a:cs typeface="Arial"/>
              </a:rPr>
              <a:t>to</a:t>
            </a:r>
            <a:r>
              <a:rPr sz="1550" b="1" spc="55" dirty="0">
                <a:solidFill>
                  <a:srgbClr val="333333"/>
                </a:solidFill>
                <a:latin typeface="Arial"/>
                <a:cs typeface="Arial"/>
              </a:rPr>
              <a:t>r</a:t>
            </a:r>
            <a:r>
              <a:rPr sz="1550" b="1" spc="10" dirty="0">
                <a:solidFill>
                  <a:srgbClr val="333333"/>
                </a:solidFill>
                <a:latin typeface="Arial"/>
                <a:cs typeface="Arial"/>
              </a:rPr>
              <a:t>i</a:t>
            </a:r>
            <a:r>
              <a:rPr sz="1550" b="1" spc="40" dirty="0">
                <a:solidFill>
                  <a:srgbClr val="333333"/>
                </a:solidFill>
                <a:latin typeface="Arial"/>
                <a:cs typeface="Arial"/>
              </a:rPr>
              <a:t>e</a:t>
            </a:r>
            <a:r>
              <a:rPr sz="1550" b="1" spc="-25" dirty="0">
                <a:solidFill>
                  <a:srgbClr val="333333"/>
                </a:solidFill>
                <a:latin typeface="Arial"/>
                <a:cs typeface="Arial"/>
              </a:rPr>
              <a:t>s</a:t>
            </a:r>
            <a:endParaRPr sz="1550" dirty="0">
              <a:latin typeface="Arial"/>
              <a:cs typeface="Arial"/>
            </a:endParaRPr>
          </a:p>
          <a:p>
            <a:pPr marL="12700" marR="5080">
              <a:lnSpc>
                <a:spcPct val="111100"/>
              </a:lnSpc>
              <a:spcBef>
                <a:spcPts val="310"/>
              </a:spcBef>
            </a:pPr>
            <a:r>
              <a:rPr sz="900" spc="10" dirty="0">
                <a:solidFill>
                  <a:srgbClr val="333333"/>
                </a:solidFill>
                <a:latin typeface="Roboto Lt"/>
                <a:cs typeface="Roboto Lt"/>
              </a:rPr>
              <a:t>A </a:t>
            </a:r>
            <a:r>
              <a:rPr sz="900" spc="-10" dirty="0">
                <a:solidFill>
                  <a:srgbClr val="333333"/>
                </a:solidFill>
                <a:latin typeface="Roboto Lt"/>
                <a:cs typeface="Roboto Lt"/>
              </a:rPr>
              <a:t>user story describes </a:t>
            </a:r>
            <a:r>
              <a:rPr sz="900" spc="-5" dirty="0">
                <a:solidFill>
                  <a:srgbClr val="333333"/>
                </a:solidFill>
                <a:latin typeface="Roboto Lt"/>
                <a:cs typeface="Roboto Lt"/>
              </a:rPr>
              <a:t>a </a:t>
            </a:r>
            <a:r>
              <a:rPr sz="900" dirty="0">
                <a:solidFill>
                  <a:srgbClr val="333333"/>
                </a:solidFill>
                <a:latin typeface="Roboto Lt"/>
                <a:cs typeface="Roboto Lt"/>
              </a:rPr>
              <a:t> </a:t>
            </a:r>
            <a:r>
              <a:rPr sz="900" spc="-10" dirty="0">
                <a:solidFill>
                  <a:srgbClr val="333333"/>
                </a:solidFill>
                <a:latin typeface="Roboto Lt"/>
                <a:cs typeface="Roboto Lt"/>
              </a:rPr>
              <a:t>software </a:t>
            </a:r>
            <a:r>
              <a:rPr sz="900" spc="-15" dirty="0">
                <a:solidFill>
                  <a:srgbClr val="333333"/>
                </a:solidFill>
                <a:latin typeface="Roboto Lt"/>
                <a:cs typeface="Roboto Lt"/>
              </a:rPr>
              <a:t>feature </a:t>
            </a:r>
            <a:r>
              <a:rPr sz="900" spc="-5" dirty="0">
                <a:solidFill>
                  <a:srgbClr val="333333"/>
                </a:solidFill>
                <a:latin typeface="Roboto Lt"/>
                <a:cs typeface="Roboto Lt"/>
              </a:rPr>
              <a:t>from </a:t>
            </a:r>
            <a:r>
              <a:rPr sz="900" spc="-10" dirty="0">
                <a:solidFill>
                  <a:srgbClr val="333333"/>
                </a:solidFill>
                <a:latin typeface="Roboto Lt"/>
                <a:cs typeface="Roboto Lt"/>
              </a:rPr>
              <a:t>the </a:t>
            </a:r>
            <a:r>
              <a:rPr sz="900" spc="-204" dirty="0">
                <a:solidFill>
                  <a:srgbClr val="333333"/>
                </a:solidFill>
                <a:latin typeface="Roboto Lt"/>
                <a:cs typeface="Roboto Lt"/>
              </a:rPr>
              <a:t> </a:t>
            </a:r>
            <a:r>
              <a:rPr sz="900" spc="-15" dirty="0">
                <a:solidFill>
                  <a:srgbClr val="333333"/>
                </a:solidFill>
                <a:latin typeface="Roboto Lt"/>
                <a:cs typeface="Roboto Lt"/>
              </a:rPr>
              <a:t>customer’s </a:t>
            </a:r>
            <a:r>
              <a:rPr sz="900" spc="-10" dirty="0">
                <a:solidFill>
                  <a:srgbClr val="333333"/>
                </a:solidFill>
                <a:latin typeface="Roboto Lt"/>
                <a:cs typeface="Roboto Lt"/>
              </a:rPr>
              <a:t>perspective. It </a:t>
            </a:r>
            <a:r>
              <a:rPr sz="900" spc="-204" dirty="0">
                <a:solidFill>
                  <a:srgbClr val="333333"/>
                </a:solidFill>
                <a:latin typeface="Roboto Lt"/>
                <a:cs typeface="Roboto Lt"/>
              </a:rPr>
              <a:t> </a:t>
            </a:r>
            <a:r>
              <a:rPr sz="900" spc="-10" dirty="0">
                <a:solidFill>
                  <a:srgbClr val="333333"/>
                </a:solidFill>
                <a:latin typeface="Roboto Lt"/>
                <a:cs typeface="Roboto Lt"/>
              </a:rPr>
              <a:t>includes the </a:t>
            </a:r>
            <a:r>
              <a:rPr sz="900" spc="-5" dirty="0">
                <a:solidFill>
                  <a:srgbClr val="333333"/>
                </a:solidFill>
                <a:latin typeface="Roboto Lt"/>
                <a:cs typeface="Roboto Lt"/>
              </a:rPr>
              <a:t>type of </a:t>
            </a:r>
            <a:r>
              <a:rPr sz="900" spc="-20" dirty="0">
                <a:solidFill>
                  <a:srgbClr val="333333"/>
                </a:solidFill>
                <a:latin typeface="Roboto Lt"/>
                <a:cs typeface="Roboto Lt"/>
              </a:rPr>
              <a:t>user, </a:t>
            </a:r>
            <a:r>
              <a:rPr sz="900" spc="-15" dirty="0">
                <a:solidFill>
                  <a:srgbClr val="333333"/>
                </a:solidFill>
                <a:latin typeface="Roboto Lt"/>
                <a:cs typeface="Roboto Lt"/>
              </a:rPr>
              <a:t> what they </a:t>
            </a:r>
            <a:r>
              <a:rPr sz="900" spc="-10" dirty="0">
                <a:solidFill>
                  <a:srgbClr val="333333"/>
                </a:solidFill>
                <a:latin typeface="Roboto Lt"/>
                <a:cs typeface="Roboto Lt"/>
              </a:rPr>
              <a:t>want, and </a:t>
            </a:r>
            <a:r>
              <a:rPr sz="900" spc="-20" dirty="0">
                <a:solidFill>
                  <a:srgbClr val="333333"/>
                </a:solidFill>
                <a:latin typeface="Roboto Lt"/>
                <a:cs typeface="Roboto Lt"/>
              </a:rPr>
              <a:t>why </a:t>
            </a:r>
            <a:r>
              <a:rPr sz="900" spc="-15" dirty="0">
                <a:solidFill>
                  <a:srgbClr val="333333"/>
                </a:solidFill>
                <a:latin typeface="Roboto Lt"/>
                <a:cs typeface="Roboto Lt"/>
              </a:rPr>
              <a:t> they</a:t>
            </a:r>
            <a:r>
              <a:rPr sz="900" spc="-25" dirty="0">
                <a:solidFill>
                  <a:srgbClr val="333333"/>
                </a:solidFill>
                <a:latin typeface="Roboto Lt"/>
                <a:cs typeface="Roboto Lt"/>
              </a:rPr>
              <a:t> </a:t>
            </a:r>
            <a:r>
              <a:rPr sz="900" spc="-15" dirty="0">
                <a:solidFill>
                  <a:srgbClr val="333333"/>
                </a:solidFill>
                <a:latin typeface="Roboto Lt"/>
                <a:cs typeface="Roboto Lt"/>
              </a:rPr>
              <a:t>want</a:t>
            </a:r>
            <a:r>
              <a:rPr sz="900" spc="-20" dirty="0">
                <a:solidFill>
                  <a:srgbClr val="333333"/>
                </a:solidFill>
                <a:latin typeface="Roboto Lt"/>
                <a:cs typeface="Roboto Lt"/>
              </a:rPr>
              <a:t> </a:t>
            </a:r>
            <a:r>
              <a:rPr sz="900" spc="-5" dirty="0">
                <a:solidFill>
                  <a:srgbClr val="333333"/>
                </a:solidFill>
                <a:latin typeface="Roboto Lt"/>
                <a:cs typeface="Roboto Lt"/>
              </a:rPr>
              <a:t>it.</a:t>
            </a:r>
            <a:endParaRPr sz="900" dirty="0">
              <a:latin typeface="Roboto Lt"/>
              <a:cs typeface="Roboto Lt"/>
            </a:endParaRPr>
          </a:p>
        </p:txBody>
      </p:sp>
      <p:sp>
        <p:nvSpPr>
          <p:cNvPr id="12" name="object 12"/>
          <p:cNvSpPr txBox="1"/>
          <p:nvPr/>
        </p:nvSpPr>
        <p:spPr>
          <a:xfrm>
            <a:off x="3936531" y="2861381"/>
            <a:ext cx="1280160" cy="2171700"/>
          </a:xfrm>
          <a:prstGeom prst="rect">
            <a:avLst/>
          </a:prstGeom>
        </p:spPr>
        <p:txBody>
          <a:bodyPr vert="horz" wrap="square" lIns="0" tIns="59690" rIns="0" bIns="0" rtlCol="0">
            <a:spAutoFit/>
          </a:bodyPr>
          <a:lstStyle/>
          <a:p>
            <a:pPr marL="12700" marR="255904">
              <a:lnSpc>
                <a:spcPts val="1500"/>
              </a:lnSpc>
              <a:spcBef>
                <a:spcPts val="470"/>
              </a:spcBef>
            </a:pPr>
            <a:r>
              <a:rPr sz="1550" b="1" spc="-120" dirty="0">
                <a:solidFill>
                  <a:srgbClr val="333333"/>
                </a:solidFill>
                <a:latin typeface="Arial"/>
                <a:cs typeface="Arial"/>
              </a:rPr>
              <a:t>B</a:t>
            </a:r>
            <a:r>
              <a:rPr sz="1550" b="1" spc="60" dirty="0">
                <a:solidFill>
                  <a:srgbClr val="333333"/>
                </a:solidFill>
                <a:latin typeface="Arial"/>
                <a:cs typeface="Arial"/>
              </a:rPr>
              <a:t>ur</a:t>
            </a:r>
            <a:r>
              <a:rPr sz="1550" b="1" spc="40" dirty="0">
                <a:solidFill>
                  <a:srgbClr val="333333"/>
                </a:solidFill>
                <a:latin typeface="Arial"/>
                <a:cs typeface="Arial"/>
              </a:rPr>
              <a:t>n</a:t>
            </a:r>
            <a:r>
              <a:rPr sz="1550" b="1" spc="-5" dirty="0">
                <a:solidFill>
                  <a:srgbClr val="333333"/>
                </a:solidFill>
                <a:latin typeface="Arial"/>
                <a:cs typeface="Arial"/>
              </a:rPr>
              <a:t>d</a:t>
            </a:r>
            <a:r>
              <a:rPr sz="1550" b="1" spc="-35" dirty="0">
                <a:solidFill>
                  <a:srgbClr val="333333"/>
                </a:solidFill>
                <a:latin typeface="Arial"/>
                <a:cs typeface="Arial"/>
              </a:rPr>
              <a:t>o</a:t>
            </a:r>
            <a:r>
              <a:rPr sz="1550" b="1" spc="55" dirty="0">
                <a:solidFill>
                  <a:srgbClr val="333333"/>
                </a:solidFill>
                <a:latin typeface="Arial"/>
                <a:cs typeface="Arial"/>
              </a:rPr>
              <a:t>wn  </a:t>
            </a:r>
            <a:r>
              <a:rPr sz="1550" b="1" spc="65" dirty="0">
                <a:solidFill>
                  <a:srgbClr val="333333"/>
                </a:solidFill>
                <a:latin typeface="Arial"/>
                <a:cs typeface="Arial"/>
              </a:rPr>
              <a:t>chart</a:t>
            </a:r>
            <a:endParaRPr sz="1550" dirty="0">
              <a:latin typeface="Arial"/>
              <a:cs typeface="Arial"/>
            </a:endParaRPr>
          </a:p>
          <a:p>
            <a:pPr marL="12700" marR="5080">
              <a:lnSpc>
                <a:spcPct val="111100"/>
              </a:lnSpc>
              <a:spcBef>
                <a:spcPts val="325"/>
              </a:spcBef>
            </a:pPr>
            <a:r>
              <a:rPr sz="900" spc="10" dirty="0">
                <a:solidFill>
                  <a:srgbClr val="333333"/>
                </a:solidFill>
                <a:latin typeface="Roboto Lt"/>
                <a:cs typeface="Roboto Lt"/>
              </a:rPr>
              <a:t>A </a:t>
            </a:r>
            <a:r>
              <a:rPr sz="900" spc="-10" dirty="0">
                <a:solidFill>
                  <a:srgbClr val="333333"/>
                </a:solidFill>
                <a:latin typeface="Roboto Lt"/>
                <a:cs typeface="Roboto Lt"/>
              </a:rPr>
              <a:t>burndown </a:t>
            </a:r>
            <a:r>
              <a:rPr sz="900" spc="-5" dirty="0">
                <a:solidFill>
                  <a:srgbClr val="333333"/>
                </a:solidFill>
                <a:latin typeface="Roboto Lt"/>
                <a:cs typeface="Roboto Lt"/>
              </a:rPr>
              <a:t>chart </a:t>
            </a:r>
            <a:r>
              <a:rPr sz="900" dirty="0">
                <a:solidFill>
                  <a:srgbClr val="333333"/>
                </a:solidFill>
                <a:latin typeface="Roboto Lt"/>
                <a:cs typeface="Roboto Lt"/>
              </a:rPr>
              <a:t> </a:t>
            </a:r>
            <a:r>
              <a:rPr sz="900" spc="-10" dirty="0">
                <a:solidFill>
                  <a:srgbClr val="333333"/>
                </a:solidFill>
                <a:latin typeface="Roboto Lt"/>
                <a:cs typeface="Roboto Lt"/>
              </a:rPr>
              <a:t>represents</a:t>
            </a:r>
            <a:r>
              <a:rPr sz="900" spc="195" dirty="0">
                <a:solidFill>
                  <a:srgbClr val="333333"/>
                </a:solidFill>
                <a:latin typeface="Roboto Lt"/>
                <a:cs typeface="Roboto Lt"/>
              </a:rPr>
              <a:t> </a:t>
            </a:r>
            <a:r>
              <a:rPr sz="900" spc="-15" dirty="0">
                <a:solidFill>
                  <a:srgbClr val="333333"/>
                </a:solidFill>
                <a:latin typeface="Roboto Lt"/>
                <a:cs typeface="Roboto Lt"/>
              </a:rPr>
              <a:t>all </a:t>
            </a:r>
            <a:r>
              <a:rPr sz="900" spc="-10" dirty="0">
                <a:solidFill>
                  <a:srgbClr val="333333"/>
                </a:solidFill>
                <a:latin typeface="Roboto Lt"/>
                <a:cs typeface="Roboto Lt"/>
              </a:rPr>
              <a:t> outstanding </a:t>
            </a:r>
            <a:r>
              <a:rPr sz="900" spc="-5" dirty="0">
                <a:solidFill>
                  <a:srgbClr val="333333"/>
                </a:solidFill>
                <a:latin typeface="Roboto Lt"/>
                <a:cs typeface="Roboto Lt"/>
              </a:rPr>
              <a:t>work. The </a:t>
            </a:r>
            <a:r>
              <a:rPr sz="900" dirty="0">
                <a:solidFill>
                  <a:srgbClr val="333333"/>
                </a:solidFill>
                <a:latin typeface="Roboto Lt"/>
                <a:cs typeface="Roboto Lt"/>
              </a:rPr>
              <a:t> </a:t>
            </a:r>
            <a:r>
              <a:rPr sz="900" spc="-5" dirty="0">
                <a:solidFill>
                  <a:srgbClr val="333333"/>
                </a:solidFill>
                <a:latin typeface="Roboto Lt"/>
                <a:cs typeface="Roboto Lt"/>
              </a:rPr>
              <a:t>backlog </a:t>
            </a:r>
            <a:r>
              <a:rPr sz="900" spc="-15" dirty="0">
                <a:solidFill>
                  <a:srgbClr val="333333"/>
                </a:solidFill>
                <a:latin typeface="Roboto Lt"/>
                <a:cs typeface="Roboto Lt"/>
              </a:rPr>
              <a:t>is usually </a:t>
            </a:r>
            <a:r>
              <a:rPr sz="900" spc="-5" dirty="0">
                <a:solidFill>
                  <a:srgbClr val="333333"/>
                </a:solidFill>
                <a:latin typeface="Roboto Lt"/>
                <a:cs typeface="Roboto Lt"/>
              </a:rPr>
              <a:t>on </a:t>
            </a:r>
            <a:r>
              <a:rPr sz="900" spc="-10" dirty="0">
                <a:solidFill>
                  <a:srgbClr val="333333"/>
                </a:solidFill>
                <a:latin typeface="Roboto Lt"/>
                <a:cs typeface="Roboto Lt"/>
              </a:rPr>
              <a:t>the </a:t>
            </a:r>
            <a:r>
              <a:rPr sz="900" spc="-5" dirty="0">
                <a:solidFill>
                  <a:srgbClr val="333333"/>
                </a:solidFill>
                <a:latin typeface="Roboto Lt"/>
                <a:cs typeface="Roboto Lt"/>
              </a:rPr>
              <a:t> vertical </a:t>
            </a:r>
            <a:r>
              <a:rPr sz="900" spc="-10" dirty="0">
                <a:solidFill>
                  <a:srgbClr val="333333"/>
                </a:solidFill>
                <a:latin typeface="Roboto Lt"/>
                <a:cs typeface="Roboto Lt"/>
              </a:rPr>
              <a:t>axis, with time </a:t>
            </a:r>
            <a:r>
              <a:rPr sz="900" spc="-5" dirty="0">
                <a:solidFill>
                  <a:srgbClr val="333333"/>
                </a:solidFill>
                <a:latin typeface="Roboto Lt"/>
                <a:cs typeface="Roboto Lt"/>
              </a:rPr>
              <a:t> </a:t>
            </a:r>
            <a:r>
              <a:rPr sz="900" spc="-10" dirty="0">
                <a:solidFill>
                  <a:srgbClr val="333333"/>
                </a:solidFill>
                <a:latin typeface="Roboto Lt"/>
                <a:cs typeface="Roboto Lt"/>
              </a:rPr>
              <a:t>along the </a:t>
            </a:r>
            <a:r>
              <a:rPr sz="900" spc="-15" dirty="0">
                <a:solidFill>
                  <a:srgbClr val="333333"/>
                </a:solidFill>
                <a:latin typeface="Roboto Lt"/>
                <a:cs typeface="Roboto Lt"/>
              </a:rPr>
              <a:t>horizontal </a:t>
            </a:r>
            <a:r>
              <a:rPr sz="900" spc="-10" dirty="0">
                <a:solidFill>
                  <a:srgbClr val="333333"/>
                </a:solidFill>
                <a:latin typeface="Roboto Lt"/>
                <a:cs typeface="Roboto Lt"/>
              </a:rPr>
              <a:t>axis. </a:t>
            </a:r>
            <a:r>
              <a:rPr sz="900" spc="-5" dirty="0">
                <a:solidFill>
                  <a:srgbClr val="333333"/>
                </a:solidFill>
                <a:latin typeface="Roboto Lt"/>
                <a:cs typeface="Roboto Lt"/>
              </a:rPr>
              <a:t> </a:t>
            </a:r>
            <a:r>
              <a:rPr sz="900" spc="10" dirty="0">
                <a:solidFill>
                  <a:srgbClr val="333333"/>
                </a:solidFill>
                <a:latin typeface="Roboto Lt"/>
                <a:cs typeface="Roboto Lt"/>
              </a:rPr>
              <a:t>A </a:t>
            </a:r>
            <a:r>
              <a:rPr sz="900" spc="-10" dirty="0">
                <a:solidFill>
                  <a:srgbClr val="333333"/>
                </a:solidFill>
                <a:latin typeface="Roboto Lt"/>
                <a:cs typeface="Roboto Lt"/>
              </a:rPr>
              <a:t>burndown </a:t>
            </a:r>
            <a:r>
              <a:rPr sz="900" spc="-5" dirty="0">
                <a:solidFill>
                  <a:srgbClr val="333333"/>
                </a:solidFill>
                <a:latin typeface="Roboto Lt"/>
                <a:cs typeface="Roboto Lt"/>
              </a:rPr>
              <a:t>chart </a:t>
            </a:r>
            <a:r>
              <a:rPr sz="900" spc="-10" dirty="0">
                <a:solidFill>
                  <a:srgbClr val="333333"/>
                </a:solidFill>
                <a:latin typeface="Roboto Lt"/>
                <a:cs typeface="Roboto Lt"/>
              </a:rPr>
              <a:t>can </a:t>
            </a:r>
            <a:r>
              <a:rPr sz="900" spc="-5" dirty="0">
                <a:solidFill>
                  <a:srgbClr val="333333"/>
                </a:solidFill>
                <a:latin typeface="Roboto Lt"/>
                <a:cs typeface="Roboto Lt"/>
              </a:rPr>
              <a:t> </a:t>
            </a:r>
            <a:r>
              <a:rPr sz="900" spc="-15" dirty="0">
                <a:solidFill>
                  <a:srgbClr val="333333"/>
                </a:solidFill>
                <a:latin typeface="Roboto Lt"/>
                <a:cs typeface="Roboto Lt"/>
              </a:rPr>
              <a:t>warn</a:t>
            </a:r>
            <a:r>
              <a:rPr sz="900" spc="-5" dirty="0">
                <a:solidFill>
                  <a:srgbClr val="333333"/>
                </a:solidFill>
                <a:latin typeface="Roboto Lt"/>
                <a:cs typeface="Roboto Lt"/>
              </a:rPr>
              <a:t> </a:t>
            </a:r>
            <a:r>
              <a:rPr sz="900" spc="-10" dirty="0">
                <a:solidFill>
                  <a:srgbClr val="333333"/>
                </a:solidFill>
                <a:latin typeface="Roboto Lt"/>
                <a:cs typeface="Roboto Lt"/>
              </a:rPr>
              <a:t>the</a:t>
            </a:r>
            <a:r>
              <a:rPr sz="900" spc="-5" dirty="0">
                <a:solidFill>
                  <a:srgbClr val="333333"/>
                </a:solidFill>
                <a:latin typeface="Roboto Lt"/>
                <a:cs typeface="Roboto Lt"/>
              </a:rPr>
              <a:t> </a:t>
            </a:r>
            <a:r>
              <a:rPr sz="900" spc="-10" dirty="0">
                <a:solidFill>
                  <a:srgbClr val="333333"/>
                </a:solidFill>
                <a:latin typeface="Roboto Lt"/>
                <a:cs typeface="Roboto Lt"/>
              </a:rPr>
              <a:t>team</a:t>
            </a:r>
            <a:r>
              <a:rPr sz="900" spc="-5" dirty="0">
                <a:solidFill>
                  <a:srgbClr val="333333"/>
                </a:solidFill>
                <a:latin typeface="Roboto Lt"/>
                <a:cs typeface="Roboto Lt"/>
              </a:rPr>
              <a:t> of </a:t>
            </a:r>
            <a:r>
              <a:rPr sz="900" dirty="0">
                <a:solidFill>
                  <a:srgbClr val="333333"/>
                </a:solidFill>
                <a:latin typeface="Roboto Lt"/>
                <a:cs typeface="Roboto Lt"/>
              </a:rPr>
              <a:t> </a:t>
            </a:r>
            <a:r>
              <a:rPr sz="900" spc="-15" dirty="0">
                <a:solidFill>
                  <a:srgbClr val="333333"/>
                </a:solidFill>
                <a:latin typeface="Roboto Lt"/>
                <a:cs typeface="Roboto Lt"/>
              </a:rPr>
              <a:t>potential</a:t>
            </a:r>
            <a:r>
              <a:rPr sz="900" spc="-30" dirty="0">
                <a:solidFill>
                  <a:srgbClr val="333333"/>
                </a:solidFill>
                <a:latin typeface="Roboto Lt"/>
                <a:cs typeface="Roboto Lt"/>
              </a:rPr>
              <a:t> </a:t>
            </a:r>
            <a:r>
              <a:rPr sz="900" spc="-10" dirty="0">
                <a:solidFill>
                  <a:srgbClr val="333333"/>
                </a:solidFill>
                <a:latin typeface="Roboto Lt"/>
                <a:cs typeface="Roboto Lt"/>
              </a:rPr>
              <a:t>risk</a:t>
            </a:r>
            <a:r>
              <a:rPr sz="900" spc="-30" dirty="0">
                <a:solidFill>
                  <a:srgbClr val="333333"/>
                </a:solidFill>
                <a:latin typeface="Roboto Lt"/>
                <a:cs typeface="Roboto Lt"/>
              </a:rPr>
              <a:t> </a:t>
            </a:r>
            <a:r>
              <a:rPr sz="900" spc="-10" dirty="0">
                <a:solidFill>
                  <a:srgbClr val="333333"/>
                </a:solidFill>
                <a:latin typeface="Roboto Lt"/>
                <a:cs typeface="Roboto Lt"/>
              </a:rPr>
              <a:t>and</a:t>
            </a:r>
            <a:r>
              <a:rPr sz="900" spc="-30" dirty="0">
                <a:solidFill>
                  <a:srgbClr val="333333"/>
                </a:solidFill>
                <a:latin typeface="Roboto Lt"/>
                <a:cs typeface="Roboto Lt"/>
              </a:rPr>
              <a:t> </a:t>
            </a:r>
            <a:r>
              <a:rPr sz="900" spc="-10" dirty="0">
                <a:solidFill>
                  <a:srgbClr val="333333"/>
                </a:solidFill>
                <a:latin typeface="Roboto Lt"/>
                <a:cs typeface="Roboto Lt"/>
              </a:rPr>
              <a:t>helps</a:t>
            </a:r>
            <a:r>
              <a:rPr sz="900" spc="-25" dirty="0">
                <a:solidFill>
                  <a:srgbClr val="333333"/>
                </a:solidFill>
                <a:latin typeface="Roboto Lt"/>
                <a:cs typeface="Roboto Lt"/>
              </a:rPr>
              <a:t> </a:t>
            </a:r>
            <a:r>
              <a:rPr sz="900" spc="-15" dirty="0">
                <a:solidFill>
                  <a:srgbClr val="333333"/>
                </a:solidFill>
                <a:latin typeface="Roboto Lt"/>
                <a:cs typeface="Roboto Lt"/>
              </a:rPr>
              <a:t>to </a:t>
            </a:r>
            <a:r>
              <a:rPr sz="900" spc="-204" dirty="0">
                <a:solidFill>
                  <a:srgbClr val="333333"/>
                </a:solidFill>
                <a:latin typeface="Roboto Lt"/>
                <a:cs typeface="Roboto Lt"/>
              </a:rPr>
              <a:t> </a:t>
            </a:r>
            <a:r>
              <a:rPr sz="900" spc="-10" dirty="0">
                <a:solidFill>
                  <a:srgbClr val="333333"/>
                </a:solidFill>
                <a:latin typeface="Roboto Lt"/>
                <a:cs typeface="Roboto Lt"/>
              </a:rPr>
              <a:t>show the impact </a:t>
            </a:r>
            <a:r>
              <a:rPr sz="900" spc="-5" dirty="0">
                <a:solidFill>
                  <a:srgbClr val="333333"/>
                </a:solidFill>
                <a:latin typeface="Roboto Lt"/>
                <a:cs typeface="Roboto Lt"/>
              </a:rPr>
              <a:t>of </a:t>
            </a:r>
            <a:r>
              <a:rPr sz="900" dirty="0">
                <a:solidFill>
                  <a:srgbClr val="333333"/>
                </a:solidFill>
                <a:latin typeface="Roboto Lt"/>
                <a:cs typeface="Roboto Lt"/>
              </a:rPr>
              <a:t> </a:t>
            </a:r>
            <a:r>
              <a:rPr sz="900" spc="-10" dirty="0">
                <a:solidFill>
                  <a:srgbClr val="333333"/>
                </a:solidFill>
                <a:latin typeface="Roboto Lt"/>
                <a:cs typeface="Roboto Lt"/>
              </a:rPr>
              <a:t>decisions.</a:t>
            </a:r>
            <a:endParaRPr sz="900" dirty="0">
              <a:latin typeface="Roboto Lt"/>
              <a:cs typeface="Roboto Lt"/>
            </a:endParaRPr>
          </a:p>
        </p:txBody>
      </p:sp>
      <p:sp>
        <p:nvSpPr>
          <p:cNvPr id="13" name="object 13"/>
          <p:cNvSpPr txBox="1"/>
          <p:nvPr/>
        </p:nvSpPr>
        <p:spPr>
          <a:xfrm>
            <a:off x="5608987" y="2766423"/>
            <a:ext cx="1282700" cy="1771014"/>
          </a:xfrm>
          <a:prstGeom prst="rect">
            <a:avLst/>
          </a:prstGeom>
        </p:spPr>
        <p:txBody>
          <a:bodyPr vert="horz" wrap="square" lIns="0" tIns="110489" rIns="0" bIns="0" rtlCol="0">
            <a:spAutoFit/>
          </a:bodyPr>
          <a:lstStyle/>
          <a:p>
            <a:pPr marL="12700">
              <a:lnSpc>
                <a:spcPct val="100000"/>
              </a:lnSpc>
              <a:spcBef>
                <a:spcPts val="869"/>
              </a:spcBef>
            </a:pPr>
            <a:r>
              <a:rPr sz="1550" b="1" spc="20" dirty="0">
                <a:solidFill>
                  <a:srgbClr val="333333"/>
                </a:solidFill>
                <a:latin typeface="Arial"/>
                <a:cs typeface="Arial"/>
              </a:rPr>
              <a:t>Timeboxing</a:t>
            </a:r>
            <a:endParaRPr sz="1550">
              <a:latin typeface="Arial"/>
              <a:cs typeface="Arial"/>
            </a:endParaRPr>
          </a:p>
          <a:p>
            <a:pPr marL="12700" marR="5080">
              <a:lnSpc>
                <a:spcPct val="111100"/>
              </a:lnSpc>
              <a:spcBef>
                <a:spcPts val="310"/>
              </a:spcBef>
            </a:pPr>
            <a:r>
              <a:rPr sz="900" spc="10" dirty="0">
                <a:solidFill>
                  <a:srgbClr val="333333"/>
                </a:solidFill>
                <a:latin typeface="Roboto Lt"/>
                <a:cs typeface="Roboto Lt"/>
              </a:rPr>
              <a:t>A </a:t>
            </a:r>
            <a:r>
              <a:rPr sz="900" spc="-10" dirty="0">
                <a:solidFill>
                  <a:srgbClr val="333333"/>
                </a:solidFill>
                <a:latin typeface="Roboto Lt"/>
                <a:cs typeface="Roboto Lt"/>
              </a:rPr>
              <a:t>timebox </a:t>
            </a:r>
            <a:r>
              <a:rPr sz="900" spc="-15" dirty="0">
                <a:solidFill>
                  <a:srgbClr val="333333"/>
                </a:solidFill>
                <a:latin typeface="Roboto Lt"/>
                <a:cs typeface="Roboto Lt"/>
              </a:rPr>
              <a:t>is </a:t>
            </a:r>
            <a:r>
              <a:rPr sz="900" spc="-5" dirty="0">
                <a:solidFill>
                  <a:srgbClr val="333333"/>
                </a:solidFill>
                <a:latin typeface="Roboto Lt"/>
                <a:cs typeface="Roboto Lt"/>
              </a:rPr>
              <a:t>a </a:t>
            </a:r>
            <a:r>
              <a:rPr sz="900" spc="-10" dirty="0">
                <a:solidFill>
                  <a:srgbClr val="333333"/>
                </a:solidFill>
                <a:latin typeface="Roboto Lt"/>
                <a:cs typeface="Roboto Lt"/>
              </a:rPr>
              <a:t>set </a:t>
            </a:r>
            <a:r>
              <a:rPr sz="900" spc="-5" dirty="0">
                <a:solidFill>
                  <a:srgbClr val="333333"/>
                </a:solidFill>
                <a:latin typeface="Roboto Lt"/>
                <a:cs typeface="Roboto Lt"/>
              </a:rPr>
              <a:t>period </a:t>
            </a:r>
            <a:r>
              <a:rPr sz="900" dirty="0">
                <a:solidFill>
                  <a:srgbClr val="333333"/>
                </a:solidFill>
                <a:latin typeface="Roboto Lt"/>
                <a:cs typeface="Roboto Lt"/>
              </a:rPr>
              <a:t> </a:t>
            </a:r>
            <a:r>
              <a:rPr sz="900" spc="-5" dirty="0">
                <a:solidFill>
                  <a:srgbClr val="333333"/>
                </a:solidFill>
                <a:latin typeface="Roboto Lt"/>
                <a:cs typeface="Roboto Lt"/>
              </a:rPr>
              <a:t>of</a:t>
            </a:r>
            <a:r>
              <a:rPr sz="900" spc="-35" dirty="0">
                <a:solidFill>
                  <a:srgbClr val="333333"/>
                </a:solidFill>
                <a:latin typeface="Roboto Lt"/>
                <a:cs typeface="Roboto Lt"/>
              </a:rPr>
              <a:t> </a:t>
            </a:r>
            <a:r>
              <a:rPr sz="900" spc="-10" dirty="0">
                <a:solidFill>
                  <a:srgbClr val="333333"/>
                </a:solidFill>
                <a:latin typeface="Roboto Lt"/>
                <a:cs typeface="Roboto Lt"/>
              </a:rPr>
              <a:t>time</a:t>
            </a:r>
            <a:r>
              <a:rPr sz="900" spc="-30" dirty="0">
                <a:solidFill>
                  <a:srgbClr val="333333"/>
                </a:solidFill>
                <a:latin typeface="Roboto Lt"/>
                <a:cs typeface="Roboto Lt"/>
              </a:rPr>
              <a:t> </a:t>
            </a:r>
            <a:r>
              <a:rPr sz="900" spc="-15" dirty="0">
                <a:solidFill>
                  <a:srgbClr val="333333"/>
                </a:solidFill>
                <a:latin typeface="Roboto Lt"/>
                <a:cs typeface="Roboto Lt"/>
              </a:rPr>
              <a:t>that</a:t>
            </a:r>
            <a:r>
              <a:rPr sz="900" spc="-30" dirty="0">
                <a:solidFill>
                  <a:srgbClr val="333333"/>
                </a:solidFill>
                <a:latin typeface="Roboto Lt"/>
                <a:cs typeface="Roboto Lt"/>
              </a:rPr>
              <a:t> </a:t>
            </a:r>
            <a:r>
              <a:rPr sz="900" spc="-5" dirty="0">
                <a:solidFill>
                  <a:srgbClr val="333333"/>
                </a:solidFill>
                <a:latin typeface="Roboto Lt"/>
                <a:cs typeface="Roboto Lt"/>
              </a:rPr>
              <a:t>a</a:t>
            </a:r>
            <a:r>
              <a:rPr sz="900" spc="-30" dirty="0">
                <a:solidFill>
                  <a:srgbClr val="333333"/>
                </a:solidFill>
                <a:latin typeface="Roboto Lt"/>
                <a:cs typeface="Roboto Lt"/>
              </a:rPr>
              <a:t> </a:t>
            </a:r>
            <a:r>
              <a:rPr sz="900" spc="-10" dirty="0">
                <a:solidFill>
                  <a:srgbClr val="333333"/>
                </a:solidFill>
                <a:latin typeface="Roboto Lt"/>
                <a:cs typeface="Roboto Lt"/>
              </a:rPr>
              <a:t>team</a:t>
            </a:r>
            <a:r>
              <a:rPr sz="900" spc="-30" dirty="0">
                <a:solidFill>
                  <a:srgbClr val="333333"/>
                </a:solidFill>
                <a:latin typeface="Roboto Lt"/>
                <a:cs typeface="Roboto Lt"/>
              </a:rPr>
              <a:t> </a:t>
            </a:r>
            <a:r>
              <a:rPr sz="900" spc="-10" dirty="0">
                <a:solidFill>
                  <a:srgbClr val="333333"/>
                </a:solidFill>
                <a:latin typeface="Roboto Lt"/>
                <a:cs typeface="Roboto Lt"/>
              </a:rPr>
              <a:t>works </a:t>
            </a:r>
            <a:r>
              <a:rPr sz="900" spc="-204" dirty="0">
                <a:solidFill>
                  <a:srgbClr val="333333"/>
                </a:solidFill>
                <a:latin typeface="Roboto Lt"/>
                <a:cs typeface="Roboto Lt"/>
              </a:rPr>
              <a:t> </a:t>
            </a:r>
            <a:r>
              <a:rPr sz="900" spc="-15" dirty="0">
                <a:solidFill>
                  <a:srgbClr val="333333"/>
                </a:solidFill>
                <a:latin typeface="Roboto Lt"/>
                <a:cs typeface="Roboto Lt"/>
              </a:rPr>
              <a:t>towards </a:t>
            </a:r>
            <a:r>
              <a:rPr sz="900" spc="-10" dirty="0">
                <a:solidFill>
                  <a:srgbClr val="333333"/>
                </a:solidFill>
                <a:latin typeface="Roboto Lt"/>
                <a:cs typeface="Roboto Lt"/>
              </a:rPr>
              <a:t>completing </a:t>
            </a:r>
            <a:r>
              <a:rPr sz="900" spc="-5" dirty="0">
                <a:solidFill>
                  <a:srgbClr val="333333"/>
                </a:solidFill>
                <a:latin typeface="Roboto Lt"/>
                <a:cs typeface="Roboto Lt"/>
              </a:rPr>
              <a:t>a </a:t>
            </a:r>
            <a:r>
              <a:rPr sz="900" dirty="0">
                <a:solidFill>
                  <a:srgbClr val="333333"/>
                </a:solidFill>
                <a:latin typeface="Roboto Lt"/>
                <a:cs typeface="Roboto Lt"/>
              </a:rPr>
              <a:t> </a:t>
            </a:r>
            <a:r>
              <a:rPr sz="900" spc="-10" dirty="0">
                <a:solidFill>
                  <a:srgbClr val="333333"/>
                </a:solidFill>
                <a:latin typeface="Roboto Lt"/>
                <a:cs typeface="Roboto Lt"/>
              </a:rPr>
              <a:t>goal. </a:t>
            </a:r>
            <a:r>
              <a:rPr sz="900" spc="-15" dirty="0">
                <a:solidFill>
                  <a:srgbClr val="333333"/>
                </a:solidFill>
                <a:latin typeface="Roboto Lt"/>
                <a:cs typeface="Roboto Lt"/>
              </a:rPr>
              <a:t>Instead </a:t>
            </a:r>
            <a:r>
              <a:rPr sz="900" spc="-5" dirty="0">
                <a:solidFill>
                  <a:srgbClr val="333333"/>
                </a:solidFill>
                <a:latin typeface="Roboto Lt"/>
                <a:cs typeface="Roboto Lt"/>
              </a:rPr>
              <a:t>of </a:t>
            </a:r>
            <a:r>
              <a:rPr sz="900" spc="-10" dirty="0">
                <a:solidFill>
                  <a:srgbClr val="333333"/>
                </a:solidFill>
                <a:latin typeface="Roboto Lt"/>
                <a:cs typeface="Roboto Lt"/>
              </a:rPr>
              <a:t>letting </a:t>
            </a:r>
            <a:r>
              <a:rPr sz="900" spc="-5" dirty="0">
                <a:solidFill>
                  <a:srgbClr val="333333"/>
                </a:solidFill>
                <a:latin typeface="Roboto Lt"/>
                <a:cs typeface="Roboto Lt"/>
              </a:rPr>
              <a:t>a </a:t>
            </a:r>
            <a:r>
              <a:rPr sz="900" dirty="0">
                <a:solidFill>
                  <a:srgbClr val="333333"/>
                </a:solidFill>
                <a:latin typeface="Roboto Lt"/>
                <a:cs typeface="Roboto Lt"/>
              </a:rPr>
              <a:t> </a:t>
            </a:r>
            <a:r>
              <a:rPr sz="900" spc="-10" dirty="0">
                <a:solidFill>
                  <a:srgbClr val="333333"/>
                </a:solidFill>
                <a:latin typeface="Roboto Lt"/>
                <a:cs typeface="Roboto Lt"/>
              </a:rPr>
              <a:t>team</a:t>
            </a:r>
            <a:r>
              <a:rPr sz="900" dirty="0">
                <a:solidFill>
                  <a:srgbClr val="333333"/>
                </a:solidFill>
                <a:latin typeface="Roboto Lt"/>
                <a:cs typeface="Roboto Lt"/>
              </a:rPr>
              <a:t> </a:t>
            </a:r>
            <a:r>
              <a:rPr sz="900" spc="-10" dirty="0">
                <a:solidFill>
                  <a:srgbClr val="333333"/>
                </a:solidFill>
                <a:latin typeface="Roboto Lt"/>
                <a:cs typeface="Roboto Lt"/>
              </a:rPr>
              <a:t>work</a:t>
            </a:r>
            <a:r>
              <a:rPr sz="900" spc="5" dirty="0">
                <a:solidFill>
                  <a:srgbClr val="333333"/>
                </a:solidFill>
                <a:latin typeface="Roboto Lt"/>
                <a:cs typeface="Roboto Lt"/>
              </a:rPr>
              <a:t> </a:t>
            </a:r>
            <a:r>
              <a:rPr sz="900" spc="-15" dirty="0">
                <a:solidFill>
                  <a:srgbClr val="333333"/>
                </a:solidFill>
                <a:latin typeface="Roboto Lt"/>
                <a:cs typeface="Roboto Lt"/>
              </a:rPr>
              <a:t>until</a:t>
            </a:r>
            <a:r>
              <a:rPr sz="900" spc="5" dirty="0">
                <a:solidFill>
                  <a:srgbClr val="333333"/>
                </a:solidFill>
                <a:latin typeface="Roboto Lt"/>
                <a:cs typeface="Roboto Lt"/>
              </a:rPr>
              <a:t> </a:t>
            </a:r>
            <a:r>
              <a:rPr sz="900" spc="-10" dirty="0">
                <a:solidFill>
                  <a:srgbClr val="333333"/>
                </a:solidFill>
                <a:latin typeface="Roboto Lt"/>
                <a:cs typeface="Roboto Lt"/>
              </a:rPr>
              <a:t>the</a:t>
            </a:r>
            <a:r>
              <a:rPr sz="900" dirty="0">
                <a:solidFill>
                  <a:srgbClr val="333333"/>
                </a:solidFill>
                <a:latin typeface="Roboto Lt"/>
                <a:cs typeface="Roboto Lt"/>
              </a:rPr>
              <a:t> </a:t>
            </a:r>
            <a:r>
              <a:rPr sz="900" spc="-10" dirty="0">
                <a:solidFill>
                  <a:srgbClr val="333333"/>
                </a:solidFill>
                <a:latin typeface="Roboto Lt"/>
                <a:cs typeface="Roboto Lt"/>
              </a:rPr>
              <a:t>goal </a:t>
            </a:r>
            <a:r>
              <a:rPr sz="900" spc="-5" dirty="0">
                <a:solidFill>
                  <a:srgbClr val="333333"/>
                </a:solidFill>
                <a:latin typeface="Roboto Lt"/>
                <a:cs typeface="Roboto Lt"/>
              </a:rPr>
              <a:t> </a:t>
            </a:r>
            <a:r>
              <a:rPr sz="900" spc="-15" dirty="0">
                <a:solidFill>
                  <a:srgbClr val="333333"/>
                </a:solidFill>
                <a:latin typeface="Roboto Lt"/>
                <a:cs typeface="Roboto Lt"/>
              </a:rPr>
              <a:t>is </a:t>
            </a:r>
            <a:r>
              <a:rPr sz="900" spc="-5" dirty="0">
                <a:solidFill>
                  <a:srgbClr val="333333"/>
                </a:solidFill>
                <a:latin typeface="Roboto Lt"/>
                <a:cs typeface="Roboto Lt"/>
              </a:rPr>
              <a:t>reached, </a:t>
            </a:r>
            <a:r>
              <a:rPr sz="900" spc="-10" dirty="0">
                <a:solidFill>
                  <a:srgbClr val="333333"/>
                </a:solidFill>
                <a:latin typeface="Roboto Lt"/>
                <a:cs typeface="Roboto Lt"/>
              </a:rPr>
              <a:t>the timebox </a:t>
            </a:r>
            <a:r>
              <a:rPr sz="900" spc="-5" dirty="0">
                <a:solidFill>
                  <a:srgbClr val="333333"/>
                </a:solidFill>
                <a:latin typeface="Roboto Lt"/>
                <a:cs typeface="Roboto Lt"/>
              </a:rPr>
              <a:t> </a:t>
            </a:r>
            <a:r>
              <a:rPr sz="900" spc="-10" dirty="0">
                <a:solidFill>
                  <a:srgbClr val="333333"/>
                </a:solidFill>
                <a:latin typeface="Roboto Lt"/>
                <a:cs typeface="Roboto Lt"/>
              </a:rPr>
              <a:t>approach stops work </a:t>
            </a:r>
            <a:r>
              <a:rPr sz="900" spc="-5" dirty="0">
                <a:solidFill>
                  <a:srgbClr val="333333"/>
                </a:solidFill>
                <a:latin typeface="Roboto Lt"/>
                <a:cs typeface="Roboto Lt"/>
              </a:rPr>
              <a:t> </a:t>
            </a:r>
            <a:r>
              <a:rPr sz="900" spc="-10" dirty="0">
                <a:solidFill>
                  <a:srgbClr val="333333"/>
                </a:solidFill>
                <a:latin typeface="Roboto Lt"/>
                <a:cs typeface="Roboto Lt"/>
              </a:rPr>
              <a:t>when the time limit </a:t>
            </a:r>
            <a:r>
              <a:rPr sz="900" spc="-15" dirty="0">
                <a:solidFill>
                  <a:srgbClr val="333333"/>
                </a:solidFill>
                <a:latin typeface="Roboto Lt"/>
                <a:cs typeface="Roboto Lt"/>
              </a:rPr>
              <a:t>is </a:t>
            </a:r>
            <a:r>
              <a:rPr sz="900" spc="-10" dirty="0">
                <a:solidFill>
                  <a:srgbClr val="333333"/>
                </a:solidFill>
                <a:latin typeface="Roboto Lt"/>
                <a:cs typeface="Roboto Lt"/>
              </a:rPr>
              <a:t> </a:t>
            </a:r>
            <a:r>
              <a:rPr sz="900" spc="-5" dirty="0">
                <a:solidFill>
                  <a:srgbClr val="333333"/>
                </a:solidFill>
                <a:latin typeface="Roboto Lt"/>
                <a:cs typeface="Roboto Lt"/>
              </a:rPr>
              <a:t>reached.</a:t>
            </a:r>
            <a:endParaRPr sz="900">
              <a:latin typeface="Roboto Lt"/>
              <a:cs typeface="Roboto Lt"/>
            </a:endParaRPr>
          </a:p>
        </p:txBody>
      </p:sp>
      <p:sp>
        <p:nvSpPr>
          <p:cNvPr id="14" name="object 14"/>
          <p:cNvSpPr txBox="1"/>
          <p:nvPr/>
        </p:nvSpPr>
        <p:spPr>
          <a:xfrm>
            <a:off x="7251189" y="2766423"/>
            <a:ext cx="1217295" cy="1009015"/>
          </a:xfrm>
          <a:prstGeom prst="rect">
            <a:avLst/>
          </a:prstGeom>
        </p:spPr>
        <p:txBody>
          <a:bodyPr vert="horz" wrap="square" lIns="0" tIns="110489" rIns="0" bIns="0" rtlCol="0">
            <a:spAutoFit/>
          </a:bodyPr>
          <a:lstStyle/>
          <a:p>
            <a:pPr marL="12700">
              <a:lnSpc>
                <a:spcPct val="100000"/>
              </a:lnSpc>
              <a:spcBef>
                <a:spcPts val="869"/>
              </a:spcBef>
            </a:pPr>
            <a:r>
              <a:rPr sz="1550" b="1" dirty="0">
                <a:solidFill>
                  <a:srgbClr val="333333"/>
                </a:solidFill>
                <a:latin typeface="Arial"/>
                <a:cs typeface="Arial"/>
              </a:rPr>
              <a:t>Icebox</a:t>
            </a:r>
            <a:endParaRPr sz="1550">
              <a:latin typeface="Arial"/>
              <a:cs typeface="Arial"/>
            </a:endParaRPr>
          </a:p>
          <a:p>
            <a:pPr marL="12700" marR="5080">
              <a:lnSpc>
                <a:spcPct val="111100"/>
              </a:lnSpc>
              <a:spcBef>
                <a:spcPts val="310"/>
              </a:spcBef>
            </a:pPr>
            <a:r>
              <a:rPr sz="900" spc="-10" dirty="0">
                <a:solidFill>
                  <a:srgbClr val="333333"/>
                </a:solidFill>
                <a:latin typeface="Roboto Lt"/>
                <a:cs typeface="Roboto Lt"/>
              </a:rPr>
              <a:t>Any</a:t>
            </a:r>
            <a:r>
              <a:rPr sz="900" spc="-35" dirty="0">
                <a:solidFill>
                  <a:srgbClr val="333333"/>
                </a:solidFill>
                <a:latin typeface="Roboto Lt"/>
                <a:cs typeface="Roboto Lt"/>
              </a:rPr>
              <a:t> </a:t>
            </a:r>
            <a:r>
              <a:rPr sz="900" spc="-10" dirty="0">
                <a:solidFill>
                  <a:srgbClr val="333333"/>
                </a:solidFill>
                <a:latin typeface="Roboto Lt"/>
                <a:cs typeface="Roboto Lt"/>
              </a:rPr>
              <a:t>user</a:t>
            </a:r>
            <a:r>
              <a:rPr sz="900" spc="-30" dirty="0">
                <a:solidFill>
                  <a:srgbClr val="333333"/>
                </a:solidFill>
                <a:latin typeface="Roboto Lt"/>
                <a:cs typeface="Roboto Lt"/>
              </a:rPr>
              <a:t> </a:t>
            </a:r>
            <a:r>
              <a:rPr sz="900" spc="-10" dirty="0">
                <a:solidFill>
                  <a:srgbClr val="333333"/>
                </a:solidFill>
                <a:latin typeface="Roboto Lt"/>
                <a:cs typeface="Roboto Lt"/>
              </a:rPr>
              <a:t>stories</a:t>
            </a:r>
            <a:r>
              <a:rPr sz="900" spc="-35" dirty="0">
                <a:solidFill>
                  <a:srgbClr val="333333"/>
                </a:solidFill>
                <a:latin typeface="Roboto Lt"/>
                <a:cs typeface="Roboto Lt"/>
              </a:rPr>
              <a:t> </a:t>
            </a:r>
            <a:r>
              <a:rPr sz="900" spc="-15" dirty="0">
                <a:solidFill>
                  <a:srgbClr val="333333"/>
                </a:solidFill>
                <a:latin typeface="Roboto Lt"/>
                <a:cs typeface="Roboto Lt"/>
              </a:rPr>
              <a:t>that</a:t>
            </a:r>
            <a:r>
              <a:rPr sz="900" spc="-30" dirty="0">
                <a:solidFill>
                  <a:srgbClr val="333333"/>
                </a:solidFill>
                <a:latin typeface="Roboto Lt"/>
                <a:cs typeface="Roboto Lt"/>
              </a:rPr>
              <a:t> </a:t>
            </a:r>
            <a:r>
              <a:rPr sz="900" spc="-10" dirty="0">
                <a:solidFill>
                  <a:srgbClr val="333333"/>
                </a:solidFill>
                <a:latin typeface="Roboto Lt"/>
                <a:cs typeface="Roboto Lt"/>
              </a:rPr>
              <a:t>are </a:t>
            </a:r>
            <a:r>
              <a:rPr sz="900" spc="-204" dirty="0">
                <a:solidFill>
                  <a:srgbClr val="333333"/>
                </a:solidFill>
                <a:latin typeface="Roboto Lt"/>
                <a:cs typeface="Roboto Lt"/>
              </a:rPr>
              <a:t> </a:t>
            </a:r>
            <a:r>
              <a:rPr sz="900" spc="-5" dirty="0">
                <a:solidFill>
                  <a:srgbClr val="333333"/>
                </a:solidFill>
                <a:latin typeface="Roboto Lt"/>
                <a:cs typeface="Roboto Lt"/>
              </a:rPr>
              <a:t>recorded</a:t>
            </a:r>
            <a:r>
              <a:rPr sz="900" spc="-45" dirty="0">
                <a:solidFill>
                  <a:srgbClr val="333333"/>
                </a:solidFill>
                <a:latin typeface="Roboto Lt"/>
                <a:cs typeface="Roboto Lt"/>
              </a:rPr>
              <a:t> </a:t>
            </a:r>
            <a:r>
              <a:rPr sz="900" spc="-5" dirty="0">
                <a:solidFill>
                  <a:srgbClr val="333333"/>
                </a:solidFill>
                <a:latin typeface="Roboto Lt"/>
                <a:cs typeface="Roboto Lt"/>
              </a:rPr>
              <a:t>but</a:t>
            </a:r>
            <a:r>
              <a:rPr sz="900" spc="-40" dirty="0">
                <a:solidFill>
                  <a:srgbClr val="333333"/>
                </a:solidFill>
                <a:latin typeface="Roboto Lt"/>
                <a:cs typeface="Roboto Lt"/>
              </a:rPr>
              <a:t> </a:t>
            </a:r>
            <a:r>
              <a:rPr sz="900" spc="-10" dirty="0">
                <a:solidFill>
                  <a:srgbClr val="333333"/>
                </a:solidFill>
                <a:latin typeface="Roboto Lt"/>
                <a:cs typeface="Roboto Lt"/>
              </a:rPr>
              <a:t>not</a:t>
            </a:r>
            <a:r>
              <a:rPr sz="900" spc="-45" dirty="0">
                <a:solidFill>
                  <a:srgbClr val="333333"/>
                </a:solidFill>
                <a:latin typeface="Roboto Lt"/>
                <a:cs typeface="Roboto Lt"/>
              </a:rPr>
              <a:t> </a:t>
            </a:r>
            <a:r>
              <a:rPr sz="900" spc="-10" dirty="0">
                <a:solidFill>
                  <a:srgbClr val="333333"/>
                </a:solidFill>
                <a:latin typeface="Roboto Lt"/>
                <a:cs typeface="Roboto Lt"/>
              </a:rPr>
              <a:t>moved </a:t>
            </a:r>
            <a:r>
              <a:rPr sz="900" spc="-204" dirty="0">
                <a:solidFill>
                  <a:srgbClr val="333333"/>
                </a:solidFill>
                <a:latin typeface="Roboto Lt"/>
                <a:cs typeface="Roboto Lt"/>
              </a:rPr>
              <a:t> </a:t>
            </a:r>
            <a:r>
              <a:rPr sz="900" spc="-15" dirty="0">
                <a:solidFill>
                  <a:srgbClr val="333333"/>
                </a:solidFill>
                <a:latin typeface="Roboto Lt"/>
                <a:cs typeface="Roboto Lt"/>
              </a:rPr>
              <a:t>to </a:t>
            </a:r>
            <a:r>
              <a:rPr sz="900" spc="-10" dirty="0">
                <a:solidFill>
                  <a:srgbClr val="333333"/>
                </a:solidFill>
                <a:latin typeface="Roboto Lt"/>
                <a:cs typeface="Roboto Lt"/>
              </a:rPr>
              <a:t>development are </a:t>
            </a:r>
            <a:r>
              <a:rPr sz="900" spc="-5" dirty="0">
                <a:solidFill>
                  <a:srgbClr val="333333"/>
                </a:solidFill>
                <a:latin typeface="Roboto Lt"/>
                <a:cs typeface="Roboto Lt"/>
              </a:rPr>
              <a:t> </a:t>
            </a:r>
            <a:r>
              <a:rPr sz="900" spc="-10" dirty="0">
                <a:solidFill>
                  <a:srgbClr val="333333"/>
                </a:solidFill>
                <a:latin typeface="Roboto Lt"/>
                <a:cs typeface="Roboto Lt"/>
              </a:rPr>
              <a:t>stored</a:t>
            </a:r>
            <a:r>
              <a:rPr sz="900" spc="-30" dirty="0">
                <a:solidFill>
                  <a:srgbClr val="333333"/>
                </a:solidFill>
                <a:latin typeface="Roboto Lt"/>
                <a:cs typeface="Roboto Lt"/>
              </a:rPr>
              <a:t> </a:t>
            </a:r>
            <a:r>
              <a:rPr sz="900" spc="-10" dirty="0">
                <a:solidFill>
                  <a:srgbClr val="333333"/>
                </a:solidFill>
                <a:latin typeface="Roboto Lt"/>
                <a:cs typeface="Roboto Lt"/>
              </a:rPr>
              <a:t>in</a:t>
            </a:r>
            <a:r>
              <a:rPr sz="900" spc="-25" dirty="0">
                <a:solidFill>
                  <a:srgbClr val="333333"/>
                </a:solidFill>
                <a:latin typeface="Roboto Lt"/>
                <a:cs typeface="Roboto Lt"/>
              </a:rPr>
              <a:t> </a:t>
            </a:r>
            <a:r>
              <a:rPr sz="900" spc="-10" dirty="0">
                <a:solidFill>
                  <a:srgbClr val="333333"/>
                </a:solidFill>
                <a:latin typeface="Roboto Lt"/>
                <a:cs typeface="Roboto Lt"/>
              </a:rPr>
              <a:t>the</a:t>
            </a:r>
            <a:r>
              <a:rPr sz="900" spc="-30" dirty="0">
                <a:solidFill>
                  <a:srgbClr val="333333"/>
                </a:solidFill>
                <a:latin typeface="Roboto Lt"/>
                <a:cs typeface="Roboto Lt"/>
              </a:rPr>
              <a:t> </a:t>
            </a:r>
            <a:r>
              <a:rPr sz="900" spc="-5" dirty="0">
                <a:solidFill>
                  <a:srgbClr val="333333"/>
                </a:solidFill>
                <a:latin typeface="Roboto Lt"/>
                <a:cs typeface="Roboto Lt"/>
              </a:rPr>
              <a:t>icebox.</a:t>
            </a:r>
            <a:endParaRPr sz="900">
              <a:latin typeface="Roboto Lt"/>
              <a:cs typeface="Roboto Lt"/>
            </a:endParaRPr>
          </a:p>
        </p:txBody>
      </p:sp>
      <p:grpSp>
        <p:nvGrpSpPr>
          <p:cNvPr id="15" name="object 15"/>
          <p:cNvGrpSpPr/>
          <p:nvPr/>
        </p:nvGrpSpPr>
        <p:grpSpPr>
          <a:xfrm>
            <a:off x="624240" y="2139695"/>
            <a:ext cx="7282815" cy="642620"/>
            <a:chOff x="624240" y="2139695"/>
            <a:chExt cx="7282815" cy="642620"/>
          </a:xfrm>
        </p:grpSpPr>
        <p:pic>
          <p:nvPicPr>
            <p:cNvPr id="16" name="object 16"/>
            <p:cNvPicPr/>
            <p:nvPr/>
          </p:nvPicPr>
          <p:blipFill>
            <a:blip r:embed="rId2" cstate="print"/>
            <a:stretch>
              <a:fillRect/>
            </a:stretch>
          </p:blipFill>
          <p:spPr>
            <a:xfrm>
              <a:off x="624240" y="2225497"/>
              <a:ext cx="642023" cy="470446"/>
            </a:xfrm>
            <a:prstGeom prst="rect">
              <a:avLst/>
            </a:prstGeom>
          </p:spPr>
        </p:pic>
        <p:pic>
          <p:nvPicPr>
            <p:cNvPr id="17" name="object 17"/>
            <p:cNvPicPr/>
            <p:nvPr/>
          </p:nvPicPr>
          <p:blipFill>
            <a:blip r:embed="rId3" cstate="print"/>
            <a:stretch>
              <a:fillRect/>
            </a:stretch>
          </p:blipFill>
          <p:spPr>
            <a:xfrm>
              <a:off x="2480410" y="2350357"/>
              <a:ext cx="220700" cy="220699"/>
            </a:xfrm>
            <a:prstGeom prst="rect">
              <a:avLst/>
            </a:prstGeom>
          </p:spPr>
        </p:pic>
        <p:sp>
          <p:nvSpPr>
            <p:cNvPr id="18" name="object 18"/>
            <p:cNvSpPr/>
            <p:nvPr/>
          </p:nvSpPr>
          <p:spPr>
            <a:xfrm>
              <a:off x="2276780" y="2139695"/>
              <a:ext cx="635000" cy="642620"/>
            </a:xfrm>
            <a:custGeom>
              <a:avLst/>
              <a:gdLst/>
              <a:ahLst/>
              <a:cxnLst/>
              <a:rect l="l" t="t" r="r" b="b"/>
              <a:pathLst>
                <a:path w="635000" h="642619">
                  <a:moveTo>
                    <a:pt x="103301" y="318363"/>
                  </a:moveTo>
                  <a:lnTo>
                    <a:pt x="102247" y="315810"/>
                  </a:lnTo>
                  <a:lnTo>
                    <a:pt x="60236" y="273799"/>
                  </a:lnTo>
                  <a:lnTo>
                    <a:pt x="46050" y="287985"/>
                  </a:lnTo>
                  <a:lnTo>
                    <a:pt x="69062" y="310997"/>
                  </a:lnTo>
                  <a:lnTo>
                    <a:pt x="0" y="310997"/>
                  </a:lnTo>
                  <a:lnTo>
                    <a:pt x="0" y="331050"/>
                  </a:lnTo>
                  <a:lnTo>
                    <a:pt x="69049" y="331050"/>
                  </a:lnTo>
                  <a:lnTo>
                    <a:pt x="46050" y="354050"/>
                  </a:lnTo>
                  <a:lnTo>
                    <a:pt x="60236" y="368236"/>
                  </a:lnTo>
                  <a:lnTo>
                    <a:pt x="102247" y="326237"/>
                  </a:lnTo>
                  <a:lnTo>
                    <a:pt x="103301" y="323684"/>
                  </a:lnTo>
                  <a:lnTo>
                    <a:pt x="103301" y="318363"/>
                  </a:lnTo>
                  <a:close/>
                </a:path>
                <a:path w="635000" h="642619">
                  <a:moveTo>
                    <a:pt x="361188" y="574751"/>
                  </a:moveTo>
                  <a:lnTo>
                    <a:pt x="317144" y="530707"/>
                  </a:lnTo>
                  <a:lnTo>
                    <a:pt x="310794" y="530707"/>
                  </a:lnTo>
                  <a:lnTo>
                    <a:pt x="266750" y="574751"/>
                  </a:lnTo>
                  <a:lnTo>
                    <a:pt x="280936" y="588937"/>
                  </a:lnTo>
                  <a:lnTo>
                    <a:pt x="303936" y="565937"/>
                  </a:lnTo>
                  <a:lnTo>
                    <a:pt x="303936" y="642023"/>
                  </a:lnTo>
                  <a:lnTo>
                    <a:pt x="324002" y="642023"/>
                  </a:lnTo>
                  <a:lnTo>
                    <a:pt x="324002" y="565937"/>
                  </a:lnTo>
                  <a:lnTo>
                    <a:pt x="347002" y="588937"/>
                  </a:lnTo>
                  <a:lnTo>
                    <a:pt x="361188" y="574751"/>
                  </a:lnTo>
                  <a:close/>
                </a:path>
                <a:path w="635000" h="642619">
                  <a:moveTo>
                    <a:pt x="361188" y="67284"/>
                  </a:moveTo>
                  <a:lnTo>
                    <a:pt x="347002" y="53098"/>
                  </a:lnTo>
                  <a:lnTo>
                    <a:pt x="324002" y="76098"/>
                  </a:lnTo>
                  <a:lnTo>
                    <a:pt x="324002" y="0"/>
                  </a:lnTo>
                  <a:lnTo>
                    <a:pt x="303936" y="0"/>
                  </a:lnTo>
                  <a:lnTo>
                    <a:pt x="303936" y="76098"/>
                  </a:lnTo>
                  <a:lnTo>
                    <a:pt x="280936" y="53098"/>
                  </a:lnTo>
                  <a:lnTo>
                    <a:pt x="266750" y="67284"/>
                  </a:lnTo>
                  <a:lnTo>
                    <a:pt x="308838" y="109372"/>
                  </a:lnTo>
                  <a:lnTo>
                    <a:pt x="311404" y="110350"/>
                  </a:lnTo>
                  <a:lnTo>
                    <a:pt x="313969" y="110350"/>
                  </a:lnTo>
                  <a:lnTo>
                    <a:pt x="316534" y="110350"/>
                  </a:lnTo>
                  <a:lnTo>
                    <a:pt x="319100" y="109372"/>
                  </a:lnTo>
                  <a:lnTo>
                    <a:pt x="361188" y="67284"/>
                  </a:lnTo>
                  <a:close/>
                </a:path>
                <a:path w="635000" h="642619">
                  <a:moveTo>
                    <a:pt x="634987" y="310997"/>
                  </a:moveTo>
                  <a:lnTo>
                    <a:pt x="558876" y="310997"/>
                  </a:lnTo>
                  <a:lnTo>
                    <a:pt x="581888" y="287985"/>
                  </a:lnTo>
                  <a:lnTo>
                    <a:pt x="567702" y="273799"/>
                  </a:lnTo>
                  <a:lnTo>
                    <a:pt x="525691" y="315810"/>
                  </a:lnTo>
                  <a:lnTo>
                    <a:pt x="524637" y="318363"/>
                  </a:lnTo>
                  <a:lnTo>
                    <a:pt x="524637" y="323684"/>
                  </a:lnTo>
                  <a:lnTo>
                    <a:pt x="525691" y="326237"/>
                  </a:lnTo>
                  <a:lnTo>
                    <a:pt x="567702" y="368236"/>
                  </a:lnTo>
                  <a:lnTo>
                    <a:pt x="581888" y="354050"/>
                  </a:lnTo>
                  <a:lnTo>
                    <a:pt x="558888" y="331050"/>
                  </a:lnTo>
                  <a:lnTo>
                    <a:pt x="634987" y="331050"/>
                  </a:lnTo>
                  <a:lnTo>
                    <a:pt x="634987" y="310997"/>
                  </a:lnTo>
                  <a:close/>
                </a:path>
              </a:pathLst>
            </a:custGeom>
            <a:solidFill>
              <a:srgbClr val="0072EB"/>
            </a:solidFill>
          </p:spPr>
          <p:txBody>
            <a:bodyPr wrap="square" lIns="0" tIns="0" rIns="0" bIns="0" rtlCol="0"/>
            <a:lstStyle/>
            <a:p>
              <a:endParaRPr/>
            </a:p>
          </p:txBody>
        </p:sp>
        <p:pic>
          <p:nvPicPr>
            <p:cNvPr id="19" name="object 19"/>
            <p:cNvPicPr/>
            <p:nvPr/>
          </p:nvPicPr>
          <p:blipFill>
            <a:blip r:embed="rId4" cstate="print"/>
            <a:stretch>
              <a:fillRect/>
            </a:stretch>
          </p:blipFill>
          <p:spPr>
            <a:xfrm>
              <a:off x="2352932" y="2611188"/>
              <a:ext cx="87348" cy="87341"/>
            </a:xfrm>
            <a:prstGeom prst="rect">
              <a:avLst/>
            </a:prstGeom>
          </p:spPr>
        </p:pic>
        <p:pic>
          <p:nvPicPr>
            <p:cNvPr id="20" name="object 20"/>
            <p:cNvPicPr/>
            <p:nvPr/>
          </p:nvPicPr>
          <p:blipFill>
            <a:blip r:embed="rId5" cstate="print"/>
            <a:stretch>
              <a:fillRect/>
            </a:stretch>
          </p:blipFill>
          <p:spPr>
            <a:xfrm>
              <a:off x="2741239" y="2222891"/>
              <a:ext cx="87336" cy="87339"/>
            </a:xfrm>
            <a:prstGeom prst="rect">
              <a:avLst/>
            </a:prstGeom>
          </p:spPr>
        </p:pic>
        <p:pic>
          <p:nvPicPr>
            <p:cNvPr id="21" name="object 21"/>
            <p:cNvPicPr/>
            <p:nvPr/>
          </p:nvPicPr>
          <p:blipFill>
            <a:blip r:embed="rId6" cstate="print"/>
            <a:stretch>
              <a:fillRect/>
            </a:stretch>
          </p:blipFill>
          <p:spPr>
            <a:xfrm>
              <a:off x="2741231" y="2611188"/>
              <a:ext cx="87350" cy="87341"/>
            </a:xfrm>
            <a:prstGeom prst="rect">
              <a:avLst/>
            </a:prstGeom>
          </p:spPr>
        </p:pic>
        <p:pic>
          <p:nvPicPr>
            <p:cNvPr id="22" name="object 22"/>
            <p:cNvPicPr/>
            <p:nvPr/>
          </p:nvPicPr>
          <p:blipFill>
            <a:blip r:embed="rId7" cstate="print"/>
            <a:stretch>
              <a:fillRect/>
            </a:stretch>
          </p:blipFill>
          <p:spPr>
            <a:xfrm>
              <a:off x="2352937" y="2222891"/>
              <a:ext cx="87344" cy="87339"/>
            </a:xfrm>
            <a:prstGeom prst="rect">
              <a:avLst/>
            </a:prstGeom>
          </p:spPr>
        </p:pic>
        <p:sp>
          <p:nvSpPr>
            <p:cNvPr id="23" name="object 23"/>
            <p:cNvSpPr/>
            <p:nvPr/>
          </p:nvSpPr>
          <p:spPr>
            <a:xfrm>
              <a:off x="5614656" y="2229777"/>
              <a:ext cx="504825" cy="504825"/>
            </a:xfrm>
            <a:custGeom>
              <a:avLst/>
              <a:gdLst/>
              <a:ahLst/>
              <a:cxnLst/>
              <a:rect l="l" t="t" r="r" b="b"/>
              <a:pathLst>
                <a:path w="504825" h="504825">
                  <a:moveTo>
                    <a:pt x="252349" y="0"/>
                  </a:moveTo>
                  <a:lnTo>
                    <a:pt x="207048" y="4074"/>
                  </a:lnTo>
                  <a:lnTo>
                    <a:pt x="164387" y="15817"/>
                  </a:lnTo>
                  <a:lnTo>
                    <a:pt x="125084" y="34511"/>
                  </a:lnTo>
                  <a:lnTo>
                    <a:pt x="89857" y="59438"/>
                  </a:lnTo>
                  <a:lnTo>
                    <a:pt x="59424" y="89878"/>
                  </a:lnTo>
                  <a:lnTo>
                    <a:pt x="34503" y="125114"/>
                  </a:lnTo>
                  <a:lnTo>
                    <a:pt x="15813" y="164428"/>
                  </a:lnTo>
                  <a:lnTo>
                    <a:pt x="4073" y="207100"/>
                  </a:lnTo>
                  <a:lnTo>
                    <a:pt x="0" y="252412"/>
                  </a:lnTo>
                  <a:lnTo>
                    <a:pt x="4073" y="297724"/>
                  </a:lnTo>
                  <a:lnTo>
                    <a:pt x="15813" y="340396"/>
                  </a:lnTo>
                  <a:lnTo>
                    <a:pt x="34503" y="379710"/>
                  </a:lnTo>
                  <a:lnTo>
                    <a:pt x="59424" y="414946"/>
                  </a:lnTo>
                  <a:lnTo>
                    <a:pt x="89857" y="445386"/>
                  </a:lnTo>
                  <a:lnTo>
                    <a:pt x="125084" y="470313"/>
                  </a:lnTo>
                  <a:lnTo>
                    <a:pt x="164387" y="489007"/>
                  </a:lnTo>
                  <a:lnTo>
                    <a:pt x="207048" y="500750"/>
                  </a:lnTo>
                  <a:lnTo>
                    <a:pt x="252349" y="504825"/>
                  </a:lnTo>
                  <a:lnTo>
                    <a:pt x="297649" y="500750"/>
                  </a:lnTo>
                  <a:lnTo>
                    <a:pt x="340310" y="489007"/>
                  </a:lnTo>
                  <a:lnTo>
                    <a:pt x="347613" y="485533"/>
                  </a:lnTo>
                  <a:lnTo>
                    <a:pt x="252349" y="485533"/>
                  </a:lnTo>
                  <a:lnTo>
                    <a:pt x="205438" y="480789"/>
                  </a:lnTo>
                  <a:lnTo>
                    <a:pt x="161718" y="467185"/>
                  </a:lnTo>
                  <a:lnTo>
                    <a:pt x="122133" y="445667"/>
                  </a:lnTo>
                  <a:lnTo>
                    <a:pt x="87628" y="417179"/>
                  </a:lnTo>
                  <a:lnTo>
                    <a:pt x="59147" y="382664"/>
                  </a:lnTo>
                  <a:lnTo>
                    <a:pt x="37634" y="343069"/>
                  </a:lnTo>
                  <a:lnTo>
                    <a:pt x="24034" y="299337"/>
                  </a:lnTo>
                  <a:lnTo>
                    <a:pt x="19291" y="252412"/>
                  </a:lnTo>
                  <a:lnTo>
                    <a:pt x="24034" y="205491"/>
                  </a:lnTo>
                  <a:lnTo>
                    <a:pt x="37634" y="161760"/>
                  </a:lnTo>
                  <a:lnTo>
                    <a:pt x="59147" y="122165"/>
                  </a:lnTo>
                  <a:lnTo>
                    <a:pt x="87628" y="87650"/>
                  </a:lnTo>
                  <a:lnTo>
                    <a:pt x="122133" y="59160"/>
                  </a:lnTo>
                  <a:lnTo>
                    <a:pt x="161718" y="37641"/>
                  </a:lnTo>
                  <a:lnTo>
                    <a:pt x="205438" y="24036"/>
                  </a:lnTo>
                  <a:lnTo>
                    <a:pt x="252349" y="19291"/>
                  </a:lnTo>
                  <a:lnTo>
                    <a:pt x="347613" y="19291"/>
                  </a:lnTo>
                  <a:lnTo>
                    <a:pt x="340310" y="15817"/>
                  </a:lnTo>
                  <a:lnTo>
                    <a:pt x="297649" y="4074"/>
                  </a:lnTo>
                  <a:lnTo>
                    <a:pt x="252349" y="0"/>
                  </a:lnTo>
                  <a:close/>
                </a:path>
                <a:path w="504825" h="504825">
                  <a:moveTo>
                    <a:pt x="347613" y="19291"/>
                  </a:moveTo>
                  <a:lnTo>
                    <a:pt x="252349" y="19291"/>
                  </a:lnTo>
                  <a:lnTo>
                    <a:pt x="299259" y="24036"/>
                  </a:lnTo>
                  <a:lnTo>
                    <a:pt x="342979" y="37641"/>
                  </a:lnTo>
                  <a:lnTo>
                    <a:pt x="382564" y="59160"/>
                  </a:lnTo>
                  <a:lnTo>
                    <a:pt x="417069" y="87650"/>
                  </a:lnTo>
                  <a:lnTo>
                    <a:pt x="445550" y="122165"/>
                  </a:lnTo>
                  <a:lnTo>
                    <a:pt x="467063" y="161760"/>
                  </a:lnTo>
                  <a:lnTo>
                    <a:pt x="480663" y="205491"/>
                  </a:lnTo>
                  <a:lnTo>
                    <a:pt x="485406" y="252412"/>
                  </a:lnTo>
                  <a:lnTo>
                    <a:pt x="480663" y="299337"/>
                  </a:lnTo>
                  <a:lnTo>
                    <a:pt x="467063" y="343069"/>
                  </a:lnTo>
                  <a:lnTo>
                    <a:pt x="445550" y="382664"/>
                  </a:lnTo>
                  <a:lnTo>
                    <a:pt x="417069" y="417179"/>
                  </a:lnTo>
                  <a:lnTo>
                    <a:pt x="382564" y="445667"/>
                  </a:lnTo>
                  <a:lnTo>
                    <a:pt x="342979" y="467185"/>
                  </a:lnTo>
                  <a:lnTo>
                    <a:pt x="299259" y="480789"/>
                  </a:lnTo>
                  <a:lnTo>
                    <a:pt x="252349" y="485533"/>
                  </a:lnTo>
                  <a:lnTo>
                    <a:pt x="347613" y="485533"/>
                  </a:lnTo>
                  <a:lnTo>
                    <a:pt x="414840" y="445386"/>
                  </a:lnTo>
                  <a:lnTo>
                    <a:pt x="445273" y="414946"/>
                  </a:lnTo>
                  <a:lnTo>
                    <a:pt x="470194" y="379710"/>
                  </a:lnTo>
                  <a:lnTo>
                    <a:pt x="488884" y="340396"/>
                  </a:lnTo>
                  <a:lnTo>
                    <a:pt x="500624" y="297724"/>
                  </a:lnTo>
                  <a:lnTo>
                    <a:pt x="504698" y="252412"/>
                  </a:lnTo>
                  <a:lnTo>
                    <a:pt x="500624" y="207100"/>
                  </a:lnTo>
                  <a:lnTo>
                    <a:pt x="488884" y="164428"/>
                  </a:lnTo>
                  <a:lnTo>
                    <a:pt x="470194" y="125114"/>
                  </a:lnTo>
                  <a:lnTo>
                    <a:pt x="445273" y="89878"/>
                  </a:lnTo>
                  <a:lnTo>
                    <a:pt x="414840" y="59438"/>
                  </a:lnTo>
                  <a:lnTo>
                    <a:pt x="379613" y="34511"/>
                  </a:lnTo>
                  <a:lnTo>
                    <a:pt x="347613" y="19291"/>
                  </a:lnTo>
                  <a:close/>
                </a:path>
              </a:pathLst>
            </a:custGeom>
            <a:solidFill>
              <a:srgbClr val="0072EB"/>
            </a:solidFill>
          </p:spPr>
          <p:txBody>
            <a:bodyPr wrap="square" lIns="0" tIns="0" rIns="0" bIns="0" rtlCol="0"/>
            <a:lstStyle/>
            <a:p>
              <a:endParaRPr/>
            </a:p>
          </p:txBody>
        </p:sp>
        <p:pic>
          <p:nvPicPr>
            <p:cNvPr id="24" name="object 24"/>
            <p:cNvPicPr/>
            <p:nvPr/>
          </p:nvPicPr>
          <p:blipFill>
            <a:blip r:embed="rId8" cstate="print"/>
            <a:stretch>
              <a:fillRect/>
            </a:stretch>
          </p:blipFill>
          <p:spPr>
            <a:xfrm>
              <a:off x="5852750" y="2325767"/>
              <a:ext cx="203136" cy="166065"/>
            </a:xfrm>
            <a:prstGeom prst="rect">
              <a:avLst/>
            </a:prstGeom>
          </p:spPr>
        </p:pic>
        <p:sp>
          <p:nvSpPr>
            <p:cNvPr id="25" name="object 25"/>
            <p:cNvSpPr/>
            <p:nvPr/>
          </p:nvSpPr>
          <p:spPr>
            <a:xfrm>
              <a:off x="3949217" y="2186812"/>
              <a:ext cx="3957320" cy="535305"/>
            </a:xfrm>
            <a:custGeom>
              <a:avLst/>
              <a:gdLst/>
              <a:ahLst/>
              <a:cxnLst/>
              <a:rect l="l" t="t" r="r" b="b"/>
              <a:pathLst>
                <a:path w="3957320" h="535305">
                  <a:moveTo>
                    <a:pt x="528955" y="490753"/>
                  </a:moveTo>
                  <a:lnTo>
                    <a:pt x="528599" y="488035"/>
                  </a:lnTo>
                  <a:lnTo>
                    <a:pt x="474954" y="446938"/>
                  </a:lnTo>
                  <a:lnTo>
                    <a:pt x="514604" y="446938"/>
                  </a:lnTo>
                  <a:lnTo>
                    <a:pt x="517613" y="443928"/>
                  </a:lnTo>
                  <a:lnTo>
                    <a:pt x="517613" y="436537"/>
                  </a:lnTo>
                  <a:lnTo>
                    <a:pt x="514604" y="433527"/>
                  </a:lnTo>
                  <a:lnTo>
                    <a:pt x="457428" y="433527"/>
                  </a:lnTo>
                  <a:lnTo>
                    <a:pt x="443280" y="422694"/>
                  </a:lnTo>
                  <a:lnTo>
                    <a:pt x="443280" y="433527"/>
                  </a:lnTo>
                  <a:lnTo>
                    <a:pt x="398424" y="433527"/>
                  </a:lnTo>
                  <a:lnTo>
                    <a:pt x="398424" y="399173"/>
                  </a:lnTo>
                  <a:lnTo>
                    <a:pt x="443280" y="433527"/>
                  </a:lnTo>
                  <a:lnTo>
                    <a:pt x="443280" y="422694"/>
                  </a:lnTo>
                  <a:lnTo>
                    <a:pt x="412572" y="399173"/>
                  </a:lnTo>
                  <a:lnTo>
                    <a:pt x="398424" y="388327"/>
                  </a:lnTo>
                  <a:lnTo>
                    <a:pt x="398424" y="378053"/>
                  </a:lnTo>
                  <a:lnTo>
                    <a:pt x="398449" y="313474"/>
                  </a:lnTo>
                  <a:lnTo>
                    <a:pt x="395439" y="310464"/>
                  </a:lnTo>
                  <a:lnTo>
                    <a:pt x="385038" y="310464"/>
                  </a:lnTo>
                  <a:lnTo>
                    <a:pt x="385038" y="323875"/>
                  </a:lnTo>
                  <a:lnTo>
                    <a:pt x="385013" y="378053"/>
                  </a:lnTo>
                  <a:lnTo>
                    <a:pt x="314109" y="323875"/>
                  </a:lnTo>
                  <a:lnTo>
                    <a:pt x="385038" y="323875"/>
                  </a:lnTo>
                  <a:lnTo>
                    <a:pt x="385038" y="310464"/>
                  </a:lnTo>
                  <a:lnTo>
                    <a:pt x="296621" y="310464"/>
                  </a:lnTo>
                  <a:lnTo>
                    <a:pt x="282460" y="299618"/>
                  </a:lnTo>
                  <a:lnTo>
                    <a:pt x="282460" y="310464"/>
                  </a:lnTo>
                  <a:lnTo>
                    <a:pt x="250469" y="310464"/>
                  </a:lnTo>
                  <a:lnTo>
                    <a:pt x="250469" y="285965"/>
                  </a:lnTo>
                  <a:lnTo>
                    <a:pt x="282460" y="310464"/>
                  </a:lnTo>
                  <a:lnTo>
                    <a:pt x="282460" y="299618"/>
                  </a:lnTo>
                  <a:lnTo>
                    <a:pt x="264642" y="285965"/>
                  </a:lnTo>
                  <a:lnTo>
                    <a:pt x="250469" y="275107"/>
                  </a:lnTo>
                  <a:lnTo>
                    <a:pt x="250469" y="264833"/>
                  </a:lnTo>
                  <a:lnTo>
                    <a:pt x="250469" y="178587"/>
                  </a:lnTo>
                  <a:lnTo>
                    <a:pt x="247459" y="175577"/>
                  </a:lnTo>
                  <a:lnTo>
                    <a:pt x="169265" y="175577"/>
                  </a:lnTo>
                  <a:lnTo>
                    <a:pt x="169265" y="109169"/>
                  </a:lnTo>
                  <a:lnTo>
                    <a:pt x="166268" y="106159"/>
                  </a:lnTo>
                  <a:lnTo>
                    <a:pt x="90766" y="106159"/>
                  </a:lnTo>
                  <a:lnTo>
                    <a:pt x="87769" y="109169"/>
                  </a:lnTo>
                  <a:lnTo>
                    <a:pt x="87769" y="116560"/>
                  </a:lnTo>
                  <a:lnTo>
                    <a:pt x="90766" y="119570"/>
                  </a:lnTo>
                  <a:lnTo>
                    <a:pt x="155854" y="119570"/>
                  </a:lnTo>
                  <a:lnTo>
                    <a:pt x="155854" y="185978"/>
                  </a:lnTo>
                  <a:lnTo>
                    <a:pt x="158864" y="188988"/>
                  </a:lnTo>
                  <a:lnTo>
                    <a:pt x="237058" y="188988"/>
                  </a:lnTo>
                  <a:lnTo>
                    <a:pt x="237058" y="264833"/>
                  </a:lnTo>
                  <a:lnTo>
                    <a:pt x="55587" y="125768"/>
                  </a:lnTo>
                  <a:lnTo>
                    <a:pt x="54457" y="125463"/>
                  </a:lnTo>
                  <a:lnTo>
                    <a:pt x="52146" y="125768"/>
                  </a:lnTo>
                  <a:lnTo>
                    <a:pt x="51155" y="126352"/>
                  </a:lnTo>
                  <a:lnTo>
                    <a:pt x="50469" y="127266"/>
                  </a:lnTo>
                  <a:lnTo>
                    <a:pt x="49771" y="128155"/>
                  </a:lnTo>
                  <a:lnTo>
                    <a:pt x="49466" y="129273"/>
                  </a:lnTo>
                  <a:lnTo>
                    <a:pt x="49745" y="131546"/>
                  </a:lnTo>
                  <a:lnTo>
                    <a:pt x="50342" y="132575"/>
                  </a:lnTo>
                  <a:lnTo>
                    <a:pt x="237058" y="275691"/>
                  </a:lnTo>
                  <a:lnTo>
                    <a:pt x="237058" y="320865"/>
                  </a:lnTo>
                  <a:lnTo>
                    <a:pt x="240068" y="323875"/>
                  </a:lnTo>
                  <a:lnTo>
                    <a:pt x="299961" y="323875"/>
                  </a:lnTo>
                  <a:lnTo>
                    <a:pt x="385013" y="388899"/>
                  </a:lnTo>
                  <a:lnTo>
                    <a:pt x="385013" y="443928"/>
                  </a:lnTo>
                  <a:lnTo>
                    <a:pt x="388023" y="446938"/>
                  </a:lnTo>
                  <a:lnTo>
                    <a:pt x="460768" y="446938"/>
                  </a:lnTo>
                  <a:lnTo>
                    <a:pt x="522249" y="494004"/>
                  </a:lnTo>
                  <a:lnTo>
                    <a:pt x="523176" y="494322"/>
                  </a:lnTo>
                  <a:lnTo>
                    <a:pt x="525411" y="494322"/>
                  </a:lnTo>
                  <a:lnTo>
                    <a:pt x="526694" y="493687"/>
                  </a:lnTo>
                  <a:lnTo>
                    <a:pt x="528955" y="490753"/>
                  </a:lnTo>
                  <a:close/>
                </a:path>
                <a:path w="3957320" h="535305">
                  <a:moveTo>
                    <a:pt x="642035" y="524281"/>
                  </a:moveTo>
                  <a:lnTo>
                    <a:pt x="639025" y="521271"/>
                  </a:lnTo>
                  <a:lnTo>
                    <a:pt x="635330" y="521271"/>
                  </a:lnTo>
                  <a:lnTo>
                    <a:pt x="18313" y="521271"/>
                  </a:lnTo>
                  <a:lnTo>
                    <a:pt x="13411" y="516369"/>
                  </a:lnTo>
                  <a:lnTo>
                    <a:pt x="13436" y="16129"/>
                  </a:lnTo>
                  <a:lnTo>
                    <a:pt x="10426" y="13119"/>
                  </a:lnTo>
                  <a:lnTo>
                    <a:pt x="3035" y="13119"/>
                  </a:lnTo>
                  <a:lnTo>
                    <a:pt x="25" y="16129"/>
                  </a:lnTo>
                  <a:lnTo>
                    <a:pt x="0" y="510336"/>
                  </a:lnTo>
                  <a:lnTo>
                    <a:pt x="1917" y="519811"/>
                  </a:lnTo>
                  <a:lnTo>
                    <a:pt x="7137" y="527545"/>
                  </a:lnTo>
                  <a:lnTo>
                    <a:pt x="14871" y="532777"/>
                  </a:lnTo>
                  <a:lnTo>
                    <a:pt x="24320" y="534682"/>
                  </a:lnTo>
                  <a:lnTo>
                    <a:pt x="639025" y="534682"/>
                  </a:lnTo>
                  <a:lnTo>
                    <a:pt x="642035" y="531672"/>
                  </a:lnTo>
                  <a:lnTo>
                    <a:pt x="642035" y="524281"/>
                  </a:lnTo>
                  <a:close/>
                </a:path>
                <a:path w="3957320" h="535305">
                  <a:moveTo>
                    <a:pt x="2214842" y="298780"/>
                  </a:moveTo>
                  <a:lnTo>
                    <a:pt x="2207133" y="239509"/>
                  </a:lnTo>
                  <a:lnTo>
                    <a:pt x="2192007" y="188887"/>
                  </a:lnTo>
                  <a:lnTo>
                    <a:pt x="2169210" y="141757"/>
                  </a:lnTo>
                  <a:lnTo>
                    <a:pt x="2138794" y="98323"/>
                  </a:lnTo>
                  <a:lnTo>
                    <a:pt x="2085238" y="50761"/>
                  </a:lnTo>
                  <a:lnTo>
                    <a:pt x="2026780" y="21717"/>
                  </a:lnTo>
                  <a:lnTo>
                    <a:pt x="1972602" y="6616"/>
                  </a:lnTo>
                  <a:lnTo>
                    <a:pt x="1931936" y="889"/>
                  </a:lnTo>
                  <a:lnTo>
                    <a:pt x="1913991" y="0"/>
                  </a:lnTo>
                  <a:lnTo>
                    <a:pt x="1908670" y="0"/>
                  </a:lnTo>
                  <a:lnTo>
                    <a:pt x="1904352" y="4330"/>
                  </a:lnTo>
                  <a:lnTo>
                    <a:pt x="1904352" y="14973"/>
                  </a:lnTo>
                  <a:lnTo>
                    <a:pt x="1908670" y="19291"/>
                  </a:lnTo>
                  <a:lnTo>
                    <a:pt x="1913991" y="19291"/>
                  </a:lnTo>
                  <a:lnTo>
                    <a:pt x="1948014" y="21844"/>
                  </a:lnTo>
                  <a:lnTo>
                    <a:pt x="1990890" y="30632"/>
                  </a:lnTo>
                  <a:lnTo>
                    <a:pt x="2037753" y="47256"/>
                  </a:lnTo>
                  <a:lnTo>
                    <a:pt x="2083714" y="73367"/>
                  </a:lnTo>
                  <a:lnTo>
                    <a:pt x="2123910" y="110591"/>
                  </a:lnTo>
                  <a:lnTo>
                    <a:pt x="2152573" y="151536"/>
                  </a:lnTo>
                  <a:lnTo>
                    <a:pt x="2174062" y="195973"/>
                  </a:lnTo>
                  <a:lnTo>
                    <a:pt x="2188311" y="243738"/>
                  </a:lnTo>
                  <a:lnTo>
                    <a:pt x="2195258" y="294678"/>
                  </a:lnTo>
                  <a:lnTo>
                    <a:pt x="2195576" y="299745"/>
                  </a:lnTo>
                  <a:lnTo>
                    <a:pt x="2199805" y="303720"/>
                  </a:lnTo>
                  <a:lnTo>
                    <a:pt x="2205482" y="303707"/>
                  </a:lnTo>
                  <a:lnTo>
                    <a:pt x="2210790" y="303377"/>
                  </a:lnTo>
                  <a:lnTo>
                    <a:pt x="2214842" y="298780"/>
                  </a:lnTo>
                  <a:close/>
                </a:path>
                <a:path w="3957320" h="535305">
                  <a:moveTo>
                    <a:pt x="3957218" y="196316"/>
                  </a:moveTo>
                  <a:lnTo>
                    <a:pt x="3954691" y="183083"/>
                  </a:lnTo>
                  <a:lnTo>
                    <a:pt x="3951871" y="176822"/>
                  </a:lnTo>
                  <a:lnTo>
                    <a:pt x="3947426" y="171069"/>
                  </a:lnTo>
                  <a:lnTo>
                    <a:pt x="3945331" y="168287"/>
                  </a:lnTo>
                  <a:lnTo>
                    <a:pt x="3943083" y="165315"/>
                  </a:lnTo>
                  <a:lnTo>
                    <a:pt x="3942130" y="164515"/>
                  </a:lnTo>
                  <a:lnTo>
                    <a:pt x="3942130" y="196850"/>
                  </a:lnTo>
                  <a:lnTo>
                    <a:pt x="3941902" y="201498"/>
                  </a:lnTo>
                  <a:lnTo>
                    <a:pt x="3856621" y="508495"/>
                  </a:lnTo>
                  <a:lnTo>
                    <a:pt x="3339896" y="508495"/>
                  </a:lnTo>
                  <a:lnTo>
                    <a:pt x="3345129" y="489648"/>
                  </a:lnTo>
                  <a:lnTo>
                    <a:pt x="3428314" y="190131"/>
                  </a:lnTo>
                  <a:lnTo>
                    <a:pt x="3430117" y="183553"/>
                  </a:lnTo>
                  <a:lnTo>
                    <a:pt x="3433927" y="178028"/>
                  </a:lnTo>
                  <a:lnTo>
                    <a:pt x="3438956" y="174269"/>
                  </a:lnTo>
                  <a:lnTo>
                    <a:pt x="3443986" y="170408"/>
                  </a:lnTo>
                  <a:lnTo>
                    <a:pt x="3450247" y="168287"/>
                  </a:lnTo>
                  <a:lnTo>
                    <a:pt x="3916667" y="168287"/>
                  </a:lnTo>
                  <a:lnTo>
                    <a:pt x="3942130" y="196850"/>
                  </a:lnTo>
                  <a:lnTo>
                    <a:pt x="3942130" y="164515"/>
                  </a:lnTo>
                  <a:lnTo>
                    <a:pt x="3937787" y="160845"/>
                  </a:lnTo>
                  <a:lnTo>
                    <a:pt x="3931716" y="157886"/>
                  </a:lnTo>
                  <a:lnTo>
                    <a:pt x="3925684" y="154863"/>
                  </a:lnTo>
                  <a:lnTo>
                    <a:pt x="3918928" y="153276"/>
                  </a:lnTo>
                  <a:lnTo>
                    <a:pt x="3861879" y="153276"/>
                  </a:lnTo>
                  <a:lnTo>
                    <a:pt x="3861879" y="121881"/>
                  </a:lnTo>
                  <a:lnTo>
                    <a:pt x="3846880" y="88658"/>
                  </a:lnTo>
                  <a:lnTo>
                    <a:pt x="3846880" y="113652"/>
                  </a:lnTo>
                  <a:lnTo>
                    <a:pt x="3846880" y="153276"/>
                  </a:lnTo>
                  <a:lnTo>
                    <a:pt x="3457130" y="153276"/>
                  </a:lnTo>
                  <a:lnTo>
                    <a:pt x="3449663" y="153898"/>
                  </a:lnTo>
                  <a:lnTo>
                    <a:pt x="3416528" y="179108"/>
                  </a:lnTo>
                  <a:lnTo>
                    <a:pt x="3329622" y="489648"/>
                  </a:lnTo>
                  <a:lnTo>
                    <a:pt x="3329622" y="60960"/>
                  </a:lnTo>
                  <a:lnTo>
                    <a:pt x="3332975" y="53517"/>
                  </a:lnTo>
                  <a:lnTo>
                    <a:pt x="3338411" y="48158"/>
                  </a:lnTo>
                  <a:lnTo>
                    <a:pt x="3343808" y="42672"/>
                  </a:lnTo>
                  <a:lnTo>
                    <a:pt x="3351276" y="39395"/>
                  </a:lnTo>
                  <a:lnTo>
                    <a:pt x="3493020" y="39395"/>
                  </a:lnTo>
                  <a:lnTo>
                    <a:pt x="3500501" y="42672"/>
                  </a:lnTo>
                  <a:lnTo>
                    <a:pt x="3505936" y="48158"/>
                  </a:lnTo>
                  <a:lnTo>
                    <a:pt x="3511334" y="53517"/>
                  </a:lnTo>
                  <a:lnTo>
                    <a:pt x="3514648" y="60960"/>
                  </a:lnTo>
                  <a:lnTo>
                    <a:pt x="3514687" y="88595"/>
                  </a:lnTo>
                  <a:lnTo>
                    <a:pt x="3518039" y="91948"/>
                  </a:lnTo>
                  <a:lnTo>
                    <a:pt x="3825214" y="91948"/>
                  </a:lnTo>
                  <a:lnTo>
                    <a:pt x="3832695" y="95326"/>
                  </a:lnTo>
                  <a:lnTo>
                    <a:pt x="3843528" y="106159"/>
                  </a:lnTo>
                  <a:lnTo>
                    <a:pt x="3846880" y="113652"/>
                  </a:lnTo>
                  <a:lnTo>
                    <a:pt x="3846880" y="88658"/>
                  </a:lnTo>
                  <a:lnTo>
                    <a:pt x="3842054" y="84696"/>
                  </a:lnTo>
                  <a:lnTo>
                    <a:pt x="3834434" y="80568"/>
                  </a:lnTo>
                  <a:lnTo>
                    <a:pt x="3826027" y="77965"/>
                  </a:lnTo>
                  <a:lnTo>
                    <a:pt x="3817023" y="77050"/>
                  </a:lnTo>
                  <a:lnTo>
                    <a:pt x="3529634" y="77050"/>
                  </a:lnTo>
                  <a:lnTo>
                    <a:pt x="3529634" y="69253"/>
                  </a:lnTo>
                  <a:lnTo>
                    <a:pt x="3528720" y="60236"/>
                  </a:lnTo>
                  <a:lnTo>
                    <a:pt x="3526091" y="51816"/>
                  </a:lnTo>
                  <a:lnTo>
                    <a:pt x="3521951" y="44196"/>
                  </a:lnTo>
                  <a:lnTo>
                    <a:pt x="3517989" y="39395"/>
                  </a:lnTo>
                  <a:lnTo>
                    <a:pt x="3516490" y="37579"/>
                  </a:lnTo>
                  <a:lnTo>
                    <a:pt x="3509861" y="32080"/>
                  </a:lnTo>
                  <a:lnTo>
                    <a:pt x="3502253" y="27927"/>
                  </a:lnTo>
                  <a:lnTo>
                    <a:pt x="3493833" y="25298"/>
                  </a:lnTo>
                  <a:lnTo>
                    <a:pt x="3484778" y="24384"/>
                  </a:lnTo>
                  <a:lnTo>
                    <a:pt x="3359518" y="24384"/>
                  </a:lnTo>
                  <a:lnTo>
                    <a:pt x="3322332" y="44246"/>
                  </a:lnTo>
                  <a:lnTo>
                    <a:pt x="3314662" y="69253"/>
                  </a:lnTo>
                  <a:lnTo>
                    <a:pt x="3314662" y="520103"/>
                  </a:lnTo>
                  <a:lnTo>
                    <a:pt x="3318014" y="523430"/>
                  </a:lnTo>
                  <a:lnTo>
                    <a:pt x="3323539" y="523430"/>
                  </a:lnTo>
                  <a:lnTo>
                    <a:pt x="3324999" y="523024"/>
                  </a:lnTo>
                  <a:lnTo>
                    <a:pt x="3326130" y="522325"/>
                  </a:lnTo>
                  <a:lnTo>
                    <a:pt x="3327349" y="522986"/>
                  </a:lnTo>
                  <a:lnTo>
                    <a:pt x="3328759" y="523341"/>
                  </a:lnTo>
                  <a:lnTo>
                    <a:pt x="3329432" y="523392"/>
                  </a:lnTo>
                  <a:lnTo>
                    <a:pt x="3330079" y="523392"/>
                  </a:lnTo>
                  <a:lnTo>
                    <a:pt x="3865905" y="523430"/>
                  </a:lnTo>
                  <a:lnTo>
                    <a:pt x="3867226" y="522325"/>
                  </a:lnTo>
                  <a:lnTo>
                    <a:pt x="3868991" y="520852"/>
                  </a:lnTo>
                  <a:lnTo>
                    <a:pt x="3869626" y="517410"/>
                  </a:lnTo>
                  <a:lnTo>
                    <a:pt x="3872103" y="508495"/>
                  </a:lnTo>
                  <a:lnTo>
                    <a:pt x="3954957" y="210134"/>
                  </a:lnTo>
                  <a:lnTo>
                    <a:pt x="3956862" y="203225"/>
                  </a:lnTo>
                  <a:lnTo>
                    <a:pt x="3957218" y="196316"/>
                  </a:lnTo>
                  <a:close/>
                </a:path>
              </a:pathLst>
            </a:custGeom>
            <a:solidFill>
              <a:srgbClr val="0072EB"/>
            </a:solidFill>
          </p:spPr>
          <p:txBody>
            <a:bodyPr wrap="square" lIns="0" tIns="0" rIns="0" bIns="0" rtlCol="0"/>
            <a:lstStyle/>
            <a:p>
              <a:endParaRPr/>
            </a:p>
          </p:txBody>
        </p:sp>
      </p:grpSp>
      <p:sp>
        <p:nvSpPr>
          <p:cNvPr id="26" name="object 26"/>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spc="35" dirty="0"/>
              <a:t>1</a:t>
            </a:r>
            <a:r>
              <a:rPr lang="en-US" spc="35" dirty="0"/>
              <a:t>9</a:t>
            </a:r>
            <a:endParaRPr spc="35" dirty="0"/>
          </a:p>
        </p:txBody>
      </p:sp>
      <p:sp>
        <p:nvSpPr>
          <p:cNvPr id="27" name="object 27"/>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a:t>Agile Methodology</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636B924-147C-A43D-F5A9-C1DB6F428296}"/>
              </a:ext>
            </a:extLst>
          </p:cNvPr>
          <p:cNvPicPr>
            <a:picLocks noChangeAspect="1"/>
          </p:cNvPicPr>
          <p:nvPr/>
        </p:nvPicPr>
        <p:blipFill>
          <a:blip r:embed="rId2"/>
          <a:srcRect l="5757" r="5000"/>
          <a:stretch/>
        </p:blipFill>
        <p:spPr>
          <a:xfrm>
            <a:off x="372205" y="1554473"/>
            <a:ext cx="6788832" cy="4206083"/>
          </a:xfrm>
          <a:prstGeom prst="rect">
            <a:avLst/>
          </a:prstGeom>
        </p:spPr>
      </p:pic>
      <p:sp>
        <p:nvSpPr>
          <p:cNvPr id="7" name="object 17">
            <a:extLst>
              <a:ext uri="{FF2B5EF4-FFF2-40B4-BE49-F238E27FC236}">
                <a16:creationId xmlns:a16="http://schemas.microsoft.com/office/drawing/2014/main" id="{78D219E3-9190-A6A6-FE46-B106A011D1E1}"/>
              </a:ext>
            </a:extLst>
          </p:cNvPr>
          <p:cNvSpPr/>
          <p:nvPr/>
        </p:nvSpPr>
        <p:spPr>
          <a:xfrm>
            <a:off x="0" y="0"/>
            <a:ext cx="9144000" cy="1490980"/>
          </a:xfrm>
          <a:custGeom>
            <a:avLst/>
            <a:gdLst/>
            <a:ahLst/>
            <a:cxnLst/>
            <a:rect l="l" t="t" r="r" b="b"/>
            <a:pathLst>
              <a:path w="9144000" h="1490980">
                <a:moveTo>
                  <a:pt x="9144000" y="0"/>
                </a:moveTo>
                <a:lnTo>
                  <a:pt x="0" y="0"/>
                </a:lnTo>
                <a:lnTo>
                  <a:pt x="0" y="1490472"/>
                </a:lnTo>
                <a:lnTo>
                  <a:pt x="9144000" y="1490472"/>
                </a:lnTo>
                <a:lnTo>
                  <a:pt x="9144000" y="0"/>
                </a:lnTo>
                <a:close/>
              </a:path>
            </a:pathLst>
          </a:custGeom>
          <a:solidFill>
            <a:srgbClr val="0072EB"/>
          </a:solidFill>
        </p:spPr>
        <p:txBody>
          <a:bodyPr wrap="square" lIns="0" tIns="0" rIns="0" bIns="0" rtlCol="0"/>
          <a:lstStyle/>
          <a:p>
            <a:endParaRPr/>
          </a:p>
        </p:txBody>
      </p:sp>
      <p:sp>
        <p:nvSpPr>
          <p:cNvPr id="8" name="object 18">
            <a:extLst>
              <a:ext uri="{FF2B5EF4-FFF2-40B4-BE49-F238E27FC236}">
                <a16:creationId xmlns:a16="http://schemas.microsoft.com/office/drawing/2014/main" id="{C03384CB-4EA2-4413-200C-519BAC7DEAEA}"/>
              </a:ext>
            </a:extLst>
          </p:cNvPr>
          <p:cNvSpPr txBox="1">
            <a:spLocks noGrp="1"/>
          </p:cNvSpPr>
          <p:nvPr>
            <p:ph type="title"/>
          </p:nvPr>
        </p:nvSpPr>
        <p:spPr>
          <a:xfrm>
            <a:off x="526367" y="424576"/>
            <a:ext cx="8403097" cy="705321"/>
          </a:xfrm>
          <a:prstGeom prst="rect">
            <a:avLst/>
          </a:prstGeom>
        </p:spPr>
        <p:txBody>
          <a:bodyPr vert="horz" wrap="square" lIns="0" tIns="12700" rIns="0" bIns="0" rtlCol="0">
            <a:spAutoFit/>
          </a:bodyPr>
          <a:lstStyle/>
          <a:p>
            <a:pPr marL="12700">
              <a:lnSpc>
                <a:spcPct val="100000"/>
              </a:lnSpc>
              <a:spcBef>
                <a:spcPts val="100"/>
              </a:spcBef>
            </a:pPr>
            <a:r>
              <a:rPr lang="en-US" dirty="0"/>
              <a:t>Example of a Scrum Board</a:t>
            </a:r>
            <a:endParaRPr dirty="0"/>
          </a:p>
        </p:txBody>
      </p:sp>
      <p:pic>
        <p:nvPicPr>
          <p:cNvPr id="2052" name="Picture 4">
            <a:extLst>
              <a:ext uri="{FF2B5EF4-FFF2-40B4-BE49-F238E27FC236}">
                <a16:creationId xmlns:a16="http://schemas.microsoft.com/office/drawing/2014/main" id="{D58231CB-81B9-B735-11C5-A310C014EB6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4531" y="3692819"/>
            <a:ext cx="2757264" cy="1717381"/>
          </a:xfrm>
          <a:prstGeom prst="rect">
            <a:avLst/>
          </a:prstGeom>
          <a:noFill/>
          <a:extLst>
            <a:ext uri="{909E8E84-426E-40DD-AFC4-6F175D3DCCD1}">
              <a14:hiddenFill xmlns:a14="http://schemas.microsoft.com/office/drawing/2010/main">
                <a:solidFill>
                  <a:srgbClr val="FFFFFF"/>
                </a:solidFill>
              </a14:hiddenFill>
            </a:ext>
          </a:extLst>
        </p:spPr>
      </p:pic>
      <p:sp>
        <p:nvSpPr>
          <p:cNvPr id="9" name="object 10">
            <a:extLst>
              <a:ext uri="{FF2B5EF4-FFF2-40B4-BE49-F238E27FC236}">
                <a16:creationId xmlns:a16="http://schemas.microsoft.com/office/drawing/2014/main" id="{F48B58A9-FF42-FDA8-8595-30ADF3341DD5}"/>
              </a:ext>
            </a:extLst>
          </p:cNvPr>
          <p:cNvSpPr txBox="1"/>
          <p:nvPr/>
        </p:nvSpPr>
        <p:spPr>
          <a:xfrm>
            <a:off x="7026814" y="3331736"/>
            <a:ext cx="1768012" cy="258404"/>
          </a:xfrm>
          <a:prstGeom prst="rect">
            <a:avLst/>
          </a:prstGeom>
        </p:spPr>
        <p:txBody>
          <a:bodyPr vert="horz" wrap="square" lIns="0" tIns="52705" rIns="0" bIns="0" rtlCol="0">
            <a:spAutoFit/>
          </a:bodyPr>
          <a:lstStyle/>
          <a:p>
            <a:pPr marL="12700" marR="243204">
              <a:lnSpc>
                <a:spcPts val="1570"/>
              </a:lnSpc>
              <a:spcBef>
                <a:spcPts val="415"/>
              </a:spcBef>
            </a:pPr>
            <a:r>
              <a:rPr lang="en-US" sz="1600" b="1" dirty="0">
                <a:solidFill>
                  <a:srgbClr val="333333"/>
                </a:solidFill>
                <a:latin typeface="Arial"/>
                <a:cs typeface="Arial"/>
              </a:rPr>
              <a:t>Reality</a:t>
            </a:r>
            <a:endParaRPr sz="1200" dirty="0">
              <a:latin typeface="Roboto Lt"/>
              <a:cs typeface="Roboto Lt"/>
            </a:endParaRPr>
          </a:p>
        </p:txBody>
      </p:sp>
      <p:sp>
        <p:nvSpPr>
          <p:cNvPr id="10" name="Footer Placeholder 9">
            <a:extLst>
              <a:ext uri="{FF2B5EF4-FFF2-40B4-BE49-F238E27FC236}">
                <a16:creationId xmlns:a16="http://schemas.microsoft.com/office/drawing/2014/main" id="{742F3C24-3D83-28AE-174B-12499F5D00E1}"/>
              </a:ext>
            </a:extLst>
          </p:cNvPr>
          <p:cNvSpPr>
            <a:spLocks noGrp="1"/>
          </p:cNvSpPr>
          <p:nvPr>
            <p:ph type="ftr" sz="quarter" idx="5"/>
          </p:nvPr>
        </p:nvSpPr>
        <p:spPr>
          <a:xfrm>
            <a:off x="6634705" y="5571421"/>
            <a:ext cx="1627504" cy="153888"/>
          </a:xfrm>
        </p:spPr>
        <p:txBody>
          <a:bodyPr/>
          <a:lstStyle/>
          <a:p>
            <a:pPr marL="12700" algn="r">
              <a:lnSpc>
                <a:spcPct val="100000"/>
              </a:lnSpc>
              <a:spcBef>
                <a:spcPts val="25"/>
              </a:spcBef>
            </a:pPr>
            <a:r>
              <a:rPr lang="en-MY" spc="-25" dirty="0"/>
              <a:t>Agile Methodology</a:t>
            </a:r>
            <a:endParaRPr lang="en-MY" dirty="0"/>
          </a:p>
        </p:txBody>
      </p:sp>
      <p:sp>
        <p:nvSpPr>
          <p:cNvPr id="11" name="Slide Number Placeholder 10">
            <a:extLst>
              <a:ext uri="{FF2B5EF4-FFF2-40B4-BE49-F238E27FC236}">
                <a16:creationId xmlns:a16="http://schemas.microsoft.com/office/drawing/2014/main" id="{72CF76FE-8C2C-314E-DBA5-0E09EC121E17}"/>
              </a:ext>
            </a:extLst>
          </p:cNvPr>
          <p:cNvSpPr>
            <a:spLocks noGrp="1"/>
          </p:cNvSpPr>
          <p:nvPr>
            <p:ph type="sldNum" sz="quarter" idx="7"/>
          </p:nvPr>
        </p:nvSpPr>
        <p:spPr/>
        <p:txBody>
          <a:bodyPr/>
          <a:lstStyle/>
          <a:p>
            <a:pPr marL="38100">
              <a:lnSpc>
                <a:spcPct val="100000"/>
              </a:lnSpc>
              <a:spcBef>
                <a:spcPts val="190"/>
              </a:spcBef>
            </a:pPr>
            <a:fld id="{81D60167-4931-47E6-BA6A-407CBD079E47}" type="slidenum">
              <a:rPr lang="en-MY" spc="35" smtClean="0"/>
              <a:t>20</a:t>
            </a:fld>
            <a:endParaRPr lang="en-MY" spc="35" dirty="0"/>
          </a:p>
        </p:txBody>
      </p:sp>
    </p:spTree>
    <p:extLst>
      <p:ext uri="{BB962C8B-B14F-4D97-AF65-F5344CB8AC3E}">
        <p14:creationId xmlns:p14="http://schemas.microsoft.com/office/powerpoint/2010/main" val="6873905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E4EB5-5EFC-9938-5FE1-162F6A492B1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249B0A9-CBEA-F107-585E-DE361165C0A0}"/>
              </a:ext>
            </a:extLst>
          </p:cNvPr>
          <p:cNvSpPr/>
          <p:nvPr/>
        </p:nvSpPr>
        <p:spPr>
          <a:xfrm>
            <a:off x="0" y="0"/>
            <a:ext cx="3700146" cy="5943600"/>
          </a:xfrm>
          <a:custGeom>
            <a:avLst/>
            <a:gdLst/>
            <a:ahLst/>
            <a:cxnLst/>
            <a:rect l="l" t="t" r="r" b="b"/>
            <a:pathLst>
              <a:path w="5029200" h="5943600">
                <a:moveTo>
                  <a:pt x="5029200" y="0"/>
                </a:moveTo>
                <a:lnTo>
                  <a:pt x="0" y="0"/>
                </a:lnTo>
                <a:lnTo>
                  <a:pt x="0" y="5943600"/>
                </a:lnTo>
                <a:lnTo>
                  <a:pt x="5029200" y="5943600"/>
                </a:lnTo>
                <a:lnTo>
                  <a:pt x="5029200" y="0"/>
                </a:lnTo>
                <a:close/>
              </a:path>
            </a:pathLst>
          </a:custGeom>
          <a:solidFill>
            <a:srgbClr val="0072EB"/>
          </a:solidFill>
        </p:spPr>
        <p:txBody>
          <a:bodyPr wrap="square" lIns="0" tIns="0" rIns="0" bIns="0" rtlCol="0"/>
          <a:lstStyle/>
          <a:p>
            <a:endParaRPr/>
          </a:p>
        </p:txBody>
      </p:sp>
      <p:sp>
        <p:nvSpPr>
          <p:cNvPr id="3" name="object 3">
            <a:extLst>
              <a:ext uri="{FF2B5EF4-FFF2-40B4-BE49-F238E27FC236}">
                <a16:creationId xmlns:a16="http://schemas.microsoft.com/office/drawing/2014/main" id="{35B1A803-30A0-BDD3-8CAF-B27422B8423A}"/>
              </a:ext>
            </a:extLst>
          </p:cNvPr>
          <p:cNvSpPr txBox="1">
            <a:spLocks noGrp="1"/>
          </p:cNvSpPr>
          <p:nvPr>
            <p:ph type="title"/>
          </p:nvPr>
        </p:nvSpPr>
        <p:spPr>
          <a:xfrm>
            <a:off x="526368" y="510301"/>
            <a:ext cx="3601720" cy="710451"/>
          </a:xfrm>
          <a:prstGeom prst="rect">
            <a:avLst/>
          </a:prstGeom>
        </p:spPr>
        <p:txBody>
          <a:bodyPr vert="horz" wrap="square" lIns="0" tIns="106680" rIns="0" bIns="0" rtlCol="0">
            <a:spAutoFit/>
          </a:bodyPr>
          <a:lstStyle/>
          <a:p>
            <a:pPr marL="12700" marR="5080">
              <a:lnSpc>
                <a:spcPts val="4700"/>
              </a:lnSpc>
              <a:spcBef>
                <a:spcPts val="840"/>
              </a:spcBef>
            </a:pPr>
            <a:r>
              <a:rPr lang="en-MY" spc="-125" dirty="0"/>
              <a:t>User Story</a:t>
            </a:r>
          </a:p>
        </p:txBody>
      </p:sp>
      <p:sp>
        <p:nvSpPr>
          <p:cNvPr id="4" name="object 4">
            <a:extLst>
              <a:ext uri="{FF2B5EF4-FFF2-40B4-BE49-F238E27FC236}">
                <a16:creationId xmlns:a16="http://schemas.microsoft.com/office/drawing/2014/main" id="{C63D16D3-6971-AF8E-F880-6C240F3D662B}"/>
              </a:ext>
            </a:extLst>
          </p:cNvPr>
          <p:cNvSpPr txBox="1"/>
          <p:nvPr/>
        </p:nvSpPr>
        <p:spPr>
          <a:xfrm>
            <a:off x="526368" y="1339077"/>
            <a:ext cx="2674031" cy="4002762"/>
          </a:xfrm>
          <a:prstGeom prst="rect">
            <a:avLst/>
          </a:prstGeom>
        </p:spPr>
        <p:txBody>
          <a:bodyPr vert="horz" wrap="square" lIns="0" tIns="7620" rIns="0" bIns="0" rtlCol="0">
            <a:spAutoFit/>
          </a:bodyPr>
          <a:lstStyle/>
          <a:p>
            <a:pPr marL="12700" marR="66040">
              <a:lnSpc>
                <a:spcPct val="102099"/>
              </a:lnSpc>
              <a:spcBef>
                <a:spcPts val="60"/>
              </a:spcBef>
            </a:pPr>
            <a:r>
              <a:rPr lang="en-US" sz="1600" b="1" dirty="0">
                <a:solidFill>
                  <a:srgbClr val="FFFFFF"/>
                </a:solidFill>
                <a:latin typeface="Arial"/>
                <a:cs typeface="Arial"/>
              </a:rPr>
              <a:t>A user story is a simple description of a feature or functionality written from the perspective of a customer or end-user. </a:t>
            </a:r>
          </a:p>
          <a:p>
            <a:pPr marL="12700" marR="66040">
              <a:lnSpc>
                <a:spcPct val="102099"/>
              </a:lnSpc>
              <a:spcBef>
                <a:spcPts val="60"/>
              </a:spcBef>
            </a:pPr>
            <a:endParaRPr lang="en-US" sz="1600" b="1" dirty="0">
              <a:solidFill>
                <a:srgbClr val="FFFFFF"/>
              </a:solidFill>
              <a:latin typeface="Arial"/>
              <a:cs typeface="Arial"/>
            </a:endParaRPr>
          </a:p>
          <a:p>
            <a:pPr marL="12700" marR="66040">
              <a:lnSpc>
                <a:spcPct val="102099"/>
              </a:lnSpc>
              <a:spcBef>
                <a:spcPts val="60"/>
              </a:spcBef>
            </a:pPr>
            <a:r>
              <a:rPr lang="en-US" sz="1300" dirty="0">
                <a:solidFill>
                  <a:srgbClr val="FFFFFF"/>
                </a:solidFill>
                <a:latin typeface="Roboto Lt"/>
                <a:cs typeface="Roboto Lt"/>
              </a:rPr>
              <a:t>The common user story template would look something like this:</a:t>
            </a:r>
          </a:p>
          <a:p>
            <a:pPr marL="12700" marR="66040">
              <a:lnSpc>
                <a:spcPct val="102099"/>
              </a:lnSpc>
              <a:spcBef>
                <a:spcPts val="60"/>
              </a:spcBef>
            </a:pPr>
            <a:endParaRPr lang="en-US" sz="1300" dirty="0">
              <a:solidFill>
                <a:srgbClr val="FFFFFF"/>
              </a:solidFill>
              <a:latin typeface="Roboto Lt"/>
              <a:cs typeface="Roboto Lt"/>
            </a:endParaRPr>
          </a:p>
          <a:p>
            <a:pPr marL="12700" marR="66040">
              <a:lnSpc>
                <a:spcPct val="102099"/>
              </a:lnSpc>
              <a:spcBef>
                <a:spcPts val="60"/>
              </a:spcBef>
            </a:pPr>
            <a:r>
              <a:rPr lang="en-US" sz="1600" dirty="0">
                <a:solidFill>
                  <a:srgbClr val="FFFFFF"/>
                </a:solidFill>
                <a:latin typeface="Arial" panose="020B0604020202020204" pitchFamily="34" charset="0"/>
                <a:cs typeface="Arial" panose="020B0604020202020204" pitchFamily="34" charset="0"/>
              </a:rPr>
              <a:t>As a </a:t>
            </a:r>
            <a:r>
              <a:rPr lang="en-US" sz="1600" b="1" dirty="0">
                <a:solidFill>
                  <a:srgbClr val="FFFFFF"/>
                </a:solidFill>
                <a:latin typeface="Arial" panose="020B0604020202020204" pitchFamily="34" charset="0"/>
                <a:cs typeface="Arial" panose="020B0604020202020204" pitchFamily="34" charset="0"/>
              </a:rPr>
              <a:t>[type of user]</a:t>
            </a:r>
            <a:r>
              <a:rPr lang="en-US" sz="1600" dirty="0">
                <a:solidFill>
                  <a:srgbClr val="FFFFFF"/>
                </a:solidFill>
                <a:latin typeface="Arial" panose="020B0604020202020204" pitchFamily="34" charset="0"/>
                <a:cs typeface="Arial" panose="020B0604020202020204" pitchFamily="34" charset="0"/>
              </a:rPr>
              <a:t>, </a:t>
            </a:r>
          </a:p>
          <a:p>
            <a:pPr marL="12700" marR="66040">
              <a:lnSpc>
                <a:spcPct val="102099"/>
              </a:lnSpc>
              <a:spcBef>
                <a:spcPts val="60"/>
              </a:spcBef>
            </a:pPr>
            <a:r>
              <a:rPr lang="en-US" sz="1600" dirty="0">
                <a:solidFill>
                  <a:srgbClr val="FFFFFF"/>
                </a:solidFill>
                <a:latin typeface="Arial" panose="020B0604020202020204" pitchFamily="34" charset="0"/>
                <a:cs typeface="Arial" panose="020B0604020202020204" pitchFamily="34" charset="0"/>
              </a:rPr>
              <a:t>I want </a:t>
            </a:r>
            <a:r>
              <a:rPr lang="en-US" sz="1600" b="1" dirty="0">
                <a:solidFill>
                  <a:srgbClr val="FFFFFF"/>
                </a:solidFill>
                <a:latin typeface="Arial" panose="020B0604020202020204" pitchFamily="34" charset="0"/>
                <a:cs typeface="Arial" panose="020B0604020202020204" pitchFamily="34" charset="0"/>
              </a:rPr>
              <a:t>[an action] </a:t>
            </a:r>
          </a:p>
          <a:p>
            <a:pPr marL="12700" marR="66040">
              <a:lnSpc>
                <a:spcPct val="102099"/>
              </a:lnSpc>
              <a:spcBef>
                <a:spcPts val="60"/>
              </a:spcBef>
            </a:pPr>
            <a:r>
              <a:rPr lang="en-US" sz="1600" dirty="0">
                <a:solidFill>
                  <a:srgbClr val="FFFFFF"/>
                </a:solidFill>
                <a:latin typeface="Arial" panose="020B0604020202020204" pitchFamily="34" charset="0"/>
                <a:cs typeface="Arial" panose="020B0604020202020204" pitchFamily="34" charset="0"/>
              </a:rPr>
              <a:t>so that </a:t>
            </a:r>
            <a:r>
              <a:rPr lang="en-US" sz="1600" b="1" dirty="0">
                <a:solidFill>
                  <a:srgbClr val="FFFFFF"/>
                </a:solidFill>
                <a:latin typeface="Arial" panose="020B0604020202020204" pitchFamily="34" charset="0"/>
                <a:cs typeface="Arial" panose="020B0604020202020204" pitchFamily="34" charset="0"/>
              </a:rPr>
              <a:t>[a benefit/value]</a:t>
            </a:r>
            <a:r>
              <a:rPr lang="en-US" sz="1600" dirty="0">
                <a:solidFill>
                  <a:srgbClr val="FFFFFF"/>
                </a:solidFill>
                <a:latin typeface="Arial" panose="020B0604020202020204" pitchFamily="34" charset="0"/>
                <a:cs typeface="Arial" panose="020B0604020202020204" pitchFamily="34" charset="0"/>
              </a:rPr>
              <a:t>.</a:t>
            </a:r>
          </a:p>
          <a:p>
            <a:pPr marL="12700" marR="66040">
              <a:lnSpc>
                <a:spcPct val="102099"/>
              </a:lnSpc>
              <a:spcBef>
                <a:spcPts val="60"/>
              </a:spcBef>
            </a:pPr>
            <a:endParaRPr lang="en-US" sz="1300" dirty="0">
              <a:solidFill>
                <a:srgbClr val="FFFFFF"/>
              </a:solidFill>
              <a:latin typeface="Roboto Lt"/>
              <a:cs typeface="Roboto Lt"/>
            </a:endParaRPr>
          </a:p>
          <a:p>
            <a:pPr marL="12700" marR="66040">
              <a:lnSpc>
                <a:spcPct val="102099"/>
              </a:lnSpc>
              <a:spcBef>
                <a:spcPts val="60"/>
              </a:spcBef>
            </a:pPr>
            <a:r>
              <a:rPr lang="en-US" sz="1300" dirty="0">
                <a:solidFill>
                  <a:srgbClr val="FFFFFF"/>
                </a:solidFill>
                <a:latin typeface="Roboto Lt"/>
                <a:cs typeface="Roboto Lt"/>
              </a:rPr>
              <a:t>Acceptance criteria outline what conditions are met for it to be considered done</a:t>
            </a:r>
          </a:p>
          <a:p>
            <a:pPr marL="12700" marR="66040">
              <a:lnSpc>
                <a:spcPct val="102099"/>
              </a:lnSpc>
              <a:spcBef>
                <a:spcPts val="60"/>
              </a:spcBef>
            </a:pPr>
            <a:endParaRPr sz="1300" dirty="0">
              <a:latin typeface="Roboto Lt"/>
              <a:cs typeface="Roboto Lt"/>
            </a:endParaRPr>
          </a:p>
        </p:txBody>
      </p:sp>
      <p:sp>
        <p:nvSpPr>
          <p:cNvPr id="6" name="object 6">
            <a:extLst>
              <a:ext uri="{FF2B5EF4-FFF2-40B4-BE49-F238E27FC236}">
                <a16:creationId xmlns:a16="http://schemas.microsoft.com/office/drawing/2014/main" id="{0C8E2E49-AF53-534B-93CF-A1615042868F}"/>
              </a:ext>
            </a:extLst>
          </p:cNvPr>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21</a:t>
            </a:r>
            <a:endParaRPr spc="35" dirty="0"/>
          </a:p>
        </p:txBody>
      </p:sp>
      <p:sp>
        <p:nvSpPr>
          <p:cNvPr id="7" name="object 7">
            <a:extLst>
              <a:ext uri="{FF2B5EF4-FFF2-40B4-BE49-F238E27FC236}">
                <a16:creationId xmlns:a16="http://schemas.microsoft.com/office/drawing/2014/main" id="{11631C28-9D0F-7975-F345-A2172DBE5170}"/>
              </a:ext>
            </a:extLst>
          </p:cNvPr>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Agile Methodology</a:t>
            </a:r>
            <a:endParaRPr dirty="0"/>
          </a:p>
        </p:txBody>
      </p:sp>
      <p:sp>
        <p:nvSpPr>
          <p:cNvPr id="10" name="object 5">
            <a:extLst>
              <a:ext uri="{FF2B5EF4-FFF2-40B4-BE49-F238E27FC236}">
                <a16:creationId xmlns:a16="http://schemas.microsoft.com/office/drawing/2014/main" id="{4DFDC808-9EFB-6FB7-5565-437E4AEE09FF}"/>
              </a:ext>
            </a:extLst>
          </p:cNvPr>
          <p:cNvSpPr txBox="1"/>
          <p:nvPr/>
        </p:nvSpPr>
        <p:spPr>
          <a:xfrm>
            <a:off x="3886200" y="594386"/>
            <a:ext cx="4746075" cy="4266745"/>
          </a:xfrm>
          <a:prstGeom prst="rect">
            <a:avLst/>
          </a:prstGeom>
        </p:spPr>
        <p:txBody>
          <a:bodyPr vert="horz" wrap="square" lIns="0" tIns="12700" rIns="0" bIns="0" rtlCol="0">
            <a:spAutoFit/>
          </a:bodyPr>
          <a:lstStyle/>
          <a:p>
            <a:pPr marL="12700" marR="5080">
              <a:lnSpc>
                <a:spcPct val="121800"/>
              </a:lnSpc>
              <a:spcBef>
                <a:spcPts val="100"/>
              </a:spcBef>
            </a:pPr>
            <a:r>
              <a:rPr lang="en-US" sz="1300" dirty="0">
                <a:latin typeface="Roboto Lt"/>
                <a:cs typeface="Roboto Lt"/>
              </a:rPr>
              <a:t>Example:</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User Story</a:t>
            </a:r>
            <a:r>
              <a:rPr lang="en-US" sz="1300" dirty="0">
                <a:latin typeface="Roboto Lt"/>
                <a:cs typeface="Roboto Lt"/>
              </a:rPr>
              <a:t>: Login into the System</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As a user, I want to log into the system using my credentials so that I can access my account securely.</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Acceptance Criteria</a:t>
            </a:r>
            <a:r>
              <a:rPr lang="en-US" sz="1300" dirty="0">
                <a:latin typeface="Roboto Lt"/>
                <a:cs typeface="Roboto Lt"/>
              </a:rPr>
              <a:t>:</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Login form includes fields for username/email and password.</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Valid credentials are required for successful login.</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Display error message ("Invalid username or password") for incorrect credentials.</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Passwords are masked during </a:t>
            </a:r>
            <a:r>
              <a:rPr lang="en-US" sz="1300" dirty="0" err="1">
                <a:latin typeface="Roboto Lt"/>
                <a:cs typeface="Roboto Lt"/>
              </a:rPr>
              <a:t>typing.Provide</a:t>
            </a:r>
            <a:r>
              <a:rPr lang="en-US" sz="1300" dirty="0">
                <a:latin typeface="Roboto Lt"/>
                <a:cs typeface="Roboto Lt"/>
              </a:rPr>
              <a:t> a "Forgot Password" link for account recovery.</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Redirect users to the dashboard after successful login.</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Redirect to login page if the session expires.</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Lock account after 5 failed attempts, showing an "Account locked" message.</a:t>
            </a:r>
          </a:p>
        </p:txBody>
      </p:sp>
    </p:spTree>
    <p:extLst>
      <p:ext uri="{BB962C8B-B14F-4D97-AF65-F5344CB8AC3E}">
        <p14:creationId xmlns:p14="http://schemas.microsoft.com/office/powerpoint/2010/main" val="13575094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A3F52-BD57-D705-CCEF-C9BF27250A7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3DFAC32-14C6-7026-73F8-4585634F905A}"/>
              </a:ext>
            </a:extLst>
          </p:cNvPr>
          <p:cNvSpPr/>
          <p:nvPr/>
        </p:nvSpPr>
        <p:spPr>
          <a:xfrm>
            <a:off x="0" y="0"/>
            <a:ext cx="3700146" cy="5943600"/>
          </a:xfrm>
          <a:custGeom>
            <a:avLst/>
            <a:gdLst/>
            <a:ahLst/>
            <a:cxnLst/>
            <a:rect l="l" t="t" r="r" b="b"/>
            <a:pathLst>
              <a:path w="5029200" h="5943600">
                <a:moveTo>
                  <a:pt x="5029200" y="0"/>
                </a:moveTo>
                <a:lnTo>
                  <a:pt x="0" y="0"/>
                </a:lnTo>
                <a:lnTo>
                  <a:pt x="0" y="5943600"/>
                </a:lnTo>
                <a:lnTo>
                  <a:pt x="5029200" y="5943600"/>
                </a:lnTo>
                <a:lnTo>
                  <a:pt x="5029200" y="0"/>
                </a:lnTo>
                <a:close/>
              </a:path>
            </a:pathLst>
          </a:custGeom>
          <a:solidFill>
            <a:srgbClr val="0072EB"/>
          </a:solidFill>
        </p:spPr>
        <p:txBody>
          <a:bodyPr wrap="square" lIns="0" tIns="0" rIns="0" bIns="0" rtlCol="0"/>
          <a:lstStyle/>
          <a:p>
            <a:endParaRPr/>
          </a:p>
        </p:txBody>
      </p:sp>
      <p:sp>
        <p:nvSpPr>
          <p:cNvPr id="3" name="object 3">
            <a:extLst>
              <a:ext uri="{FF2B5EF4-FFF2-40B4-BE49-F238E27FC236}">
                <a16:creationId xmlns:a16="http://schemas.microsoft.com/office/drawing/2014/main" id="{14088816-8CAB-0A45-FF5B-09B0DEEB859C}"/>
              </a:ext>
            </a:extLst>
          </p:cNvPr>
          <p:cNvSpPr txBox="1">
            <a:spLocks noGrp="1"/>
          </p:cNvSpPr>
          <p:nvPr>
            <p:ph type="title"/>
          </p:nvPr>
        </p:nvSpPr>
        <p:spPr>
          <a:xfrm>
            <a:off x="526368" y="510301"/>
            <a:ext cx="3601720" cy="1308100"/>
          </a:xfrm>
          <a:prstGeom prst="rect">
            <a:avLst/>
          </a:prstGeom>
        </p:spPr>
        <p:txBody>
          <a:bodyPr vert="horz" wrap="square" lIns="0" tIns="106680" rIns="0" bIns="0" rtlCol="0">
            <a:spAutoFit/>
          </a:bodyPr>
          <a:lstStyle/>
          <a:p>
            <a:pPr marL="12700" marR="5080">
              <a:lnSpc>
                <a:spcPts val="4700"/>
              </a:lnSpc>
              <a:spcBef>
                <a:spcPts val="840"/>
              </a:spcBef>
            </a:pPr>
            <a:r>
              <a:rPr lang="en-MY" spc="-125" dirty="0"/>
              <a:t>Burndown  chart</a:t>
            </a:r>
          </a:p>
        </p:txBody>
      </p:sp>
      <p:sp>
        <p:nvSpPr>
          <p:cNvPr id="4" name="object 4">
            <a:extLst>
              <a:ext uri="{FF2B5EF4-FFF2-40B4-BE49-F238E27FC236}">
                <a16:creationId xmlns:a16="http://schemas.microsoft.com/office/drawing/2014/main" id="{D1E27A2A-DA6D-93AF-121D-641B51AB3E8E}"/>
              </a:ext>
            </a:extLst>
          </p:cNvPr>
          <p:cNvSpPr txBox="1"/>
          <p:nvPr/>
        </p:nvSpPr>
        <p:spPr>
          <a:xfrm>
            <a:off x="526369" y="1953021"/>
            <a:ext cx="2674031" cy="3624903"/>
          </a:xfrm>
          <a:prstGeom prst="rect">
            <a:avLst/>
          </a:prstGeom>
        </p:spPr>
        <p:txBody>
          <a:bodyPr vert="horz" wrap="square" lIns="0" tIns="7620" rIns="0" bIns="0" rtlCol="0">
            <a:spAutoFit/>
          </a:bodyPr>
          <a:lstStyle/>
          <a:p>
            <a:pPr marL="12700" marR="66040">
              <a:lnSpc>
                <a:spcPct val="102099"/>
              </a:lnSpc>
              <a:spcBef>
                <a:spcPts val="60"/>
              </a:spcBef>
            </a:pPr>
            <a:r>
              <a:rPr lang="en-US" sz="1600" b="1" dirty="0">
                <a:solidFill>
                  <a:srgbClr val="FFFFFF"/>
                </a:solidFill>
                <a:latin typeface="Arial"/>
                <a:cs typeface="Arial"/>
              </a:rPr>
              <a:t>An Agile burndown chart is a simple graph that helps you measure a project’s progress against time. It visually represents the amount of work remaining over time in a sprint</a:t>
            </a:r>
            <a:r>
              <a:rPr sz="1600" b="1" dirty="0">
                <a:solidFill>
                  <a:srgbClr val="FFFFFF"/>
                </a:solidFill>
                <a:latin typeface="Arial"/>
                <a:cs typeface="Arial"/>
              </a:rPr>
              <a:t>.</a:t>
            </a:r>
            <a:endParaRPr sz="1600" dirty="0">
              <a:latin typeface="Arial"/>
              <a:cs typeface="Arial"/>
            </a:endParaRPr>
          </a:p>
          <a:p>
            <a:pPr marL="12700" marR="5080">
              <a:lnSpc>
                <a:spcPct val="121800"/>
              </a:lnSpc>
              <a:spcBef>
                <a:spcPts val="1290"/>
              </a:spcBef>
            </a:pPr>
            <a:r>
              <a:rPr lang="en-US" sz="1300" dirty="0">
                <a:solidFill>
                  <a:srgbClr val="FFFFFF"/>
                </a:solidFill>
                <a:latin typeface="Roboto Lt"/>
                <a:cs typeface="Roboto Lt"/>
              </a:rPr>
              <a:t>Agile burndown charts are valuable tools for visualizing work completion, predicting project timelines, identifying bottlenecks, and making informed decisions to ensure successful project delivery.</a:t>
            </a:r>
            <a:endParaRPr sz="1300" dirty="0">
              <a:latin typeface="Roboto Lt"/>
              <a:cs typeface="Roboto Lt"/>
            </a:endParaRPr>
          </a:p>
        </p:txBody>
      </p:sp>
      <p:sp>
        <p:nvSpPr>
          <p:cNvPr id="6" name="object 6">
            <a:extLst>
              <a:ext uri="{FF2B5EF4-FFF2-40B4-BE49-F238E27FC236}">
                <a16:creationId xmlns:a16="http://schemas.microsoft.com/office/drawing/2014/main" id="{86473300-ECB4-1674-63A8-EDD07B63ABB3}"/>
              </a:ext>
            </a:extLst>
          </p:cNvPr>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22</a:t>
            </a:r>
            <a:endParaRPr spc="35" dirty="0"/>
          </a:p>
        </p:txBody>
      </p:sp>
      <p:sp>
        <p:nvSpPr>
          <p:cNvPr id="7" name="object 7">
            <a:extLst>
              <a:ext uri="{FF2B5EF4-FFF2-40B4-BE49-F238E27FC236}">
                <a16:creationId xmlns:a16="http://schemas.microsoft.com/office/drawing/2014/main" id="{D00DE990-BE53-14C3-17D6-F9DE308A9EDB}"/>
              </a:ext>
            </a:extLst>
          </p:cNvPr>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Agile Methodology</a:t>
            </a:r>
            <a:endParaRPr dirty="0"/>
          </a:p>
        </p:txBody>
      </p:sp>
      <p:sp>
        <p:nvSpPr>
          <p:cNvPr id="10" name="object 5">
            <a:extLst>
              <a:ext uri="{FF2B5EF4-FFF2-40B4-BE49-F238E27FC236}">
                <a16:creationId xmlns:a16="http://schemas.microsoft.com/office/drawing/2014/main" id="{E7CAC86F-83F0-8F2B-F658-6F4245600738}"/>
              </a:ext>
            </a:extLst>
          </p:cNvPr>
          <p:cNvSpPr txBox="1"/>
          <p:nvPr/>
        </p:nvSpPr>
        <p:spPr>
          <a:xfrm>
            <a:off x="3886200" y="594386"/>
            <a:ext cx="4746075" cy="3496150"/>
          </a:xfrm>
          <a:prstGeom prst="rect">
            <a:avLst/>
          </a:prstGeom>
        </p:spPr>
        <p:txBody>
          <a:bodyPr vert="horz" wrap="square" lIns="0" tIns="12700" rIns="0" bIns="0" rtlCol="0">
            <a:spAutoFit/>
          </a:bodyPr>
          <a:lstStyle/>
          <a:p>
            <a:pPr marL="298450" marR="5080" indent="-285750">
              <a:lnSpc>
                <a:spcPct val="121800"/>
              </a:lnSpc>
              <a:spcBef>
                <a:spcPts val="100"/>
              </a:spcBef>
              <a:buFont typeface="Arial" panose="020B0604020202020204" pitchFamily="34" charset="0"/>
              <a:buChar char="•"/>
            </a:pPr>
            <a:r>
              <a:rPr lang="en-US" sz="1300" dirty="0">
                <a:latin typeface="Roboto Lt"/>
                <a:cs typeface="Roboto Lt"/>
              </a:rPr>
              <a:t>Key components of an Agile burndown chart:</a:t>
            </a:r>
          </a:p>
          <a:p>
            <a:pPr marL="755650" marR="5080" lvl="1" indent="-285750">
              <a:lnSpc>
                <a:spcPct val="121800"/>
              </a:lnSpc>
              <a:spcBef>
                <a:spcPts val="100"/>
              </a:spcBef>
              <a:buFont typeface="Arial" panose="020B0604020202020204" pitchFamily="34" charset="0"/>
              <a:buChar char="•"/>
            </a:pPr>
            <a:r>
              <a:rPr lang="en-US" sz="1300" b="1" dirty="0">
                <a:latin typeface="Roboto Lt"/>
                <a:cs typeface="Roboto Lt"/>
              </a:rPr>
              <a:t>X-axis (Time)</a:t>
            </a:r>
            <a:r>
              <a:rPr lang="en-US" sz="1300" dirty="0">
                <a:latin typeface="Roboto Lt"/>
                <a:cs typeface="Roboto Lt"/>
              </a:rPr>
              <a:t>: Time left until the project deadline, in days or sprints.</a:t>
            </a:r>
          </a:p>
          <a:p>
            <a:pPr marL="755650" marR="5080" lvl="1" indent="-285750">
              <a:lnSpc>
                <a:spcPct val="121800"/>
              </a:lnSpc>
              <a:spcBef>
                <a:spcPts val="100"/>
              </a:spcBef>
              <a:buFont typeface="Arial" panose="020B0604020202020204" pitchFamily="34" charset="0"/>
              <a:buChar char="•"/>
            </a:pPr>
            <a:r>
              <a:rPr lang="en-US" sz="1300" b="1" dirty="0">
                <a:latin typeface="Roboto Lt"/>
                <a:cs typeface="Roboto Lt"/>
              </a:rPr>
              <a:t>Y-axis (Work Remaining)</a:t>
            </a:r>
            <a:r>
              <a:rPr lang="en-US" sz="1300" dirty="0">
                <a:latin typeface="Roboto Lt"/>
                <a:cs typeface="Roboto Lt"/>
              </a:rPr>
              <a:t>: Tasks or story points left to complete.</a:t>
            </a:r>
          </a:p>
          <a:p>
            <a:pPr marL="755650" marR="5080" lvl="1" indent="-285750">
              <a:lnSpc>
                <a:spcPct val="121800"/>
              </a:lnSpc>
              <a:spcBef>
                <a:spcPts val="100"/>
              </a:spcBef>
              <a:buFont typeface="Arial" panose="020B0604020202020204" pitchFamily="34" charset="0"/>
              <a:buChar char="•"/>
            </a:pPr>
            <a:r>
              <a:rPr lang="en-US" sz="1300" b="1" dirty="0">
                <a:latin typeface="Roboto Lt"/>
                <a:cs typeface="Roboto Lt"/>
              </a:rPr>
              <a:t>Start Point</a:t>
            </a:r>
            <a:r>
              <a:rPr lang="en-US" sz="1300" dirty="0">
                <a:latin typeface="Roboto Lt"/>
                <a:cs typeface="Roboto Lt"/>
              </a:rPr>
              <a:t>: Total estimated work at the project's start.</a:t>
            </a:r>
          </a:p>
          <a:p>
            <a:pPr marL="755650" marR="5080" lvl="1" indent="-285750">
              <a:lnSpc>
                <a:spcPct val="121800"/>
              </a:lnSpc>
              <a:spcBef>
                <a:spcPts val="100"/>
              </a:spcBef>
              <a:buFont typeface="Arial" panose="020B0604020202020204" pitchFamily="34" charset="0"/>
              <a:buChar char="•"/>
            </a:pPr>
            <a:r>
              <a:rPr lang="en-US" sz="1300" b="1" dirty="0">
                <a:latin typeface="Roboto Lt"/>
                <a:cs typeface="Roboto Lt"/>
              </a:rPr>
              <a:t>Finish Point</a:t>
            </a:r>
            <a:r>
              <a:rPr lang="en-US" sz="1300" dirty="0">
                <a:latin typeface="Roboto Lt"/>
                <a:cs typeface="Roboto Lt"/>
              </a:rPr>
              <a:t>: Predicted completion based on estimates and efficiency.</a:t>
            </a:r>
          </a:p>
          <a:p>
            <a:pPr marL="755650" marR="5080" lvl="1" indent="-285750">
              <a:lnSpc>
                <a:spcPct val="121800"/>
              </a:lnSpc>
              <a:spcBef>
                <a:spcPts val="100"/>
              </a:spcBef>
              <a:buFont typeface="Arial" panose="020B0604020202020204" pitchFamily="34" charset="0"/>
              <a:buChar char="•"/>
            </a:pPr>
            <a:r>
              <a:rPr lang="en-US" sz="1300" b="1" dirty="0">
                <a:latin typeface="Roboto Lt"/>
                <a:cs typeface="Roboto Lt"/>
              </a:rPr>
              <a:t>Ideal Line</a:t>
            </a:r>
            <a:r>
              <a:rPr lang="en-US" sz="1300" dirty="0">
                <a:latin typeface="Roboto Lt"/>
                <a:cs typeface="Roboto Lt"/>
              </a:rPr>
              <a:t>: Straight line showing expected progress for on-time delivery.</a:t>
            </a:r>
          </a:p>
          <a:p>
            <a:pPr marL="755650" marR="5080" lvl="1" indent="-285750">
              <a:lnSpc>
                <a:spcPct val="121800"/>
              </a:lnSpc>
              <a:spcBef>
                <a:spcPts val="100"/>
              </a:spcBef>
              <a:buFont typeface="Arial" panose="020B0604020202020204" pitchFamily="34" charset="0"/>
              <a:buChar char="•"/>
            </a:pPr>
            <a:r>
              <a:rPr lang="en-US" sz="1300" b="1" dirty="0">
                <a:latin typeface="Roboto Lt"/>
                <a:cs typeface="Roboto Lt"/>
              </a:rPr>
              <a:t>Actual Line</a:t>
            </a:r>
            <a:r>
              <a:rPr lang="en-US" sz="1300" dirty="0">
                <a:latin typeface="Roboto Lt"/>
                <a:cs typeface="Roboto Lt"/>
              </a:rPr>
              <a:t>: Real-time progress tracking.</a:t>
            </a:r>
          </a:p>
          <a:p>
            <a:pPr marL="755650" marR="5080" lvl="1" indent="-285750">
              <a:lnSpc>
                <a:spcPct val="121800"/>
              </a:lnSpc>
              <a:spcBef>
                <a:spcPts val="100"/>
              </a:spcBef>
              <a:buFont typeface="Arial" panose="020B0604020202020204" pitchFamily="34" charset="0"/>
              <a:buChar char="•"/>
            </a:pPr>
            <a:r>
              <a:rPr lang="en-US" sz="1300" b="1" dirty="0">
                <a:latin typeface="Roboto Lt"/>
                <a:cs typeface="Roboto Lt"/>
              </a:rPr>
              <a:t>Ahead of Schedule</a:t>
            </a:r>
            <a:r>
              <a:rPr lang="en-US" sz="1300" dirty="0">
                <a:latin typeface="Roboto Lt"/>
                <a:cs typeface="Roboto Lt"/>
              </a:rPr>
              <a:t>: Actual line below the ideal line.</a:t>
            </a:r>
          </a:p>
          <a:p>
            <a:pPr marL="755650" marR="5080" lvl="1" indent="-285750">
              <a:lnSpc>
                <a:spcPct val="121800"/>
              </a:lnSpc>
              <a:spcBef>
                <a:spcPts val="100"/>
              </a:spcBef>
              <a:buFont typeface="Arial" panose="020B0604020202020204" pitchFamily="34" charset="0"/>
              <a:buChar char="•"/>
            </a:pPr>
            <a:r>
              <a:rPr lang="en-US" sz="1300" b="1" dirty="0">
                <a:latin typeface="Roboto Lt"/>
                <a:cs typeface="Roboto Lt"/>
              </a:rPr>
              <a:t>Behind Schedule</a:t>
            </a:r>
            <a:r>
              <a:rPr lang="en-US" sz="1300" dirty="0">
                <a:latin typeface="Roboto Lt"/>
                <a:cs typeface="Roboto Lt"/>
              </a:rPr>
              <a:t>: Actual line above the ideal line, signaling potential delays.</a:t>
            </a:r>
            <a:endParaRPr sz="1300" dirty="0">
              <a:latin typeface="Roboto Lt"/>
              <a:cs typeface="Roboto Lt"/>
            </a:endParaRPr>
          </a:p>
        </p:txBody>
      </p:sp>
    </p:spTree>
    <p:extLst>
      <p:ext uri="{BB962C8B-B14F-4D97-AF65-F5344CB8AC3E}">
        <p14:creationId xmlns:p14="http://schemas.microsoft.com/office/powerpoint/2010/main" val="1274847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085A4-53AA-6ACC-8DD7-AC7C0861B458}"/>
            </a:ext>
          </a:extLst>
        </p:cNvPr>
        <p:cNvGrpSpPr/>
        <p:nvPr/>
      </p:nvGrpSpPr>
      <p:grpSpPr>
        <a:xfrm>
          <a:off x="0" y="0"/>
          <a:ext cx="0" cy="0"/>
          <a:chOff x="0" y="0"/>
          <a:chExt cx="0" cy="0"/>
        </a:xfrm>
      </p:grpSpPr>
      <p:sp>
        <p:nvSpPr>
          <p:cNvPr id="4" name="object 17">
            <a:extLst>
              <a:ext uri="{FF2B5EF4-FFF2-40B4-BE49-F238E27FC236}">
                <a16:creationId xmlns:a16="http://schemas.microsoft.com/office/drawing/2014/main" id="{59B522F0-8961-D2F0-5FD5-1E046FA22900}"/>
              </a:ext>
            </a:extLst>
          </p:cNvPr>
          <p:cNvSpPr/>
          <p:nvPr/>
        </p:nvSpPr>
        <p:spPr>
          <a:xfrm>
            <a:off x="0" y="0"/>
            <a:ext cx="9144000" cy="1490980"/>
          </a:xfrm>
          <a:custGeom>
            <a:avLst/>
            <a:gdLst/>
            <a:ahLst/>
            <a:cxnLst/>
            <a:rect l="l" t="t" r="r" b="b"/>
            <a:pathLst>
              <a:path w="9144000" h="1490980">
                <a:moveTo>
                  <a:pt x="9144000" y="0"/>
                </a:moveTo>
                <a:lnTo>
                  <a:pt x="0" y="0"/>
                </a:lnTo>
                <a:lnTo>
                  <a:pt x="0" y="1490472"/>
                </a:lnTo>
                <a:lnTo>
                  <a:pt x="9144000" y="1490472"/>
                </a:lnTo>
                <a:lnTo>
                  <a:pt x="9144000" y="0"/>
                </a:lnTo>
                <a:close/>
              </a:path>
            </a:pathLst>
          </a:custGeom>
          <a:solidFill>
            <a:srgbClr val="0072EB"/>
          </a:solidFill>
        </p:spPr>
        <p:txBody>
          <a:bodyPr wrap="square" lIns="0" tIns="0" rIns="0" bIns="0" rtlCol="0"/>
          <a:lstStyle/>
          <a:p>
            <a:endParaRPr/>
          </a:p>
        </p:txBody>
      </p:sp>
      <p:sp>
        <p:nvSpPr>
          <p:cNvPr id="5" name="object 18">
            <a:extLst>
              <a:ext uri="{FF2B5EF4-FFF2-40B4-BE49-F238E27FC236}">
                <a16:creationId xmlns:a16="http://schemas.microsoft.com/office/drawing/2014/main" id="{683AE200-557D-01DB-B7E3-F724E40E1D04}"/>
              </a:ext>
            </a:extLst>
          </p:cNvPr>
          <p:cNvSpPr txBox="1">
            <a:spLocks noGrp="1"/>
          </p:cNvSpPr>
          <p:nvPr>
            <p:ph type="title"/>
          </p:nvPr>
        </p:nvSpPr>
        <p:spPr>
          <a:xfrm>
            <a:off x="526367" y="424576"/>
            <a:ext cx="8403097" cy="705321"/>
          </a:xfrm>
          <a:prstGeom prst="rect">
            <a:avLst/>
          </a:prstGeom>
        </p:spPr>
        <p:txBody>
          <a:bodyPr vert="horz" wrap="square" lIns="0" tIns="12700" rIns="0" bIns="0" rtlCol="0">
            <a:spAutoFit/>
          </a:bodyPr>
          <a:lstStyle/>
          <a:p>
            <a:pPr marL="12700" algn="ctr">
              <a:lnSpc>
                <a:spcPct val="100000"/>
              </a:lnSpc>
              <a:spcBef>
                <a:spcPts val="100"/>
              </a:spcBef>
            </a:pPr>
            <a:r>
              <a:rPr lang="en-US" dirty="0"/>
              <a:t>Example of Burndown Chart</a:t>
            </a:r>
            <a:endParaRPr dirty="0"/>
          </a:p>
        </p:txBody>
      </p:sp>
      <p:sp>
        <p:nvSpPr>
          <p:cNvPr id="6" name="Footer Placeholder 5">
            <a:extLst>
              <a:ext uri="{FF2B5EF4-FFF2-40B4-BE49-F238E27FC236}">
                <a16:creationId xmlns:a16="http://schemas.microsoft.com/office/drawing/2014/main" id="{2B96C038-9ADA-F3EB-0632-DFDE3672E62A}"/>
              </a:ext>
            </a:extLst>
          </p:cNvPr>
          <p:cNvSpPr>
            <a:spLocks noGrp="1"/>
          </p:cNvSpPr>
          <p:nvPr>
            <p:ph type="ftr" sz="quarter" idx="5"/>
          </p:nvPr>
        </p:nvSpPr>
        <p:spPr>
          <a:xfrm>
            <a:off x="6634705" y="5571421"/>
            <a:ext cx="1627504" cy="153888"/>
          </a:xfrm>
        </p:spPr>
        <p:txBody>
          <a:bodyPr/>
          <a:lstStyle/>
          <a:p>
            <a:pPr marL="12700" algn="r">
              <a:lnSpc>
                <a:spcPct val="100000"/>
              </a:lnSpc>
              <a:spcBef>
                <a:spcPts val="25"/>
              </a:spcBef>
            </a:pPr>
            <a:r>
              <a:rPr lang="en-MY" spc="-25" dirty="0"/>
              <a:t>Agile Methodology</a:t>
            </a:r>
            <a:endParaRPr lang="en-MY" dirty="0"/>
          </a:p>
        </p:txBody>
      </p:sp>
      <p:sp>
        <p:nvSpPr>
          <p:cNvPr id="7" name="Slide Number Placeholder 6">
            <a:extLst>
              <a:ext uri="{FF2B5EF4-FFF2-40B4-BE49-F238E27FC236}">
                <a16:creationId xmlns:a16="http://schemas.microsoft.com/office/drawing/2014/main" id="{962D4A1C-80EF-35EE-8FD0-C09A6B0C2041}"/>
              </a:ext>
            </a:extLst>
          </p:cNvPr>
          <p:cNvSpPr>
            <a:spLocks noGrp="1"/>
          </p:cNvSpPr>
          <p:nvPr>
            <p:ph type="sldNum" sz="quarter" idx="7"/>
          </p:nvPr>
        </p:nvSpPr>
        <p:spPr/>
        <p:txBody>
          <a:bodyPr/>
          <a:lstStyle/>
          <a:p>
            <a:pPr marL="38100">
              <a:lnSpc>
                <a:spcPct val="100000"/>
              </a:lnSpc>
              <a:spcBef>
                <a:spcPts val="190"/>
              </a:spcBef>
            </a:pPr>
            <a:fld id="{81D60167-4931-47E6-BA6A-407CBD079E47}" type="slidenum">
              <a:rPr lang="en-MY" spc="35" smtClean="0"/>
              <a:t>23</a:t>
            </a:fld>
            <a:endParaRPr lang="en-MY" spc="35" dirty="0"/>
          </a:p>
        </p:txBody>
      </p:sp>
      <p:pic>
        <p:nvPicPr>
          <p:cNvPr id="4098" name="Picture 2" descr="The key components of an Agile burndown chart">
            <a:extLst>
              <a:ext uri="{FF2B5EF4-FFF2-40B4-BE49-F238E27FC236}">
                <a16:creationId xmlns:a16="http://schemas.microsoft.com/office/drawing/2014/main" id="{C6FA2B27-9922-C347-BD4E-E089BE9D9FA0}"/>
              </a:ext>
            </a:extLst>
          </p:cNvPr>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l="38332" t="18889" r="7031" b="8518"/>
          <a:stretch/>
        </p:blipFill>
        <p:spPr bwMode="auto">
          <a:xfrm>
            <a:off x="2506662" y="1938165"/>
            <a:ext cx="4442505" cy="3320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51836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E281F-CDFD-F869-1923-F45A9BB0AF74}"/>
            </a:ext>
          </a:extLst>
        </p:cNvPr>
        <p:cNvGrpSpPr/>
        <p:nvPr/>
      </p:nvGrpSpPr>
      <p:grpSpPr>
        <a:xfrm>
          <a:off x="0" y="0"/>
          <a:ext cx="0" cy="0"/>
          <a:chOff x="0" y="0"/>
          <a:chExt cx="0" cy="0"/>
        </a:xfrm>
      </p:grpSpPr>
      <p:sp>
        <p:nvSpPr>
          <p:cNvPr id="4" name="object 17">
            <a:extLst>
              <a:ext uri="{FF2B5EF4-FFF2-40B4-BE49-F238E27FC236}">
                <a16:creationId xmlns:a16="http://schemas.microsoft.com/office/drawing/2014/main" id="{07281204-8F0E-A893-444A-8E2516BDF4BA}"/>
              </a:ext>
            </a:extLst>
          </p:cNvPr>
          <p:cNvSpPr/>
          <p:nvPr/>
        </p:nvSpPr>
        <p:spPr>
          <a:xfrm>
            <a:off x="0" y="0"/>
            <a:ext cx="9144000" cy="1490980"/>
          </a:xfrm>
          <a:custGeom>
            <a:avLst/>
            <a:gdLst/>
            <a:ahLst/>
            <a:cxnLst/>
            <a:rect l="l" t="t" r="r" b="b"/>
            <a:pathLst>
              <a:path w="9144000" h="1490980">
                <a:moveTo>
                  <a:pt x="9144000" y="0"/>
                </a:moveTo>
                <a:lnTo>
                  <a:pt x="0" y="0"/>
                </a:lnTo>
                <a:lnTo>
                  <a:pt x="0" y="1490472"/>
                </a:lnTo>
                <a:lnTo>
                  <a:pt x="9144000" y="1490472"/>
                </a:lnTo>
                <a:lnTo>
                  <a:pt x="9144000" y="0"/>
                </a:lnTo>
                <a:close/>
              </a:path>
            </a:pathLst>
          </a:custGeom>
          <a:solidFill>
            <a:srgbClr val="0072EB"/>
          </a:solidFill>
        </p:spPr>
        <p:txBody>
          <a:bodyPr wrap="square" lIns="0" tIns="0" rIns="0" bIns="0" rtlCol="0"/>
          <a:lstStyle/>
          <a:p>
            <a:endParaRPr/>
          </a:p>
        </p:txBody>
      </p:sp>
      <p:sp>
        <p:nvSpPr>
          <p:cNvPr id="5" name="object 18">
            <a:extLst>
              <a:ext uri="{FF2B5EF4-FFF2-40B4-BE49-F238E27FC236}">
                <a16:creationId xmlns:a16="http://schemas.microsoft.com/office/drawing/2014/main" id="{1192A959-EBA6-D615-DA0F-6DDA2265BB00}"/>
              </a:ext>
            </a:extLst>
          </p:cNvPr>
          <p:cNvSpPr txBox="1">
            <a:spLocks noGrp="1"/>
          </p:cNvSpPr>
          <p:nvPr>
            <p:ph type="title"/>
          </p:nvPr>
        </p:nvSpPr>
        <p:spPr>
          <a:xfrm>
            <a:off x="526365" y="62179"/>
            <a:ext cx="8403097" cy="1397819"/>
          </a:xfrm>
          <a:prstGeom prst="rect">
            <a:avLst/>
          </a:prstGeom>
        </p:spPr>
        <p:txBody>
          <a:bodyPr vert="horz" wrap="square" lIns="0" tIns="12700" rIns="0" bIns="0" rtlCol="0">
            <a:spAutoFit/>
          </a:bodyPr>
          <a:lstStyle/>
          <a:p>
            <a:pPr marL="12700" algn="ctr">
              <a:lnSpc>
                <a:spcPct val="100000"/>
              </a:lnSpc>
              <a:spcBef>
                <a:spcPts val="100"/>
              </a:spcBef>
            </a:pPr>
            <a:r>
              <a:rPr lang="en-US" dirty="0"/>
              <a:t>Benefits and Limitations of Burndown Chart</a:t>
            </a:r>
            <a:endParaRPr dirty="0"/>
          </a:p>
        </p:txBody>
      </p:sp>
      <p:sp>
        <p:nvSpPr>
          <p:cNvPr id="6" name="Footer Placeholder 5">
            <a:extLst>
              <a:ext uri="{FF2B5EF4-FFF2-40B4-BE49-F238E27FC236}">
                <a16:creationId xmlns:a16="http://schemas.microsoft.com/office/drawing/2014/main" id="{958B1DDC-BCBB-0778-FFAC-B2E9AC99B1C6}"/>
              </a:ext>
            </a:extLst>
          </p:cNvPr>
          <p:cNvSpPr>
            <a:spLocks noGrp="1"/>
          </p:cNvSpPr>
          <p:nvPr>
            <p:ph type="ftr" sz="quarter" idx="5"/>
          </p:nvPr>
        </p:nvSpPr>
        <p:spPr>
          <a:xfrm>
            <a:off x="6634705" y="5571421"/>
            <a:ext cx="1627504" cy="153888"/>
          </a:xfrm>
        </p:spPr>
        <p:txBody>
          <a:bodyPr/>
          <a:lstStyle/>
          <a:p>
            <a:pPr marL="12700" algn="r">
              <a:lnSpc>
                <a:spcPct val="100000"/>
              </a:lnSpc>
              <a:spcBef>
                <a:spcPts val="25"/>
              </a:spcBef>
            </a:pPr>
            <a:r>
              <a:rPr lang="en-MY" spc="-25" dirty="0"/>
              <a:t>Agile Methodology</a:t>
            </a:r>
            <a:endParaRPr lang="en-MY" dirty="0"/>
          </a:p>
        </p:txBody>
      </p:sp>
      <p:sp>
        <p:nvSpPr>
          <p:cNvPr id="7" name="Slide Number Placeholder 6">
            <a:extLst>
              <a:ext uri="{FF2B5EF4-FFF2-40B4-BE49-F238E27FC236}">
                <a16:creationId xmlns:a16="http://schemas.microsoft.com/office/drawing/2014/main" id="{85DFA41E-C371-8762-53C6-572A1F7EECC8}"/>
              </a:ext>
            </a:extLst>
          </p:cNvPr>
          <p:cNvSpPr>
            <a:spLocks noGrp="1"/>
          </p:cNvSpPr>
          <p:nvPr>
            <p:ph type="sldNum" sz="quarter" idx="7"/>
          </p:nvPr>
        </p:nvSpPr>
        <p:spPr/>
        <p:txBody>
          <a:bodyPr/>
          <a:lstStyle/>
          <a:p>
            <a:pPr marL="38100">
              <a:lnSpc>
                <a:spcPct val="100000"/>
              </a:lnSpc>
              <a:spcBef>
                <a:spcPts val="190"/>
              </a:spcBef>
            </a:pPr>
            <a:fld id="{81D60167-4931-47E6-BA6A-407CBD079E47}" type="slidenum">
              <a:rPr lang="en-MY" spc="35" smtClean="0"/>
              <a:t>24</a:t>
            </a:fld>
            <a:endParaRPr lang="en-MY" spc="35" dirty="0"/>
          </a:p>
        </p:txBody>
      </p:sp>
      <p:sp>
        <p:nvSpPr>
          <p:cNvPr id="2" name="object 5">
            <a:extLst>
              <a:ext uri="{FF2B5EF4-FFF2-40B4-BE49-F238E27FC236}">
                <a16:creationId xmlns:a16="http://schemas.microsoft.com/office/drawing/2014/main" id="{C042EF12-C871-58F1-5DF9-E3476476E960}"/>
              </a:ext>
            </a:extLst>
          </p:cNvPr>
          <p:cNvSpPr txBox="1"/>
          <p:nvPr/>
        </p:nvSpPr>
        <p:spPr>
          <a:xfrm>
            <a:off x="529715" y="1787704"/>
            <a:ext cx="4870146" cy="3753015"/>
          </a:xfrm>
          <a:prstGeom prst="rect">
            <a:avLst/>
          </a:prstGeom>
        </p:spPr>
        <p:txBody>
          <a:bodyPr vert="horz" wrap="square" lIns="0" tIns="12700" rIns="0" bIns="0" rtlCol="0">
            <a:spAutoFit/>
          </a:bodyPr>
          <a:lstStyle/>
          <a:p>
            <a:pPr marL="12700" marR="5080">
              <a:lnSpc>
                <a:spcPct val="121800"/>
              </a:lnSpc>
              <a:spcBef>
                <a:spcPts val="100"/>
              </a:spcBef>
            </a:pPr>
            <a:r>
              <a:rPr lang="en-US" sz="1300" dirty="0">
                <a:latin typeface="Roboto Lt"/>
                <a:cs typeface="Roboto Lt"/>
              </a:rPr>
              <a:t>Benefits of an Agile burndown chart:</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Progress Tracking</a:t>
            </a:r>
            <a:r>
              <a:rPr lang="en-US" sz="1300" dirty="0">
                <a:latin typeface="Roboto Lt"/>
                <a:cs typeface="Roboto Lt"/>
              </a:rPr>
              <a:t>: Monitors remaining work and predicts completion.</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Early Warnings</a:t>
            </a:r>
            <a:r>
              <a:rPr lang="en-US" sz="1300" dirty="0">
                <a:latin typeface="Roboto Lt"/>
                <a:cs typeface="Roboto Lt"/>
              </a:rPr>
              <a:t>: Flags deviations for timely corrective actions.</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Informed Decisions</a:t>
            </a:r>
            <a:r>
              <a:rPr lang="en-US" sz="1300" dirty="0">
                <a:latin typeface="Roboto Lt"/>
                <a:cs typeface="Roboto Lt"/>
              </a:rPr>
              <a:t>: Highlights the impact of decisions for better planning.</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Clear Communication</a:t>
            </a:r>
            <a:r>
              <a:rPr lang="en-US" sz="1300" dirty="0">
                <a:latin typeface="Roboto Lt"/>
                <a:cs typeface="Roboto Lt"/>
              </a:rPr>
              <a:t>: Keeps team and stakeholders aligned on progress.</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Accurate Estimation</a:t>
            </a:r>
            <a:r>
              <a:rPr lang="en-US" sz="1300" dirty="0">
                <a:latin typeface="Roboto Lt"/>
                <a:cs typeface="Roboto Lt"/>
              </a:rPr>
              <a:t>: Predicts completion based on trends.</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Team Motivation</a:t>
            </a:r>
            <a:r>
              <a:rPr lang="en-US" sz="1300" dirty="0">
                <a:latin typeface="Roboto Lt"/>
                <a:cs typeface="Roboto Lt"/>
              </a:rPr>
              <a:t>: Boosts performance through visible progress.</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Transparency</a:t>
            </a:r>
            <a:r>
              <a:rPr lang="en-US" sz="1300" dirty="0">
                <a:latin typeface="Roboto Lt"/>
                <a:cs typeface="Roboto Lt"/>
              </a:rPr>
              <a:t>: Compares planned vs. actual progress clearly.</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Enhanced Collaboration</a:t>
            </a:r>
            <a:r>
              <a:rPr lang="en-US" sz="1300" dirty="0">
                <a:latin typeface="Roboto Lt"/>
                <a:cs typeface="Roboto Lt"/>
              </a:rPr>
              <a:t>: Aligns everyone on project status and goals.</a:t>
            </a:r>
            <a:endParaRPr sz="1300" dirty="0">
              <a:latin typeface="Roboto Lt"/>
              <a:cs typeface="Roboto Lt"/>
            </a:endParaRPr>
          </a:p>
        </p:txBody>
      </p:sp>
      <p:sp>
        <p:nvSpPr>
          <p:cNvPr id="3" name="object 5">
            <a:extLst>
              <a:ext uri="{FF2B5EF4-FFF2-40B4-BE49-F238E27FC236}">
                <a16:creationId xmlns:a16="http://schemas.microsoft.com/office/drawing/2014/main" id="{E0F95A9B-F079-352F-DCB7-E4A76CA9001A}"/>
              </a:ext>
            </a:extLst>
          </p:cNvPr>
          <p:cNvSpPr txBox="1"/>
          <p:nvPr/>
        </p:nvSpPr>
        <p:spPr>
          <a:xfrm>
            <a:off x="5638800" y="1777485"/>
            <a:ext cx="3286475" cy="3483326"/>
          </a:xfrm>
          <a:prstGeom prst="rect">
            <a:avLst/>
          </a:prstGeom>
        </p:spPr>
        <p:txBody>
          <a:bodyPr vert="horz" wrap="square" lIns="0" tIns="12700" rIns="0" bIns="0" rtlCol="0">
            <a:spAutoFit/>
          </a:bodyPr>
          <a:lstStyle/>
          <a:p>
            <a:pPr marL="12700" marR="5080">
              <a:lnSpc>
                <a:spcPct val="121800"/>
              </a:lnSpc>
              <a:spcBef>
                <a:spcPts val="100"/>
              </a:spcBef>
            </a:pPr>
            <a:r>
              <a:rPr lang="en-US" sz="1300" dirty="0">
                <a:latin typeface="Roboto Lt"/>
                <a:cs typeface="Roboto Lt"/>
              </a:rPr>
              <a:t>Limitations of an Agile burndown chart:</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Quality Blindness</a:t>
            </a:r>
            <a:r>
              <a:rPr lang="en-US" sz="1300" dirty="0">
                <a:latin typeface="Roboto Lt"/>
                <a:cs typeface="Roboto Lt"/>
              </a:rPr>
              <a:t>: Focuses on quantity, not work quality.</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Challenges Ignored</a:t>
            </a:r>
            <a:r>
              <a:rPr lang="en-US" sz="1300" dirty="0">
                <a:latin typeface="Roboto Lt"/>
                <a:cs typeface="Roboto Lt"/>
              </a:rPr>
              <a:t>: Doesn't reflect project-specific obstacles.</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Complexity Limits</a:t>
            </a:r>
            <a:r>
              <a:rPr lang="en-US" sz="1300" dirty="0">
                <a:latin typeface="Roboto Lt"/>
                <a:cs typeface="Roboto Lt"/>
              </a:rPr>
              <a:t>: Less effective for highly complex projects.</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Pressure on Teams</a:t>
            </a:r>
            <a:r>
              <a:rPr lang="en-US" sz="1300" dirty="0">
                <a:latin typeface="Roboto Lt"/>
                <a:cs typeface="Roboto Lt"/>
              </a:rPr>
              <a:t>: May demotivate if progress lags.</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Steep Learning Curve</a:t>
            </a:r>
            <a:r>
              <a:rPr lang="en-US" sz="1300" dirty="0">
                <a:latin typeface="Roboto Lt"/>
                <a:cs typeface="Roboto Lt"/>
              </a:rPr>
              <a:t>: Teams new to Agile may struggle with accurate estimation.</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Scope Changes</a:t>
            </a:r>
            <a:r>
              <a:rPr lang="en-US" sz="1300" dirty="0">
                <a:latin typeface="Roboto Lt"/>
                <a:cs typeface="Roboto Lt"/>
              </a:rPr>
              <a:t>: Struggles to adapt to significant project changes.</a:t>
            </a:r>
          </a:p>
        </p:txBody>
      </p:sp>
    </p:spTree>
    <p:extLst>
      <p:ext uri="{BB962C8B-B14F-4D97-AF65-F5344CB8AC3E}">
        <p14:creationId xmlns:p14="http://schemas.microsoft.com/office/powerpoint/2010/main" val="356639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9C9B9-9C61-3E9B-078F-4622CDECD02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4F262BE-48BF-76FA-EB1C-D9B7B350AA6D}"/>
              </a:ext>
            </a:extLst>
          </p:cNvPr>
          <p:cNvSpPr/>
          <p:nvPr/>
        </p:nvSpPr>
        <p:spPr>
          <a:xfrm>
            <a:off x="0" y="0"/>
            <a:ext cx="3700146" cy="5943600"/>
          </a:xfrm>
          <a:custGeom>
            <a:avLst/>
            <a:gdLst/>
            <a:ahLst/>
            <a:cxnLst/>
            <a:rect l="l" t="t" r="r" b="b"/>
            <a:pathLst>
              <a:path w="5029200" h="5943600">
                <a:moveTo>
                  <a:pt x="5029200" y="0"/>
                </a:moveTo>
                <a:lnTo>
                  <a:pt x="0" y="0"/>
                </a:lnTo>
                <a:lnTo>
                  <a:pt x="0" y="5943600"/>
                </a:lnTo>
                <a:lnTo>
                  <a:pt x="5029200" y="5943600"/>
                </a:lnTo>
                <a:lnTo>
                  <a:pt x="5029200" y="0"/>
                </a:lnTo>
                <a:close/>
              </a:path>
            </a:pathLst>
          </a:custGeom>
          <a:solidFill>
            <a:srgbClr val="0072EB"/>
          </a:solidFill>
        </p:spPr>
        <p:txBody>
          <a:bodyPr wrap="square" lIns="0" tIns="0" rIns="0" bIns="0" rtlCol="0"/>
          <a:lstStyle/>
          <a:p>
            <a:endParaRPr/>
          </a:p>
        </p:txBody>
      </p:sp>
      <p:sp>
        <p:nvSpPr>
          <p:cNvPr id="3" name="object 3">
            <a:extLst>
              <a:ext uri="{FF2B5EF4-FFF2-40B4-BE49-F238E27FC236}">
                <a16:creationId xmlns:a16="http://schemas.microsoft.com/office/drawing/2014/main" id="{226862C8-AFD5-5F5C-3E9C-56DDD702F324}"/>
              </a:ext>
            </a:extLst>
          </p:cNvPr>
          <p:cNvSpPr txBox="1">
            <a:spLocks noGrp="1"/>
          </p:cNvSpPr>
          <p:nvPr>
            <p:ph type="title"/>
          </p:nvPr>
        </p:nvSpPr>
        <p:spPr>
          <a:xfrm>
            <a:off x="526368" y="510301"/>
            <a:ext cx="2674031" cy="1313180"/>
          </a:xfrm>
          <a:prstGeom prst="rect">
            <a:avLst/>
          </a:prstGeom>
        </p:spPr>
        <p:txBody>
          <a:bodyPr vert="horz" wrap="square" lIns="0" tIns="106680" rIns="0" bIns="0" rtlCol="0">
            <a:spAutoFit/>
          </a:bodyPr>
          <a:lstStyle/>
          <a:p>
            <a:pPr marL="12700" marR="5080">
              <a:lnSpc>
                <a:spcPts val="4700"/>
              </a:lnSpc>
              <a:spcBef>
                <a:spcPts val="840"/>
              </a:spcBef>
            </a:pPr>
            <a:r>
              <a:rPr lang="en-MY" spc="-125" dirty="0"/>
              <a:t>Agile Velocity</a:t>
            </a:r>
          </a:p>
        </p:txBody>
      </p:sp>
      <p:sp>
        <p:nvSpPr>
          <p:cNvPr id="4" name="object 4">
            <a:extLst>
              <a:ext uri="{FF2B5EF4-FFF2-40B4-BE49-F238E27FC236}">
                <a16:creationId xmlns:a16="http://schemas.microsoft.com/office/drawing/2014/main" id="{BF069702-5363-0689-C9C6-599ACDF49116}"/>
              </a:ext>
            </a:extLst>
          </p:cNvPr>
          <p:cNvSpPr txBox="1"/>
          <p:nvPr/>
        </p:nvSpPr>
        <p:spPr>
          <a:xfrm>
            <a:off x="526369" y="1953021"/>
            <a:ext cx="2674031" cy="3380862"/>
          </a:xfrm>
          <a:prstGeom prst="rect">
            <a:avLst/>
          </a:prstGeom>
        </p:spPr>
        <p:txBody>
          <a:bodyPr vert="horz" wrap="square" lIns="0" tIns="7620" rIns="0" bIns="0" rtlCol="0">
            <a:spAutoFit/>
          </a:bodyPr>
          <a:lstStyle/>
          <a:p>
            <a:pPr marL="12700" marR="66040">
              <a:lnSpc>
                <a:spcPct val="102099"/>
              </a:lnSpc>
              <a:spcBef>
                <a:spcPts val="60"/>
              </a:spcBef>
            </a:pPr>
            <a:r>
              <a:rPr lang="en-US" sz="1600" b="1" dirty="0">
                <a:solidFill>
                  <a:srgbClr val="FFFFFF"/>
                </a:solidFill>
                <a:latin typeface="Arial"/>
                <a:cs typeface="Arial"/>
              </a:rPr>
              <a:t>An Agile burndown chart is a simple graph that helps you measure a project’s progress against time. It visually represents the amount of work remaining over time in a sprint</a:t>
            </a:r>
            <a:r>
              <a:rPr sz="1600" b="1" dirty="0">
                <a:solidFill>
                  <a:srgbClr val="FFFFFF"/>
                </a:solidFill>
                <a:latin typeface="Arial"/>
                <a:cs typeface="Arial"/>
              </a:rPr>
              <a:t>.</a:t>
            </a:r>
            <a:endParaRPr sz="1600" dirty="0">
              <a:latin typeface="Arial"/>
              <a:cs typeface="Arial"/>
            </a:endParaRPr>
          </a:p>
          <a:p>
            <a:pPr marL="12700" marR="5080">
              <a:lnSpc>
                <a:spcPct val="121800"/>
              </a:lnSpc>
              <a:spcBef>
                <a:spcPts val="1290"/>
              </a:spcBef>
            </a:pPr>
            <a:r>
              <a:rPr lang="en-US" sz="1300" dirty="0">
                <a:solidFill>
                  <a:srgbClr val="FFFFFF"/>
                </a:solidFill>
                <a:latin typeface="Roboto Lt"/>
                <a:cs typeface="Roboto Lt"/>
              </a:rPr>
              <a:t>A story point is a unit of measurement that estimates how much effort is required to complete a user story based on complexity, risk, and repetition.</a:t>
            </a:r>
            <a:endParaRPr sz="1300" dirty="0">
              <a:latin typeface="Roboto Lt"/>
              <a:cs typeface="Roboto Lt"/>
            </a:endParaRPr>
          </a:p>
        </p:txBody>
      </p:sp>
      <p:sp>
        <p:nvSpPr>
          <p:cNvPr id="6" name="object 6">
            <a:extLst>
              <a:ext uri="{FF2B5EF4-FFF2-40B4-BE49-F238E27FC236}">
                <a16:creationId xmlns:a16="http://schemas.microsoft.com/office/drawing/2014/main" id="{46CD24F3-BC43-8B5B-2390-FF8AA431767C}"/>
              </a:ext>
            </a:extLst>
          </p:cNvPr>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25</a:t>
            </a:r>
            <a:endParaRPr spc="35" dirty="0"/>
          </a:p>
        </p:txBody>
      </p:sp>
      <p:sp>
        <p:nvSpPr>
          <p:cNvPr id="7" name="object 7">
            <a:extLst>
              <a:ext uri="{FF2B5EF4-FFF2-40B4-BE49-F238E27FC236}">
                <a16:creationId xmlns:a16="http://schemas.microsoft.com/office/drawing/2014/main" id="{AD119DDC-4FE7-3E2E-6A39-E8D574CB0A46}"/>
              </a:ext>
            </a:extLst>
          </p:cNvPr>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Agile Methodology</a:t>
            </a:r>
            <a:endParaRPr dirty="0"/>
          </a:p>
        </p:txBody>
      </p:sp>
      <p:sp>
        <p:nvSpPr>
          <p:cNvPr id="10" name="object 5">
            <a:extLst>
              <a:ext uri="{FF2B5EF4-FFF2-40B4-BE49-F238E27FC236}">
                <a16:creationId xmlns:a16="http://schemas.microsoft.com/office/drawing/2014/main" id="{0C98CD3C-FD11-CB8A-64A5-3E767DC9ADF9}"/>
              </a:ext>
            </a:extLst>
          </p:cNvPr>
          <p:cNvSpPr txBox="1"/>
          <p:nvPr/>
        </p:nvSpPr>
        <p:spPr>
          <a:xfrm>
            <a:off x="3886200" y="594386"/>
            <a:ext cx="4746075" cy="4742004"/>
          </a:xfrm>
          <a:prstGeom prst="rect">
            <a:avLst/>
          </a:prstGeom>
        </p:spPr>
        <p:txBody>
          <a:bodyPr vert="horz" wrap="square" lIns="0" tIns="12700" rIns="0" bIns="0" rtlCol="0">
            <a:spAutoFit/>
          </a:bodyPr>
          <a:lstStyle/>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Assign Story Points</a:t>
            </a:r>
            <a:r>
              <a:rPr lang="en-US" sz="1300" dirty="0">
                <a:latin typeface="Roboto Lt"/>
                <a:cs typeface="Roboto Lt"/>
              </a:rPr>
              <a:t>: Before the sprint starts, assign story points to each task based on difficulty. Experienced teams use past velocity data to estimate the total story points the team can complete in a sprint. Example:</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Task 1: 5 points</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Task 2: 3 points</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Task 3: 9 points</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Task 4: 6 points</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Task 5: 4 points</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Calculate Sprint Velocity</a:t>
            </a:r>
            <a:r>
              <a:rPr lang="en-US" sz="1300" dirty="0">
                <a:latin typeface="Roboto Lt"/>
                <a:cs typeface="Roboto Lt"/>
              </a:rPr>
              <a:t>: At the end of the sprint, add up the story points of completed tasks only. Incomplete tasks are not included.</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Example: If Tasks 1, 3, 4, and 5 are completed, velocity = 5 + 9 + 6 + 4 = 24.</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Determine Average Velocity</a:t>
            </a:r>
            <a:r>
              <a:rPr lang="en-US" sz="1300" dirty="0">
                <a:latin typeface="Roboto Lt"/>
                <a:cs typeface="Roboto Lt"/>
              </a:rPr>
              <a:t>: Repeat over multiple sprints. Add the total velocity from all sprints and divide by the number of sprints.</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Example: Velocities = 24, 18, 26, 20. Average velocity = (24 + 18 + 26 + 20) / 4 = 22.</a:t>
            </a:r>
            <a:endParaRPr sz="1300" dirty="0">
              <a:latin typeface="Roboto Lt"/>
              <a:cs typeface="Roboto Lt"/>
            </a:endParaRPr>
          </a:p>
        </p:txBody>
      </p:sp>
    </p:spTree>
    <p:extLst>
      <p:ext uri="{BB962C8B-B14F-4D97-AF65-F5344CB8AC3E}">
        <p14:creationId xmlns:p14="http://schemas.microsoft.com/office/powerpoint/2010/main" val="2484852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59CA0-E7C2-33C6-B99B-305E8E59EE63}"/>
            </a:ext>
          </a:extLst>
        </p:cNvPr>
        <p:cNvGrpSpPr/>
        <p:nvPr/>
      </p:nvGrpSpPr>
      <p:grpSpPr>
        <a:xfrm>
          <a:off x="0" y="0"/>
          <a:ext cx="0" cy="0"/>
          <a:chOff x="0" y="0"/>
          <a:chExt cx="0" cy="0"/>
        </a:xfrm>
      </p:grpSpPr>
      <p:sp>
        <p:nvSpPr>
          <p:cNvPr id="4" name="object 17">
            <a:extLst>
              <a:ext uri="{FF2B5EF4-FFF2-40B4-BE49-F238E27FC236}">
                <a16:creationId xmlns:a16="http://schemas.microsoft.com/office/drawing/2014/main" id="{DACD3B79-5F8A-C6DA-25F2-7D5C651E5D81}"/>
              </a:ext>
            </a:extLst>
          </p:cNvPr>
          <p:cNvSpPr/>
          <p:nvPr/>
        </p:nvSpPr>
        <p:spPr>
          <a:xfrm>
            <a:off x="0" y="0"/>
            <a:ext cx="9144000" cy="1490980"/>
          </a:xfrm>
          <a:custGeom>
            <a:avLst/>
            <a:gdLst/>
            <a:ahLst/>
            <a:cxnLst/>
            <a:rect l="l" t="t" r="r" b="b"/>
            <a:pathLst>
              <a:path w="9144000" h="1490980">
                <a:moveTo>
                  <a:pt x="9144000" y="0"/>
                </a:moveTo>
                <a:lnTo>
                  <a:pt x="0" y="0"/>
                </a:lnTo>
                <a:lnTo>
                  <a:pt x="0" y="1490472"/>
                </a:lnTo>
                <a:lnTo>
                  <a:pt x="9144000" y="1490472"/>
                </a:lnTo>
                <a:lnTo>
                  <a:pt x="9144000" y="0"/>
                </a:lnTo>
                <a:close/>
              </a:path>
            </a:pathLst>
          </a:custGeom>
          <a:solidFill>
            <a:srgbClr val="0072EB"/>
          </a:solidFill>
        </p:spPr>
        <p:txBody>
          <a:bodyPr wrap="square" lIns="0" tIns="0" rIns="0" bIns="0" rtlCol="0"/>
          <a:lstStyle/>
          <a:p>
            <a:endParaRPr/>
          </a:p>
        </p:txBody>
      </p:sp>
      <p:sp>
        <p:nvSpPr>
          <p:cNvPr id="5" name="object 18">
            <a:extLst>
              <a:ext uri="{FF2B5EF4-FFF2-40B4-BE49-F238E27FC236}">
                <a16:creationId xmlns:a16="http://schemas.microsoft.com/office/drawing/2014/main" id="{2291974D-1E63-3C38-0D71-EA8FE21D0E36}"/>
              </a:ext>
            </a:extLst>
          </p:cNvPr>
          <p:cNvSpPr txBox="1">
            <a:spLocks noGrp="1"/>
          </p:cNvSpPr>
          <p:nvPr>
            <p:ph type="title"/>
          </p:nvPr>
        </p:nvSpPr>
        <p:spPr>
          <a:xfrm>
            <a:off x="526367" y="424576"/>
            <a:ext cx="8403097" cy="705321"/>
          </a:xfrm>
          <a:prstGeom prst="rect">
            <a:avLst/>
          </a:prstGeom>
        </p:spPr>
        <p:txBody>
          <a:bodyPr vert="horz" wrap="square" lIns="0" tIns="12700" rIns="0" bIns="0" rtlCol="0">
            <a:spAutoFit/>
          </a:bodyPr>
          <a:lstStyle/>
          <a:p>
            <a:pPr marL="12700" algn="ctr">
              <a:lnSpc>
                <a:spcPct val="100000"/>
              </a:lnSpc>
              <a:spcBef>
                <a:spcPts val="100"/>
              </a:spcBef>
            </a:pPr>
            <a:r>
              <a:rPr lang="en-US" dirty="0"/>
              <a:t>Example of Agile Velocity</a:t>
            </a:r>
            <a:endParaRPr dirty="0"/>
          </a:p>
        </p:txBody>
      </p:sp>
      <p:sp>
        <p:nvSpPr>
          <p:cNvPr id="6" name="Footer Placeholder 5">
            <a:extLst>
              <a:ext uri="{FF2B5EF4-FFF2-40B4-BE49-F238E27FC236}">
                <a16:creationId xmlns:a16="http://schemas.microsoft.com/office/drawing/2014/main" id="{51B7C9B5-333D-2761-08FC-0F21FEF47608}"/>
              </a:ext>
            </a:extLst>
          </p:cNvPr>
          <p:cNvSpPr>
            <a:spLocks noGrp="1"/>
          </p:cNvSpPr>
          <p:nvPr>
            <p:ph type="ftr" sz="quarter" idx="5"/>
          </p:nvPr>
        </p:nvSpPr>
        <p:spPr>
          <a:xfrm>
            <a:off x="6634705" y="5571421"/>
            <a:ext cx="1627504" cy="153888"/>
          </a:xfrm>
        </p:spPr>
        <p:txBody>
          <a:bodyPr/>
          <a:lstStyle/>
          <a:p>
            <a:pPr marL="12700" algn="r">
              <a:lnSpc>
                <a:spcPct val="100000"/>
              </a:lnSpc>
              <a:spcBef>
                <a:spcPts val="25"/>
              </a:spcBef>
            </a:pPr>
            <a:r>
              <a:rPr lang="en-MY" spc="-25" dirty="0"/>
              <a:t>Agile Methodology</a:t>
            </a:r>
            <a:endParaRPr lang="en-MY" dirty="0"/>
          </a:p>
        </p:txBody>
      </p:sp>
      <p:sp>
        <p:nvSpPr>
          <p:cNvPr id="7" name="Slide Number Placeholder 6">
            <a:extLst>
              <a:ext uri="{FF2B5EF4-FFF2-40B4-BE49-F238E27FC236}">
                <a16:creationId xmlns:a16="http://schemas.microsoft.com/office/drawing/2014/main" id="{1216AC38-284F-2F78-82FE-E098B494A917}"/>
              </a:ext>
            </a:extLst>
          </p:cNvPr>
          <p:cNvSpPr>
            <a:spLocks noGrp="1"/>
          </p:cNvSpPr>
          <p:nvPr>
            <p:ph type="sldNum" sz="quarter" idx="7"/>
          </p:nvPr>
        </p:nvSpPr>
        <p:spPr/>
        <p:txBody>
          <a:bodyPr/>
          <a:lstStyle/>
          <a:p>
            <a:pPr marL="38100">
              <a:lnSpc>
                <a:spcPct val="100000"/>
              </a:lnSpc>
              <a:spcBef>
                <a:spcPts val="190"/>
              </a:spcBef>
            </a:pPr>
            <a:fld id="{81D60167-4931-47E6-BA6A-407CBD079E47}" type="slidenum">
              <a:rPr lang="en-MY" spc="35" smtClean="0"/>
              <a:t>26</a:t>
            </a:fld>
            <a:endParaRPr lang="en-MY" spc="35" dirty="0"/>
          </a:p>
        </p:txBody>
      </p:sp>
      <p:pic>
        <p:nvPicPr>
          <p:cNvPr id="5122" name="Picture 2" descr="Sprintvelocitychart">
            <a:extLst>
              <a:ext uri="{FF2B5EF4-FFF2-40B4-BE49-F238E27FC236}">
                <a16:creationId xmlns:a16="http://schemas.microsoft.com/office/drawing/2014/main" id="{24C8A349-7CA9-2F6D-1C60-E718D5DE6BC5}"/>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50000"/>
                    </a14:imgEffect>
                    <a14:imgEffect>
                      <a14:saturation sat="400000"/>
                    </a14:imgEffect>
                  </a14:imgLayer>
                </a14:imgProps>
              </a:ext>
              <a:ext uri="{28A0092B-C50C-407E-A947-70E740481C1C}">
                <a14:useLocalDpi xmlns:a14="http://schemas.microsoft.com/office/drawing/2010/main" val="0"/>
              </a:ext>
            </a:extLst>
          </a:blip>
          <a:srcRect l="2499" t="11734" r="5001" b="2646"/>
          <a:stretch/>
        </p:blipFill>
        <p:spPr bwMode="auto">
          <a:xfrm>
            <a:off x="1524000" y="2097210"/>
            <a:ext cx="6705600" cy="3113128"/>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EFFAB58F-6A38-3B58-5A68-6FCA6463A1B1}"/>
              </a:ext>
            </a:extLst>
          </p:cNvPr>
          <p:cNvCxnSpPr>
            <a:cxnSpLocks/>
          </p:cNvCxnSpPr>
          <p:nvPr/>
        </p:nvCxnSpPr>
        <p:spPr>
          <a:xfrm flipH="1">
            <a:off x="831167" y="3084008"/>
            <a:ext cx="7550833"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9" name="object 5">
            <a:extLst>
              <a:ext uri="{FF2B5EF4-FFF2-40B4-BE49-F238E27FC236}">
                <a16:creationId xmlns:a16="http://schemas.microsoft.com/office/drawing/2014/main" id="{0F824C8B-23ED-0EF9-691B-0BCD712A0720}"/>
              </a:ext>
            </a:extLst>
          </p:cNvPr>
          <p:cNvSpPr txBox="1"/>
          <p:nvPr/>
        </p:nvSpPr>
        <p:spPr>
          <a:xfrm>
            <a:off x="831167" y="2814153"/>
            <a:ext cx="762000" cy="233847"/>
          </a:xfrm>
          <a:prstGeom prst="rect">
            <a:avLst/>
          </a:prstGeom>
        </p:spPr>
        <p:txBody>
          <a:bodyPr vert="horz" wrap="square" lIns="0" tIns="12700" rIns="0" bIns="0" rtlCol="0">
            <a:spAutoFit/>
          </a:bodyPr>
          <a:lstStyle/>
          <a:p>
            <a:pPr marL="12700" marR="5080">
              <a:lnSpc>
                <a:spcPct val="121800"/>
              </a:lnSpc>
              <a:spcBef>
                <a:spcPts val="100"/>
              </a:spcBef>
            </a:pPr>
            <a:r>
              <a:rPr lang="en-US" sz="1300" dirty="0">
                <a:latin typeface="Roboto Lt"/>
                <a:cs typeface="Roboto Lt"/>
              </a:rPr>
              <a:t>Average</a:t>
            </a:r>
            <a:endParaRPr sz="1300" dirty="0">
              <a:latin typeface="Roboto Lt"/>
              <a:cs typeface="Roboto Lt"/>
            </a:endParaRPr>
          </a:p>
        </p:txBody>
      </p:sp>
    </p:spTree>
    <p:extLst>
      <p:ext uri="{BB962C8B-B14F-4D97-AF65-F5344CB8AC3E}">
        <p14:creationId xmlns:p14="http://schemas.microsoft.com/office/powerpoint/2010/main" val="36859008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ADF5B-A46E-ACE0-097C-A159AB65AD2C}"/>
            </a:ext>
          </a:extLst>
        </p:cNvPr>
        <p:cNvGrpSpPr/>
        <p:nvPr/>
      </p:nvGrpSpPr>
      <p:grpSpPr>
        <a:xfrm>
          <a:off x="0" y="0"/>
          <a:ext cx="0" cy="0"/>
          <a:chOff x="0" y="0"/>
          <a:chExt cx="0" cy="0"/>
        </a:xfrm>
      </p:grpSpPr>
      <p:sp>
        <p:nvSpPr>
          <p:cNvPr id="4" name="object 17">
            <a:extLst>
              <a:ext uri="{FF2B5EF4-FFF2-40B4-BE49-F238E27FC236}">
                <a16:creationId xmlns:a16="http://schemas.microsoft.com/office/drawing/2014/main" id="{39F2853D-E659-77F7-957C-CB88EB5232F6}"/>
              </a:ext>
            </a:extLst>
          </p:cNvPr>
          <p:cNvSpPr/>
          <p:nvPr/>
        </p:nvSpPr>
        <p:spPr>
          <a:xfrm>
            <a:off x="0" y="0"/>
            <a:ext cx="9144000" cy="1490980"/>
          </a:xfrm>
          <a:custGeom>
            <a:avLst/>
            <a:gdLst/>
            <a:ahLst/>
            <a:cxnLst/>
            <a:rect l="l" t="t" r="r" b="b"/>
            <a:pathLst>
              <a:path w="9144000" h="1490980">
                <a:moveTo>
                  <a:pt x="9144000" y="0"/>
                </a:moveTo>
                <a:lnTo>
                  <a:pt x="0" y="0"/>
                </a:lnTo>
                <a:lnTo>
                  <a:pt x="0" y="1490472"/>
                </a:lnTo>
                <a:lnTo>
                  <a:pt x="9144000" y="1490472"/>
                </a:lnTo>
                <a:lnTo>
                  <a:pt x="9144000" y="0"/>
                </a:lnTo>
                <a:close/>
              </a:path>
            </a:pathLst>
          </a:custGeom>
          <a:solidFill>
            <a:srgbClr val="0072EB"/>
          </a:solidFill>
        </p:spPr>
        <p:txBody>
          <a:bodyPr wrap="square" lIns="0" tIns="0" rIns="0" bIns="0" rtlCol="0"/>
          <a:lstStyle/>
          <a:p>
            <a:endParaRPr/>
          </a:p>
        </p:txBody>
      </p:sp>
      <p:sp>
        <p:nvSpPr>
          <p:cNvPr id="5" name="object 18">
            <a:extLst>
              <a:ext uri="{FF2B5EF4-FFF2-40B4-BE49-F238E27FC236}">
                <a16:creationId xmlns:a16="http://schemas.microsoft.com/office/drawing/2014/main" id="{36E4A19E-6EE3-976B-527C-C13281E0A56D}"/>
              </a:ext>
            </a:extLst>
          </p:cNvPr>
          <p:cNvSpPr txBox="1">
            <a:spLocks noGrp="1"/>
          </p:cNvSpPr>
          <p:nvPr>
            <p:ph type="title"/>
          </p:nvPr>
        </p:nvSpPr>
        <p:spPr>
          <a:xfrm>
            <a:off x="526365" y="62179"/>
            <a:ext cx="8403097" cy="1397819"/>
          </a:xfrm>
          <a:prstGeom prst="rect">
            <a:avLst/>
          </a:prstGeom>
        </p:spPr>
        <p:txBody>
          <a:bodyPr vert="horz" wrap="square" lIns="0" tIns="12700" rIns="0" bIns="0" rtlCol="0">
            <a:spAutoFit/>
          </a:bodyPr>
          <a:lstStyle/>
          <a:p>
            <a:pPr marL="12700" algn="ctr">
              <a:lnSpc>
                <a:spcPct val="100000"/>
              </a:lnSpc>
              <a:spcBef>
                <a:spcPts val="100"/>
              </a:spcBef>
            </a:pPr>
            <a:r>
              <a:rPr lang="en-US" dirty="0"/>
              <a:t>Insights from Burndown Chart and its Limitations</a:t>
            </a:r>
            <a:endParaRPr dirty="0"/>
          </a:p>
        </p:txBody>
      </p:sp>
      <p:sp>
        <p:nvSpPr>
          <p:cNvPr id="6" name="Footer Placeholder 5">
            <a:extLst>
              <a:ext uri="{FF2B5EF4-FFF2-40B4-BE49-F238E27FC236}">
                <a16:creationId xmlns:a16="http://schemas.microsoft.com/office/drawing/2014/main" id="{C11BF854-902B-C79C-7328-BA6F4FD38A11}"/>
              </a:ext>
            </a:extLst>
          </p:cNvPr>
          <p:cNvSpPr>
            <a:spLocks noGrp="1"/>
          </p:cNvSpPr>
          <p:nvPr>
            <p:ph type="ftr" sz="quarter" idx="5"/>
          </p:nvPr>
        </p:nvSpPr>
        <p:spPr>
          <a:xfrm>
            <a:off x="6634705" y="5571421"/>
            <a:ext cx="1627504" cy="153888"/>
          </a:xfrm>
        </p:spPr>
        <p:txBody>
          <a:bodyPr/>
          <a:lstStyle/>
          <a:p>
            <a:pPr marL="12700" algn="r">
              <a:lnSpc>
                <a:spcPct val="100000"/>
              </a:lnSpc>
              <a:spcBef>
                <a:spcPts val="25"/>
              </a:spcBef>
            </a:pPr>
            <a:r>
              <a:rPr lang="en-MY" spc="-25" dirty="0"/>
              <a:t>Agile Methodology</a:t>
            </a:r>
            <a:endParaRPr lang="en-MY" dirty="0"/>
          </a:p>
        </p:txBody>
      </p:sp>
      <p:sp>
        <p:nvSpPr>
          <p:cNvPr id="7" name="Slide Number Placeholder 6">
            <a:extLst>
              <a:ext uri="{FF2B5EF4-FFF2-40B4-BE49-F238E27FC236}">
                <a16:creationId xmlns:a16="http://schemas.microsoft.com/office/drawing/2014/main" id="{97C35533-BC76-1369-895E-1B35DDE9DFFA}"/>
              </a:ext>
            </a:extLst>
          </p:cNvPr>
          <p:cNvSpPr>
            <a:spLocks noGrp="1"/>
          </p:cNvSpPr>
          <p:nvPr>
            <p:ph type="sldNum" sz="quarter" idx="7"/>
          </p:nvPr>
        </p:nvSpPr>
        <p:spPr/>
        <p:txBody>
          <a:bodyPr/>
          <a:lstStyle/>
          <a:p>
            <a:pPr marL="38100">
              <a:lnSpc>
                <a:spcPct val="100000"/>
              </a:lnSpc>
              <a:spcBef>
                <a:spcPts val="190"/>
              </a:spcBef>
            </a:pPr>
            <a:fld id="{81D60167-4931-47E6-BA6A-407CBD079E47}" type="slidenum">
              <a:rPr lang="en-MY" spc="35" smtClean="0"/>
              <a:t>27</a:t>
            </a:fld>
            <a:endParaRPr lang="en-MY" spc="35" dirty="0"/>
          </a:p>
        </p:txBody>
      </p:sp>
      <p:sp>
        <p:nvSpPr>
          <p:cNvPr id="2" name="object 5">
            <a:extLst>
              <a:ext uri="{FF2B5EF4-FFF2-40B4-BE49-F238E27FC236}">
                <a16:creationId xmlns:a16="http://schemas.microsoft.com/office/drawing/2014/main" id="{1FC75089-BF19-9F50-3138-4A933E5F94F7}"/>
              </a:ext>
            </a:extLst>
          </p:cNvPr>
          <p:cNvSpPr txBox="1"/>
          <p:nvPr/>
        </p:nvSpPr>
        <p:spPr>
          <a:xfrm>
            <a:off x="529715" y="1787704"/>
            <a:ext cx="3813685" cy="3200813"/>
          </a:xfrm>
          <a:prstGeom prst="rect">
            <a:avLst/>
          </a:prstGeom>
        </p:spPr>
        <p:txBody>
          <a:bodyPr vert="horz" wrap="square" lIns="0" tIns="12700" rIns="0" bIns="0" rtlCol="0">
            <a:spAutoFit/>
          </a:bodyPr>
          <a:lstStyle/>
          <a:p>
            <a:pPr marL="12700" marR="5080">
              <a:lnSpc>
                <a:spcPct val="121800"/>
              </a:lnSpc>
              <a:spcBef>
                <a:spcPts val="100"/>
              </a:spcBef>
            </a:pPr>
            <a:r>
              <a:rPr lang="en-US" sz="1300" dirty="0">
                <a:latin typeface="Roboto Lt"/>
                <a:cs typeface="Roboto Lt"/>
              </a:rPr>
              <a:t>Insights from Agile Velocity</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Understand Workload Capacity</a:t>
            </a:r>
            <a:r>
              <a:rPr lang="en-US" sz="1300" dirty="0">
                <a:latin typeface="Roboto Lt"/>
                <a:cs typeface="Roboto Lt"/>
              </a:rPr>
              <a:t>: A steady increase in velocity shows improved efficiency, while a decrease may indicate burnout or excessive workload.</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Spot Bottlenecks</a:t>
            </a:r>
            <a:r>
              <a:rPr lang="en-US" sz="1300" dirty="0">
                <a:latin typeface="Roboto Lt"/>
                <a:cs typeface="Roboto Lt"/>
              </a:rPr>
              <a:t>: Significant drops in velocity or fluctuations in velocity charts often reveal organizational issues or sprint-specific problems.</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Identify Improvement Areas</a:t>
            </a:r>
            <a:r>
              <a:rPr lang="en-US" sz="1300" dirty="0">
                <a:latin typeface="Roboto Lt"/>
                <a:cs typeface="Roboto Lt"/>
              </a:rPr>
              <a:t>: Downward trends in velocity charts highlight where numbers are dropping, enabling timely investigation and adjustments.</a:t>
            </a:r>
            <a:endParaRPr sz="1300" dirty="0">
              <a:latin typeface="Roboto Lt"/>
              <a:cs typeface="Roboto Lt"/>
            </a:endParaRPr>
          </a:p>
        </p:txBody>
      </p:sp>
      <p:sp>
        <p:nvSpPr>
          <p:cNvPr id="3" name="object 5">
            <a:extLst>
              <a:ext uri="{FF2B5EF4-FFF2-40B4-BE49-F238E27FC236}">
                <a16:creationId xmlns:a16="http://schemas.microsoft.com/office/drawing/2014/main" id="{D58A3968-703E-F6BD-529F-43757B78365B}"/>
              </a:ext>
            </a:extLst>
          </p:cNvPr>
          <p:cNvSpPr txBox="1"/>
          <p:nvPr/>
        </p:nvSpPr>
        <p:spPr>
          <a:xfrm>
            <a:off x="4800602" y="1771794"/>
            <a:ext cx="3581399" cy="2699906"/>
          </a:xfrm>
          <a:prstGeom prst="rect">
            <a:avLst/>
          </a:prstGeom>
        </p:spPr>
        <p:txBody>
          <a:bodyPr vert="horz" wrap="square" lIns="0" tIns="12700" rIns="0" bIns="0" rtlCol="0">
            <a:spAutoFit/>
          </a:bodyPr>
          <a:lstStyle/>
          <a:p>
            <a:pPr marL="12700" marR="5080">
              <a:lnSpc>
                <a:spcPct val="121800"/>
              </a:lnSpc>
              <a:spcBef>
                <a:spcPts val="100"/>
              </a:spcBef>
            </a:pPr>
            <a:r>
              <a:rPr lang="en-US" sz="1300" dirty="0">
                <a:latin typeface="Roboto Lt"/>
                <a:cs typeface="Roboto Lt"/>
              </a:rPr>
              <a:t>Limitations of Agile Velocity</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Doesn’t Measure Work Quality</a:t>
            </a:r>
            <a:r>
              <a:rPr lang="en-US" sz="1300" dirty="0">
                <a:latin typeface="Roboto Lt"/>
                <a:cs typeface="Roboto Lt"/>
              </a:rPr>
              <a:t>: High velocity may mask poor-quality work, such as bugs or dissatisfied customers.</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Encourages Speed Over Quality</a:t>
            </a:r>
            <a:r>
              <a:rPr lang="en-US" sz="1300" dirty="0">
                <a:latin typeface="Roboto Lt"/>
                <a:cs typeface="Roboto Lt"/>
              </a:rPr>
              <a:t>: Overemphasis on velocity can lead to rushed work, reduced quality, and burnout.</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Not Comparable Across Teams</a:t>
            </a:r>
            <a:r>
              <a:rPr lang="en-US" sz="1300" dirty="0">
                <a:latin typeface="Roboto Lt"/>
                <a:cs typeface="Roboto Lt"/>
              </a:rPr>
              <a:t>: Velocity is team-specific due to varying methods of assigning story points, making comparisons meaningless.</a:t>
            </a:r>
          </a:p>
        </p:txBody>
      </p:sp>
    </p:spTree>
    <p:extLst>
      <p:ext uri="{BB962C8B-B14F-4D97-AF65-F5344CB8AC3E}">
        <p14:creationId xmlns:p14="http://schemas.microsoft.com/office/powerpoint/2010/main" val="4099262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16630-E933-7C4F-E064-634EF56FF20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CA50472-54D5-0525-E048-7DEEA92A7E9F}"/>
              </a:ext>
            </a:extLst>
          </p:cNvPr>
          <p:cNvSpPr/>
          <p:nvPr/>
        </p:nvSpPr>
        <p:spPr>
          <a:xfrm>
            <a:off x="0" y="0"/>
            <a:ext cx="3168650" cy="5943600"/>
          </a:xfrm>
          <a:custGeom>
            <a:avLst/>
            <a:gdLst/>
            <a:ahLst/>
            <a:cxnLst/>
            <a:rect l="l" t="t" r="r" b="b"/>
            <a:pathLst>
              <a:path w="5029200" h="5943600">
                <a:moveTo>
                  <a:pt x="5029200" y="0"/>
                </a:moveTo>
                <a:lnTo>
                  <a:pt x="0" y="0"/>
                </a:lnTo>
                <a:lnTo>
                  <a:pt x="0" y="5943600"/>
                </a:lnTo>
                <a:lnTo>
                  <a:pt x="5029200" y="5943600"/>
                </a:lnTo>
                <a:lnTo>
                  <a:pt x="5029200" y="0"/>
                </a:lnTo>
                <a:close/>
              </a:path>
            </a:pathLst>
          </a:custGeom>
          <a:solidFill>
            <a:schemeClr val="accent2">
              <a:lumMod val="75000"/>
            </a:schemeClr>
          </a:solidFill>
        </p:spPr>
        <p:txBody>
          <a:bodyPr wrap="square" lIns="0" tIns="0" rIns="0" bIns="0" rtlCol="0"/>
          <a:lstStyle/>
          <a:p>
            <a:endParaRPr/>
          </a:p>
        </p:txBody>
      </p:sp>
      <p:sp>
        <p:nvSpPr>
          <p:cNvPr id="3" name="object 3">
            <a:extLst>
              <a:ext uri="{FF2B5EF4-FFF2-40B4-BE49-F238E27FC236}">
                <a16:creationId xmlns:a16="http://schemas.microsoft.com/office/drawing/2014/main" id="{0EE1A595-47F4-0B75-4011-3FB81FFC8F84}"/>
              </a:ext>
            </a:extLst>
          </p:cNvPr>
          <p:cNvSpPr txBox="1">
            <a:spLocks noGrp="1"/>
          </p:cNvSpPr>
          <p:nvPr>
            <p:ph type="title"/>
          </p:nvPr>
        </p:nvSpPr>
        <p:spPr>
          <a:xfrm>
            <a:off x="526368" y="510301"/>
            <a:ext cx="2521632" cy="1313180"/>
          </a:xfrm>
          <a:prstGeom prst="rect">
            <a:avLst/>
          </a:prstGeom>
        </p:spPr>
        <p:txBody>
          <a:bodyPr vert="horz" wrap="square" lIns="0" tIns="106680" rIns="0" bIns="0" rtlCol="0">
            <a:spAutoFit/>
          </a:bodyPr>
          <a:lstStyle/>
          <a:p>
            <a:pPr marL="12700" marR="5080">
              <a:lnSpc>
                <a:spcPts val="4700"/>
              </a:lnSpc>
              <a:spcBef>
                <a:spcPts val="840"/>
              </a:spcBef>
            </a:pPr>
            <a:r>
              <a:rPr lang="en-US" spc="-80" dirty="0"/>
              <a:t>Lets discuss</a:t>
            </a:r>
            <a:endParaRPr spc="240" dirty="0"/>
          </a:p>
        </p:txBody>
      </p:sp>
      <p:sp>
        <p:nvSpPr>
          <p:cNvPr id="7" name="object 7">
            <a:extLst>
              <a:ext uri="{FF2B5EF4-FFF2-40B4-BE49-F238E27FC236}">
                <a16:creationId xmlns:a16="http://schemas.microsoft.com/office/drawing/2014/main" id="{06110BA6-0E40-7249-FEFD-20D2E56B90BF}"/>
              </a:ext>
            </a:extLst>
          </p:cNvPr>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28</a:t>
            </a:r>
            <a:endParaRPr spc="35" dirty="0"/>
          </a:p>
        </p:txBody>
      </p:sp>
      <p:sp>
        <p:nvSpPr>
          <p:cNvPr id="8" name="object 8">
            <a:extLst>
              <a:ext uri="{FF2B5EF4-FFF2-40B4-BE49-F238E27FC236}">
                <a16:creationId xmlns:a16="http://schemas.microsoft.com/office/drawing/2014/main" id="{3D16973D-9814-9B1E-6459-5928BA23C968}"/>
              </a:ext>
            </a:extLst>
          </p:cNvPr>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Agile Methodology</a:t>
            </a:r>
            <a:endParaRPr dirty="0"/>
          </a:p>
        </p:txBody>
      </p:sp>
      <p:sp>
        <p:nvSpPr>
          <p:cNvPr id="4" name="object 4">
            <a:extLst>
              <a:ext uri="{FF2B5EF4-FFF2-40B4-BE49-F238E27FC236}">
                <a16:creationId xmlns:a16="http://schemas.microsoft.com/office/drawing/2014/main" id="{CDEEF9AF-64D3-A2A8-3375-7E83ADA274B6}"/>
              </a:ext>
            </a:extLst>
          </p:cNvPr>
          <p:cNvSpPr txBox="1"/>
          <p:nvPr/>
        </p:nvSpPr>
        <p:spPr>
          <a:xfrm>
            <a:off x="526368" y="1973979"/>
            <a:ext cx="2197465" cy="1749710"/>
          </a:xfrm>
          <a:prstGeom prst="rect">
            <a:avLst/>
          </a:prstGeom>
        </p:spPr>
        <p:txBody>
          <a:bodyPr vert="horz" wrap="square" lIns="0" tIns="7620" rIns="0" bIns="0" rtlCol="0">
            <a:spAutoFit/>
          </a:bodyPr>
          <a:lstStyle/>
          <a:p>
            <a:pPr marL="12700" marR="5080">
              <a:lnSpc>
                <a:spcPct val="102099"/>
              </a:lnSpc>
              <a:spcBef>
                <a:spcPts val="60"/>
              </a:spcBef>
            </a:pPr>
            <a:r>
              <a:rPr lang="en-US" sz="1600" dirty="0">
                <a:solidFill>
                  <a:schemeClr val="bg1"/>
                </a:solidFill>
                <a:latin typeface="Arial"/>
                <a:cs typeface="Arial"/>
              </a:rPr>
              <a:t>Should Agile teams use burndown charts and velocity as the primary measures of success, or do these metrics risk undermining true Agile values?</a:t>
            </a:r>
          </a:p>
        </p:txBody>
      </p:sp>
      <p:sp>
        <p:nvSpPr>
          <p:cNvPr id="5" name="object 5">
            <a:extLst>
              <a:ext uri="{FF2B5EF4-FFF2-40B4-BE49-F238E27FC236}">
                <a16:creationId xmlns:a16="http://schemas.microsoft.com/office/drawing/2014/main" id="{DA8324EC-B17A-A985-02A4-4132F2B904D9}"/>
              </a:ext>
            </a:extLst>
          </p:cNvPr>
          <p:cNvSpPr txBox="1"/>
          <p:nvPr/>
        </p:nvSpPr>
        <p:spPr>
          <a:xfrm>
            <a:off x="3810000" y="594386"/>
            <a:ext cx="4953402" cy="4998869"/>
          </a:xfrm>
          <a:prstGeom prst="rect">
            <a:avLst/>
          </a:prstGeom>
        </p:spPr>
        <p:txBody>
          <a:bodyPr vert="horz" wrap="square" lIns="0" tIns="12700" rIns="0" bIns="0" rtlCol="0">
            <a:spAutoFit/>
          </a:bodyPr>
          <a:lstStyle/>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Progress Transparency</a:t>
            </a:r>
            <a:r>
              <a:rPr lang="en-US" sz="1300" dirty="0">
                <a:latin typeface="Roboto Lt"/>
                <a:cs typeface="Roboto Lt"/>
              </a:rPr>
              <a:t>: Burndown charts visually track progress, while velocity helps estimate future capacity.</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Accountability</a:t>
            </a:r>
            <a:r>
              <a:rPr lang="en-US" sz="1300" dirty="0">
                <a:latin typeface="Roboto Lt"/>
                <a:cs typeface="Roboto Lt"/>
              </a:rPr>
              <a:t>: Metrics help teams focus on delivering consistent work and identifying inefficiencies.</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Predictability</a:t>
            </a:r>
            <a:r>
              <a:rPr lang="en-US" sz="1300" dirty="0">
                <a:latin typeface="Roboto Lt"/>
                <a:cs typeface="Roboto Lt"/>
              </a:rPr>
              <a:t>: They provide stakeholders with a clear view of progress and delivery timelines.</a:t>
            </a:r>
          </a:p>
          <a:p>
            <a:pPr marL="298450" marR="5080" indent="-285750">
              <a:lnSpc>
                <a:spcPct val="121800"/>
              </a:lnSpc>
              <a:spcBef>
                <a:spcPts val="100"/>
              </a:spcBef>
              <a:buFont typeface="Arial" panose="020B0604020202020204" pitchFamily="34" charset="0"/>
              <a:buChar char="•"/>
            </a:pPr>
            <a:endParaRPr lang="en-US" sz="800" dirty="0">
              <a:latin typeface="Roboto Lt"/>
              <a:cs typeface="Roboto Lt"/>
            </a:endParaRP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Risk of Gaming the System</a:t>
            </a:r>
            <a:r>
              <a:rPr lang="en-US" sz="1300" dirty="0">
                <a:latin typeface="Roboto Lt"/>
                <a:cs typeface="Roboto Lt"/>
              </a:rPr>
              <a:t>: Teams may prioritize metrics over quality, sacrificing value.</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Neglect of Agile Principles</a:t>
            </a:r>
            <a:r>
              <a:rPr lang="en-US" sz="1300" dirty="0">
                <a:latin typeface="Roboto Lt"/>
                <a:cs typeface="Roboto Lt"/>
              </a:rPr>
              <a:t>: Focusing on velocity can shift attention from customer value to just "burning down points.“</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Misleading Metrics</a:t>
            </a:r>
            <a:r>
              <a:rPr lang="en-US" sz="1300" dirty="0">
                <a:latin typeface="Roboto Lt"/>
                <a:cs typeface="Roboto Lt"/>
              </a:rPr>
              <a:t>: Velocity doesn’t guarantee the right work, and burndown charts can be misleading if priorities change.</a:t>
            </a:r>
          </a:p>
          <a:p>
            <a:pPr marL="298450" marR="5080" indent="-285750">
              <a:lnSpc>
                <a:spcPct val="121800"/>
              </a:lnSpc>
              <a:spcBef>
                <a:spcPts val="100"/>
              </a:spcBef>
              <a:buFont typeface="Arial" panose="020B0604020202020204" pitchFamily="34" charset="0"/>
              <a:buChar char="•"/>
            </a:pPr>
            <a:endParaRPr lang="en-US" sz="800" dirty="0">
              <a:latin typeface="Roboto Lt"/>
              <a:cs typeface="Roboto Lt"/>
            </a:endParaRP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Complement Metrics with Value-Driven Discussions</a:t>
            </a:r>
            <a:r>
              <a:rPr lang="en-US" sz="1300" dirty="0">
                <a:latin typeface="Roboto Lt"/>
                <a:cs typeface="Roboto Lt"/>
              </a:rPr>
              <a:t>: Use metrics as tools for reflection, not as goals.</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Focus on Outcomes, Not Output</a:t>
            </a:r>
            <a:r>
              <a:rPr lang="en-US" sz="1300" dirty="0">
                <a:latin typeface="Roboto Lt"/>
                <a:cs typeface="Roboto Lt"/>
              </a:rPr>
              <a:t>: Pair metrics with qualitative feedback to ensure alignment with customer needs.</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Avoid Metric Worship</a:t>
            </a:r>
            <a:r>
              <a:rPr lang="en-US" sz="1300" dirty="0">
                <a:latin typeface="Roboto Lt"/>
                <a:cs typeface="Roboto Lt"/>
              </a:rPr>
              <a:t>: Use metrics to guide conversations, not to pressure teams.</a:t>
            </a:r>
            <a:endParaRPr sz="1300" dirty="0">
              <a:latin typeface="Roboto Lt"/>
              <a:cs typeface="Roboto Lt"/>
            </a:endParaRPr>
          </a:p>
        </p:txBody>
      </p:sp>
      <p:sp>
        <p:nvSpPr>
          <p:cNvPr id="6" name="object 5">
            <a:extLst>
              <a:ext uri="{FF2B5EF4-FFF2-40B4-BE49-F238E27FC236}">
                <a16:creationId xmlns:a16="http://schemas.microsoft.com/office/drawing/2014/main" id="{0E7BEDA1-1AC2-6595-76F7-F638E9429632}"/>
              </a:ext>
            </a:extLst>
          </p:cNvPr>
          <p:cNvSpPr txBox="1"/>
          <p:nvPr/>
        </p:nvSpPr>
        <p:spPr>
          <a:xfrm rot="5400000" flipV="1">
            <a:off x="730784" y="2725010"/>
            <a:ext cx="5502644" cy="233847"/>
          </a:xfrm>
          <a:prstGeom prst="rect">
            <a:avLst/>
          </a:prstGeom>
        </p:spPr>
        <p:txBody>
          <a:bodyPr vert="horz" wrap="square" lIns="0" tIns="12700" rIns="0" bIns="0" rtlCol="0">
            <a:spAutoFit/>
          </a:bodyPr>
          <a:lstStyle/>
          <a:p>
            <a:pPr marL="12700" marR="5080">
              <a:lnSpc>
                <a:spcPct val="121800"/>
              </a:lnSpc>
              <a:spcBef>
                <a:spcPts val="100"/>
              </a:spcBef>
            </a:pPr>
            <a:r>
              <a:rPr lang="en-US" sz="1300" dirty="0">
                <a:latin typeface="Roboto Lt"/>
                <a:cs typeface="Roboto Lt"/>
              </a:rPr>
              <a:t>     Balanced Approach         No, don’t use it               Yes, use it</a:t>
            </a:r>
            <a:endParaRPr sz="1300" dirty="0">
              <a:latin typeface="Roboto Lt"/>
              <a:cs typeface="Roboto Lt"/>
            </a:endParaRPr>
          </a:p>
        </p:txBody>
      </p:sp>
    </p:spTree>
    <p:extLst>
      <p:ext uri="{BB962C8B-B14F-4D97-AF65-F5344CB8AC3E}">
        <p14:creationId xmlns:p14="http://schemas.microsoft.com/office/powerpoint/2010/main" val="2938012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1988820"/>
          </a:xfrm>
          <a:custGeom>
            <a:avLst/>
            <a:gdLst/>
            <a:ahLst/>
            <a:cxnLst/>
            <a:rect l="l" t="t" r="r" b="b"/>
            <a:pathLst>
              <a:path w="9144000" h="1988820">
                <a:moveTo>
                  <a:pt x="9144000" y="0"/>
                </a:moveTo>
                <a:lnTo>
                  <a:pt x="0" y="0"/>
                </a:lnTo>
                <a:lnTo>
                  <a:pt x="0" y="1988312"/>
                </a:lnTo>
                <a:lnTo>
                  <a:pt x="9144000" y="1988312"/>
                </a:lnTo>
                <a:lnTo>
                  <a:pt x="9144000" y="0"/>
                </a:lnTo>
                <a:close/>
              </a:path>
            </a:pathLst>
          </a:custGeom>
          <a:solidFill>
            <a:srgbClr val="0072EB"/>
          </a:solidFill>
        </p:spPr>
        <p:txBody>
          <a:bodyPr wrap="square" lIns="0" tIns="0" rIns="0" bIns="0" rtlCol="0"/>
          <a:lstStyle/>
          <a:p>
            <a:endParaRPr/>
          </a:p>
        </p:txBody>
      </p:sp>
      <p:sp>
        <p:nvSpPr>
          <p:cNvPr id="3" name="object 3"/>
          <p:cNvSpPr txBox="1">
            <a:spLocks noGrp="1"/>
          </p:cNvSpPr>
          <p:nvPr>
            <p:ph type="title"/>
          </p:nvPr>
        </p:nvSpPr>
        <p:spPr>
          <a:xfrm>
            <a:off x="526368" y="38203"/>
            <a:ext cx="7313295" cy="1607185"/>
          </a:xfrm>
          <a:prstGeom prst="rect">
            <a:avLst/>
          </a:prstGeom>
        </p:spPr>
        <p:txBody>
          <a:bodyPr vert="horz" wrap="square" lIns="0" tIns="386080" rIns="0" bIns="0" rtlCol="0">
            <a:spAutoFit/>
          </a:bodyPr>
          <a:lstStyle/>
          <a:p>
            <a:pPr marL="12700">
              <a:lnSpc>
                <a:spcPct val="100000"/>
              </a:lnSpc>
              <a:spcBef>
                <a:spcPts val="3040"/>
              </a:spcBef>
            </a:pPr>
            <a:r>
              <a:rPr spc="-260" dirty="0"/>
              <a:t>A</a:t>
            </a:r>
            <a:r>
              <a:rPr spc="-85" dirty="0"/>
              <a:t>d</a:t>
            </a:r>
            <a:r>
              <a:rPr spc="-70" dirty="0"/>
              <a:t>v</a:t>
            </a:r>
            <a:r>
              <a:rPr spc="40" dirty="0"/>
              <a:t>a</a:t>
            </a:r>
            <a:r>
              <a:rPr spc="-25" dirty="0"/>
              <a:t>n</a:t>
            </a:r>
            <a:r>
              <a:rPr spc="335" dirty="0"/>
              <a:t>t</a:t>
            </a:r>
            <a:r>
              <a:rPr spc="5" dirty="0"/>
              <a:t>a</a:t>
            </a:r>
            <a:r>
              <a:rPr spc="-330" dirty="0"/>
              <a:t>g</a:t>
            </a:r>
            <a:r>
              <a:rPr spc="-5" dirty="0"/>
              <a:t>e</a:t>
            </a:r>
            <a:r>
              <a:rPr spc="-105" dirty="0"/>
              <a:t>s</a:t>
            </a:r>
            <a:r>
              <a:rPr spc="-535" dirty="0"/>
              <a:t> </a:t>
            </a:r>
            <a:r>
              <a:rPr spc="-160" dirty="0"/>
              <a:t>o</a:t>
            </a:r>
            <a:r>
              <a:rPr spc="360" dirty="0"/>
              <a:t>f</a:t>
            </a:r>
            <a:r>
              <a:rPr spc="-535" dirty="0"/>
              <a:t> </a:t>
            </a:r>
            <a:r>
              <a:rPr spc="-640" dirty="0"/>
              <a:t>S</a:t>
            </a:r>
            <a:r>
              <a:rPr spc="-320" dirty="0"/>
              <a:t>c</a:t>
            </a:r>
            <a:r>
              <a:rPr spc="105" dirty="0"/>
              <a:t>r</a:t>
            </a:r>
            <a:r>
              <a:rPr spc="5" dirty="0"/>
              <a:t>u</a:t>
            </a:r>
            <a:r>
              <a:rPr spc="495" dirty="0"/>
              <a:t>m</a:t>
            </a:r>
          </a:p>
          <a:p>
            <a:pPr marL="12700" marR="5080">
              <a:lnSpc>
                <a:spcPct val="109000"/>
              </a:lnSpc>
              <a:spcBef>
                <a:spcPts val="710"/>
              </a:spcBef>
            </a:pPr>
            <a:r>
              <a:rPr sz="1300" b="0" spc="-20" dirty="0">
                <a:latin typeface="Roboto Lt"/>
                <a:cs typeface="Roboto Lt"/>
              </a:rPr>
              <a:t>Scrum </a:t>
            </a:r>
            <a:r>
              <a:rPr sz="1300" b="0" spc="-25" dirty="0">
                <a:latin typeface="Roboto Lt"/>
                <a:cs typeface="Roboto Lt"/>
              </a:rPr>
              <a:t>is </a:t>
            </a:r>
            <a:r>
              <a:rPr sz="1300" b="0" spc="-5" dirty="0">
                <a:latin typeface="Roboto Lt"/>
                <a:cs typeface="Roboto Lt"/>
              </a:rPr>
              <a:t>a </a:t>
            </a:r>
            <a:r>
              <a:rPr sz="1300" b="0" spc="-35" dirty="0">
                <a:latin typeface="Roboto Lt"/>
                <a:cs typeface="Roboto Lt"/>
              </a:rPr>
              <a:t>highly prescriptive </a:t>
            </a:r>
            <a:r>
              <a:rPr sz="1300" b="0" spc="-25" dirty="0">
                <a:latin typeface="Roboto Lt"/>
                <a:cs typeface="Roboto Lt"/>
              </a:rPr>
              <a:t>framework </a:t>
            </a:r>
            <a:r>
              <a:rPr sz="1300" b="0" spc="-30" dirty="0">
                <a:latin typeface="Roboto Lt"/>
                <a:cs typeface="Roboto Lt"/>
              </a:rPr>
              <a:t>with </a:t>
            </a:r>
            <a:r>
              <a:rPr sz="1300" b="0" spc="-20" dirty="0">
                <a:latin typeface="Roboto Lt"/>
                <a:cs typeface="Roboto Lt"/>
              </a:rPr>
              <a:t>specific </a:t>
            </a:r>
            <a:r>
              <a:rPr sz="1300" b="0" spc="-30" dirty="0">
                <a:latin typeface="Roboto Lt"/>
                <a:cs typeface="Roboto Lt"/>
              </a:rPr>
              <a:t>roles </a:t>
            </a:r>
            <a:r>
              <a:rPr sz="1300" b="0" spc="-25" dirty="0">
                <a:latin typeface="Roboto Lt"/>
                <a:cs typeface="Roboto Lt"/>
              </a:rPr>
              <a:t>and ceremonies. While </a:t>
            </a:r>
            <a:r>
              <a:rPr sz="1300" b="0" spc="-15" dirty="0">
                <a:latin typeface="Roboto Lt"/>
                <a:cs typeface="Roboto Lt"/>
              </a:rPr>
              <a:t>it </a:t>
            </a:r>
            <a:r>
              <a:rPr sz="1300" b="0" spc="-20" dirty="0">
                <a:latin typeface="Roboto Lt"/>
                <a:cs typeface="Roboto Lt"/>
              </a:rPr>
              <a:t>can </a:t>
            </a:r>
            <a:r>
              <a:rPr sz="1300" b="0" spc="-15" dirty="0">
                <a:latin typeface="Roboto Lt"/>
                <a:cs typeface="Roboto Lt"/>
              </a:rPr>
              <a:t>be </a:t>
            </a:r>
            <a:r>
              <a:rPr sz="1300" b="0" spc="-5" dirty="0">
                <a:latin typeface="Roboto Lt"/>
                <a:cs typeface="Roboto Lt"/>
              </a:rPr>
              <a:t>a </a:t>
            </a:r>
            <a:r>
              <a:rPr sz="1300" b="0" spc="-25" dirty="0">
                <a:latin typeface="Roboto Lt"/>
                <a:cs typeface="Roboto Lt"/>
              </a:rPr>
              <a:t>lot </a:t>
            </a:r>
            <a:r>
              <a:rPr sz="1300" b="0" spc="-30" dirty="0">
                <a:latin typeface="Roboto Lt"/>
                <a:cs typeface="Roboto Lt"/>
              </a:rPr>
              <a:t>to </a:t>
            </a:r>
            <a:r>
              <a:rPr sz="1300" b="0" spc="-25" dirty="0">
                <a:latin typeface="Roboto Lt"/>
                <a:cs typeface="Roboto Lt"/>
              </a:rPr>
              <a:t>learn, </a:t>
            </a:r>
            <a:r>
              <a:rPr sz="1300" b="0" spc="-305" dirty="0">
                <a:latin typeface="Roboto Lt"/>
                <a:cs typeface="Roboto Lt"/>
              </a:rPr>
              <a:t> </a:t>
            </a:r>
            <a:r>
              <a:rPr sz="1300" b="0" spc="-25" dirty="0">
                <a:latin typeface="Roboto Lt"/>
                <a:cs typeface="Roboto Lt"/>
              </a:rPr>
              <a:t>these</a:t>
            </a:r>
            <a:r>
              <a:rPr sz="1300" b="0" spc="-30" dirty="0">
                <a:latin typeface="Roboto Lt"/>
                <a:cs typeface="Roboto Lt"/>
              </a:rPr>
              <a:t> </a:t>
            </a:r>
            <a:r>
              <a:rPr sz="1300" b="0" spc="-25" dirty="0">
                <a:latin typeface="Roboto Lt"/>
                <a:cs typeface="Roboto Lt"/>
              </a:rPr>
              <a:t>rules</a:t>
            </a:r>
            <a:r>
              <a:rPr sz="1300" b="0" spc="-35" dirty="0">
                <a:latin typeface="Roboto Lt"/>
                <a:cs typeface="Roboto Lt"/>
              </a:rPr>
              <a:t> </a:t>
            </a:r>
            <a:r>
              <a:rPr sz="1300" b="0" spc="-40" dirty="0">
                <a:latin typeface="Roboto Lt"/>
                <a:cs typeface="Roboto Lt"/>
              </a:rPr>
              <a:t>have</a:t>
            </a:r>
            <a:r>
              <a:rPr sz="1300" b="0" spc="-30" dirty="0">
                <a:latin typeface="Roboto Lt"/>
                <a:cs typeface="Roboto Lt"/>
              </a:rPr>
              <a:t> multiple </a:t>
            </a:r>
            <a:r>
              <a:rPr sz="1300" b="0" spc="-35" dirty="0">
                <a:latin typeface="Roboto Lt"/>
                <a:cs typeface="Roboto Lt"/>
              </a:rPr>
              <a:t>advantages:</a:t>
            </a:r>
            <a:endParaRPr sz="1300">
              <a:latin typeface="Roboto Lt"/>
              <a:cs typeface="Roboto Lt"/>
            </a:endParaRPr>
          </a:p>
        </p:txBody>
      </p:sp>
      <p:sp>
        <p:nvSpPr>
          <p:cNvPr id="6" name="object 6"/>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29</a:t>
            </a:r>
            <a:endParaRPr spc="35" dirty="0"/>
          </a:p>
        </p:txBody>
      </p:sp>
      <p:sp>
        <p:nvSpPr>
          <p:cNvPr id="7" name="object 7"/>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a:t>Agile Methodology</a:t>
            </a:r>
            <a:endParaRPr dirty="0"/>
          </a:p>
        </p:txBody>
      </p:sp>
      <p:sp>
        <p:nvSpPr>
          <p:cNvPr id="4" name="object 4"/>
          <p:cNvSpPr txBox="1"/>
          <p:nvPr/>
        </p:nvSpPr>
        <p:spPr>
          <a:xfrm>
            <a:off x="526368" y="2232097"/>
            <a:ext cx="3818254" cy="2626995"/>
          </a:xfrm>
          <a:prstGeom prst="rect">
            <a:avLst/>
          </a:prstGeom>
        </p:spPr>
        <p:txBody>
          <a:bodyPr vert="horz" wrap="square" lIns="0" tIns="35560" rIns="0" bIns="0" rtlCol="0">
            <a:spAutoFit/>
          </a:bodyPr>
          <a:lstStyle/>
          <a:p>
            <a:pPr marL="266700" marR="1144270" indent="-254000">
              <a:lnSpc>
                <a:spcPts val="1900"/>
              </a:lnSpc>
              <a:spcBef>
                <a:spcPts val="280"/>
              </a:spcBef>
              <a:tabLst>
                <a:tab pos="266065" algn="l"/>
              </a:tabLst>
            </a:pPr>
            <a:r>
              <a:rPr sz="1700" b="1" spc="-35" dirty="0">
                <a:solidFill>
                  <a:srgbClr val="0072EB"/>
                </a:solidFill>
                <a:latin typeface="Arial"/>
                <a:cs typeface="Arial"/>
              </a:rPr>
              <a:t>+	</a:t>
            </a:r>
            <a:r>
              <a:rPr sz="1700" b="1" spc="50" dirty="0">
                <a:solidFill>
                  <a:srgbClr val="0072EB"/>
                </a:solidFill>
                <a:latin typeface="Arial"/>
                <a:cs typeface="Arial"/>
              </a:rPr>
              <a:t>Mor</a:t>
            </a:r>
            <a:r>
              <a:rPr sz="1700" b="1" spc="105" dirty="0">
                <a:solidFill>
                  <a:srgbClr val="0072EB"/>
                </a:solidFill>
                <a:latin typeface="Arial"/>
                <a:cs typeface="Arial"/>
              </a:rPr>
              <a:t>e</a:t>
            </a:r>
            <a:r>
              <a:rPr sz="1700" b="1" spc="-204" dirty="0">
                <a:solidFill>
                  <a:srgbClr val="0072EB"/>
                </a:solidFill>
                <a:latin typeface="Arial"/>
                <a:cs typeface="Arial"/>
              </a:rPr>
              <a:t> </a:t>
            </a:r>
            <a:r>
              <a:rPr sz="1700" b="1" spc="145" dirty="0">
                <a:solidFill>
                  <a:srgbClr val="0072EB"/>
                </a:solidFill>
                <a:latin typeface="Arial"/>
                <a:cs typeface="Arial"/>
              </a:rPr>
              <a:t>t</a:t>
            </a:r>
            <a:r>
              <a:rPr sz="1700" b="1" spc="25" dirty="0">
                <a:solidFill>
                  <a:srgbClr val="0072EB"/>
                </a:solidFill>
                <a:latin typeface="Arial"/>
                <a:cs typeface="Arial"/>
              </a:rPr>
              <a:t>ra</a:t>
            </a:r>
            <a:r>
              <a:rPr sz="1700" b="1" spc="10" dirty="0">
                <a:solidFill>
                  <a:srgbClr val="0072EB"/>
                </a:solidFill>
                <a:latin typeface="Arial"/>
                <a:cs typeface="Arial"/>
              </a:rPr>
              <a:t>n</a:t>
            </a:r>
            <a:r>
              <a:rPr sz="1700" b="1" spc="-120" dirty="0">
                <a:solidFill>
                  <a:srgbClr val="0072EB"/>
                </a:solidFill>
                <a:latin typeface="Arial"/>
                <a:cs typeface="Arial"/>
              </a:rPr>
              <a:t>s</a:t>
            </a:r>
            <a:r>
              <a:rPr sz="1700" b="1" spc="-40" dirty="0">
                <a:solidFill>
                  <a:srgbClr val="0072EB"/>
                </a:solidFill>
                <a:latin typeface="Arial"/>
                <a:cs typeface="Arial"/>
              </a:rPr>
              <a:t>p</a:t>
            </a:r>
            <a:r>
              <a:rPr sz="1700" b="1" spc="25" dirty="0">
                <a:solidFill>
                  <a:srgbClr val="0072EB"/>
                </a:solidFill>
                <a:latin typeface="Arial"/>
                <a:cs typeface="Arial"/>
              </a:rPr>
              <a:t>a</a:t>
            </a:r>
            <a:r>
              <a:rPr sz="1700" b="1" spc="50" dirty="0">
                <a:solidFill>
                  <a:srgbClr val="0072EB"/>
                </a:solidFill>
                <a:latin typeface="Arial"/>
                <a:cs typeface="Arial"/>
              </a:rPr>
              <a:t>r</a:t>
            </a:r>
            <a:r>
              <a:rPr sz="1700" b="1" spc="25" dirty="0">
                <a:solidFill>
                  <a:srgbClr val="0072EB"/>
                </a:solidFill>
                <a:latin typeface="Arial"/>
                <a:cs typeface="Arial"/>
              </a:rPr>
              <a:t>e</a:t>
            </a:r>
            <a:r>
              <a:rPr sz="1700" b="1" spc="10" dirty="0">
                <a:solidFill>
                  <a:srgbClr val="0072EB"/>
                </a:solidFill>
                <a:latin typeface="Arial"/>
                <a:cs typeface="Arial"/>
              </a:rPr>
              <a:t>n</a:t>
            </a:r>
            <a:r>
              <a:rPr sz="1700" b="1" spc="-75" dirty="0">
                <a:solidFill>
                  <a:srgbClr val="0072EB"/>
                </a:solidFill>
                <a:latin typeface="Arial"/>
                <a:cs typeface="Arial"/>
              </a:rPr>
              <a:t>c</a:t>
            </a:r>
            <a:r>
              <a:rPr sz="1700" b="1" spc="90" dirty="0">
                <a:solidFill>
                  <a:srgbClr val="0072EB"/>
                </a:solidFill>
                <a:latin typeface="Arial"/>
                <a:cs typeface="Arial"/>
              </a:rPr>
              <a:t>y</a:t>
            </a:r>
            <a:r>
              <a:rPr sz="1700" b="1" spc="-200" dirty="0">
                <a:solidFill>
                  <a:srgbClr val="0072EB"/>
                </a:solidFill>
                <a:latin typeface="Arial"/>
                <a:cs typeface="Arial"/>
              </a:rPr>
              <a:t> </a:t>
            </a:r>
            <a:r>
              <a:rPr sz="1700" b="1" spc="25" dirty="0">
                <a:solidFill>
                  <a:srgbClr val="0072EB"/>
                </a:solidFill>
                <a:latin typeface="Arial"/>
                <a:cs typeface="Arial"/>
              </a:rPr>
              <a:t>a</a:t>
            </a:r>
            <a:r>
              <a:rPr sz="1700" b="1" spc="15" dirty="0">
                <a:solidFill>
                  <a:srgbClr val="0072EB"/>
                </a:solidFill>
                <a:latin typeface="Arial"/>
                <a:cs typeface="Arial"/>
              </a:rPr>
              <a:t>n</a:t>
            </a:r>
            <a:r>
              <a:rPr sz="1700" b="1" spc="30" dirty="0">
                <a:solidFill>
                  <a:srgbClr val="0072EB"/>
                </a:solidFill>
                <a:latin typeface="Arial"/>
                <a:cs typeface="Arial"/>
              </a:rPr>
              <a:t>d  </a:t>
            </a:r>
            <a:r>
              <a:rPr sz="1700" b="1" spc="-30" dirty="0">
                <a:solidFill>
                  <a:srgbClr val="0072EB"/>
                </a:solidFill>
                <a:latin typeface="Arial"/>
                <a:cs typeface="Arial"/>
              </a:rPr>
              <a:t>p</a:t>
            </a:r>
            <a:r>
              <a:rPr sz="1700" b="1" spc="50" dirty="0">
                <a:solidFill>
                  <a:srgbClr val="0072EB"/>
                </a:solidFill>
                <a:latin typeface="Arial"/>
                <a:cs typeface="Arial"/>
              </a:rPr>
              <a:t>r</a:t>
            </a:r>
            <a:r>
              <a:rPr sz="1700" b="1" spc="-55" dirty="0">
                <a:solidFill>
                  <a:srgbClr val="0072EB"/>
                </a:solidFill>
                <a:latin typeface="Arial"/>
                <a:cs typeface="Arial"/>
              </a:rPr>
              <a:t>o</a:t>
            </a:r>
            <a:r>
              <a:rPr sz="1700" b="1" spc="-15" dirty="0">
                <a:solidFill>
                  <a:srgbClr val="0072EB"/>
                </a:solidFill>
                <a:latin typeface="Arial"/>
                <a:cs typeface="Arial"/>
              </a:rPr>
              <a:t>j</a:t>
            </a:r>
            <a:r>
              <a:rPr sz="1700" b="1" spc="-50" dirty="0">
                <a:solidFill>
                  <a:srgbClr val="0072EB"/>
                </a:solidFill>
                <a:latin typeface="Arial"/>
                <a:cs typeface="Arial"/>
              </a:rPr>
              <a:t>e</a:t>
            </a:r>
            <a:r>
              <a:rPr sz="1700" b="1" spc="-35" dirty="0">
                <a:solidFill>
                  <a:srgbClr val="0072EB"/>
                </a:solidFill>
                <a:latin typeface="Arial"/>
                <a:cs typeface="Arial"/>
              </a:rPr>
              <a:t>c</a:t>
            </a:r>
            <a:r>
              <a:rPr sz="1700" b="1" spc="215" dirty="0">
                <a:solidFill>
                  <a:srgbClr val="0072EB"/>
                </a:solidFill>
                <a:latin typeface="Arial"/>
                <a:cs typeface="Arial"/>
              </a:rPr>
              <a:t>t</a:t>
            </a:r>
            <a:r>
              <a:rPr sz="1700" b="1" spc="-204" dirty="0">
                <a:solidFill>
                  <a:srgbClr val="0072EB"/>
                </a:solidFill>
                <a:latin typeface="Arial"/>
                <a:cs typeface="Arial"/>
              </a:rPr>
              <a:t> </a:t>
            </a:r>
            <a:r>
              <a:rPr sz="1700" b="1" spc="15" dirty="0">
                <a:solidFill>
                  <a:srgbClr val="0072EB"/>
                </a:solidFill>
                <a:latin typeface="Arial"/>
                <a:cs typeface="Arial"/>
              </a:rPr>
              <a:t>v</a:t>
            </a:r>
            <a:r>
              <a:rPr sz="1700" b="1" spc="-10" dirty="0">
                <a:solidFill>
                  <a:srgbClr val="0072EB"/>
                </a:solidFill>
                <a:latin typeface="Arial"/>
                <a:cs typeface="Arial"/>
              </a:rPr>
              <a:t>i</a:t>
            </a:r>
            <a:r>
              <a:rPr sz="1700" b="1" spc="-125" dirty="0">
                <a:solidFill>
                  <a:srgbClr val="0072EB"/>
                </a:solidFill>
                <a:latin typeface="Arial"/>
                <a:cs typeface="Arial"/>
              </a:rPr>
              <a:t>s</a:t>
            </a:r>
            <a:r>
              <a:rPr sz="1700" b="1" spc="-5" dirty="0">
                <a:solidFill>
                  <a:srgbClr val="0072EB"/>
                </a:solidFill>
                <a:latin typeface="Arial"/>
                <a:cs typeface="Arial"/>
              </a:rPr>
              <a:t>i</a:t>
            </a:r>
            <a:r>
              <a:rPr sz="1700" b="1" spc="-35" dirty="0">
                <a:solidFill>
                  <a:srgbClr val="0072EB"/>
                </a:solidFill>
                <a:latin typeface="Arial"/>
                <a:cs typeface="Arial"/>
              </a:rPr>
              <a:t>b</a:t>
            </a:r>
            <a:r>
              <a:rPr sz="1700" b="1" spc="-10" dirty="0">
                <a:solidFill>
                  <a:srgbClr val="0072EB"/>
                </a:solidFill>
                <a:latin typeface="Arial"/>
                <a:cs typeface="Arial"/>
              </a:rPr>
              <a:t>il</a:t>
            </a:r>
            <a:r>
              <a:rPr sz="1700" b="1" spc="-20" dirty="0">
                <a:solidFill>
                  <a:srgbClr val="0072EB"/>
                </a:solidFill>
                <a:latin typeface="Arial"/>
                <a:cs typeface="Arial"/>
              </a:rPr>
              <a:t>i</a:t>
            </a:r>
            <a:r>
              <a:rPr sz="1700" b="1" spc="165" dirty="0">
                <a:solidFill>
                  <a:srgbClr val="0072EB"/>
                </a:solidFill>
                <a:latin typeface="Arial"/>
                <a:cs typeface="Arial"/>
              </a:rPr>
              <a:t>t</a:t>
            </a:r>
            <a:r>
              <a:rPr sz="1700" b="1" spc="90" dirty="0">
                <a:solidFill>
                  <a:srgbClr val="0072EB"/>
                </a:solidFill>
                <a:latin typeface="Arial"/>
                <a:cs typeface="Arial"/>
              </a:rPr>
              <a:t>y</a:t>
            </a:r>
            <a:endParaRPr sz="1700" dirty="0">
              <a:latin typeface="Arial"/>
              <a:cs typeface="Arial"/>
            </a:endParaRPr>
          </a:p>
          <a:p>
            <a:pPr marL="266065">
              <a:lnSpc>
                <a:spcPct val="100000"/>
              </a:lnSpc>
              <a:spcBef>
                <a:spcPts val="170"/>
              </a:spcBef>
            </a:pPr>
            <a:r>
              <a:rPr sz="1150" spc="-5" dirty="0">
                <a:solidFill>
                  <a:srgbClr val="333333"/>
                </a:solidFill>
                <a:latin typeface="Roboto Lt"/>
                <a:cs typeface="Roboto Lt"/>
              </a:rPr>
              <a:t>With</a:t>
            </a:r>
            <a:r>
              <a:rPr sz="1150" spc="-25" dirty="0">
                <a:solidFill>
                  <a:srgbClr val="333333"/>
                </a:solidFill>
                <a:latin typeface="Roboto Lt"/>
                <a:cs typeface="Roboto Lt"/>
              </a:rPr>
              <a:t> </a:t>
            </a:r>
            <a:r>
              <a:rPr sz="1150" spc="-20" dirty="0">
                <a:solidFill>
                  <a:srgbClr val="333333"/>
                </a:solidFill>
                <a:latin typeface="Roboto Lt"/>
                <a:cs typeface="Roboto Lt"/>
              </a:rPr>
              <a:t>daily </a:t>
            </a:r>
            <a:r>
              <a:rPr sz="1150" spc="-25" dirty="0">
                <a:solidFill>
                  <a:srgbClr val="333333"/>
                </a:solidFill>
                <a:latin typeface="Roboto Lt"/>
                <a:cs typeface="Roboto Lt"/>
              </a:rPr>
              <a:t>stand-up </a:t>
            </a:r>
            <a:r>
              <a:rPr sz="1150" spc="-10" dirty="0">
                <a:solidFill>
                  <a:srgbClr val="333333"/>
                </a:solidFill>
                <a:latin typeface="Roboto Lt"/>
                <a:cs typeface="Roboto Lt"/>
              </a:rPr>
              <a:t>meetings,</a:t>
            </a:r>
            <a:r>
              <a:rPr sz="1150" spc="-20" dirty="0">
                <a:solidFill>
                  <a:srgbClr val="333333"/>
                </a:solidFill>
                <a:latin typeface="Roboto Lt"/>
                <a:cs typeface="Roboto Lt"/>
              </a:rPr>
              <a:t> </a:t>
            </a:r>
            <a:r>
              <a:rPr sz="1150" spc="-10" dirty="0">
                <a:solidFill>
                  <a:srgbClr val="333333"/>
                </a:solidFill>
                <a:latin typeface="Roboto Lt"/>
                <a:cs typeface="Roboto Lt"/>
              </a:rPr>
              <a:t>the</a:t>
            </a:r>
            <a:r>
              <a:rPr sz="1150" spc="-25" dirty="0">
                <a:solidFill>
                  <a:srgbClr val="333333"/>
                </a:solidFill>
                <a:latin typeface="Roboto Lt"/>
                <a:cs typeface="Roboto Lt"/>
              </a:rPr>
              <a:t> </a:t>
            </a:r>
            <a:r>
              <a:rPr sz="1150" spc="-10" dirty="0">
                <a:solidFill>
                  <a:srgbClr val="333333"/>
                </a:solidFill>
                <a:latin typeface="Roboto Lt"/>
                <a:cs typeface="Roboto Lt"/>
              </a:rPr>
              <a:t>whole</a:t>
            </a:r>
            <a:r>
              <a:rPr sz="1150" spc="-20" dirty="0">
                <a:solidFill>
                  <a:srgbClr val="333333"/>
                </a:solidFill>
                <a:latin typeface="Roboto Lt"/>
                <a:cs typeface="Roboto Lt"/>
              </a:rPr>
              <a:t> </a:t>
            </a:r>
            <a:r>
              <a:rPr sz="1150" spc="-15" dirty="0">
                <a:solidFill>
                  <a:srgbClr val="333333"/>
                </a:solidFill>
                <a:latin typeface="Roboto Lt"/>
                <a:cs typeface="Roboto Lt"/>
              </a:rPr>
              <a:t>team</a:t>
            </a:r>
            <a:r>
              <a:rPr sz="1150" spc="-25" dirty="0">
                <a:solidFill>
                  <a:srgbClr val="333333"/>
                </a:solidFill>
                <a:latin typeface="Roboto Lt"/>
                <a:cs typeface="Roboto Lt"/>
              </a:rPr>
              <a:t> </a:t>
            </a:r>
            <a:r>
              <a:rPr sz="1150" spc="-15" dirty="0">
                <a:solidFill>
                  <a:srgbClr val="333333"/>
                </a:solidFill>
                <a:latin typeface="Roboto Lt"/>
                <a:cs typeface="Roboto Lt"/>
              </a:rPr>
              <a:t>knows</a:t>
            </a:r>
            <a:endParaRPr sz="1150" dirty="0">
              <a:latin typeface="Roboto Lt"/>
              <a:cs typeface="Roboto Lt"/>
            </a:endParaRPr>
          </a:p>
          <a:p>
            <a:pPr marL="266700" marR="5080">
              <a:lnSpc>
                <a:spcPct val="123200"/>
              </a:lnSpc>
            </a:pPr>
            <a:r>
              <a:rPr sz="1150" spc="-10" dirty="0">
                <a:solidFill>
                  <a:srgbClr val="333333"/>
                </a:solidFill>
                <a:latin typeface="Roboto Lt"/>
                <a:cs typeface="Roboto Lt"/>
              </a:rPr>
              <a:t>who </a:t>
            </a:r>
            <a:r>
              <a:rPr sz="1150" spc="-15" dirty="0">
                <a:solidFill>
                  <a:srgbClr val="333333"/>
                </a:solidFill>
                <a:latin typeface="Roboto Lt"/>
                <a:cs typeface="Roboto Lt"/>
              </a:rPr>
              <a:t>is doing what </a:t>
            </a:r>
            <a:r>
              <a:rPr sz="1150" spc="-10" dirty="0">
                <a:solidFill>
                  <a:srgbClr val="333333"/>
                </a:solidFill>
                <a:latin typeface="Roboto Lt"/>
                <a:cs typeface="Roboto Lt"/>
              </a:rPr>
              <a:t>and </a:t>
            </a:r>
            <a:r>
              <a:rPr sz="1150" spc="-15" dirty="0">
                <a:solidFill>
                  <a:srgbClr val="333333"/>
                </a:solidFill>
                <a:latin typeface="Roboto Lt"/>
                <a:cs typeface="Roboto Lt"/>
              </a:rPr>
              <a:t>issues are identified in advance, </a:t>
            </a:r>
            <a:r>
              <a:rPr sz="1150" spc="-10" dirty="0">
                <a:solidFill>
                  <a:srgbClr val="333333"/>
                </a:solidFill>
                <a:latin typeface="Roboto Lt"/>
                <a:cs typeface="Roboto Lt"/>
              </a:rPr>
              <a:t> </a:t>
            </a:r>
            <a:r>
              <a:rPr sz="1150" spc="-20" dirty="0">
                <a:solidFill>
                  <a:srgbClr val="333333"/>
                </a:solidFill>
                <a:latin typeface="Roboto Lt"/>
                <a:cs typeface="Roboto Lt"/>
              </a:rPr>
              <a:t>improving </a:t>
            </a:r>
            <a:r>
              <a:rPr sz="1150" spc="-15" dirty="0">
                <a:solidFill>
                  <a:srgbClr val="333333"/>
                </a:solidFill>
                <a:latin typeface="Roboto Lt"/>
                <a:cs typeface="Roboto Lt"/>
              </a:rPr>
              <a:t>communication </a:t>
            </a:r>
            <a:r>
              <a:rPr sz="1150" spc="-10" dirty="0">
                <a:solidFill>
                  <a:srgbClr val="333333"/>
                </a:solidFill>
                <a:latin typeface="Roboto Lt"/>
                <a:cs typeface="Roboto Lt"/>
              </a:rPr>
              <a:t>and </a:t>
            </a:r>
            <a:r>
              <a:rPr sz="1150" spc="-15" dirty="0">
                <a:solidFill>
                  <a:srgbClr val="333333"/>
                </a:solidFill>
                <a:latin typeface="Roboto Lt"/>
                <a:cs typeface="Roboto Lt"/>
              </a:rPr>
              <a:t>enabling </a:t>
            </a:r>
            <a:r>
              <a:rPr sz="1150" spc="-10" dirty="0">
                <a:solidFill>
                  <a:srgbClr val="333333"/>
                </a:solidFill>
                <a:latin typeface="Roboto Lt"/>
                <a:cs typeface="Roboto Lt"/>
              </a:rPr>
              <a:t>the </a:t>
            </a:r>
            <a:r>
              <a:rPr sz="1150" spc="-15" dirty="0">
                <a:solidFill>
                  <a:srgbClr val="333333"/>
                </a:solidFill>
                <a:latin typeface="Roboto Lt"/>
                <a:cs typeface="Roboto Lt"/>
              </a:rPr>
              <a:t>team to </a:t>
            </a:r>
            <a:r>
              <a:rPr sz="1150" spc="-20" dirty="0">
                <a:solidFill>
                  <a:srgbClr val="333333"/>
                </a:solidFill>
                <a:latin typeface="Roboto Lt"/>
                <a:cs typeface="Roboto Lt"/>
              </a:rPr>
              <a:t>take </a:t>
            </a:r>
            <a:r>
              <a:rPr sz="1150" spc="-265" dirty="0">
                <a:solidFill>
                  <a:srgbClr val="333333"/>
                </a:solidFill>
                <a:latin typeface="Roboto Lt"/>
                <a:cs typeface="Roboto Lt"/>
              </a:rPr>
              <a:t> </a:t>
            </a:r>
            <a:r>
              <a:rPr sz="1150" spc="-15" dirty="0">
                <a:solidFill>
                  <a:srgbClr val="333333"/>
                </a:solidFill>
                <a:latin typeface="Roboto Lt"/>
                <a:cs typeface="Roboto Lt"/>
              </a:rPr>
              <a:t>care</a:t>
            </a:r>
            <a:r>
              <a:rPr sz="1150" spc="-25" dirty="0">
                <a:solidFill>
                  <a:srgbClr val="333333"/>
                </a:solidFill>
                <a:latin typeface="Roboto Lt"/>
                <a:cs typeface="Roboto Lt"/>
              </a:rPr>
              <a:t> </a:t>
            </a:r>
            <a:r>
              <a:rPr sz="1150" spc="-5" dirty="0">
                <a:solidFill>
                  <a:srgbClr val="333333"/>
                </a:solidFill>
                <a:latin typeface="Roboto Lt"/>
                <a:cs typeface="Roboto Lt"/>
              </a:rPr>
              <a:t>of</a:t>
            </a:r>
            <a:r>
              <a:rPr sz="1150" spc="-20" dirty="0">
                <a:solidFill>
                  <a:srgbClr val="333333"/>
                </a:solidFill>
                <a:latin typeface="Roboto Lt"/>
                <a:cs typeface="Roboto Lt"/>
              </a:rPr>
              <a:t> </a:t>
            </a:r>
            <a:r>
              <a:rPr sz="1150" spc="-15" dirty="0">
                <a:solidFill>
                  <a:srgbClr val="333333"/>
                </a:solidFill>
                <a:latin typeface="Roboto Lt"/>
                <a:cs typeface="Roboto Lt"/>
              </a:rPr>
              <a:t>issues</a:t>
            </a:r>
            <a:r>
              <a:rPr sz="1150" spc="-20" dirty="0">
                <a:solidFill>
                  <a:srgbClr val="333333"/>
                </a:solidFill>
                <a:latin typeface="Roboto Lt"/>
                <a:cs typeface="Roboto Lt"/>
              </a:rPr>
              <a:t> </a:t>
            </a:r>
            <a:r>
              <a:rPr sz="1150" spc="-15" dirty="0">
                <a:solidFill>
                  <a:srgbClr val="333333"/>
                </a:solidFill>
                <a:latin typeface="Roboto Lt"/>
                <a:cs typeface="Roboto Lt"/>
              </a:rPr>
              <a:t>right</a:t>
            </a:r>
            <a:r>
              <a:rPr sz="1150" spc="-20" dirty="0">
                <a:solidFill>
                  <a:srgbClr val="333333"/>
                </a:solidFill>
                <a:latin typeface="Roboto Lt"/>
                <a:cs typeface="Roboto Lt"/>
              </a:rPr>
              <a:t> </a:t>
            </a:r>
            <a:r>
              <a:rPr sz="1150" spc="-35" dirty="0">
                <a:solidFill>
                  <a:srgbClr val="333333"/>
                </a:solidFill>
                <a:latin typeface="Roboto Lt"/>
                <a:cs typeface="Roboto Lt"/>
              </a:rPr>
              <a:t>away.</a:t>
            </a:r>
            <a:endParaRPr sz="1150" dirty="0">
              <a:latin typeface="Roboto Lt"/>
              <a:cs typeface="Roboto Lt"/>
            </a:endParaRPr>
          </a:p>
          <a:p>
            <a:pPr marL="12700">
              <a:lnSpc>
                <a:spcPct val="100000"/>
              </a:lnSpc>
              <a:spcBef>
                <a:spcPts val="1120"/>
              </a:spcBef>
              <a:tabLst>
                <a:tab pos="266065" algn="l"/>
              </a:tabLst>
            </a:pPr>
            <a:r>
              <a:rPr sz="1700" b="1" spc="-35" dirty="0">
                <a:solidFill>
                  <a:srgbClr val="0072EB"/>
                </a:solidFill>
                <a:latin typeface="Arial"/>
                <a:cs typeface="Arial"/>
              </a:rPr>
              <a:t>+	</a:t>
            </a:r>
            <a:r>
              <a:rPr sz="1700" b="1" spc="30" dirty="0">
                <a:solidFill>
                  <a:srgbClr val="0072EB"/>
                </a:solidFill>
                <a:latin typeface="Arial"/>
                <a:cs typeface="Arial"/>
              </a:rPr>
              <a:t>I</a:t>
            </a:r>
            <a:r>
              <a:rPr sz="1700" b="1" spc="10" dirty="0">
                <a:solidFill>
                  <a:srgbClr val="0072EB"/>
                </a:solidFill>
                <a:latin typeface="Arial"/>
                <a:cs typeface="Arial"/>
              </a:rPr>
              <a:t>n</a:t>
            </a:r>
            <a:r>
              <a:rPr sz="1700" b="1" spc="-110" dirty="0">
                <a:solidFill>
                  <a:srgbClr val="0072EB"/>
                </a:solidFill>
                <a:latin typeface="Arial"/>
                <a:cs typeface="Arial"/>
              </a:rPr>
              <a:t>c</a:t>
            </a:r>
            <a:r>
              <a:rPr sz="1700" b="1" spc="50" dirty="0">
                <a:solidFill>
                  <a:srgbClr val="0072EB"/>
                </a:solidFill>
                <a:latin typeface="Arial"/>
                <a:cs typeface="Arial"/>
              </a:rPr>
              <a:t>r</a:t>
            </a:r>
            <a:r>
              <a:rPr sz="1700" b="1" spc="15" dirty="0">
                <a:solidFill>
                  <a:srgbClr val="0072EB"/>
                </a:solidFill>
                <a:latin typeface="Arial"/>
                <a:cs typeface="Arial"/>
              </a:rPr>
              <a:t>ea</a:t>
            </a:r>
            <a:r>
              <a:rPr sz="1700" b="1" spc="-130" dirty="0">
                <a:solidFill>
                  <a:srgbClr val="0072EB"/>
                </a:solidFill>
                <a:latin typeface="Arial"/>
                <a:cs typeface="Arial"/>
              </a:rPr>
              <a:t>s</a:t>
            </a:r>
            <a:r>
              <a:rPr sz="1700" b="1" spc="25" dirty="0">
                <a:solidFill>
                  <a:srgbClr val="0072EB"/>
                </a:solidFill>
                <a:latin typeface="Arial"/>
                <a:cs typeface="Arial"/>
              </a:rPr>
              <a:t>e</a:t>
            </a:r>
            <a:r>
              <a:rPr sz="1700" b="1" spc="50" dirty="0">
                <a:solidFill>
                  <a:srgbClr val="0072EB"/>
                </a:solidFill>
                <a:latin typeface="Arial"/>
                <a:cs typeface="Arial"/>
              </a:rPr>
              <a:t>d</a:t>
            </a:r>
            <a:r>
              <a:rPr sz="1700" b="1" spc="-204" dirty="0">
                <a:solidFill>
                  <a:srgbClr val="0072EB"/>
                </a:solidFill>
                <a:latin typeface="Arial"/>
                <a:cs typeface="Arial"/>
              </a:rPr>
              <a:t> </a:t>
            </a:r>
            <a:r>
              <a:rPr sz="1700" b="1" spc="60" dirty="0">
                <a:solidFill>
                  <a:srgbClr val="0072EB"/>
                </a:solidFill>
                <a:latin typeface="Arial"/>
                <a:cs typeface="Arial"/>
              </a:rPr>
              <a:t>tea</a:t>
            </a:r>
            <a:r>
              <a:rPr sz="1700" b="1" spc="185" dirty="0">
                <a:solidFill>
                  <a:srgbClr val="0072EB"/>
                </a:solidFill>
                <a:latin typeface="Arial"/>
                <a:cs typeface="Arial"/>
              </a:rPr>
              <a:t>m</a:t>
            </a:r>
            <a:r>
              <a:rPr sz="1700" b="1" spc="-204" dirty="0">
                <a:solidFill>
                  <a:srgbClr val="0072EB"/>
                </a:solidFill>
                <a:latin typeface="Arial"/>
                <a:cs typeface="Arial"/>
              </a:rPr>
              <a:t> </a:t>
            </a:r>
            <a:r>
              <a:rPr sz="1700" b="1" spc="20" dirty="0">
                <a:solidFill>
                  <a:srgbClr val="0072EB"/>
                </a:solidFill>
                <a:latin typeface="Arial"/>
                <a:cs typeface="Arial"/>
              </a:rPr>
              <a:t>a</a:t>
            </a:r>
            <a:r>
              <a:rPr sz="1700" b="1" spc="-120" dirty="0">
                <a:solidFill>
                  <a:srgbClr val="0072EB"/>
                </a:solidFill>
                <a:latin typeface="Arial"/>
                <a:cs typeface="Arial"/>
              </a:rPr>
              <a:t>cc</a:t>
            </a:r>
            <a:r>
              <a:rPr sz="1700" b="1" spc="-50" dirty="0">
                <a:solidFill>
                  <a:srgbClr val="0072EB"/>
                </a:solidFill>
                <a:latin typeface="Arial"/>
                <a:cs typeface="Arial"/>
              </a:rPr>
              <a:t>o</a:t>
            </a:r>
            <a:r>
              <a:rPr sz="1700" b="1" spc="15" dirty="0">
                <a:solidFill>
                  <a:srgbClr val="0072EB"/>
                </a:solidFill>
                <a:latin typeface="Arial"/>
                <a:cs typeface="Arial"/>
              </a:rPr>
              <a:t>u</a:t>
            </a:r>
            <a:r>
              <a:rPr sz="1700" b="1" spc="5" dirty="0">
                <a:solidFill>
                  <a:srgbClr val="0072EB"/>
                </a:solidFill>
                <a:latin typeface="Arial"/>
                <a:cs typeface="Arial"/>
              </a:rPr>
              <a:t>n</a:t>
            </a:r>
            <a:r>
              <a:rPr sz="1700" b="1" spc="140" dirty="0">
                <a:solidFill>
                  <a:srgbClr val="0072EB"/>
                </a:solidFill>
                <a:latin typeface="Arial"/>
                <a:cs typeface="Arial"/>
              </a:rPr>
              <a:t>t</a:t>
            </a:r>
            <a:r>
              <a:rPr sz="1700" b="1" spc="25" dirty="0">
                <a:solidFill>
                  <a:srgbClr val="0072EB"/>
                </a:solidFill>
                <a:latin typeface="Arial"/>
                <a:cs typeface="Arial"/>
              </a:rPr>
              <a:t>a</a:t>
            </a:r>
            <a:r>
              <a:rPr sz="1700" b="1" spc="-35" dirty="0">
                <a:solidFill>
                  <a:srgbClr val="0072EB"/>
                </a:solidFill>
                <a:latin typeface="Arial"/>
                <a:cs typeface="Arial"/>
              </a:rPr>
              <a:t>b</a:t>
            </a:r>
            <a:r>
              <a:rPr sz="1700" b="1" spc="-5" dirty="0">
                <a:solidFill>
                  <a:srgbClr val="0072EB"/>
                </a:solidFill>
                <a:latin typeface="Arial"/>
                <a:cs typeface="Arial"/>
              </a:rPr>
              <a:t>i</a:t>
            </a:r>
            <a:r>
              <a:rPr sz="1700" b="1" spc="-10" dirty="0">
                <a:solidFill>
                  <a:srgbClr val="0072EB"/>
                </a:solidFill>
                <a:latin typeface="Arial"/>
                <a:cs typeface="Arial"/>
              </a:rPr>
              <a:t>l</a:t>
            </a:r>
            <a:r>
              <a:rPr sz="1700" b="1" spc="-15" dirty="0">
                <a:solidFill>
                  <a:srgbClr val="0072EB"/>
                </a:solidFill>
                <a:latin typeface="Arial"/>
                <a:cs typeface="Arial"/>
              </a:rPr>
              <a:t>i</a:t>
            </a:r>
            <a:r>
              <a:rPr sz="1700" b="1" spc="165" dirty="0">
                <a:solidFill>
                  <a:srgbClr val="0072EB"/>
                </a:solidFill>
                <a:latin typeface="Arial"/>
                <a:cs typeface="Arial"/>
              </a:rPr>
              <a:t>t</a:t>
            </a:r>
            <a:r>
              <a:rPr sz="1700" b="1" spc="90" dirty="0">
                <a:solidFill>
                  <a:srgbClr val="0072EB"/>
                </a:solidFill>
                <a:latin typeface="Arial"/>
                <a:cs typeface="Arial"/>
              </a:rPr>
              <a:t>y</a:t>
            </a:r>
            <a:endParaRPr sz="1700" dirty="0">
              <a:latin typeface="Arial"/>
              <a:cs typeface="Arial"/>
            </a:endParaRPr>
          </a:p>
          <a:p>
            <a:pPr marL="266700" marR="309880" indent="-635">
              <a:lnSpc>
                <a:spcPts val="1700"/>
              </a:lnSpc>
            </a:pPr>
            <a:r>
              <a:rPr sz="1150" spc="-10" dirty="0">
                <a:solidFill>
                  <a:srgbClr val="333333"/>
                </a:solidFill>
                <a:latin typeface="Roboto Lt"/>
                <a:cs typeface="Roboto Lt"/>
              </a:rPr>
              <a:t>There </a:t>
            </a:r>
            <a:r>
              <a:rPr sz="1150" spc="-15" dirty="0">
                <a:solidFill>
                  <a:srgbClr val="333333"/>
                </a:solidFill>
                <a:latin typeface="Roboto Lt"/>
                <a:cs typeface="Roboto Lt"/>
              </a:rPr>
              <a:t>is </a:t>
            </a:r>
            <a:r>
              <a:rPr sz="1150" spc="-5" dirty="0">
                <a:solidFill>
                  <a:srgbClr val="333333"/>
                </a:solidFill>
                <a:latin typeface="Roboto Lt"/>
                <a:cs typeface="Roboto Lt"/>
              </a:rPr>
              <a:t>no </a:t>
            </a:r>
            <a:r>
              <a:rPr sz="1150" spc="-15" dirty="0">
                <a:solidFill>
                  <a:srgbClr val="333333"/>
                </a:solidFill>
                <a:latin typeface="Roboto Lt"/>
                <a:cs typeface="Roboto Lt"/>
              </a:rPr>
              <a:t>project </a:t>
            </a:r>
            <a:r>
              <a:rPr sz="1150" spc="-20" dirty="0">
                <a:solidFill>
                  <a:srgbClr val="333333"/>
                </a:solidFill>
                <a:latin typeface="Roboto Lt"/>
                <a:cs typeface="Roboto Lt"/>
              </a:rPr>
              <a:t>manager. Instead, </a:t>
            </a:r>
            <a:r>
              <a:rPr sz="1150" spc="-10" dirty="0">
                <a:solidFill>
                  <a:srgbClr val="333333"/>
                </a:solidFill>
                <a:latin typeface="Roboto Lt"/>
                <a:cs typeface="Roboto Lt"/>
              </a:rPr>
              <a:t>the </a:t>
            </a:r>
            <a:r>
              <a:rPr sz="1150" spc="-15" dirty="0">
                <a:solidFill>
                  <a:srgbClr val="333333"/>
                </a:solidFill>
                <a:latin typeface="Roboto Lt"/>
                <a:cs typeface="Roboto Lt"/>
              </a:rPr>
              <a:t>team </a:t>
            </a:r>
            <a:r>
              <a:rPr sz="1150" spc="-10" dirty="0">
                <a:solidFill>
                  <a:srgbClr val="333333"/>
                </a:solidFill>
                <a:latin typeface="Roboto Lt"/>
                <a:cs typeface="Roboto Lt"/>
              </a:rPr>
              <a:t> </a:t>
            </a:r>
            <a:r>
              <a:rPr sz="1150" spc="-15" dirty="0">
                <a:solidFill>
                  <a:srgbClr val="333333"/>
                </a:solidFill>
                <a:latin typeface="Roboto Lt"/>
                <a:cs typeface="Roboto Lt"/>
              </a:rPr>
              <a:t>collectively </a:t>
            </a:r>
            <a:r>
              <a:rPr sz="1150" spc="-10" dirty="0">
                <a:solidFill>
                  <a:srgbClr val="333333"/>
                </a:solidFill>
                <a:latin typeface="Roboto Lt"/>
                <a:cs typeface="Roboto Lt"/>
              </a:rPr>
              <a:t>decides </a:t>
            </a:r>
            <a:r>
              <a:rPr sz="1150" spc="-15" dirty="0">
                <a:solidFill>
                  <a:srgbClr val="333333"/>
                </a:solidFill>
                <a:latin typeface="Roboto Lt"/>
                <a:cs typeface="Roboto Lt"/>
              </a:rPr>
              <a:t>what </a:t>
            </a:r>
            <a:r>
              <a:rPr sz="1150" spc="-10" dirty="0">
                <a:solidFill>
                  <a:srgbClr val="333333"/>
                </a:solidFill>
                <a:latin typeface="Roboto Lt"/>
                <a:cs typeface="Roboto Lt"/>
              </a:rPr>
              <a:t>work </a:t>
            </a:r>
            <a:r>
              <a:rPr sz="1150" spc="-15" dirty="0">
                <a:solidFill>
                  <a:srgbClr val="333333"/>
                </a:solidFill>
                <a:latin typeface="Roboto Lt"/>
                <a:cs typeface="Roboto Lt"/>
              </a:rPr>
              <a:t>they </a:t>
            </a:r>
            <a:r>
              <a:rPr sz="1150" spc="-10" dirty="0">
                <a:solidFill>
                  <a:srgbClr val="333333"/>
                </a:solidFill>
                <a:latin typeface="Roboto Lt"/>
                <a:cs typeface="Roboto Lt"/>
              </a:rPr>
              <a:t>can </a:t>
            </a:r>
            <a:r>
              <a:rPr sz="1150" spc="-15" dirty="0">
                <a:solidFill>
                  <a:srgbClr val="333333"/>
                </a:solidFill>
                <a:latin typeface="Roboto Lt"/>
                <a:cs typeface="Roboto Lt"/>
              </a:rPr>
              <a:t>complete in </a:t>
            </a:r>
            <a:r>
              <a:rPr sz="1150" spc="-265" dirty="0">
                <a:solidFill>
                  <a:srgbClr val="333333"/>
                </a:solidFill>
                <a:latin typeface="Roboto Lt"/>
                <a:cs typeface="Roboto Lt"/>
              </a:rPr>
              <a:t> </a:t>
            </a:r>
            <a:r>
              <a:rPr sz="1150" spc="-10" dirty="0">
                <a:solidFill>
                  <a:srgbClr val="333333"/>
                </a:solidFill>
                <a:latin typeface="Roboto Lt"/>
                <a:cs typeface="Roboto Lt"/>
              </a:rPr>
              <a:t>each </a:t>
            </a:r>
            <a:r>
              <a:rPr sz="1150" spc="-15" dirty="0">
                <a:solidFill>
                  <a:srgbClr val="333333"/>
                </a:solidFill>
                <a:latin typeface="Roboto Lt"/>
                <a:cs typeface="Roboto Lt"/>
              </a:rPr>
              <a:t>sprint, working together </a:t>
            </a:r>
            <a:r>
              <a:rPr sz="1150" spc="-20" dirty="0">
                <a:solidFill>
                  <a:srgbClr val="333333"/>
                </a:solidFill>
                <a:latin typeface="Roboto Lt"/>
                <a:cs typeface="Roboto Lt"/>
              </a:rPr>
              <a:t>collaboratively, </a:t>
            </a:r>
            <a:r>
              <a:rPr sz="1150" spc="-15" dirty="0">
                <a:solidFill>
                  <a:srgbClr val="333333"/>
                </a:solidFill>
                <a:latin typeface="Roboto Lt"/>
                <a:cs typeface="Roboto Lt"/>
              </a:rPr>
              <a:t>with </a:t>
            </a:r>
            <a:r>
              <a:rPr sz="1150" spc="-10" dirty="0">
                <a:solidFill>
                  <a:srgbClr val="333333"/>
                </a:solidFill>
                <a:latin typeface="Roboto Lt"/>
                <a:cs typeface="Roboto Lt"/>
              </a:rPr>
              <a:t> </a:t>
            </a:r>
            <a:r>
              <a:rPr sz="1150" spc="-20" dirty="0">
                <a:solidFill>
                  <a:srgbClr val="333333"/>
                </a:solidFill>
                <a:latin typeface="Roboto Lt"/>
                <a:cs typeface="Roboto Lt"/>
              </a:rPr>
              <a:t>accountability.</a:t>
            </a:r>
            <a:endParaRPr sz="1150" dirty="0">
              <a:latin typeface="Roboto Lt"/>
              <a:cs typeface="Roboto Lt"/>
            </a:endParaRPr>
          </a:p>
        </p:txBody>
      </p:sp>
      <p:sp>
        <p:nvSpPr>
          <p:cNvPr id="5" name="object 5"/>
          <p:cNvSpPr txBox="1"/>
          <p:nvPr/>
        </p:nvSpPr>
        <p:spPr>
          <a:xfrm>
            <a:off x="4711700" y="2197036"/>
            <a:ext cx="3721100" cy="1773555"/>
          </a:xfrm>
          <a:prstGeom prst="rect">
            <a:avLst/>
          </a:prstGeom>
        </p:spPr>
        <p:txBody>
          <a:bodyPr vert="horz" wrap="square" lIns="0" tIns="47625" rIns="0" bIns="0" rtlCol="0">
            <a:spAutoFit/>
          </a:bodyPr>
          <a:lstStyle/>
          <a:p>
            <a:pPr marL="12700">
              <a:lnSpc>
                <a:spcPct val="100000"/>
              </a:lnSpc>
              <a:spcBef>
                <a:spcPts val="375"/>
              </a:spcBef>
              <a:tabLst>
                <a:tab pos="266065" algn="l"/>
              </a:tabLst>
            </a:pPr>
            <a:r>
              <a:rPr sz="1700" b="1" spc="-35" dirty="0">
                <a:solidFill>
                  <a:srgbClr val="0072EB"/>
                </a:solidFill>
                <a:latin typeface="Arial"/>
                <a:cs typeface="Arial"/>
              </a:rPr>
              <a:t>+	</a:t>
            </a:r>
            <a:r>
              <a:rPr sz="1700" b="1" spc="-290" dirty="0">
                <a:solidFill>
                  <a:srgbClr val="0072EB"/>
                </a:solidFill>
                <a:latin typeface="Arial"/>
                <a:cs typeface="Arial"/>
              </a:rPr>
              <a:t>E</a:t>
            </a:r>
            <a:r>
              <a:rPr sz="1700" b="1" spc="20" dirty="0">
                <a:solidFill>
                  <a:srgbClr val="0072EB"/>
                </a:solidFill>
                <a:latin typeface="Arial"/>
                <a:cs typeface="Arial"/>
              </a:rPr>
              <a:t>a</a:t>
            </a:r>
            <a:r>
              <a:rPr sz="1700" b="1" spc="-105" dirty="0">
                <a:solidFill>
                  <a:srgbClr val="0072EB"/>
                </a:solidFill>
                <a:latin typeface="Arial"/>
                <a:cs typeface="Arial"/>
              </a:rPr>
              <a:t>s</a:t>
            </a:r>
            <a:r>
              <a:rPr sz="1700" b="1" spc="90" dirty="0">
                <a:solidFill>
                  <a:srgbClr val="0072EB"/>
                </a:solidFill>
                <a:latin typeface="Arial"/>
                <a:cs typeface="Arial"/>
              </a:rPr>
              <a:t>y</a:t>
            </a:r>
            <a:r>
              <a:rPr sz="1700" b="1" spc="-200" dirty="0">
                <a:solidFill>
                  <a:srgbClr val="0072EB"/>
                </a:solidFill>
                <a:latin typeface="Arial"/>
                <a:cs typeface="Arial"/>
              </a:rPr>
              <a:t> </a:t>
            </a:r>
            <a:r>
              <a:rPr sz="1700" b="1" spc="5" dirty="0">
                <a:solidFill>
                  <a:srgbClr val="0072EB"/>
                </a:solidFill>
                <a:latin typeface="Arial"/>
                <a:cs typeface="Arial"/>
              </a:rPr>
              <a:t>t</a:t>
            </a:r>
            <a:r>
              <a:rPr sz="1700" b="1" spc="165" dirty="0">
                <a:solidFill>
                  <a:srgbClr val="0072EB"/>
                </a:solidFill>
                <a:latin typeface="Arial"/>
                <a:cs typeface="Arial"/>
              </a:rPr>
              <a:t>o</a:t>
            </a:r>
            <a:r>
              <a:rPr sz="1700" b="1" spc="-204" dirty="0">
                <a:solidFill>
                  <a:srgbClr val="0072EB"/>
                </a:solidFill>
                <a:latin typeface="Arial"/>
                <a:cs typeface="Arial"/>
              </a:rPr>
              <a:t> </a:t>
            </a:r>
            <a:r>
              <a:rPr sz="1700" b="1" spc="20" dirty="0">
                <a:solidFill>
                  <a:srgbClr val="0072EB"/>
                </a:solidFill>
                <a:latin typeface="Arial"/>
                <a:cs typeface="Arial"/>
              </a:rPr>
              <a:t>a</a:t>
            </a:r>
            <a:r>
              <a:rPr sz="1700" b="1" spc="-120" dirty="0">
                <a:solidFill>
                  <a:srgbClr val="0072EB"/>
                </a:solidFill>
                <a:latin typeface="Arial"/>
                <a:cs typeface="Arial"/>
              </a:rPr>
              <a:t>cc</a:t>
            </a:r>
            <a:r>
              <a:rPr sz="1700" b="1" spc="5" dirty="0">
                <a:solidFill>
                  <a:srgbClr val="0072EB"/>
                </a:solidFill>
                <a:latin typeface="Arial"/>
                <a:cs typeface="Arial"/>
              </a:rPr>
              <a:t>o</a:t>
            </a:r>
            <a:r>
              <a:rPr sz="1700" b="1" spc="50" dirty="0">
                <a:solidFill>
                  <a:srgbClr val="0072EB"/>
                </a:solidFill>
                <a:latin typeface="Arial"/>
                <a:cs typeface="Arial"/>
              </a:rPr>
              <a:t>m</a:t>
            </a:r>
            <a:r>
              <a:rPr sz="1700" b="1" spc="95" dirty="0">
                <a:solidFill>
                  <a:srgbClr val="0072EB"/>
                </a:solidFill>
                <a:latin typeface="Arial"/>
                <a:cs typeface="Arial"/>
              </a:rPr>
              <a:t>m</a:t>
            </a:r>
            <a:r>
              <a:rPr sz="1700" b="1" spc="-45" dirty="0">
                <a:solidFill>
                  <a:srgbClr val="0072EB"/>
                </a:solidFill>
                <a:latin typeface="Arial"/>
                <a:cs typeface="Arial"/>
              </a:rPr>
              <a:t>o</a:t>
            </a:r>
            <a:r>
              <a:rPr sz="1700" b="1" spc="-40" dirty="0">
                <a:solidFill>
                  <a:srgbClr val="0072EB"/>
                </a:solidFill>
                <a:latin typeface="Arial"/>
                <a:cs typeface="Arial"/>
              </a:rPr>
              <a:t>d</a:t>
            </a:r>
            <a:r>
              <a:rPr sz="1700" b="1" spc="15" dirty="0">
                <a:solidFill>
                  <a:srgbClr val="0072EB"/>
                </a:solidFill>
                <a:latin typeface="Arial"/>
                <a:cs typeface="Arial"/>
              </a:rPr>
              <a:t>a</a:t>
            </a:r>
            <a:r>
              <a:rPr sz="1700" b="1" spc="35" dirty="0">
                <a:solidFill>
                  <a:srgbClr val="0072EB"/>
                </a:solidFill>
                <a:latin typeface="Arial"/>
                <a:cs typeface="Arial"/>
              </a:rPr>
              <a:t>t</a:t>
            </a:r>
            <a:r>
              <a:rPr sz="1700" b="1" spc="200" dirty="0">
                <a:solidFill>
                  <a:srgbClr val="0072EB"/>
                </a:solidFill>
                <a:latin typeface="Arial"/>
                <a:cs typeface="Arial"/>
              </a:rPr>
              <a:t>e</a:t>
            </a:r>
            <a:r>
              <a:rPr sz="1700" b="1" spc="-204" dirty="0">
                <a:solidFill>
                  <a:srgbClr val="0072EB"/>
                </a:solidFill>
                <a:latin typeface="Arial"/>
                <a:cs typeface="Arial"/>
              </a:rPr>
              <a:t> </a:t>
            </a:r>
            <a:r>
              <a:rPr sz="1700" b="1" spc="-110" dirty="0">
                <a:solidFill>
                  <a:srgbClr val="0072EB"/>
                </a:solidFill>
                <a:latin typeface="Arial"/>
                <a:cs typeface="Arial"/>
              </a:rPr>
              <a:t>c</a:t>
            </a:r>
            <a:r>
              <a:rPr sz="1700" b="1" spc="5" dirty="0">
                <a:solidFill>
                  <a:srgbClr val="0072EB"/>
                </a:solidFill>
                <a:latin typeface="Arial"/>
                <a:cs typeface="Arial"/>
              </a:rPr>
              <a:t>h</a:t>
            </a:r>
            <a:r>
              <a:rPr sz="1700" b="1" spc="25" dirty="0">
                <a:solidFill>
                  <a:srgbClr val="0072EB"/>
                </a:solidFill>
                <a:latin typeface="Arial"/>
                <a:cs typeface="Arial"/>
              </a:rPr>
              <a:t>a</a:t>
            </a:r>
            <a:r>
              <a:rPr sz="1700" b="1" spc="5" dirty="0">
                <a:solidFill>
                  <a:srgbClr val="0072EB"/>
                </a:solidFill>
                <a:latin typeface="Arial"/>
                <a:cs typeface="Arial"/>
              </a:rPr>
              <a:t>n</a:t>
            </a:r>
            <a:r>
              <a:rPr sz="1700" b="1" spc="-110" dirty="0">
                <a:solidFill>
                  <a:srgbClr val="0072EB"/>
                </a:solidFill>
                <a:latin typeface="Arial"/>
                <a:cs typeface="Arial"/>
              </a:rPr>
              <a:t>g</a:t>
            </a:r>
            <a:r>
              <a:rPr sz="1700" b="1" spc="10" dirty="0">
                <a:solidFill>
                  <a:srgbClr val="0072EB"/>
                </a:solidFill>
                <a:latin typeface="Arial"/>
                <a:cs typeface="Arial"/>
              </a:rPr>
              <a:t>e</a:t>
            </a:r>
            <a:r>
              <a:rPr sz="1700" b="1" spc="-40" dirty="0">
                <a:solidFill>
                  <a:srgbClr val="0072EB"/>
                </a:solidFill>
                <a:latin typeface="Arial"/>
                <a:cs typeface="Arial"/>
              </a:rPr>
              <a:t>s</a:t>
            </a:r>
            <a:endParaRPr sz="1700">
              <a:latin typeface="Arial"/>
              <a:cs typeface="Arial"/>
            </a:endParaRPr>
          </a:p>
          <a:p>
            <a:pPr marL="266700" marR="47625" indent="-635">
              <a:lnSpc>
                <a:spcPts val="1700"/>
              </a:lnSpc>
            </a:pPr>
            <a:r>
              <a:rPr sz="1150" spc="-5" dirty="0">
                <a:solidFill>
                  <a:srgbClr val="333333"/>
                </a:solidFill>
                <a:latin typeface="Roboto Lt"/>
                <a:cs typeface="Roboto Lt"/>
              </a:rPr>
              <a:t>With</a:t>
            </a:r>
            <a:r>
              <a:rPr sz="1150" spc="-15" dirty="0">
                <a:solidFill>
                  <a:srgbClr val="333333"/>
                </a:solidFill>
                <a:latin typeface="Roboto Lt"/>
                <a:cs typeface="Roboto Lt"/>
              </a:rPr>
              <a:t> </a:t>
            </a:r>
            <a:r>
              <a:rPr sz="1150" spc="-5" dirty="0">
                <a:solidFill>
                  <a:srgbClr val="333333"/>
                </a:solidFill>
                <a:latin typeface="Roboto Lt"/>
                <a:cs typeface="Roboto Lt"/>
              </a:rPr>
              <a:t>short</a:t>
            </a:r>
            <a:r>
              <a:rPr sz="1150" spc="-15" dirty="0">
                <a:solidFill>
                  <a:srgbClr val="333333"/>
                </a:solidFill>
                <a:latin typeface="Roboto Lt"/>
                <a:cs typeface="Roboto Lt"/>
              </a:rPr>
              <a:t> </a:t>
            </a:r>
            <a:r>
              <a:rPr sz="1150" spc="-20" dirty="0">
                <a:solidFill>
                  <a:srgbClr val="333333"/>
                </a:solidFill>
                <a:latin typeface="Roboto Lt"/>
                <a:cs typeface="Roboto Lt"/>
              </a:rPr>
              <a:t>sprints</a:t>
            </a:r>
            <a:r>
              <a:rPr sz="1150" spc="-10" dirty="0">
                <a:solidFill>
                  <a:srgbClr val="333333"/>
                </a:solidFill>
                <a:latin typeface="Roboto Lt"/>
                <a:cs typeface="Roboto Lt"/>
              </a:rPr>
              <a:t> and</a:t>
            </a:r>
            <a:r>
              <a:rPr sz="1150" spc="-15" dirty="0">
                <a:solidFill>
                  <a:srgbClr val="333333"/>
                </a:solidFill>
                <a:latin typeface="Roboto Lt"/>
                <a:cs typeface="Roboto Lt"/>
              </a:rPr>
              <a:t> constant </a:t>
            </a:r>
            <a:r>
              <a:rPr sz="1150" spc="-10" dirty="0">
                <a:solidFill>
                  <a:srgbClr val="333333"/>
                </a:solidFill>
                <a:latin typeface="Roboto Lt"/>
                <a:cs typeface="Roboto Lt"/>
              </a:rPr>
              <a:t>feedback, </a:t>
            </a:r>
            <a:r>
              <a:rPr sz="1150" spc="-30" dirty="0">
                <a:solidFill>
                  <a:srgbClr val="333333"/>
                </a:solidFill>
                <a:latin typeface="Roboto Lt"/>
                <a:cs typeface="Roboto Lt"/>
              </a:rPr>
              <a:t>it’s</a:t>
            </a:r>
            <a:r>
              <a:rPr sz="1150" spc="-15" dirty="0">
                <a:solidFill>
                  <a:srgbClr val="333333"/>
                </a:solidFill>
                <a:latin typeface="Roboto Lt"/>
                <a:cs typeface="Roboto Lt"/>
              </a:rPr>
              <a:t> easier to </a:t>
            </a:r>
            <a:r>
              <a:rPr sz="1150" spc="-265" dirty="0">
                <a:solidFill>
                  <a:srgbClr val="333333"/>
                </a:solidFill>
                <a:latin typeface="Roboto Lt"/>
                <a:cs typeface="Roboto Lt"/>
              </a:rPr>
              <a:t> </a:t>
            </a:r>
            <a:r>
              <a:rPr sz="1150" spc="-10" dirty="0">
                <a:solidFill>
                  <a:srgbClr val="333333"/>
                </a:solidFill>
                <a:latin typeface="Roboto Lt"/>
                <a:cs typeface="Roboto Lt"/>
              </a:rPr>
              <a:t>accommodate</a:t>
            </a:r>
            <a:r>
              <a:rPr sz="1150" spc="-25" dirty="0">
                <a:solidFill>
                  <a:srgbClr val="333333"/>
                </a:solidFill>
                <a:latin typeface="Roboto Lt"/>
                <a:cs typeface="Roboto Lt"/>
              </a:rPr>
              <a:t> </a:t>
            </a:r>
            <a:r>
              <a:rPr sz="1150" spc="-15" dirty="0">
                <a:solidFill>
                  <a:srgbClr val="333333"/>
                </a:solidFill>
                <a:latin typeface="Roboto Lt"/>
                <a:cs typeface="Roboto Lt"/>
              </a:rPr>
              <a:t>changes.</a:t>
            </a:r>
            <a:endParaRPr sz="1150">
              <a:latin typeface="Roboto Lt"/>
              <a:cs typeface="Roboto Lt"/>
            </a:endParaRPr>
          </a:p>
          <a:p>
            <a:pPr marL="12700">
              <a:lnSpc>
                <a:spcPct val="100000"/>
              </a:lnSpc>
              <a:spcBef>
                <a:spcPts val="1010"/>
              </a:spcBef>
              <a:tabLst>
                <a:tab pos="266065" algn="l"/>
              </a:tabLst>
            </a:pPr>
            <a:r>
              <a:rPr sz="1700" b="1" spc="-35" dirty="0">
                <a:solidFill>
                  <a:srgbClr val="0072EB"/>
                </a:solidFill>
                <a:latin typeface="Arial"/>
                <a:cs typeface="Arial"/>
              </a:rPr>
              <a:t>+	</a:t>
            </a:r>
            <a:r>
              <a:rPr sz="1700" b="1" spc="30" dirty="0">
                <a:solidFill>
                  <a:srgbClr val="0072EB"/>
                </a:solidFill>
                <a:latin typeface="Arial"/>
                <a:cs typeface="Arial"/>
              </a:rPr>
              <a:t>I</a:t>
            </a:r>
            <a:r>
              <a:rPr sz="1700" b="1" spc="10" dirty="0">
                <a:solidFill>
                  <a:srgbClr val="0072EB"/>
                </a:solidFill>
                <a:latin typeface="Arial"/>
                <a:cs typeface="Arial"/>
              </a:rPr>
              <a:t>n</a:t>
            </a:r>
            <a:r>
              <a:rPr sz="1700" b="1" spc="-110" dirty="0">
                <a:solidFill>
                  <a:srgbClr val="0072EB"/>
                </a:solidFill>
                <a:latin typeface="Arial"/>
                <a:cs typeface="Arial"/>
              </a:rPr>
              <a:t>c</a:t>
            </a:r>
            <a:r>
              <a:rPr sz="1700" b="1" spc="50" dirty="0">
                <a:solidFill>
                  <a:srgbClr val="0072EB"/>
                </a:solidFill>
                <a:latin typeface="Arial"/>
                <a:cs typeface="Arial"/>
              </a:rPr>
              <a:t>r</a:t>
            </a:r>
            <a:r>
              <a:rPr sz="1700" b="1" spc="15" dirty="0">
                <a:solidFill>
                  <a:srgbClr val="0072EB"/>
                </a:solidFill>
                <a:latin typeface="Arial"/>
                <a:cs typeface="Arial"/>
              </a:rPr>
              <a:t>ea</a:t>
            </a:r>
            <a:r>
              <a:rPr sz="1700" b="1" spc="-130" dirty="0">
                <a:solidFill>
                  <a:srgbClr val="0072EB"/>
                </a:solidFill>
                <a:latin typeface="Arial"/>
                <a:cs typeface="Arial"/>
              </a:rPr>
              <a:t>s</a:t>
            </a:r>
            <a:r>
              <a:rPr sz="1700" b="1" spc="25" dirty="0">
                <a:solidFill>
                  <a:srgbClr val="0072EB"/>
                </a:solidFill>
                <a:latin typeface="Arial"/>
                <a:cs typeface="Arial"/>
              </a:rPr>
              <a:t>e</a:t>
            </a:r>
            <a:r>
              <a:rPr sz="1700" b="1" spc="50" dirty="0">
                <a:solidFill>
                  <a:srgbClr val="0072EB"/>
                </a:solidFill>
                <a:latin typeface="Arial"/>
                <a:cs typeface="Arial"/>
              </a:rPr>
              <a:t>d</a:t>
            </a:r>
            <a:r>
              <a:rPr sz="1700" b="1" spc="-204" dirty="0">
                <a:solidFill>
                  <a:srgbClr val="0072EB"/>
                </a:solidFill>
                <a:latin typeface="Arial"/>
                <a:cs typeface="Arial"/>
              </a:rPr>
              <a:t> </a:t>
            </a:r>
            <a:r>
              <a:rPr sz="1700" b="1" spc="-120" dirty="0">
                <a:solidFill>
                  <a:srgbClr val="0072EB"/>
                </a:solidFill>
                <a:latin typeface="Arial"/>
                <a:cs typeface="Arial"/>
              </a:rPr>
              <a:t>c</a:t>
            </a:r>
            <a:r>
              <a:rPr sz="1700" b="1" spc="-60" dirty="0">
                <a:solidFill>
                  <a:srgbClr val="0072EB"/>
                </a:solidFill>
                <a:latin typeface="Arial"/>
                <a:cs typeface="Arial"/>
              </a:rPr>
              <a:t>o</a:t>
            </a:r>
            <a:r>
              <a:rPr sz="1700" b="1" spc="-125" dirty="0">
                <a:solidFill>
                  <a:srgbClr val="0072EB"/>
                </a:solidFill>
                <a:latin typeface="Arial"/>
                <a:cs typeface="Arial"/>
              </a:rPr>
              <a:t>s</a:t>
            </a:r>
            <a:r>
              <a:rPr sz="1700" b="1" spc="215" dirty="0">
                <a:solidFill>
                  <a:srgbClr val="0072EB"/>
                </a:solidFill>
                <a:latin typeface="Arial"/>
                <a:cs typeface="Arial"/>
              </a:rPr>
              <a:t>t</a:t>
            </a:r>
            <a:r>
              <a:rPr sz="1700" b="1" spc="-204" dirty="0">
                <a:solidFill>
                  <a:srgbClr val="0072EB"/>
                </a:solidFill>
                <a:latin typeface="Arial"/>
                <a:cs typeface="Arial"/>
              </a:rPr>
              <a:t> </a:t>
            </a:r>
            <a:r>
              <a:rPr sz="1700" b="1" spc="-125" dirty="0">
                <a:solidFill>
                  <a:srgbClr val="0072EB"/>
                </a:solidFill>
                <a:latin typeface="Arial"/>
                <a:cs typeface="Arial"/>
              </a:rPr>
              <a:t>s</a:t>
            </a:r>
            <a:r>
              <a:rPr sz="1700" b="1" spc="-5" dirty="0">
                <a:solidFill>
                  <a:srgbClr val="0072EB"/>
                </a:solidFill>
                <a:latin typeface="Arial"/>
                <a:cs typeface="Arial"/>
              </a:rPr>
              <a:t>a</a:t>
            </a:r>
            <a:r>
              <a:rPr sz="1700" b="1" spc="15" dirty="0">
                <a:solidFill>
                  <a:srgbClr val="0072EB"/>
                </a:solidFill>
                <a:latin typeface="Arial"/>
                <a:cs typeface="Arial"/>
              </a:rPr>
              <a:t>v</a:t>
            </a:r>
            <a:r>
              <a:rPr sz="1700" b="1" spc="-35" dirty="0">
                <a:solidFill>
                  <a:srgbClr val="0072EB"/>
                </a:solidFill>
                <a:latin typeface="Arial"/>
                <a:cs typeface="Arial"/>
              </a:rPr>
              <a:t>i</a:t>
            </a:r>
            <a:r>
              <a:rPr sz="1700" b="1" spc="25" dirty="0">
                <a:solidFill>
                  <a:srgbClr val="0072EB"/>
                </a:solidFill>
                <a:latin typeface="Arial"/>
                <a:cs typeface="Arial"/>
              </a:rPr>
              <a:t>n</a:t>
            </a:r>
            <a:r>
              <a:rPr sz="1700" b="1" spc="-100" dirty="0">
                <a:solidFill>
                  <a:srgbClr val="0072EB"/>
                </a:solidFill>
                <a:latin typeface="Arial"/>
                <a:cs typeface="Arial"/>
              </a:rPr>
              <a:t>g</a:t>
            </a:r>
            <a:r>
              <a:rPr sz="1700" b="1" spc="-40" dirty="0">
                <a:solidFill>
                  <a:srgbClr val="0072EB"/>
                </a:solidFill>
                <a:latin typeface="Arial"/>
                <a:cs typeface="Arial"/>
              </a:rPr>
              <a:t>s</a:t>
            </a:r>
            <a:endParaRPr sz="1700">
              <a:latin typeface="Arial"/>
              <a:cs typeface="Arial"/>
            </a:endParaRPr>
          </a:p>
          <a:p>
            <a:pPr marL="266700" marR="5080" indent="-635">
              <a:lnSpc>
                <a:spcPts val="1700"/>
              </a:lnSpc>
            </a:pPr>
            <a:r>
              <a:rPr sz="1150" spc="-10" dirty="0">
                <a:solidFill>
                  <a:srgbClr val="333333"/>
                </a:solidFill>
                <a:latin typeface="Roboto Lt"/>
                <a:cs typeface="Roboto Lt"/>
              </a:rPr>
              <a:t>Constant </a:t>
            </a:r>
            <a:r>
              <a:rPr sz="1150" spc="-15" dirty="0">
                <a:solidFill>
                  <a:srgbClr val="333333"/>
                </a:solidFill>
                <a:latin typeface="Roboto Lt"/>
                <a:cs typeface="Roboto Lt"/>
              </a:rPr>
              <a:t>communication ensures </a:t>
            </a:r>
            <a:r>
              <a:rPr sz="1150" spc="-10" dirty="0">
                <a:solidFill>
                  <a:srgbClr val="333333"/>
                </a:solidFill>
                <a:latin typeface="Roboto Lt"/>
                <a:cs typeface="Roboto Lt"/>
              </a:rPr>
              <a:t>the </a:t>
            </a:r>
            <a:r>
              <a:rPr sz="1150" spc="-15" dirty="0">
                <a:solidFill>
                  <a:srgbClr val="333333"/>
                </a:solidFill>
                <a:latin typeface="Roboto Lt"/>
                <a:cs typeface="Roboto Lt"/>
              </a:rPr>
              <a:t>team is </a:t>
            </a:r>
            <a:r>
              <a:rPr sz="1150" spc="-20" dirty="0">
                <a:solidFill>
                  <a:srgbClr val="333333"/>
                </a:solidFill>
                <a:latin typeface="Roboto Lt"/>
                <a:cs typeface="Roboto Lt"/>
              </a:rPr>
              <a:t>aware </a:t>
            </a:r>
            <a:r>
              <a:rPr sz="1150" spc="-5" dirty="0">
                <a:solidFill>
                  <a:srgbClr val="333333"/>
                </a:solidFill>
                <a:latin typeface="Roboto Lt"/>
                <a:cs typeface="Roboto Lt"/>
              </a:rPr>
              <a:t>of </a:t>
            </a:r>
            <a:r>
              <a:rPr sz="1150" spc="-265" dirty="0">
                <a:solidFill>
                  <a:srgbClr val="333333"/>
                </a:solidFill>
                <a:latin typeface="Roboto Lt"/>
                <a:cs typeface="Roboto Lt"/>
              </a:rPr>
              <a:t> </a:t>
            </a:r>
            <a:r>
              <a:rPr sz="1150" spc="-20" dirty="0">
                <a:solidFill>
                  <a:srgbClr val="333333"/>
                </a:solidFill>
                <a:latin typeface="Roboto Lt"/>
                <a:cs typeface="Roboto Lt"/>
              </a:rPr>
              <a:t>all </a:t>
            </a:r>
            <a:r>
              <a:rPr sz="1150" spc="-15" dirty="0">
                <a:solidFill>
                  <a:srgbClr val="333333"/>
                </a:solidFill>
                <a:latin typeface="Roboto Lt"/>
                <a:cs typeface="Roboto Lt"/>
              </a:rPr>
              <a:t>issues </a:t>
            </a:r>
            <a:r>
              <a:rPr sz="1150" spc="-10" dirty="0">
                <a:solidFill>
                  <a:srgbClr val="333333"/>
                </a:solidFill>
                <a:latin typeface="Roboto Lt"/>
                <a:cs typeface="Roboto Lt"/>
              </a:rPr>
              <a:t>and </a:t>
            </a:r>
            <a:r>
              <a:rPr sz="1150" spc="-15" dirty="0">
                <a:solidFill>
                  <a:srgbClr val="333333"/>
                </a:solidFill>
                <a:latin typeface="Roboto Lt"/>
                <a:cs typeface="Roboto Lt"/>
              </a:rPr>
              <a:t>changes </a:t>
            </a:r>
            <a:r>
              <a:rPr sz="1150" spc="-20" dirty="0">
                <a:solidFill>
                  <a:srgbClr val="333333"/>
                </a:solidFill>
                <a:latin typeface="Roboto Lt"/>
                <a:cs typeface="Roboto Lt"/>
              </a:rPr>
              <a:t>sooner, </a:t>
            </a:r>
            <a:r>
              <a:rPr sz="1150" spc="-15" dirty="0">
                <a:solidFill>
                  <a:srgbClr val="333333"/>
                </a:solidFill>
                <a:latin typeface="Roboto Lt"/>
                <a:cs typeface="Roboto Lt"/>
              </a:rPr>
              <a:t>helping to lower </a:t>
            </a:r>
            <a:r>
              <a:rPr sz="1150" spc="-10" dirty="0">
                <a:solidFill>
                  <a:srgbClr val="333333"/>
                </a:solidFill>
                <a:latin typeface="Roboto Lt"/>
                <a:cs typeface="Roboto Lt"/>
              </a:rPr>
              <a:t> </a:t>
            </a:r>
            <a:r>
              <a:rPr sz="1150" spc="-15" dirty="0">
                <a:solidFill>
                  <a:srgbClr val="333333"/>
                </a:solidFill>
                <a:latin typeface="Roboto Lt"/>
                <a:cs typeface="Roboto Lt"/>
              </a:rPr>
              <a:t>expenses</a:t>
            </a:r>
            <a:r>
              <a:rPr sz="1150" spc="-25" dirty="0">
                <a:solidFill>
                  <a:srgbClr val="333333"/>
                </a:solidFill>
                <a:latin typeface="Roboto Lt"/>
                <a:cs typeface="Roboto Lt"/>
              </a:rPr>
              <a:t> </a:t>
            </a:r>
            <a:r>
              <a:rPr sz="1150" spc="-10" dirty="0">
                <a:solidFill>
                  <a:srgbClr val="333333"/>
                </a:solidFill>
                <a:latin typeface="Roboto Lt"/>
                <a:cs typeface="Roboto Lt"/>
              </a:rPr>
              <a:t>and</a:t>
            </a:r>
            <a:r>
              <a:rPr sz="1150" spc="-20" dirty="0">
                <a:solidFill>
                  <a:srgbClr val="333333"/>
                </a:solidFill>
                <a:latin typeface="Roboto Lt"/>
                <a:cs typeface="Roboto Lt"/>
              </a:rPr>
              <a:t> </a:t>
            </a:r>
            <a:r>
              <a:rPr sz="1150" spc="-15" dirty="0">
                <a:solidFill>
                  <a:srgbClr val="333333"/>
                </a:solidFill>
                <a:latin typeface="Roboto Lt"/>
                <a:cs typeface="Roboto Lt"/>
              </a:rPr>
              <a:t>increase</a:t>
            </a:r>
            <a:r>
              <a:rPr sz="1150" spc="-20" dirty="0">
                <a:solidFill>
                  <a:srgbClr val="333333"/>
                </a:solidFill>
                <a:latin typeface="Roboto Lt"/>
                <a:cs typeface="Roboto Lt"/>
              </a:rPr>
              <a:t> </a:t>
            </a:r>
            <a:r>
              <a:rPr sz="1150" spc="-25" dirty="0">
                <a:solidFill>
                  <a:srgbClr val="333333"/>
                </a:solidFill>
                <a:latin typeface="Roboto Lt"/>
                <a:cs typeface="Roboto Lt"/>
              </a:rPr>
              <a:t>quality.</a:t>
            </a:r>
            <a:endParaRPr sz="1150">
              <a:latin typeface="Roboto Lt"/>
              <a:cs typeface="Roboto Lt"/>
            </a:endParaRPr>
          </a:p>
        </p:txBody>
      </p:sp>
    </p:spTree>
    <p:extLst>
      <p:ext uri="{BB962C8B-B14F-4D97-AF65-F5344CB8AC3E}">
        <p14:creationId xmlns:p14="http://schemas.microsoft.com/office/powerpoint/2010/main" val="1822028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1988820"/>
          </a:xfrm>
          <a:custGeom>
            <a:avLst/>
            <a:gdLst/>
            <a:ahLst/>
            <a:cxnLst/>
            <a:rect l="l" t="t" r="r" b="b"/>
            <a:pathLst>
              <a:path w="9144000" h="1988820">
                <a:moveTo>
                  <a:pt x="9144000" y="0"/>
                </a:moveTo>
                <a:lnTo>
                  <a:pt x="0" y="0"/>
                </a:lnTo>
                <a:lnTo>
                  <a:pt x="0" y="1988312"/>
                </a:lnTo>
                <a:lnTo>
                  <a:pt x="9144000" y="1988312"/>
                </a:lnTo>
                <a:lnTo>
                  <a:pt x="9144000" y="0"/>
                </a:lnTo>
                <a:close/>
              </a:path>
            </a:pathLst>
          </a:custGeom>
          <a:solidFill>
            <a:srgbClr val="0072EB"/>
          </a:solidFill>
        </p:spPr>
        <p:txBody>
          <a:bodyPr wrap="square" lIns="0" tIns="0" rIns="0" bIns="0" rtlCol="0"/>
          <a:lstStyle/>
          <a:p>
            <a:endParaRPr/>
          </a:p>
        </p:txBody>
      </p:sp>
      <p:sp>
        <p:nvSpPr>
          <p:cNvPr id="3" name="object 3"/>
          <p:cNvSpPr txBox="1">
            <a:spLocks noGrp="1"/>
          </p:cNvSpPr>
          <p:nvPr>
            <p:ph type="title"/>
          </p:nvPr>
        </p:nvSpPr>
        <p:spPr>
          <a:xfrm>
            <a:off x="526368" y="38203"/>
            <a:ext cx="7964805" cy="1607185"/>
          </a:xfrm>
          <a:prstGeom prst="rect">
            <a:avLst/>
          </a:prstGeom>
        </p:spPr>
        <p:txBody>
          <a:bodyPr vert="horz" wrap="square" lIns="0" tIns="386080" rIns="0" bIns="0" rtlCol="0">
            <a:spAutoFit/>
          </a:bodyPr>
          <a:lstStyle/>
          <a:p>
            <a:pPr marL="12700">
              <a:lnSpc>
                <a:spcPct val="100000"/>
              </a:lnSpc>
              <a:spcBef>
                <a:spcPts val="3040"/>
              </a:spcBef>
            </a:pPr>
            <a:r>
              <a:rPr spc="-215" dirty="0"/>
              <a:t>D</a:t>
            </a:r>
            <a:r>
              <a:rPr spc="-65" dirty="0"/>
              <a:t>i</a:t>
            </a:r>
            <a:r>
              <a:rPr spc="-360" dirty="0"/>
              <a:t>s</a:t>
            </a:r>
            <a:r>
              <a:rPr spc="40" dirty="0"/>
              <a:t>a</a:t>
            </a:r>
            <a:r>
              <a:rPr spc="-85" dirty="0"/>
              <a:t>d</a:t>
            </a:r>
            <a:r>
              <a:rPr spc="-70" dirty="0"/>
              <a:t>v</a:t>
            </a:r>
            <a:r>
              <a:rPr spc="40" dirty="0"/>
              <a:t>a</a:t>
            </a:r>
            <a:r>
              <a:rPr spc="-30" dirty="0"/>
              <a:t>n</a:t>
            </a:r>
            <a:r>
              <a:rPr spc="335" dirty="0"/>
              <a:t>t</a:t>
            </a:r>
            <a:r>
              <a:rPr spc="5" dirty="0"/>
              <a:t>a</a:t>
            </a:r>
            <a:r>
              <a:rPr spc="-330" dirty="0"/>
              <a:t>g</a:t>
            </a:r>
            <a:r>
              <a:rPr spc="-5" dirty="0"/>
              <a:t>e</a:t>
            </a:r>
            <a:r>
              <a:rPr spc="-105" dirty="0"/>
              <a:t>s</a:t>
            </a:r>
            <a:r>
              <a:rPr spc="-535" dirty="0"/>
              <a:t> </a:t>
            </a:r>
            <a:r>
              <a:rPr spc="-160" dirty="0"/>
              <a:t>o</a:t>
            </a:r>
            <a:r>
              <a:rPr spc="360" dirty="0"/>
              <a:t>f</a:t>
            </a:r>
            <a:r>
              <a:rPr spc="-535" dirty="0"/>
              <a:t> </a:t>
            </a:r>
            <a:r>
              <a:rPr spc="-640" dirty="0"/>
              <a:t>S</a:t>
            </a:r>
            <a:r>
              <a:rPr spc="-320" dirty="0"/>
              <a:t>c</a:t>
            </a:r>
            <a:r>
              <a:rPr spc="110" dirty="0"/>
              <a:t>r</a:t>
            </a:r>
            <a:r>
              <a:rPr spc="5" dirty="0"/>
              <a:t>u</a:t>
            </a:r>
            <a:r>
              <a:rPr spc="495" dirty="0"/>
              <a:t>m</a:t>
            </a:r>
          </a:p>
          <a:p>
            <a:pPr marL="12700" marR="5080">
              <a:lnSpc>
                <a:spcPct val="109000"/>
              </a:lnSpc>
              <a:spcBef>
                <a:spcPts val="710"/>
              </a:spcBef>
            </a:pPr>
            <a:r>
              <a:rPr sz="1300" b="0" spc="-25" dirty="0">
                <a:latin typeface="Roboto Lt"/>
                <a:cs typeface="Roboto Lt"/>
              </a:rPr>
              <a:t>While </a:t>
            </a:r>
            <a:r>
              <a:rPr sz="1300" b="0" spc="-20" dirty="0">
                <a:latin typeface="Roboto Lt"/>
                <a:cs typeface="Roboto Lt"/>
              </a:rPr>
              <a:t>Scrum offers some </a:t>
            </a:r>
            <a:r>
              <a:rPr sz="1300" b="0" spc="-30" dirty="0">
                <a:latin typeface="Roboto Lt"/>
                <a:cs typeface="Roboto Lt"/>
              </a:rPr>
              <a:t>concrete </a:t>
            </a:r>
            <a:r>
              <a:rPr sz="1300" b="0" spc="-20" dirty="0">
                <a:latin typeface="Roboto Lt"/>
                <a:cs typeface="Roboto Lt"/>
              </a:rPr>
              <a:t>benefits, </a:t>
            </a:r>
            <a:r>
              <a:rPr sz="1300" b="0" spc="-15" dirty="0">
                <a:latin typeface="Roboto Lt"/>
                <a:cs typeface="Roboto Lt"/>
              </a:rPr>
              <a:t>it </a:t>
            </a:r>
            <a:r>
              <a:rPr sz="1300" b="0" spc="-30" dirty="0">
                <a:latin typeface="Roboto Lt"/>
                <a:cs typeface="Roboto Lt"/>
              </a:rPr>
              <a:t>also has </a:t>
            </a:r>
            <a:r>
              <a:rPr sz="1300" b="0" spc="-20" dirty="0">
                <a:latin typeface="Roboto Lt"/>
                <a:cs typeface="Roboto Lt"/>
              </a:rPr>
              <a:t>some </a:t>
            </a:r>
            <a:r>
              <a:rPr sz="1300" b="0" spc="-30" dirty="0">
                <a:latin typeface="Roboto Lt"/>
                <a:cs typeface="Roboto Lt"/>
              </a:rPr>
              <a:t>downsides. </a:t>
            </a:r>
            <a:r>
              <a:rPr sz="1300" b="0" spc="-20" dirty="0">
                <a:latin typeface="Roboto Lt"/>
                <a:cs typeface="Roboto Lt"/>
              </a:rPr>
              <a:t>Scrum </a:t>
            </a:r>
            <a:r>
              <a:rPr sz="1300" b="0" spc="-30" dirty="0">
                <a:latin typeface="Roboto Lt"/>
                <a:cs typeface="Roboto Lt"/>
              </a:rPr>
              <a:t>requires </a:t>
            </a:r>
            <a:r>
              <a:rPr sz="1300" b="0" spc="-5" dirty="0">
                <a:latin typeface="Roboto Lt"/>
                <a:cs typeface="Roboto Lt"/>
              </a:rPr>
              <a:t>a </a:t>
            </a:r>
            <a:r>
              <a:rPr sz="1300" b="0" spc="-30" dirty="0">
                <a:latin typeface="Roboto Lt"/>
                <a:cs typeface="Roboto Lt"/>
              </a:rPr>
              <a:t>high level </a:t>
            </a:r>
            <a:r>
              <a:rPr sz="1300" b="0" spc="-15" dirty="0">
                <a:latin typeface="Roboto Lt"/>
                <a:cs typeface="Roboto Lt"/>
              </a:rPr>
              <a:t>of </a:t>
            </a:r>
            <a:r>
              <a:rPr sz="1300" b="0" spc="-25" dirty="0">
                <a:latin typeface="Roboto Lt"/>
                <a:cs typeface="Roboto Lt"/>
              </a:rPr>
              <a:t>experience </a:t>
            </a:r>
            <a:r>
              <a:rPr sz="1300" b="0" spc="-305" dirty="0">
                <a:latin typeface="Roboto Lt"/>
                <a:cs typeface="Roboto Lt"/>
              </a:rPr>
              <a:t> </a:t>
            </a:r>
            <a:r>
              <a:rPr sz="1300" b="0" spc="-25" dirty="0">
                <a:latin typeface="Roboto Lt"/>
                <a:cs typeface="Roboto Lt"/>
              </a:rPr>
              <a:t>and</a:t>
            </a:r>
            <a:r>
              <a:rPr sz="1300" b="0" spc="-30" dirty="0">
                <a:latin typeface="Roboto Lt"/>
                <a:cs typeface="Roboto Lt"/>
              </a:rPr>
              <a:t> </a:t>
            </a:r>
            <a:r>
              <a:rPr sz="1300" b="0" spc="-25" dirty="0">
                <a:latin typeface="Roboto Lt"/>
                <a:cs typeface="Roboto Lt"/>
              </a:rPr>
              <a:t>commitment</a:t>
            </a:r>
            <a:r>
              <a:rPr sz="1300" b="0" spc="-30" dirty="0">
                <a:latin typeface="Roboto Lt"/>
                <a:cs typeface="Roboto Lt"/>
              </a:rPr>
              <a:t> </a:t>
            </a:r>
            <a:r>
              <a:rPr sz="1300" b="0" spc="-20" dirty="0">
                <a:latin typeface="Roboto Lt"/>
                <a:cs typeface="Roboto Lt"/>
              </a:rPr>
              <a:t>from</a:t>
            </a:r>
            <a:r>
              <a:rPr sz="1300" b="0" spc="-30" dirty="0">
                <a:latin typeface="Roboto Lt"/>
                <a:cs typeface="Roboto Lt"/>
              </a:rPr>
              <a:t> </a:t>
            </a:r>
            <a:r>
              <a:rPr sz="1300" b="0" spc="-25" dirty="0">
                <a:latin typeface="Roboto Lt"/>
                <a:cs typeface="Roboto Lt"/>
              </a:rPr>
              <a:t>the</a:t>
            </a:r>
            <a:r>
              <a:rPr sz="1300" b="0" spc="-30" dirty="0">
                <a:latin typeface="Roboto Lt"/>
                <a:cs typeface="Roboto Lt"/>
              </a:rPr>
              <a:t> team </a:t>
            </a:r>
            <a:r>
              <a:rPr sz="1300" b="0" spc="-25" dirty="0">
                <a:latin typeface="Roboto Lt"/>
                <a:cs typeface="Roboto Lt"/>
              </a:rPr>
              <a:t>and</a:t>
            </a:r>
            <a:r>
              <a:rPr sz="1300" b="0" spc="-30" dirty="0">
                <a:latin typeface="Roboto Lt"/>
                <a:cs typeface="Roboto Lt"/>
              </a:rPr>
              <a:t> projects</a:t>
            </a:r>
            <a:r>
              <a:rPr sz="1300" b="0" spc="-25" dirty="0">
                <a:latin typeface="Roboto Lt"/>
                <a:cs typeface="Roboto Lt"/>
              </a:rPr>
              <a:t> </a:t>
            </a:r>
            <a:r>
              <a:rPr sz="1300" b="0" spc="-20" dirty="0">
                <a:latin typeface="Roboto Lt"/>
                <a:cs typeface="Roboto Lt"/>
              </a:rPr>
              <a:t>can</a:t>
            </a:r>
            <a:r>
              <a:rPr sz="1300" b="0" spc="-30" dirty="0">
                <a:latin typeface="Roboto Lt"/>
                <a:cs typeface="Roboto Lt"/>
              </a:rPr>
              <a:t> </a:t>
            </a:r>
            <a:r>
              <a:rPr sz="1300" b="0" spc="-15" dirty="0">
                <a:latin typeface="Roboto Lt"/>
                <a:cs typeface="Roboto Lt"/>
              </a:rPr>
              <a:t>be</a:t>
            </a:r>
            <a:r>
              <a:rPr sz="1300" b="0" spc="-30" dirty="0">
                <a:latin typeface="Roboto Lt"/>
                <a:cs typeface="Roboto Lt"/>
              </a:rPr>
              <a:t> </a:t>
            </a:r>
            <a:r>
              <a:rPr sz="1300" b="0" spc="-25" dirty="0">
                <a:latin typeface="Roboto Lt"/>
                <a:cs typeface="Roboto Lt"/>
              </a:rPr>
              <a:t>at</a:t>
            </a:r>
            <a:r>
              <a:rPr sz="1300" b="0" spc="-30" dirty="0">
                <a:latin typeface="Roboto Lt"/>
                <a:cs typeface="Roboto Lt"/>
              </a:rPr>
              <a:t> risk </a:t>
            </a:r>
            <a:r>
              <a:rPr sz="1300" b="0" spc="-15" dirty="0">
                <a:latin typeface="Roboto Lt"/>
                <a:cs typeface="Roboto Lt"/>
              </a:rPr>
              <a:t>of</a:t>
            </a:r>
            <a:r>
              <a:rPr sz="1300" b="0" spc="-30" dirty="0">
                <a:latin typeface="Roboto Lt"/>
                <a:cs typeface="Roboto Lt"/>
              </a:rPr>
              <a:t> </a:t>
            </a:r>
            <a:r>
              <a:rPr sz="1300" b="0" spc="-20" dirty="0">
                <a:latin typeface="Roboto Lt"/>
                <a:cs typeface="Roboto Lt"/>
              </a:rPr>
              <a:t>scope</a:t>
            </a:r>
            <a:r>
              <a:rPr sz="1300" b="0" spc="-30" dirty="0">
                <a:latin typeface="Roboto Lt"/>
                <a:cs typeface="Roboto Lt"/>
              </a:rPr>
              <a:t> </a:t>
            </a:r>
            <a:r>
              <a:rPr sz="1300" b="0" spc="-25" dirty="0">
                <a:latin typeface="Roboto Lt"/>
                <a:cs typeface="Roboto Lt"/>
              </a:rPr>
              <a:t>creep:</a:t>
            </a:r>
            <a:endParaRPr sz="1300">
              <a:latin typeface="Roboto Lt"/>
              <a:cs typeface="Roboto Lt"/>
            </a:endParaRPr>
          </a:p>
        </p:txBody>
      </p:sp>
      <p:sp>
        <p:nvSpPr>
          <p:cNvPr id="6" name="object 6"/>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30</a:t>
            </a:r>
            <a:endParaRPr spc="35" dirty="0"/>
          </a:p>
        </p:txBody>
      </p:sp>
      <p:sp>
        <p:nvSpPr>
          <p:cNvPr id="7" name="object 7"/>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Agile Methodology</a:t>
            </a:r>
            <a:endParaRPr dirty="0"/>
          </a:p>
        </p:txBody>
      </p:sp>
      <p:sp>
        <p:nvSpPr>
          <p:cNvPr id="4" name="object 4"/>
          <p:cNvSpPr txBox="1"/>
          <p:nvPr/>
        </p:nvSpPr>
        <p:spPr>
          <a:xfrm>
            <a:off x="526368" y="2197036"/>
            <a:ext cx="3799204" cy="2256155"/>
          </a:xfrm>
          <a:prstGeom prst="rect">
            <a:avLst/>
          </a:prstGeom>
        </p:spPr>
        <p:txBody>
          <a:bodyPr vert="horz" wrap="square" lIns="0" tIns="47625" rIns="0" bIns="0" rtlCol="0">
            <a:spAutoFit/>
          </a:bodyPr>
          <a:lstStyle/>
          <a:p>
            <a:pPr marL="266065" indent="-254000">
              <a:lnSpc>
                <a:spcPct val="100000"/>
              </a:lnSpc>
              <a:spcBef>
                <a:spcPts val="375"/>
              </a:spcBef>
              <a:buChar char="–"/>
              <a:tabLst>
                <a:tab pos="266065" algn="l"/>
                <a:tab pos="266700" algn="l"/>
              </a:tabLst>
            </a:pPr>
            <a:r>
              <a:rPr sz="1700" b="1" spc="-135" dirty="0">
                <a:solidFill>
                  <a:srgbClr val="0072EB"/>
                </a:solidFill>
                <a:latin typeface="Arial"/>
                <a:cs typeface="Arial"/>
              </a:rPr>
              <a:t>R</a:t>
            </a:r>
            <a:r>
              <a:rPr sz="1700" b="1" spc="-10" dirty="0">
                <a:solidFill>
                  <a:srgbClr val="0072EB"/>
                </a:solidFill>
                <a:latin typeface="Arial"/>
                <a:cs typeface="Arial"/>
              </a:rPr>
              <a:t>i</a:t>
            </a:r>
            <a:r>
              <a:rPr sz="1700" b="1" spc="-120" dirty="0">
                <a:solidFill>
                  <a:srgbClr val="0072EB"/>
                </a:solidFill>
                <a:latin typeface="Arial"/>
                <a:cs typeface="Arial"/>
              </a:rPr>
              <a:t>s</a:t>
            </a:r>
            <a:r>
              <a:rPr sz="1700" b="1" spc="175" dirty="0">
                <a:solidFill>
                  <a:srgbClr val="0072EB"/>
                </a:solidFill>
                <a:latin typeface="Arial"/>
                <a:cs typeface="Arial"/>
              </a:rPr>
              <a:t>k</a:t>
            </a:r>
            <a:r>
              <a:rPr sz="1700" b="1" spc="-204" dirty="0">
                <a:solidFill>
                  <a:srgbClr val="0072EB"/>
                </a:solidFill>
                <a:latin typeface="Arial"/>
                <a:cs typeface="Arial"/>
              </a:rPr>
              <a:t> </a:t>
            </a:r>
            <a:r>
              <a:rPr sz="1700" b="1" spc="-50" dirty="0">
                <a:solidFill>
                  <a:srgbClr val="0072EB"/>
                </a:solidFill>
                <a:latin typeface="Arial"/>
                <a:cs typeface="Arial"/>
              </a:rPr>
              <a:t>o</a:t>
            </a:r>
            <a:r>
              <a:rPr sz="1700" b="1" spc="135" dirty="0">
                <a:solidFill>
                  <a:srgbClr val="0072EB"/>
                </a:solidFill>
                <a:latin typeface="Arial"/>
                <a:cs typeface="Arial"/>
              </a:rPr>
              <a:t>f</a:t>
            </a:r>
            <a:r>
              <a:rPr sz="1700" b="1" spc="-204" dirty="0">
                <a:solidFill>
                  <a:srgbClr val="0072EB"/>
                </a:solidFill>
                <a:latin typeface="Arial"/>
                <a:cs typeface="Arial"/>
              </a:rPr>
              <a:t> </a:t>
            </a:r>
            <a:r>
              <a:rPr sz="1700" b="1" spc="-130" dirty="0">
                <a:solidFill>
                  <a:srgbClr val="0072EB"/>
                </a:solidFill>
                <a:latin typeface="Arial"/>
                <a:cs typeface="Arial"/>
              </a:rPr>
              <a:t>s</a:t>
            </a:r>
            <a:r>
              <a:rPr sz="1700" b="1" spc="-120" dirty="0">
                <a:solidFill>
                  <a:srgbClr val="0072EB"/>
                </a:solidFill>
                <a:latin typeface="Arial"/>
                <a:cs typeface="Arial"/>
              </a:rPr>
              <a:t>c</a:t>
            </a:r>
            <a:r>
              <a:rPr sz="1700" b="1" spc="-45" dirty="0">
                <a:solidFill>
                  <a:srgbClr val="0072EB"/>
                </a:solidFill>
                <a:latin typeface="Arial"/>
                <a:cs typeface="Arial"/>
              </a:rPr>
              <a:t>o</a:t>
            </a:r>
            <a:r>
              <a:rPr sz="1700" b="1" spc="-40" dirty="0">
                <a:solidFill>
                  <a:srgbClr val="0072EB"/>
                </a:solidFill>
                <a:latin typeface="Arial"/>
                <a:cs typeface="Arial"/>
              </a:rPr>
              <a:t>p</a:t>
            </a:r>
            <a:r>
              <a:rPr sz="1700" b="1" spc="105" dirty="0">
                <a:solidFill>
                  <a:srgbClr val="0072EB"/>
                </a:solidFill>
                <a:latin typeface="Arial"/>
                <a:cs typeface="Arial"/>
              </a:rPr>
              <a:t>e</a:t>
            </a:r>
            <a:r>
              <a:rPr sz="1700" b="1" spc="-204" dirty="0">
                <a:solidFill>
                  <a:srgbClr val="0072EB"/>
                </a:solidFill>
                <a:latin typeface="Arial"/>
                <a:cs typeface="Arial"/>
              </a:rPr>
              <a:t> </a:t>
            </a:r>
            <a:r>
              <a:rPr sz="1700" b="1" spc="-110" dirty="0">
                <a:solidFill>
                  <a:srgbClr val="0072EB"/>
                </a:solidFill>
                <a:latin typeface="Arial"/>
                <a:cs typeface="Arial"/>
              </a:rPr>
              <a:t>c</a:t>
            </a:r>
            <a:r>
              <a:rPr sz="1700" b="1" spc="50" dirty="0">
                <a:solidFill>
                  <a:srgbClr val="0072EB"/>
                </a:solidFill>
                <a:latin typeface="Arial"/>
                <a:cs typeface="Arial"/>
              </a:rPr>
              <a:t>r</a:t>
            </a:r>
            <a:r>
              <a:rPr sz="1700" b="1" spc="20" dirty="0">
                <a:solidFill>
                  <a:srgbClr val="0072EB"/>
                </a:solidFill>
                <a:latin typeface="Arial"/>
                <a:cs typeface="Arial"/>
              </a:rPr>
              <a:t>e</a:t>
            </a:r>
            <a:r>
              <a:rPr sz="1700" b="1" spc="25" dirty="0">
                <a:solidFill>
                  <a:srgbClr val="0072EB"/>
                </a:solidFill>
                <a:latin typeface="Arial"/>
                <a:cs typeface="Arial"/>
              </a:rPr>
              <a:t>e</a:t>
            </a:r>
            <a:r>
              <a:rPr sz="1700" b="1" spc="50" dirty="0">
                <a:solidFill>
                  <a:srgbClr val="0072EB"/>
                </a:solidFill>
                <a:latin typeface="Arial"/>
                <a:cs typeface="Arial"/>
              </a:rPr>
              <a:t>p</a:t>
            </a:r>
            <a:endParaRPr sz="1700">
              <a:latin typeface="Arial"/>
              <a:cs typeface="Arial"/>
            </a:endParaRPr>
          </a:p>
          <a:p>
            <a:pPr marL="266700" marR="5080" indent="-635">
              <a:lnSpc>
                <a:spcPts val="1700"/>
              </a:lnSpc>
            </a:pPr>
            <a:r>
              <a:rPr sz="1150" dirty="0">
                <a:solidFill>
                  <a:srgbClr val="333333"/>
                </a:solidFill>
                <a:latin typeface="Roboto Lt"/>
                <a:cs typeface="Roboto Lt"/>
              </a:rPr>
              <a:t>Some </a:t>
            </a:r>
            <a:r>
              <a:rPr sz="1150" spc="-5" dirty="0">
                <a:solidFill>
                  <a:srgbClr val="333333"/>
                </a:solidFill>
                <a:latin typeface="Roboto Lt"/>
                <a:cs typeface="Roboto Lt"/>
              </a:rPr>
              <a:t>Scrum </a:t>
            </a:r>
            <a:r>
              <a:rPr sz="1150" spc="-15" dirty="0">
                <a:solidFill>
                  <a:srgbClr val="333333"/>
                </a:solidFill>
                <a:latin typeface="Roboto Lt"/>
                <a:cs typeface="Roboto Lt"/>
              </a:rPr>
              <a:t>projects </a:t>
            </a:r>
            <a:r>
              <a:rPr sz="1150" spc="-10" dirty="0">
                <a:solidFill>
                  <a:srgbClr val="333333"/>
                </a:solidFill>
                <a:latin typeface="Roboto Lt"/>
                <a:cs typeface="Roboto Lt"/>
              </a:rPr>
              <a:t>can experience </a:t>
            </a:r>
            <a:r>
              <a:rPr sz="1150" spc="-5" dirty="0">
                <a:solidFill>
                  <a:srgbClr val="333333"/>
                </a:solidFill>
                <a:latin typeface="Roboto Lt"/>
                <a:cs typeface="Roboto Lt"/>
              </a:rPr>
              <a:t>scope </a:t>
            </a:r>
            <a:r>
              <a:rPr sz="1150" spc="-10" dirty="0">
                <a:solidFill>
                  <a:srgbClr val="333333"/>
                </a:solidFill>
                <a:latin typeface="Roboto Lt"/>
                <a:cs typeface="Roboto Lt"/>
              </a:rPr>
              <a:t>creep due </a:t>
            </a:r>
            <a:r>
              <a:rPr sz="1150" spc="-5" dirty="0">
                <a:solidFill>
                  <a:srgbClr val="333333"/>
                </a:solidFill>
                <a:latin typeface="Roboto Lt"/>
                <a:cs typeface="Roboto Lt"/>
              </a:rPr>
              <a:t> </a:t>
            </a:r>
            <a:r>
              <a:rPr sz="1150" spc="-15" dirty="0">
                <a:solidFill>
                  <a:srgbClr val="333333"/>
                </a:solidFill>
                <a:latin typeface="Roboto Lt"/>
                <a:cs typeface="Roboto Lt"/>
              </a:rPr>
              <a:t>to </a:t>
            </a:r>
            <a:r>
              <a:rPr sz="1150" spc="5" dirty="0">
                <a:solidFill>
                  <a:srgbClr val="333333"/>
                </a:solidFill>
                <a:latin typeface="Roboto Lt"/>
                <a:cs typeface="Roboto Lt"/>
              </a:rPr>
              <a:t>a </a:t>
            </a:r>
            <a:r>
              <a:rPr sz="1150" spc="-10" dirty="0">
                <a:solidFill>
                  <a:srgbClr val="333333"/>
                </a:solidFill>
                <a:latin typeface="Roboto Lt"/>
                <a:cs typeface="Roboto Lt"/>
              </a:rPr>
              <a:t>lack </a:t>
            </a:r>
            <a:r>
              <a:rPr sz="1150" spc="-5" dirty="0">
                <a:solidFill>
                  <a:srgbClr val="333333"/>
                </a:solidFill>
                <a:latin typeface="Roboto Lt"/>
                <a:cs typeface="Roboto Lt"/>
              </a:rPr>
              <a:t>of </a:t>
            </a:r>
            <a:r>
              <a:rPr sz="1150" spc="5" dirty="0">
                <a:solidFill>
                  <a:srgbClr val="333333"/>
                </a:solidFill>
                <a:latin typeface="Roboto Lt"/>
                <a:cs typeface="Roboto Lt"/>
              </a:rPr>
              <a:t>a </a:t>
            </a:r>
            <a:r>
              <a:rPr sz="1150" spc="-10" dirty="0">
                <a:solidFill>
                  <a:srgbClr val="333333"/>
                </a:solidFill>
                <a:latin typeface="Roboto Lt"/>
                <a:cs typeface="Roboto Lt"/>
              </a:rPr>
              <a:t>specific </a:t>
            </a:r>
            <a:r>
              <a:rPr sz="1150" spc="-5" dirty="0">
                <a:solidFill>
                  <a:srgbClr val="333333"/>
                </a:solidFill>
                <a:latin typeface="Roboto Lt"/>
                <a:cs typeface="Roboto Lt"/>
              </a:rPr>
              <a:t>end </a:t>
            </a:r>
            <a:r>
              <a:rPr sz="1150" spc="-20" dirty="0">
                <a:solidFill>
                  <a:srgbClr val="333333"/>
                </a:solidFill>
                <a:latin typeface="Roboto Lt"/>
                <a:cs typeface="Roboto Lt"/>
              </a:rPr>
              <a:t>date, tempting </a:t>
            </a:r>
            <a:r>
              <a:rPr sz="1150" spc="-15" dirty="0">
                <a:solidFill>
                  <a:srgbClr val="333333"/>
                </a:solidFill>
                <a:latin typeface="Roboto Lt"/>
                <a:cs typeface="Roboto Lt"/>
              </a:rPr>
              <a:t>stakeholders to </a:t>
            </a:r>
            <a:r>
              <a:rPr sz="1150" spc="-265" dirty="0">
                <a:solidFill>
                  <a:srgbClr val="333333"/>
                </a:solidFill>
                <a:latin typeface="Roboto Lt"/>
                <a:cs typeface="Roboto Lt"/>
              </a:rPr>
              <a:t> </a:t>
            </a:r>
            <a:r>
              <a:rPr sz="1150" spc="-10" dirty="0">
                <a:solidFill>
                  <a:srgbClr val="333333"/>
                </a:solidFill>
                <a:latin typeface="Roboto Lt"/>
                <a:cs typeface="Roboto Lt"/>
              </a:rPr>
              <a:t>keep</a:t>
            </a:r>
            <a:r>
              <a:rPr sz="1150" spc="-25" dirty="0">
                <a:solidFill>
                  <a:srgbClr val="333333"/>
                </a:solidFill>
                <a:latin typeface="Roboto Lt"/>
                <a:cs typeface="Roboto Lt"/>
              </a:rPr>
              <a:t> </a:t>
            </a:r>
            <a:r>
              <a:rPr sz="1150" spc="-15" dirty="0">
                <a:solidFill>
                  <a:srgbClr val="333333"/>
                </a:solidFill>
                <a:latin typeface="Roboto Lt"/>
                <a:cs typeface="Roboto Lt"/>
              </a:rPr>
              <a:t>requesting</a:t>
            </a:r>
            <a:r>
              <a:rPr sz="1150" spc="-20" dirty="0">
                <a:solidFill>
                  <a:srgbClr val="333333"/>
                </a:solidFill>
                <a:latin typeface="Roboto Lt"/>
                <a:cs typeface="Roboto Lt"/>
              </a:rPr>
              <a:t> </a:t>
            </a:r>
            <a:r>
              <a:rPr sz="1150" spc="-15" dirty="0">
                <a:solidFill>
                  <a:srgbClr val="333333"/>
                </a:solidFill>
                <a:latin typeface="Roboto Lt"/>
                <a:cs typeface="Roboto Lt"/>
              </a:rPr>
              <a:t>additional</a:t>
            </a:r>
            <a:r>
              <a:rPr sz="1150" spc="-20" dirty="0">
                <a:solidFill>
                  <a:srgbClr val="333333"/>
                </a:solidFill>
                <a:latin typeface="Roboto Lt"/>
                <a:cs typeface="Roboto Lt"/>
              </a:rPr>
              <a:t> functionality.</a:t>
            </a:r>
            <a:endParaRPr sz="1150">
              <a:latin typeface="Roboto Lt"/>
              <a:cs typeface="Roboto Lt"/>
            </a:endParaRPr>
          </a:p>
          <a:p>
            <a:pPr>
              <a:lnSpc>
                <a:spcPct val="100000"/>
              </a:lnSpc>
              <a:spcBef>
                <a:spcPts val="10"/>
              </a:spcBef>
            </a:pPr>
            <a:endParaRPr sz="1150">
              <a:latin typeface="Roboto Lt"/>
              <a:cs typeface="Roboto Lt"/>
            </a:endParaRPr>
          </a:p>
          <a:p>
            <a:pPr marL="266700" marR="876935" indent="-254000">
              <a:lnSpc>
                <a:spcPts val="1900"/>
              </a:lnSpc>
              <a:buChar char="–"/>
              <a:tabLst>
                <a:tab pos="266065" algn="l"/>
                <a:tab pos="266700" algn="l"/>
              </a:tabLst>
            </a:pPr>
            <a:r>
              <a:rPr sz="1700" b="1" spc="-204" dirty="0">
                <a:solidFill>
                  <a:srgbClr val="0072EB"/>
                </a:solidFill>
                <a:latin typeface="Arial"/>
                <a:cs typeface="Arial"/>
              </a:rPr>
              <a:t>T</a:t>
            </a:r>
            <a:r>
              <a:rPr sz="1700" b="1" spc="15" dirty="0">
                <a:solidFill>
                  <a:srgbClr val="0072EB"/>
                </a:solidFill>
                <a:latin typeface="Arial"/>
                <a:cs typeface="Arial"/>
              </a:rPr>
              <a:t>e</a:t>
            </a:r>
            <a:r>
              <a:rPr sz="1700" b="1" spc="20" dirty="0">
                <a:solidFill>
                  <a:srgbClr val="0072EB"/>
                </a:solidFill>
                <a:latin typeface="Arial"/>
                <a:cs typeface="Arial"/>
              </a:rPr>
              <a:t>a</a:t>
            </a:r>
            <a:r>
              <a:rPr sz="1700" b="1" spc="185" dirty="0">
                <a:solidFill>
                  <a:srgbClr val="0072EB"/>
                </a:solidFill>
                <a:latin typeface="Arial"/>
                <a:cs typeface="Arial"/>
              </a:rPr>
              <a:t>m</a:t>
            </a:r>
            <a:r>
              <a:rPr sz="1700" b="1" spc="-204" dirty="0">
                <a:solidFill>
                  <a:srgbClr val="0072EB"/>
                </a:solidFill>
                <a:latin typeface="Arial"/>
                <a:cs typeface="Arial"/>
              </a:rPr>
              <a:t> </a:t>
            </a:r>
            <a:r>
              <a:rPr sz="1700" b="1" spc="50" dirty="0">
                <a:solidFill>
                  <a:srgbClr val="0072EB"/>
                </a:solidFill>
                <a:latin typeface="Arial"/>
                <a:cs typeface="Arial"/>
              </a:rPr>
              <a:t>r</a:t>
            </a:r>
            <a:r>
              <a:rPr sz="1700" b="1" spc="25" dirty="0">
                <a:solidFill>
                  <a:srgbClr val="0072EB"/>
                </a:solidFill>
                <a:latin typeface="Arial"/>
                <a:cs typeface="Arial"/>
              </a:rPr>
              <a:t>e</a:t>
            </a:r>
            <a:r>
              <a:rPr sz="1700" b="1" spc="-35" dirty="0">
                <a:solidFill>
                  <a:srgbClr val="0072EB"/>
                </a:solidFill>
                <a:latin typeface="Arial"/>
                <a:cs typeface="Arial"/>
              </a:rPr>
              <a:t>q</a:t>
            </a:r>
            <a:r>
              <a:rPr sz="1700" b="1" spc="15" dirty="0">
                <a:solidFill>
                  <a:srgbClr val="0072EB"/>
                </a:solidFill>
                <a:latin typeface="Arial"/>
                <a:cs typeface="Arial"/>
              </a:rPr>
              <a:t>u</a:t>
            </a:r>
            <a:r>
              <a:rPr sz="1700" b="1" dirty="0">
                <a:solidFill>
                  <a:srgbClr val="0072EB"/>
                </a:solidFill>
                <a:latin typeface="Arial"/>
                <a:cs typeface="Arial"/>
              </a:rPr>
              <a:t>i</a:t>
            </a:r>
            <a:r>
              <a:rPr sz="1700" b="1" spc="40" dirty="0">
                <a:solidFill>
                  <a:srgbClr val="0072EB"/>
                </a:solidFill>
                <a:latin typeface="Arial"/>
                <a:cs typeface="Arial"/>
              </a:rPr>
              <a:t>r</a:t>
            </a:r>
            <a:r>
              <a:rPr sz="1700" b="1" spc="10" dirty="0">
                <a:solidFill>
                  <a:srgbClr val="0072EB"/>
                </a:solidFill>
                <a:latin typeface="Arial"/>
                <a:cs typeface="Arial"/>
              </a:rPr>
              <a:t>e</a:t>
            </a:r>
            <a:r>
              <a:rPr sz="1700" b="1" spc="-40" dirty="0">
                <a:solidFill>
                  <a:srgbClr val="0072EB"/>
                </a:solidFill>
                <a:latin typeface="Arial"/>
                <a:cs typeface="Arial"/>
              </a:rPr>
              <a:t>s</a:t>
            </a:r>
            <a:r>
              <a:rPr sz="1700" b="1" spc="-204" dirty="0">
                <a:solidFill>
                  <a:srgbClr val="0072EB"/>
                </a:solidFill>
                <a:latin typeface="Arial"/>
                <a:cs typeface="Arial"/>
              </a:rPr>
              <a:t> </a:t>
            </a:r>
            <a:r>
              <a:rPr sz="1700" b="1" spc="10" dirty="0">
                <a:solidFill>
                  <a:srgbClr val="0072EB"/>
                </a:solidFill>
                <a:latin typeface="Arial"/>
                <a:cs typeface="Arial"/>
              </a:rPr>
              <a:t>e</a:t>
            </a:r>
            <a:r>
              <a:rPr sz="1700" b="1" spc="45" dirty="0">
                <a:solidFill>
                  <a:srgbClr val="0072EB"/>
                </a:solidFill>
                <a:latin typeface="Arial"/>
                <a:cs typeface="Arial"/>
              </a:rPr>
              <a:t>x</a:t>
            </a:r>
            <a:r>
              <a:rPr sz="1700" b="1" spc="-35" dirty="0">
                <a:solidFill>
                  <a:srgbClr val="0072EB"/>
                </a:solidFill>
                <a:latin typeface="Arial"/>
                <a:cs typeface="Arial"/>
              </a:rPr>
              <a:t>p</a:t>
            </a:r>
            <a:r>
              <a:rPr sz="1700" b="1" spc="25" dirty="0">
                <a:solidFill>
                  <a:srgbClr val="0072EB"/>
                </a:solidFill>
                <a:latin typeface="Arial"/>
                <a:cs typeface="Arial"/>
              </a:rPr>
              <a:t>e</a:t>
            </a:r>
            <a:r>
              <a:rPr sz="1700" b="1" spc="50" dirty="0">
                <a:solidFill>
                  <a:srgbClr val="0072EB"/>
                </a:solidFill>
                <a:latin typeface="Arial"/>
                <a:cs typeface="Arial"/>
              </a:rPr>
              <a:t>r</a:t>
            </a:r>
            <a:r>
              <a:rPr sz="1700" b="1" spc="-10" dirty="0">
                <a:solidFill>
                  <a:srgbClr val="0072EB"/>
                </a:solidFill>
                <a:latin typeface="Arial"/>
                <a:cs typeface="Arial"/>
              </a:rPr>
              <a:t>i</a:t>
            </a:r>
            <a:r>
              <a:rPr sz="1700" b="1" spc="25" dirty="0">
                <a:solidFill>
                  <a:srgbClr val="0072EB"/>
                </a:solidFill>
                <a:latin typeface="Arial"/>
                <a:cs typeface="Arial"/>
              </a:rPr>
              <a:t>e</a:t>
            </a:r>
            <a:r>
              <a:rPr sz="1700" b="1" spc="10" dirty="0">
                <a:solidFill>
                  <a:srgbClr val="0072EB"/>
                </a:solidFill>
                <a:latin typeface="Arial"/>
                <a:cs typeface="Arial"/>
              </a:rPr>
              <a:t>n</a:t>
            </a:r>
            <a:r>
              <a:rPr sz="1700" b="1" spc="-120" dirty="0">
                <a:solidFill>
                  <a:srgbClr val="0072EB"/>
                </a:solidFill>
                <a:latin typeface="Arial"/>
                <a:cs typeface="Arial"/>
              </a:rPr>
              <a:t>c</a:t>
            </a:r>
            <a:r>
              <a:rPr sz="1700" b="1" spc="70" dirty="0">
                <a:solidFill>
                  <a:srgbClr val="0072EB"/>
                </a:solidFill>
                <a:latin typeface="Arial"/>
                <a:cs typeface="Arial"/>
              </a:rPr>
              <a:t>e  </a:t>
            </a:r>
            <a:r>
              <a:rPr sz="1700" b="1" spc="25" dirty="0">
                <a:solidFill>
                  <a:srgbClr val="0072EB"/>
                </a:solidFill>
                <a:latin typeface="Arial"/>
                <a:cs typeface="Arial"/>
              </a:rPr>
              <a:t>a</a:t>
            </a:r>
            <a:r>
              <a:rPr sz="1700" b="1" spc="15" dirty="0">
                <a:solidFill>
                  <a:srgbClr val="0072EB"/>
                </a:solidFill>
                <a:latin typeface="Arial"/>
                <a:cs typeface="Arial"/>
              </a:rPr>
              <a:t>n</a:t>
            </a:r>
            <a:r>
              <a:rPr sz="1700" b="1" spc="50" dirty="0">
                <a:solidFill>
                  <a:srgbClr val="0072EB"/>
                </a:solidFill>
                <a:latin typeface="Arial"/>
                <a:cs typeface="Arial"/>
              </a:rPr>
              <a:t>d</a:t>
            </a:r>
            <a:r>
              <a:rPr sz="1700" b="1" spc="-204" dirty="0">
                <a:solidFill>
                  <a:srgbClr val="0072EB"/>
                </a:solidFill>
                <a:latin typeface="Arial"/>
                <a:cs typeface="Arial"/>
              </a:rPr>
              <a:t> </a:t>
            </a:r>
            <a:r>
              <a:rPr sz="1700" b="1" spc="-120" dirty="0">
                <a:solidFill>
                  <a:srgbClr val="0072EB"/>
                </a:solidFill>
                <a:latin typeface="Arial"/>
                <a:cs typeface="Arial"/>
              </a:rPr>
              <a:t>c</a:t>
            </a:r>
            <a:r>
              <a:rPr sz="1700" b="1" spc="5" dirty="0">
                <a:solidFill>
                  <a:srgbClr val="0072EB"/>
                </a:solidFill>
                <a:latin typeface="Arial"/>
                <a:cs typeface="Arial"/>
              </a:rPr>
              <a:t>o</a:t>
            </a:r>
            <a:r>
              <a:rPr sz="1700" b="1" spc="50" dirty="0">
                <a:solidFill>
                  <a:srgbClr val="0072EB"/>
                </a:solidFill>
                <a:latin typeface="Arial"/>
                <a:cs typeface="Arial"/>
              </a:rPr>
              <a:t>m</a:t>
            </a:r>
            <a:r>
              <a:rPr sz="1700" b="1" spc="114" dirty="0">
                <a:solidFill>
                  <a:srgbClr val="0072EB"/>
                </a:solidFill>
                <a:latin typeface="Arial"/>
                <a:cs typeface="Arial"/>
              </a:rPr>
              <a:t>m</a:t>
            </a:r>
            <a:r>
              <a:rPr sz="1700" b="1" spc="-35" dirty="0">
                <a:solidFill>
                  <a:srgbClr val="0072EB"/>
                </a:solidFill>
                <a:latin typeface="Arial"/>
                <a:cs typeface="Arial"/>
              </a:rPr>
              <a:t>i</a:t>
            </a:r>
            <a:r>
              <a:rPr sz="1700" b="1" spc="145" dirty="0">
                <a:solidFill>
                  <a:srgbClr val="0072EB"/>
                </a:solidFill>
                <a:latin typeface="Arial"/>
                <a:cs typeface="Arial"/>
              </a:rPr>
              <a:t>t</a:t>
            </a:r>
            <a:r>
              <a:rPr sz="1700" b="1" spc="95" dirty="0">
                <a:solidFill>
                  <a:srgbClr val="0072EB"/>
                </a:solidFill>
                <a:latin typeface="Arial"/>
                <a:cs typeface="Arial"/>
              </a:rPr>
              <a:t>m</a:t>
            </a:r>
            <a:r>
              <a:rPr sz="1700" b="1" spc="25" dirty="0">
                <a:solidFill>
                  <a:srgbClr val="0072EB"/>
                </a:solidFill>
                <a:latin typeface="Arial"/>
                <a:cs typeface="Arial"/>
              </a:rPr>
              <a:t>e</a:t>
            </a:r>
            <a:r>
              <a:rPr sz="1700" b="1" spc="5" dirty="0">
                <a:solidFill>
                  <a:srgbClr val="0072EB"/>
                </a:solidFill>
                <a:latin typeface="Arial"/>
                <a:cs typeface="Arial"/>
              </a:rPr>
              <a:t>n</a:t>
            </a:r>
            <a:r>
              <a:rPr sz="1700" b="1" spc="215" dirty="0">
                <a:solidFill>
                  <a:srgbClr val="0072EB"/>
                </a:solidFill>
                <a:latin typeface="Arial"/>
                <a:cs typeface="Arial"/>
              </a:rPr>
              <a:t>t</a:t>
            </a:r>
            <a:endParaRPr sz="1700">
              <a:latin typeface="Arial"/>
              <a:cs typeface="Arial"/>
            </a:endParaRPr>
          </a:p>
          <a:p>
            <a:pPr marL="266065">
              <a:lnSpc>
                <a:spcPct val="100000"/>
              </a:lnSpc>
              <a:spcBef>
                <a:spcPts val="170"/>
              </a:spcBef>
            </a:pPr>
            <a:r>
              <a:rPr sz="1150" spc="-5" dirty="0">
                <a:solidFill>
                  <a:srgbClr val="333333"/>
                </a:solidFill>
                <a:latin typeface="Roboto Lt"/>
                <a:cs typeface="Roboto Lt"/>
              </a:rPr>
              <a:t>The</a:t>
            </a:r>
            <a:r>
              <a:rPr sz="1150" spc="-25" dirty="0">
                <a:solidFill>
                  <a:srgbClr val="333333"/>
                </a:solidFill>
                <a:latin typeface="Roboto Lt"/>
                <a:cs typeface="Roboto Lt"/>
              </a:rPr>
              <a:t> </a:t>
            </a:r>
            <a:r>
              <a:rPr sz="1150" spc="-15" dirty="0">
                <a:solidFill>
                  <a:srgbClr val="333333"/>
                </a:solidFill>
                <a:latin typeface="Roboto Lt"/>
                <a:cs typeface="Roboto Lt"/>
              </a:rPr>
              <a:t>team</a:t>
            </a:r>
            <a:r>
              <a:rPr sz="1150" spc="-20" dirty="0">
                <a:solidFill>
                  <a:srgbClr val="333333"/>
                </a:solidFill>
                <a:latin typeface="Roboto Lt"/>
                <a:cs typeface="Roboto Lt"/>
              </a:rPr>
              <a:t> </a:t>
            </a:r>
            <a:r>
              <a:rPr sz="1150" spc="-10" dirty="0">
                <a:solidFill>
                  <a:srgbClr val="333333"/>
                </a:solidFill>
                <a:latin typeface="Roboto Lt"/>
                <a:cs typeface="Roboto Lt"/>
              </a:rPr>
              <a:t>needs</a:t>
            </a:r>
            <a:r>
              <a:rPr sz="1150" spc="-20" dirty="0">
                <a:solidFill>
                  <a:srgbClr val="333333"/>
                </a:solidFill>
                <a:latin typeface="Roboto Lt"/>
                <a:cs typeface="Roboto Lt"/>
              </a:rPr>
              <a:t> </a:t>
            </a:r>
            <a:r>
              <a:rPr sz="1150" spc="-15" dirty="0">
                <a:solidFill>
                  <a:srgbClr val="333333"/>
                </a:solidFill>
                <a:latin typeface="Roboto Lt"/>
                <a:cs typeface="Roboto Lt"/>
              </a:rPr>
              <a:t>to</a:t>
            </a:r>
            <a:r>
              <a:rPr sz="1150" spc="-20" dirty="0">
                <a:solidFill>
                  <a:srgbClr val="333333"/>
                </a:solidFill>
                <a:latin typeface="Roboto Lt"/>
                <a:cs typeface="Roboto Lt"/>
              </a:rPr>
              <a:t> </a:t>
            </a:r>
            <a:r>
              <a:rPr sz="1150" dirty="0">
                <a:solidFill>
                  <a:srgbClr val="333333"/>
                </a:solidFill>
                <a:latin typeface="Roboto Lt"/>
                <a:cs typeface="Roboto Lt"/>
              </a:rPr>
              <a:t>be</a:t>
            </a:r>
            <a:r>
              <a:rPr sz="1150" spc="-20" dirty="0">
                <a:solidFill>
                  <a:srgbClr val="333333"/>
                </a:solidFill>
                <a:latin typeface="Roboto Lt"/>
                <a:cs typeface="Roboto Lt"/>
              </a:rPr>
              <a:t> familiar</a:t>
            </a:r>
            <a:r>
              <a:rPr sz="1150" spc="-25" dirty="0">
                <a:solidFill>
                  <a:srgbClr val="333333"/>
                </a:solidFill>
                <a:latin typeface="Roboto Lt"/>
                <a:cs typeface="Roboto Lt"/>
              </a:rPr>
              <a:t> </a:t>
            </a:r>
            <a:r>
              <a:rPr sz="1150" spc="-15" dirty="0">
                <a:solidFill>
                  <a:srgbClr val="333333"/>
                </a:solidFill>
                <a:latin typeface="Roboto Lt"/>
                <a:cs typeface="Roboto Lt"/>
              </a:rPr>
              <a:t>with</a:t>
            </a:r>
            <a:r>
              <a:rPr sz="1150" spc="-20" dirty="0">
                <a:solidFill>
                  <a:srgbClr val="333333"/>
                </a:solidFill>
                <a:latin typeface="Roboto Lt"/>
                <a:cs typeface="Roboto Lt"/>
              </a:rPr>
              <a:t> </a:t>
            </a:r>
            <a:r>
              <a:rPr sz="1150" spc="-5" dirty="0">
                <a:solidFill>
                  <a:srgbClr val="333333"/>
                </a:solidFill>
                <a:latin typeface="Roboto Lt"/>
                <a:cs typeface="Roboto Lt"/>
              </a:rPr>
              <a:t>Scrum</a:t>
            </a:r>
            <a:r>
              <a:rPr sz="1150" spc="-20" dirty="0">
                <a:solidFill>
                  <a:srgbClr val="333333"/>
                </a:solidFill>
                <a:latin typeface="Roboto Lt"/>
                <a:cs typeface="Roboto Lt"/>
              </a:rPr>
              <a:t> </a:t>
            </a:r>
            <a:r>
              <a:rPr sz="1150" spc="-15" dirty="0">
                <a:solidFill>
                  <a:srgbClr val="333333"/>
                </a:solidFill>
                <a:latin typeface="Roboto Lt"/>
                <a:cs typeface="Roboto Lt"/>
              </a:rPr>
              <a:t>principles</a:t>
            </a:r>
            <a:r>
              <a:rPr sz="1150" spc="-20" dirty="0">
                <a:solidFill>
                  <a:srgbClr val="333333"/>
                </a:solidFill>
                <a:latin typeface="Roboto Lt"/>
                <a:cs typeface="Roboto Lt"/>
              </a:rPr>
              <a:t> </a:t>
            </a:r>
            <a:r>
              <a:rPr sz="1150" spc="-15" dirty="0">
                <a:solidFill>
                  <a:srgbClr val="333333"/>
                </a:solidFill>
                <a:latin typeface="Roboto Lt"/>
                <a:cs typeface="Roboto Lt"/>
              </a:rPr>
              <a:t>to</a:t>
            </a:r>
            <a:endParaRPr sz="1150">
              <a:latin typeface="Roboto Lt"/>
              <a:cs typeface="Roboto Lt"/>
            </a:endParaRPr>
          </a:p>
          <a:p>
            <a:pPr marL="266700" marR="249554">
              <a:lnSpc>
                <a:spcPct val="123200"/>
              </a:lnSpc>
            </a:pPr>
            <a:r>
              <a:rPr sz="1150" spc="-5" dirty="0">
                <a:solidFill>
                  <a:srgbClr val="333333"/>
                </a:solidFill>
                <a:latin typeface="Roboto Lt"/>
                <a:cs typeface="Roboto Lt"/>
              </a:rPr>
              <a:t>succeed, </a:t>
            </a:r>
            <a:r>
              <a:rPr sz="1150" spc="-10" dirty="0">
                <a:solidFill>
                  <a:srgbClr val="333333"/>
                </a:solidFill>
                <a:latin typeface="Roboto Lt"/>
                <a:cs typeface="Roboto Lt"/>
              </a:rPr>
              <a:t>as </a:t>
            </a:r>
            <a:r>
              <a:rPr sz="1150" spc="-20" dirty="0">
                <a:solidFill>
                  <a:srgbClr val="333333"/>
                </a:solidFill>
                <a:latin typeface="Roboto Lt"/>
                <a:cs typeface="Roboto Lt"/>
              </a:rPr>
              <a:t>well </a:t>
            </a:r>
            <a:r>
              <a:rPr sz="1150" spc="-10" dirty="0">
                <a:solidFill>
                  <a:srgbClr val="333333"/>
                </a:solidFill>
                <a:latin typeface="Roboto Lt"/>
                <a:cs typeface="Roboto Lt"/>
              </a:rPr>
              <a:t>as needs </a:t>
            </a:r>
            <a:r>
              <a:rPr sz="1150" spc="-15" dirty="0">
                <a:solidFill>
                  <a:srgbClr val="333333"/>
                </a:solidFill>
                <a:latin typeface="Roboto Lt"/>
                <a:cs typeface="Roboto Lt"/>
              </a:rPr>
              <a:t>to </a:t>
            </a:r>
            <a:r>
              <a:rPr sz="1150" spc="-5" dirty="0">
                <a:solidFill>
                  <a:srgbClr val="333333"/>
                </a:solidFill>
                <a:latin typeface="Roboto Lt"/>
                <a:cs typeface="Roboto Lt"/>
              </a:rPr>
              <a:t>commit </a:t>
            </a:r>
            <a:r>
              <a:rPr sz="1150" spc="-15" dirty="0">
                <a:solidFill>
                  <a:srgbClr val="333333"/>
                </a:solidFill>
                <a:latin typeface="Roboto Lt"/>
                <a:cs typeface="Roboto Lt"/>
              </a:rPr>
              <a:t>to </a:t>
            </a:r>
            <a:r>
              <a:rPr sz="1150" spc="-10" dirty="0">
                <a:solidFill>
                  <a:srgbClr val="333333"/>
                </a:solidFill>
                <a:latin typeface="Roboto Lt"/>
                <a:cs typeface="Roboto Lt"/>
              </a:rPr>
              <a:t>the </a:t>
            </a:r>
            <a:r>
              <a:rPr sz="1150" spc="-20" dirty="0">
                <a:solidFill>
                  <a:srgbClr val="333333"/>
                </a:solidFill>
                <a:latin typeface="Roboto Lt"/>
                <a:cs typeface="Roboto Lt"/>
              </a:rPr>
              <a:t>daily </a:t>
            </a:r>
            <a:r>
              <a:rPr sz="1150" spc="-15" dirty="0">
                <a:solidFill>
                  <a:srgbClr val="333333"/>
                </a:solidFill>
                <a:latin typeface="Roboto Lt"/>
                <a:cs typeface="Roboto Lt"/>
              </a:rPr>
              <a:t> </a:t>
            </a:r>
            <a:r>
              <a:rPr sz="1150" spc="-10" dirty="0">
                <a:solidFill>
                  <a:srgbClr val="333333"/>
                </a:solidFill>
                <a:latin typeface="Roboto Lt"/>
                <a:cs typeface="Roboto Lt"/>
              </a:rPr>
              <a:t>meetings</a:t>
            </a:r>
            <a:r>
              <a:rPr sz="1150" spc="-20" dirty="0">
                <a:solidFill>
                  <a:srgbClr val="333333"/>
                </a:solidFill>
                <a:latin typeface="Roboto Lt"/>
                <a:cs typeface="Roboto Lt"/>
              </a:rPr>
              <a:t> </a:t>
            </a:r>
            <a:r>
              <a:rPr sz="1150" spc="-10" dirty="0">
                <a:solidFill>
                  <a:srgbClr val="333333"/>
                </a:solidFill>
                <a:latin typeface="Roboto Lt"/>
                <a:cs typeface="Roboto Lt"/>
              </a:rPr>
              <a:t>and</a:t>
            </a:r>
            <a:r>
              <a:rPr sz="1150" spc="-20" dirty="0">
                <a:solidFill>
                  <a:srgbClr val="333333"/>
                </a:solidFill>
                <a:latin typeface="Roboto Lt"/>
                <a:cs typeface="Roboto Lt"/>
              </a:rPr>
              <a:t> stay </a:t>
            </a:r>
            <a:r>
              <a:rPr sz="1150" dirty="0">
                <a:solidFill>
                  <a:srgbClr val="333333"/>
                </a:solidFill>
                <a:latin typeface="Roboto Lt"/>
                <a:cs typeface="Roboto Lt"/>
              </a:rPr>
              <a:t>on</a:t>
            </a:r>
            <a:r>
              <a:rPr sz="1150" spc="-20" dirty="0">
                <a:solidFill>
                  <a:srgbClr val="333333"/>
                </a:solidFill>
                <a:latin typeface="Roboto Lt"/>
                <a:cs typeface="Roboto Lt"/>
              </a:rPr>
              <a:t> </a:t>
            </a:r>
            <a:r>
              <a:rPr sz="1150" spc="-10" dirty="0">
                <a:solidFill>
                  <a:srgbClr val="333333"/>
                </a:solidFill>
                <a:latin typeface="Roboto Lt"/>
                <a:cs typeface="Roboto Lt"/>
              </a:rPr>
              <a:t>the</a:t>
            </a:r>
            <a:r>
              <a:rPr sz="1150" spc="-20" dirty="0">
                <a:solidFill>
                  <a:srgbClr val="333333"/>
                </a:solidFill>
                <a:latin typeface="Roboto Lt"/>
                <a:cs typeface="Roboto Lt"/>
              </a:rPr>
              <a:t> </a:t>
            </a:r>
            <a:r>
              <a:rPr sz="1150" spc="-15" dirty="0">
                <a:solidFill>
                  <a:srgbClr val="333333"/>
                </a:solidFill>
                <a:latin typeface="Roboto Lt"/>
                <a:cs typeface="Roboto Lt"/>
              </a:rPr>
              <a:t>team</a:t>
            </a:r>
            <a:r>
              <a:rPr sz="1150" spc="-20" dirty="0">
                <a:solidFill>
                  <a:srgbClr val="333333"/>
                </a:solidFill>
                <a:latin typeface="Roboto Lt"/>
                <a:cs typeface="Roboto Lt"/>
              </a:rPr>
              <a:t> </a:t>
            </a:r>
            <a:r>
              <a:rPr sz="1150" spc="-10" dirty="0">
                <a:solidFill>
                  <a:srgbClr val="333333"/>
                </a:solidFill>
                <a:latin typeface="Roboto Lt"/>
                <a:cs typeface="Roboto Lt"/>
              </a:rPr>
              <a:t>for</a:t>
            </a:r>
            <a:r>
              <a:rPr sz="1150" spc="-20" dirty="0">
                <a:solidFill>
                  <a:srgbClr val="333333"/>
                </a:solidFill>
                <a:latin typeface="Roboto Lt"/>
                <a:cs typeface="Roboto Lt"/>
              </a:rPr>
              <a:t> </a:t>
            </a:r>
            <a:r>
              <a:rPr sz="1150" spc="-10" dirty="0">
                <a:solidFill>
                  <a:srgbClr val="333333"/>
                </a:solidFill>
                <a:latin typeface="Roboto Lt"/>
                <a:cs typeface="Roboto Lt"/>
              </a:rPr>
              <a:t>the</a:t>
            </a:r>
            <a:r>
              <a:rPr sz="1150" spc="-20" dirty="0">
                <a:solidFill>
                  <a:srgbClr val="333333"/>
                </a:solidFill>
                <a:latin typeface="Roboto Lt"/>
                <a:cs typeface="Roboto Lt"/>
              </a:rPr>
              <a:t> entire </a:t>
            </a:r>
            <a:r>
              <a:rPr sz="1150" spc="-15" dirty="0">
                <a:solidFill>
                  <a:srgbClr val="333333"/>
                </a:solidFill>
                <a:latin typeface="Roboto Lt"/>
                <a:cs typeface="Roboto Lt"/>
              </a:rPr>
              <a:t>project.</a:t>
            </a:r>
            <a:endParaRPr sz="1150">
              <a:latin typeface="Roboto Lt"/>
              <a:cs typeface="Roboto Lt"/>
            </a:endParaRPr>
          </a:p>
        </p:txBody>
      </p:sp>
      <p:sp>
        <p:nvSpPr>
          <p:cNvPr id="5" name="object 5"/>
          <p:cNvSpPr txBox="1"/>
          <p:nvPr/>
        </p:nvSpPr>
        <p:spPr>
          <a:xfrm>
            <a:off x="4711700" y="2232097"/>
            <a:ext cx="3698875" cy="2893695"/>
          </a:xfrm>
          <a:prstGeom prst="rect">
            <a:avLst/>
          </a:prstGeom>
        </p:spPr>
        <p:txBody>
          <a:bodyPr vert="horz" wrap="square" lIns="0" tIns="35560" rIns="0" bIns="0" rtlCol="0">
            <a:spAutoFit/>
          </a:bodyPr>
          <a:lstStyle/>
          <a:p>
            <a:pPr marL="266700" marR="5080" indent="-254000">
              <a:lnSpc>
                <a:spcPts val="1900"/>
              </a:lnSpc>
              <a:spcBef>
                <a:spcPts val="280"/>
              </a:spcBef>
              <a:buChar char="–"/>
              <a:tabLst>
                <a:tab pos="266065" algn="l"/>
                <a:tab pos="266700" algn="l"/>
              </a:tabLst>
            </a:pPr>
            <a:r>
              <a:rPr sz="1700" b="1" spc="-125" dirty="0">
                <a:solidFill>
                  <a:srgbClr val="0072EB"/>
                </a:solidFill>
                <a:latin typeface="Arial"/>
                <a:cs typeface="Arial"/>
              </a:rPr>
              <a:t>T</a:t>
            </a:r>
            <a:r>
              <a:rPr sz="1700" b="1" spc="10" dirty="0">
                <a:solidFill>
                  <a:srgbClr val="0072EB"/>
                </a:solidFill>
                <a:latin typeface="Arial"/>
                <a:cs typeface="Arial"/>
              </a:rPr>
              <a:t>h</a:t>
            </a:r>
            <a:r>
              <a:rPr sz="1700" b="1" spc="105" dirty="0">
                <a:solidFill>
                  <a:srgbClr val="0072EB"/>
                </a:solidFill>
                <a:latin typeface="Arial"/>
                <a:cs typeface="Arial"/>
              </a:rPr>
              <a:t>e</a:t>
            </a:r>
            <a:r>
              <a:rPr sz="1700" b="1" spc="-204" dirty="0">
                <a:solidFill>
                  <a:srgbClr val="0072EB"/>
                </a:solidFill>
                <a:latin typeface="Arial"/>
                <a:cs typeface="Arial"/>
              </a:rPr>
              <a:t> </a:t>
            </a:r>
            <a:r>
              <a:rPr sz="1700" b="1" spc="140" dirty="0">
                <a:solidFill>
                  <a:srgbClr val="0072EB"/>
                </a:solidFill>
                <a:latin typeface="Arial"/>
                <a:cs typeface="Arial"/>
              </a:rPr>
              <a:t>w</a:t>
            </a:r>
            <a:r>
              <a:rPr sz="1700" b="1" spc="50" dirty="0">
                <a:solidFill>
                  <a:srgbClr val="0072EB"/>
                </a:solidFill>
                <a:latin typeface="Arial"/>
                <a:cs typeface="Arial"/>
              </a:rPr>
              <a:t>r</a:t>
            </a:r>
            <a:r>
              <a:rPr sz="1700" b="1" spc="-20" dirty="0">
                <a:solidFill>
                  <a:srgbClr val="0072EB"/>
                </a:solidFill>
                <a:latin typeface="Arial"/>
                <a:cs typeface="Arial"/>
              </a:rPr>
              <a:t>o</a:t>
            </a:r>
            <a:r>
              <a:rPr sz="1700" b="1" spc="-25" dirty="0">
                <a:solidFill>
                  <a:srgbClr val="0072EB"/>
                </a:solidFill>
                <a:latin typeface="Arial"/>
                <a:cs typeface="Arial"/>
              </a:rPr>
              <a:t>n</a:t>
            </a:r>
            <a:r>
              <a:rPr sz="1700" b="1" spc="-10" dirty="0">
                <a:solidFill>
                  <a:srgbClr val="0072EB"/>
                </a:solidFill>
                <a:latin typeface="Arial"/>
                <a:cs typeface="Arial"/>
              </a:rPr>
              <a:t>g</a:t>
            </a:r>
            <a:r>
              <a:rPr sz="1700" b="1" spc="-204" dirty="0">
                <a:solidFill>
                  <a:srgbClr val="0072EB"/>
                </a:solidFill>
                <a:latin typeface="Arial"/>
                <a:cs typeface="Arial"/>
              </a:rPr>
              <a:t> </a:t>
            </a:r>
            <a:r>
              <a:rPr sz="1700" b="1" spc="-229" dirty="0">
                <a:solidFill>
                  <a:srgbClr val="0072EB"/>
                </a:solidFill>
                <a:latin typeface="Arial"/>
                <a:cs typeface="Arial"/>
              </a:rPr>
              <a:t>S</a:t>
            </a:r>
            <a:r>
              <a:rPr sz="1700" b="1" spc="-110" dirty="0">
                <a:solidFill>
                  <a:srgbClr val="0072EB"/>
                </a:solidFill>
                <a:latin typeface="Arial"/>
                <a:cs typeface="Arial"/>
              </a:rPr>
              <a:t>c</a:t>
            </a:r>
            <a:r>
              <a:rPr sz="1700" b="1" spc="50" dirty="0">
                <a:solidFill>
                  <a:srgbClr val="0072EB"/>
                </a:solidFill>
                <a:latin typeface="Arial"/>
                <a:cs typeface="Arial"/>
              </a:rPr>
              <a:t>r</a:t>
            </a:r>
            <a:r>
              <a:rPr sz="1700" b="1" spc="15" dirty="0">
                <a:solidFill>
                  <a:srgbClr val="0072EB"/>
                </a:solidFill>
                <a:latin typeface="Arial"/>
                <a:cs typeface="Arial"/>
              </a:rPr>
              <a:t>u</a:t>
            </a:r>
            <a:r>
              <a:rPr sz="1700" b="1" spc="185" dirty="0">
                <a:solidFill>
                  <a:srgbClr val="0072EB"/>
                </a:solidFill>
                <a:latin typeface="Arial"/>
                <a:cs typeface="Arial"/>
              </a:rPr>
              <a:t>m</a:t>
            </a:r>
            <a:r>
              <a:rPr sz="1700" b="1" spc="-204" dirty="0">
                <a:solidFill>
                  <a:srgbClr val="0072EB"/>
                </a:solidFill>
                <a:latin typeface="Arial"/>
                <a:cs typeface="Arial"/>
              </a:rPr>
              <a:t> </a:t>
            </a:r>
            <a:r>
              <a:rPr sz="1700" b="1" spc="135" dirty="0">
                <a:solidFill>
                  <a:srgbClr val="0072EB"/>
                </a:solidFill>
                <a:latin typeface="Arial"/>
                <a:cs typeface="Arial"/>
              </a:rPr>
              <a:t>M</a:t>
            </a:r>
            <a:r>
              <a:rPr sz="1700" b="1" spc="20" dirty="0">
                <a:solidFill>
                  <a:srgbClr val="0072EB"/>
                </a:solidFill>
                <a:latin typeface="Arial"/>
                <a:cs typeface="Arial"/>
              </a:rPr>
              <a:t>a</a:t>
            </a:r>
            <a:r>
              <a:rPr sz="1700" b="1" spc="-125" dirty="0">
                <a:solidFill>
                  <a:srgbClr val="0072EB"/>
                </a:solidFill>
                <a:latin typeface="Arial"/>
                <a:cs typeface="Arial"/>
              </a:rPr>
              <a:t>s</a:t>
            </a:r>
            <a:r>
              <a:rPr sz="1700" b="1" spc="35" dirty="0">
                <a:solidFill>
                  <a:srgbClr val="0072EB"/>
                </a:solidFill>
                <a:latin typeface="Arial"/>
                <a:cs typeface="Arial"/>
              </a:rPr>
              <a:t>t</a:t>
            </a:r>
            <a:r>
              <a:rPr sz="1700" b="1" spc="120" dirty="0">
                <a:solidFill>
                  <a:srgbClr val="0072EB"/>
                </a:solidFill>
                <a:latin typeface="Arial"/>
                <a:cs typeface="Arial"/>
              </a:rPr>
              <a:t>e</a:t>
            </a:r>
            <a:r>
              <a:rPr sz="1700" b="1" spc="135" dirty="0">
                <a:solidFill>
                  <a:srgbClr val="0072EB"/>
                </a:solidFill>
                <a:latin typeface="Arial"/>
                <a:cs typeface="Arial"/>
              </a:rPr>
              <a:t>r</a:t>
            </a:r>
            <a:r>
              <a:rPr sz="1700" b="1" spc="-204" dirty="0">
                <a:solidFill>
                  <a:srgbClr val="0072EB"/>
                </a:solidFill>
                <a:latin typeface="Arial"/>
                <a:cs typeface="Arial"/>
              </a:rPr>
              <a:t> </a:t>
            </a:r>
            <a:r>
              <a:rPr sz="1700" b="1" spc="-114" dirty="0">
                <a:solidFill>
                  <a:srgbClr val="0072EB"/>
                </a:solidFill>
                <a:latin typeface="Arial"/>
                <a:cs typeface="Arial"/>
              </a:rPr>
              <a:t>c</a:t>
            </a:r>
            <a:r>
              <a:rPr sz="1700" b="1" spc="25" dirty="0">
                <a:solidFill>
                  <a:srgbClr val="0072EB"/>
                </a:solidFill>
                <a:latin typeface="Arial"/>
                <a:cs typeface="Arial"/>
              </a:rPr>
              <a:t>a</a:t>
            </a:r>
            <a:r>
              <a:rPr sz="1700" b="1" spc="100" dirty="0">
                <a:solidFill>
                  <a:srgbClr val="0072EB"/>
                </a:solidFill>
                <a:latin typeface="Arial"/>
                <a:cs typeface="Arial"/>
              </a:rPr>
              <a:t>n</a:t>
            </a:r>
            <a:r>
              <a:rPr sz="1700" b="1" spc="-200" dirty="0">
                <a:solidFill>
                  <a:srgbClr val="0072EB"/>
                </a:solidFill>
                <a:latin typeface="Arial"/>
                <a:cs typeface="Arial"/>
              </a:rPr>
              <a:t> </a:t>
            </a:r>
            <a:r>
              <a:rPr sz="1700" b="1" spc="55" dirty="0">
                <a:solidFill>
                  <a:srgbClr val="0072EB"/>
                </a:solidFill>
                <a:latin typeface="Arial"/>
                <a:cs typeface="Arial"/>
              </a:rPr>
              <a:t>r</a:t>
            </a:r>
            <a:r>
              <a:rPr sz="1700" b="1" spc="15" dirty="0">
                <a:solidFill>
                  <a:srgbClr val="0072EB"/>
                </a:solidFill>
                <a:latin typeface="Arial"/>
                <a:cs typeface="Arial"/>
              </a:rPr>
              <a:t>u</a:t>
            </a:r>
            <a:r>
              <a:rPr sz="1700" b="1" spc="-20" dirty="0">
                <a:solidFill>
                  <a:srgbClr val="0072EB"/>
                </a:solidFill>
                <a:latin typeface="Arial"/>
                <a:cs typeface="Arial"/>
              </a:rPr>
              <a:t>in  </a:t>
            </a:r>
            <a:r>
              <a:rPr sz="1700" b="1" spc="30" dirty="0">
                <a:solidFill>
                  <a:srgbClr val="0072EB"/>
                </a:solidFill>
                <a:latin typeface="Arial"/>
                <a:cs typeface="Arial"/>
              </a:rPr>
              <a:t>everything</a:t>
            </a:r>
            <a:endParaRPr sz="1700">
              <a:latin typeface="Arial"/>
              <a:cs typeface="Arial"/>
            </a:endParaRPr>
          </a:p>
          <a:p>
            <a:pPr marL="266065">
              <a:lnSpc>
                <a:spcPct val="100000"/>
              </a:lnSpc>
              <a:spcBef>
                <a:spcPts val="170"/>
              </a:spcBef>
            </a:pPr>
            <a:r>
              <a:rPr sz="1150" spc="-5" dirty="0">
                <a:solidFill>
                  <a:srgbClr val="333333"/>
                </a:solidFill>
                <a:latin typeface="Roboto Lt"/>
                <a:cs typeface="Roboto Lt"/>
              </a:rPr>
              <a:t>The</a:t>
            </a:r>
            <a:r>
              <a:rPr sz="1150" spc="-20" dirty="0">
                <a:solidFill>
                  <a:srgbClr val="333333"/>
                </a:solidFill>
                <a:latin typeface="Roboto Lt"/>
                <a:cs typeface="Roboto Lt"/>
              </a:rPr>
              <a:t> </a:t>
            </a:r>
            <a:r>
              <a:rPr sz="1150" spc="-5" dirty="0">
                <a:solidFill>
                  <a:srgbClr val="333333"/>
                </a:solidFill>
                <a:latin typeface="Roboto Lt"/>
                <a:cs typeface="Roboto Lt"/>
              </a:rPr>
              <a:t>Scrum</a:t>
            </a:r>
            <a:r>
              <a:rPr sz="1150" spc="-15" dirty="0">
                <a:solidFill>
                  <a:srgbClr val="333333"/>
                </a:solidFill>
                <a:latin typeface="Roboto Lt"/>
                <a:cs typeface="Roboto Lt"/>
              </a:rPr>
              <a:t> Master</a:t>
            </a:r>
            <a:r>
              <a:rPr sz="1150" spc="-20" dirty="0">
                <a:solidFill>
                  <a:srgbClr val="333333"/>
                </a:solidFill>
                <a:latin typeface="Roboto Lt"/>
                <a:cs typeface="Roboto Lt"/>
              </a:rPr>
              <a:t> </a:t>
            </a:r>
            <a:r>
              <a:rPr sz="1150" spc="-15" dirty="0">
                <a:solidFill>
                  <a:srgbClr val="333333"/>
                </a:solidFill>
                <a:latin typeface="Roboto Lt"/>
                <a:cs typeface="Roboto Lt"/>
              </a:rPr>
              <a:t>is </a:t>
            </a:r>
            <a:r>
              <a:rPr sz="1150" spc="-10" dirty="0">
                <a:solidFill>
                  <a:srgbClr val="333333"/>
                </a:solidFill>
                <a:latin typeface="Roboto Lt"/>
                <a:cs typeface="Roboto Lt"/>
              </a:rPr>
              <a:t>very</a:t>
            </a:r>
            <a:r>
              <a:rPr sz="1150" spc="-20" dirty="0">
                <a:solidFill>
                  <a:srgbClr val="333333"/>
                </a:solidFill>
                <a:latin typeface="Roboto Lt"/>
                <a:cs typeface="Roboto Lt"/>
              </a:rPr>
              <a:t> </a:t>
            </a:r>
            <a:r>
              <a:rPr sz="1150" spc="-15" dirty="0">
                <a:solidFill>
                  <a:srgbClr val="333333"/>
                </a:solidFill>
                <a:latin typeface="Roboto Lt"/>
                <a:cs typeface="Roboto Lt"/>
              </a:rPr>
              <a:t>different </a:t>
            </a:r>
            <a:r>
              <a:rPr sz="1150" spc="-10" dirty="0">
                <a:solidFill>
                  <a:srgbClr val="333333"/>
                </a:solidFill>
                <a:latin typeface="Roboto Lt"/>
                <a:cs typeface="Roboto Lt"/>
              </a:rPr>
              <a:t>from</a:t>
            </a:r>
            <a:r>
              <a:rPr sz="1150" spc="-15" dirty="0">
                <a:solidFill>
                  <a:srgbClr val="333333"/>
                </a:solidFill>
                <a:latin typeface="Roboto Lt"/>
                <a:cs typeface="Roboto Lt"/>
              </a:rPr>
              <a:t> </a:t>
            </a:r>
            <a:r>
              <a:rPr sz="1150" spc="5" dirty="0">
                <a:solidFill>
                  <a:srgbClr val="333333"/>
                </a:solidFill>
                <a:latin typeface="Roboto Lt"/>
                <a:cs typeface="Roboto Lt"/>
              </a:rPr>
              <a:t>a</a:t>
            </a:r>
            <a:r>
              <a:rPr sz="1150" spc="-20" dirty="0">
                <a:solidFill>
                  <a:srgbClr val="333333"/>
                </a:solidFill>
                <a:latin typeface="Roboto Lt"/>
                <a:cs typeface="Roboto Lt"/>
              </a:rPr>
              <a:t> </a:t>
            </a:r>
            <a:r>
              <a:rPr sz="1150" spc="-15" dirty="0">
                <a:solidFill>
                  <a:srgbClr val="333333"/>
                </a:solidFill>
                <a:latin typeface="Roboto Lt"/>
                <a:cs typeface="Roboto Lt"/>
              </a:rPr>
              <a:t>project</a:t>
            </a:r>
            <a:endParaRPr sz="1150">
              <a:latin typeface="Roboto Lt"/>
              <a:cs typeface="Roboto Lt"/>
            </a:endParaRPr>
          </a:p>
          <a:p>
            <a:pPr marL="266700" marR="115570">
              <a:lnSpc>
                <a:spcPct val="123200"/>
              </a:lnSpc>
            </a:pPr>
            <a:r>
              <a:rPr sz="1150" spc="-20" dirty="0">
                <a:solidFill>
                  <a:srgbClr val="333333"/>
                </a:solidFill>
                <a:latin typeface="Roboto Lt"/>
                <a:cs typeface="Roboto Lt"/>
              </a:rPr>
              <a:t>manager. </a:t>
            </a:r>
            <a:r>
              <a:rPr sz="1150" spc="-5" dirty="0">
                <a:solidFill>
                  <a:srgbClr val="333333"/>
                </a:solidFill>
                <a:latin typeface="Roboto Lt"/>
                <a:cs typeface="Roboto Lt"/>
              </a:rPr>
              <a:t>The Scrum </a:t>
            </a:r>
            <a:r>
              <a:rPr sz="1150" spc="-15" dirty="0">
                <a:solidFill>
                  <a:srgbClr val="333333"/>
                </a:solidFill>
                <a:latin typeface="Roboto Lt"/>
                <a:cs typeface="Roboto Lt"/>
              </a:rPr>
              <a:t>Master </a:t>
            </a:r>
            <a:r>
              <a:rPr sz="1150" spc="-5" dirty="0">
                <a:solidFill>
                  <a:srgbClr val="333333"/>
                </a:solidFill>
                <a:latin typeface="Roboto Lt"/>
                <a:cs typeface="Roboto Lt"/>
              </a:rPr>
              <a:t>does </a:t>
            </a:r>
            <a:r>
              <a:rPr sz="1150" spc="-15" dirty="0">
                <a:solidFill>
                  <a:srgbClr val="333333"/>
                </a:solidFill>
                <a:latin typeface="Roboto Lt"/>
                <a:cs typeface="Roboto Lt"/>
              </a:rPr>
              <a:t>not </a:t>
            </a:r>
            <a:r>
              <a:rPr sz="1150" spc="-20" dirty="0">
                <a:solidFill>
                  <a:srgbClr val="333333"/>
                </a:solidFill>
                <a:latin typeface="Roboto Lt"/>
                <a:cs typeface="Roboto Lt"/>
              </a:rPr>
              <a:t>have </a:t>
            </a:r>
            <a:r>
              <a:rPr sz="1150" spc="-15" dirty="0">
                <a:solidFill>
                  <a:srgbClr val="333333"/>
                </a:solidFill>
                <a:latin typeface="Roboto Lt"/>
                <a:cs typeface="Roboto Lt"/>
              </a:rPr>
              <a:t>authority </a:t>
            </a:r>
            <a:r>
              <a:rPr sz="1150" spc="-265" dirty="0">
                <a:solidFill>
                  <a:srgbClr val="333333"/>
                </a:solidFill>
                <a:latin typeface="Roboto Lt"/>
                <a:cs typeface="Roboto Lt"/>
              </a:rPr>
              <a:t> </a:t>
            </a:r>
            <a:r>
              <a:rPr sz="1150" spc="-15" dirty="0">
                <a:solidFill>
                  <a:srgbClr val="333333"/>
                </a:solidFill>
                <a:latin typeface="Roboto Lt"/>
                <a:cs typeface="Roboto Lt"/>
              </a:rPr>
              <a:t>over </a:t>
            </a:r>
            <a:r>
              <a:rPr sz="1150" spc="-10" dirty="0">
                <a:solidFill>
                  <a:srgbClr val="333333"/>
                </a:solidFill>
                <a:latin typeface="Roboto Lt"/>
                <a:cs typeface="Roboto Lt"/>
              </a:rPr>
              <a:t>the </a:t>
            </a:r>
            <a:r>
              <a:rPr sz="1150" spc="-15" dirty="0">
                <a:solidFill>
                  <a:srgbClr val="333333"/>
                </a:solidFill>
                <a:latin typeface="Roboto Lt"/>
                <a:cs typeface="Roboto Lt"/>
              </a:rPr>
              <a:t>team, </a:t>
            </a:r>
            <a:r>
              <a:rPr sz="1150" spc="-5" dirty="0">
                <a:solidFill>
                  <a:srgbClr val="333333"/>
                </a:solidFill>
                <a:latin typeface="Roboto Lt"/>
                <a:cs typeface="Roboto Lt"/>
              </a:rPr>
              <a:t>so he </a:t>
            </a:r>
            <a:r>
              <a:rPr sz="1150" dirty="0">
                <a:solidFill>
                  <a:srgbClr val="333333"/>
                </a:solidFill>
                <a:latin typeface="Roboto Lt"/>
                <a:cs typeface="Roboto Lt"/>
              </a:rPr>
              <a:t>or </a:t>
            </a:r>
            <a:r>
              <a:rPr sz="1150" spc="-10" dirty="0">
                <a:solidFill>
                  <a:srgbClr val="333333"/>
                </a:solidFill>
                <a:latin typeface="Roboto Lt"/>
                <a:cs typeface="Roboto Lt"/>
              </a:rPr>
              <a:t>she must </a:t>
            </a:r>
            <a:r>
              <a:rPr sz="1150" spc="-15" dirty="0">
                <a:solidFill>
                  <a:srgbClr val="333333"/>
                </a:solidFill>
                <a:latin typeface="Roboto Lt"/>
                <a:cs typeface="Roboto Lt"/>
              </a:rPr>
              <a:t>trust </a:t>
            </a:r>
            <a:r>
              <a:rPr sz="1150" spc="-10" dirty="0">
                <a:solidFill>
                  <a:srgbClr val="333333"/>
                </a:solidFill>
                <a:latin typeface="Roboto Lt"/>
                <a:cs typeface="Roboto Lt"/>
              </a:rPr>
              <a:t>the </a:t>
            </a:r>
            <a:r>
              <a:rPr sz="1150" spc="-15" dirty="0">
                <a:solidFill>
                  <a:srgbClr val="333333"/>
                </a:solidFill>
                <a:latin typeface="Roboto Lt"/>
                <a:cs typeface="Roboto Lt"/>
              </a:rPr>
              <a:t>team to </a:t>
            </a:r>
            <a:r>
              <a:rPr sz="1150" spc="-10" dirty="0">
                <a:solidFill>
                  <a:srgbClr val="333333"/>
                </a:solidFill>
                <a:latin typeface="Roboto Lt"/>
                <a:cs typeface="Roboto Lt"/>
              </a:rPr>
              <a:t> </a:t>
            </a:r>
            <a:r>
              <a:rPr sz="1150" spc="-15" dirty="0">
                <a:solidFill>
                  <a:srgbClr val="333333"/>
                </a:solidFill>
                <a:latin typeface="Roboto Lt"/>
                <a:cs typeface="Roboto Lt"/>
              </a:rPr>
              <a:t>complete</a:t>
            </a:r>
            <a:r>
              <a:rPr sz="1150" spc="-25" dirty="0">
                <a:solidFill>
                  <a:srgbClr val="333333"/>
                </a:solidFill>
                <a:latin typeface="Roboto Lt"/>
                <a:cs typeface="Roboto Lt"/>
              </a:rPr>
              <a:t> </a:t>
            </a:r>
            <a:r>
              <a:rPr sz="1150" spc="-10" dirty="0">
                <a:solidFill>
                  <a:srgbClr val="333333"/>
                </a:solidFill>
                <a:latin typeface="Roboto Lt"/>
                <a:cs typeface="Roboto Lt"/>
              </a:rPr>
              <a:t>the</a:t>
            </a:r>
            <a:r>
              <a:rPr sz="1150" spc="-20" dirty="0">
                <a:solidFill>
                  <a:srgbClr val="333333"/>
                </a:solidFill>
                <a:latin typeface="Roboto Lt"/>
                <a:cs typeface="Roboto Lt"/>
              </a:rPr>
              <a:t> </a:t>
            </a:r>
            <a:r>
              <a:rPr sz="1150" spc="-5" dirty="0">
                <a:solidFill>
                  <a:srgbClr val="333333"/>
                </a:solidFill>
                <a:latin typeface="Roboto Lt"/>
                <a:cs typeface="Roboto Lt"/>
              </a:rPr>
              <a:t>work.</a:t>
            </a:r>
            <a:endParaRPr sz="1150">
              <a:latin typeface="Roboto Lt"/>
              <a:cs typeface="Roboto Lt"/>
            </a:endParaRPr>
          </a:p>
          <a:p>
            <a:pPr>
              <a:lnSpc>
                <a:spcPct val="100000"/>
              </a:lnSpc>
              <a:spcBef>
                <a:spcPts val="55"/>
              </a:spcBef>
            </a:pPr>
            <a:endParaRPr sz="1200">
              <a:latin typeface="Roboto Lt"/>
              <a:cs typeface="Roboto Lt"/>
            </a:endParaRPr>
          </a:p>
          <a:p>
            <a:pPr marL="266700" marR="440690" indent="-254000">
              <a:lnSpc>
                <a:spcPts val="1900"/>
              </a:lnSpc>
              <a:spcBef>
                <a:spcPts val="5"/>
              </a:spcBef>
              <a:buChar char="–"/>
              <a:tabLst>
                <a:tab pos="266065" algn="l"/>
                <a:tab pos="266700" algn="l"/>
              </a:tabLst>
            </a:pPr>
            <a:r>
              <a:rPr sz="1700" b="1" spc="-160" dirty="0">
                <a:solidFill>
                  <a:srgbClr val="0072EB"/>
                </a:solidFill>
                <a:latin typeface="Arial"/>
                <a:cs typeface="Arial"/>
              </a:rPr>
              <a:t>P</a:t>
            </a:r>
            <a:r>
              <a:rPr sz="1700" b="1" spc="-50" dirty="0">
                <a:solidFill>
                  <a:srgbClr val="0072EB"/>
                </a:solidFill>
                <a:latin typeface="Arial"/>
                <a:cs typeface="Arial"/>
              </a:rPr>
              <a:t>o</a:t>
            </a:r>
            <a:r>
              <a:rPr sz="1700" b="1" spc="20" dirty="0">
                <a:solidFill>
                  <a:srgbClr val="0072EB"/>
                </a:solidFill>
                <a:latin typeface="Arial"/>
                <a:cs typeface="Arial"/>
              </a:rPr>
              <a:t>o</a:t>
            </a:r>
            <a:r>
              <a:rPr sz="1700" b="1" spc="-15" dirty="0">
                <a:solidFill>
                  <a:srgbClr val="0072EB"/>
                </a:solidFill>
                <a:latin typeface="Arial"/>
                <a:cs typeface="Arial"/>
              </a:rPr>
              <a:t>r</a:t>
            </a:r>
            <a:r>
              <a:rPr sz="1700" b="1" dirty="0">
                <a:solidFill>
                  <a:srgbClr val="0072EB"/>
                </a:solidFill>
                <a:latin typeface="Arial"/>
                <a:cs typeface="Arial"/>
              </a:rPr>
              <a:t>l</a:t>
            </a:r>
            <a:r>
              <a:rPr sz="1700" b="1" spc="90" dirty="0">
                <a:solidFill>
                  <a:srgbClr val="0072EB"/>
                </a:solidFill>
                <a:latin typeface="Arial"/>
                <a:cs typeface="Arial"/>
              </a:rPr>
              <a:t>y</a:t>
            </a:r>
            <a:r>
              <a:rPr sz="1700" b="1" spc="-200" dirty="0">
                <a:solidFill>
                  <a:srgbClr val="0072EB"/>
                </a:solidFill>
                <a:latin typeface="Arial"/>
                <a:cs typeface="Arial"/>
              </a:rPr>
              <a:t> </a:t>
            </a:r>
            <a:r>
              <a:rPr sz="1700" b="1" spc="-35" dirty="0">
                <a:solidFill>
                  <a:srgbClr val="0072EB"/>
                </a:solidFill>
                <a:latin typeface="Arial"/>
                <a:cs typeface="Arial"/>
              </a:rPr>
              <a:t>d</a:t>
            </a:r>
            <a:r>
              <a:rPr sz="1700" b="1" spc="30" dirty="0">
                <a:solidFill>
                  <a:srgbClr val="0072EB"/>
                </a:solidFill>
                <a:latin typeface="Arial"/>
                <a:cs typeface="Arial"/>
              </a:rPr>
              <a:t>e</a:t>
            </a:r>
            <a:r>
              <a:rPr sz="1700" b="1" spc="114" dirty="0">
                <a:solidFill>
                  <a:srgbClr val="0072EB"/>
                </a:solidFill>
                <a:latin typeface="Arial"/>
                <a:cs typeface="Arial"/>
              </a:rPr>
              <a:t>f</a:t>
            </a:r>
            <a:r>
              <a:rPr sz="1700" b="1" spc="15" dirty="0">
                <a:solidFill>
                  <a:srgbClr val="0072EB"/>
                </a:solidFill>
                <a:latin typeface="Arial"/>
                <a:cs typeface="Arial"/>
              </a:rPr>
              <a:t>i</a:t>
            </a:r>
            <a:r>
              <a:rPr sz="1700" b="1" spc="10" dirty="0">
                <a:solidFill>
                  <a:srgbClr val="0072EB"/>
                </a:solidFill>
                <a:latin typeface="Arial"/>
                <a:cs typeface="Arial"/>
              </a:rPr>
              <a:t>n</a:t>
            </a:r>
            <a:r>
              <a:rPr sz="1700" b="1" spc="25" dirty="0">
                <a:solidFill>
                  <a:srgbClr val="0072EB"/>
                </a:solidFill>
                <a:latin typeface="Arial"/>
                <a:cs typeface="Arial"/>
              </a:rPr>
              <a:t>e</a:t>
            </a:r>
            <a:r>
              <a:rPr sz="1700" b="1" spc="50" dirty="0">
                <a:solidFill>
                  <a:srgbClr val="0072EB"/>
                </a:solidFill>
                <a:latin typeface="Arial"/>
                <a:cs typeface="Arial"/>
              </a:rPr>
              <a:t>d</a:t>
            </a:r>
            <a:r>
              <a:rPr sz="1700" b="1" spc="-204" dirty="0">
                <a:solidFill>
                  <a:srgbClr val="0072EB"/>
                </a:solidFill>
                <a:latin typeface="Arial"/>
                <a:cs typeface="Arial"/>
              </a:rPr>
              <a:t> </a:t>
            </a:r>
            <a:r>
              <a:rPr sz="1700" b="1" spc="140" dirty="0">
                <a:solidFill>
                  <a:srgbClr val="0072EB"/>
                </a:solidFill>
                <a:latin typeface="Arial"/>
                <a:cs typeface="Arial"/>
              </a:rPr>
              <a:t>t</a:t>
            </a:r>
            <a:r>
              <a:rPr sz="1700" b="1" spc="20" dirty="0">
                <a:solidFill>
                  <a:srgbClr val="0072EB"/>
                </a:solidFill>
                <a:latin typeface="Arial"/>
                <a:cs typeface="Arial"/>
              </a:rPr>
              <a:t>a</a:t>
            </a:r>
            <a:r>
              <a:rPr sz="1700" b="1" spc="-120" dirty="0">
                <a:solidFill>
                  <a:srgbClr val="0072EB"/>
                </a:solidFill>
                <a:latin typeface="Arial"/>
                <a:cs typeface="Arial"/>
              </a:rPr>
              <a:t>s</a:t>
            </a:r>
            <a:r>
              <a:rPr sz="1700" b="1" spc="105" dirty="0">
                <a:solidFill>
                  <a:srgbClr val="0072EB"/>
                </a:solidFill>
                <a:latin typeface="Arial"/>
                <a:cs typeface="Arial"/>
              </a:rPr>
              <a:t>k</a:t>
            </a:r>
            <a:r>
              <a:rPr sz="1700" b="1" spc="-40" dirty="0">
                <a:solidFill>
                  <a:srgbClr val="0072EB"/>
                </a:solidFill>
                <a:latin typeface="Arial"/>
                <a:cs typeface="Arial"/>
              </a:rPr>
              <a:t>s</a:t>
            </a:r>
            <a:r>
              <a:rPr sz="1700" b="1" spc="-204" dirty="0">
                <a:solidFill>
                  <a:srgbClr val="0072EB"/>
                </a:solidFill>
                <a:latin typeface="Arial"/>
                <a:cs typeface="Arial"/>
              </a:rPr>
              <a:t> </a:t>
            </a:r>
            <a:r>
              <a:rPr sz="1700" b="1" spc="-114" dirty="0">
                <a:solidFill>
                  <a:srgbClr val="0072EB"/>
                </a:solidFill>
                <a:latin typeface="Arial"/>
                <a:cs typeface="Arial"/>
              </a:rPr>
              <a:t>c</a:t>
            </a:r>
            <a:r>
              <a:rPr sz="1700" b="1" spc="25" dirty="0">
                <a:solidFill>
                  <a:srgbClr val="0072EB"/>
                </a:solidFill>
                <a:latin typeface="Arial"/>
                <a:cs typeface="Arial"/>
              </a:rPr>
              <a:t>a</a:t>
            </a:r>
            <a:r>
              <a:rPr sz="1700" b="1" spc="100" dirty="0">
                <a:solidFill>
                  <a:srgbClr val="0072EB"/>
                </a:solidFill>
                <a:latin typeface="Arial"/>
                <a:cs typeface="Arial"/>
              </a:rPr>
              <a:t>n</a:t>
            </a:r>
            <a:r>
              <a:rPr sz="1700" b="1" spc="-200" dirty="0">
                <a:solidFill>
                  <a:srgbClr val="0072EB"/>
                </a:solidFill>
                <a:latin typeface="Arial"/>
                <a:cs typeface="Arial"/>
              </a:rPr>
              <a:t> </a:t>
            </a:r>
            <a:r>
              <a:rPr sz="1700" b="1" spc="-5" dirty="0">
                <a:solidFill>
                  <a:srgbClr val="0072EB"/>
                </a:solidFill>
                <a:latin typeface="Arial"/>
                <a:cs typeface="Arial"/>
              </a:rPr>
              <a:t>le</a:t>
            </a:r>
            <a:r>
              <a:rPr sz="1700" b="1" spc="30" dirty="0">
                <a:solidFill>
                  <a:srgbClr val="0072EB"/>
                </a:solidFill>
                <a:latin typeface="Arial"/>
                <a:cs typeface="Arial"/>
              </a:rPr>
              <a:t>ad  </a:t>
            </a:r>
            <a:r>
              <a:rPr sz="1700" b="1" spc="125" dirty="0">
                <a:solidFill>
                  <a:srgbClr val="0072EB"/>
                </a:solidFill>
                <a:latin typeface="Arial"/>
                <a:cs typeface="Arial"/>
              </a:rPr>
              <a:t>t</a:t>
            </a:r>
            <a:r>
              <a:rPr sz="1700" b="1" spc="40" dirty="0">
                <a:solidFill>
                  <a:srgbClr val="0072EB"/>
                </a:solidFill>
                <a:latin typeface="Arial"/>
                <a:cs typeface="Arial"/>
              </a:rPr>
              <a:t>o</a:t>
            </a:r>
            <a:r>
              <a:rPr sz="1700" b="1" spc="-204" dirty="0">
                <a:solidFill>
                  <a:srgbClr val="0072EB"/>
                </a:solidFill>
                <a:latin typeface="Arial"/>
                <a:cs typeface="Arial"/>
              </a:rPr>
              <a:t> </a:t>
            </a:r>
            <a:r>
              <a:rPr sz="1700" b="1" spc="-5" dirty="0">
                <a:solidFill>
                  <a:srgbClr val="0072EB"/>
                </a:solidFill>
                <a:latin typeface="Arial"/>
                <a:cs typeface="Arial"/>
              </a:rPr>
              <a:t>i</a:t>
            </a:r>
            <a:r>
              <a:rPr sz="1700" b="1" spc="5" dirty="0">
                <a:solidFill>
                  <a:srgbClr val="0072EB"/>
                </a:solidFill>
                <a:latin typeface="Arial"/>
                <a:cs typeface="Arial"/>
              </a:rPr>
              <a:t>n</a:t>
            </a:r>
            <a:r>
              <a:rPr sz="1700" b="1" spc="-50" dirty="0">
                <a:solidFill>
                  <a:srgbClr val="0072EB"/>
                </a:solidFill>
                <a:latin typeface="Arial"/>
                <a:cs typeface="Arial"/>
              </a:rPr>
              <a:t>ac</a:t>
            </a:r>
            <a:r>
              <a:rPr sz="1700" b="1" spc="-114" dirty="0">
                <a:solidFill>
                  <a:srgbClr val="0072EB"/>
                </a:solidFill>
                <a:latin typeface="Arial"/>
                <a:cs typeface="Arial"/>
              </a:rPr>
              <a:t>c</a:t>
            </a:r>
            <a:r>
              <a:rPr sz="1700" b="1" spc="15" dirty="0">
                <a:solidFill>
                  <a:srgbClr val="0072EB"/>
                </a:solidFill>
                <a:latin typeface="Arial"/>
                <a:cs typeface="Arial"/>
              </a:rPr>
              <a:t>u</a:t>
            </a:r>
            <a:r>
              <a:rPr sz="1700" b="1" spc="25" dirty="0">
                <a:solidFill>
                  <a:srgbClr val="0072EB"/>
                </a:solidFill>
                <a:latin typeface="Arial"/>
                <a:cs typeface="Arial"/>
              </a:rPr>
              <a:t>r</a:t>
            </a:r>
            <a:r>
              <a:rPr sz="1700" b="1" spc="-50" dirty="0">
                <a:solidFill>
                  <a:srgbClr val="0072EB"/>
                </a:solidFill>
                <a:latin typeface="Arial"/>
                <a:cs typeface="Arial"/>
              </a:rPr>
              <a:t>a</a:t>
            </a:r>
            <a:r>
              <a:rPr sz="1700" b="1" spc="-40" dirty="0">
                <a:solidFill>
                  <a:srgbClr val="0072EB"/>
                </a:solidFill>
                <a:latin typeface="Arial"/>
                <a:cs typeface="Arial"/>
              </a:rPr>
              <a:t>c</a:t>
            </a:r>
            <a:r>
              <a:rPr sz="1700" b="1" spc="-30" dirty="0">
                <a:solidFill>
                  <a:srgbClr val="0072EB"/>
                </a:solidFill>
                <a:latin typeface="Arial"/>
                <a:cs typeface="Arial"/>
              </a:rPr>
              <a:t>i</a:t>
            </a:r>
            <a:r>
              <a:rPr sz="1700" b="1" spc="25" dirty="0">
                <a:solidFill>
                  <a:srgbClr val="0072EB"/>
                </a:solidFill>
                <a:latin typeface="Arial"/>
                <a:cs typeface="Arial"/>
              </a:rPr>
              <a:t>e</a:t>
            </a:r>
            <a:r>
              <a:rPr sz="1700" b="1" spc="-40" dirty="0">
                <a:solidFill>
                  <a:srgbClr val="0072EB"/>
                </a:solidFill>
                <a:latin typeface="Arial"/>
                <a:cs typeface="Arial"/>
              </a:rPr>
              <a:t>s</a:t>
            </a:r>
            <a:endParaRPr sz="1700">
              <a:latin typeface="Arial"/>
              <a:cs typeface="Arial"/>
            </a:endParaRPr>
          </a:p>
          <a:p>
            <a:pPr marL="266065">
              <a:lnSpc>
                <a:spcPct val="100000"/>
              </a:lnSpc>
              <a:spcBef>
                <a:spcPts val="170"/>
              </a:spcBef>
            </a:pPr>
            <a:r>
              <a:rPr sz="1150" spc="-15" dirty="0">
                <a:solidFill>
                  <a:srgbClr val="333333"/>
                </a:solidFill>
                <a:latin typeface="Roboto Lt"/>
                <a:cs typeface="Roboto Lt"/>
              </a:rPr>
              <a:t>Project</a:t>
            </a:r>
            <a:r>
              <a:rPr sz="1150" spc="-25" dirty="0">
                <a:solidFill>
                  <a:srgbClr val="333333"/>
                </a:solidFill>
                <a:latin typeface="Roboto Lt"/>
                <a:cs typeface="Roboto Lt"/>
              </a:rPr>
              <a:t> </a:t>
            </a:r>
            <a:r>
              <a:rPr sz="1150" spc="-10" dirty="0">
                <a:solidFill>
                  <a:srgbClr val="333333"/>
                </a:solidFill>
                <a:latin typeface="Roboto Lt"/>
                <a:cs typeface="Roboto Lt"/>
              </a:rPr>
              <a:t>costs</a:t>
            </a:r>
            <a:r>
              <a:rPr sz="1150" spc="-25" dirty="0">
                <a:solidFill>
                  <a:srgbClr val="333333"/>
                </a:solidFill>
                <a:latin typeface="Roboto Lt"/>
                <a:cs typeface="Roboto Lt"/>
              </a:rPr>
              <a:t> </a:t>
            </a:r>
            <a:r>
              <a:rPr sz="1150" spc="-10" dirty="0">
                <a:solidFill>
                  <a:srgbClr val="333333"/>
                </a:solidFill>
                <a:latin typeface="Roboto Lt"/>
                <a:cs typeface="Roboto Lt"/>
              </a:rPr>
              <a:t>and</a:t>
            </a:r>
            <a:r>
              <a:rPr sz="1150" spc="-25" dirty="0">
                <a:solidFill>
                  <a:srgbClr val="333333"/>
                </a:solidFill>
                <a:latin typeface="Roboto Lt"/>
                <a:cs typeface="Roboto Lt"/>
              </a:rPr>
              <a:t> </a:t>
            </a:r>
            <a:r>
              <a:rPr sz="1150" spc="-15" dirty="0">
                <a:solidFill>
                  <a:srgbClr val="333333"/>
                </a:solidFill>
                <a:latin typeface="Roboto Lt"/>
                <a:cs typeface="Roboto Lt"/>
              </a:rPr>
              <a:t>timelines</a:t>
            </a:r>
            <a:r>
              <a:rPr sz="1150" spc="-20" dirty="0">
                <a:solidFill>
                  <a:srgbClr val="333333"/>
                </a:solidFill>
                <a:latin typeface="Roboto Lt"/>
                <a:cs typeface="Roboto Lt"/>
              </a:rPr>
              <a:t> </a:t>
            </a:r>
            <a:r>
              <a:rPr sz="1150" spc="-25" dirty="0">
                <a:solidFill>
                  <a:srgbClr val="333333"/>
                </a:solidFill>
                <a:latin typeface="Roboto Lt"/>
                <a:cs typeface="Roboto Lt"/>
              </a:rPr>
              <a:t>won’t </a:t>
            </a:r>
            <a:r>
              <a:rPr sz="1150" dirty="0">
                <a:solidFill>
                  <a:srgbClr val="333333"/>
                </a:solidFill>
                <a:latin typeface="Roboto Lt"/>
                <a:cs typeface="Roboto Lt"/>
              </a:rPr>
              <a:t>be</a:t>
            </a:r>
            <a:r>
              <a:rPr sz="1150" spc="-25" dirty="0">
                <a:solidFill>
                  <a:srgbClr val="333333"/>
                </a:solidFill>
                <a:latin typeface="Roboto Lt"/>
                <a:cs typeface="Roboto Lt"/>
              </a:rPr>
              <a:t> </a:t>
            </a:r>
            <a:r>
              <a:rPr sz="1150" spc="-15" dirty="0">
                <a:solidFill>
                  <a:srgbClr val="333333"/>
                </a:solidFill>
                <a:latin typeface="Roboto Lt"/>
                <a:cs typeface="Roboto Lt"/>
              </a:rPr>
              <a:t>accurate</a:t>
            </a:r>
            <a:r>
              <a:rPr sz="1150" spc="-25" dirty="0">
                <a:solidFill>
                  <a:srgbClr val="333333"/>
                </a:solidFill>
                <a:latin typeface="Roboto Lt"/>
                <a:cs typeface="Roboto Lt"/>
              </a:rPr>
              <a:t> </a:t>
            </a:r>
            <a:r>
              <a:rPr sz="1150" spc="-5" dirty="0">
                <a:solidFill>
                  <a:srgbClr val="333333"/>
                </a:solidFill>
                <a:latin typeface="Roboto Lt"/>
                <a:cs typeface="Roboto Lt"/>
              </a:rPr>
              <a:t>if</a:t>
            </a:r>
            <a:r>
              <a:rPr sz="1150" spc="-20" dirty="0">
                <a:solidFill>
                  <a:srgbClr val="333333"/>
                </a:solidFill>
                <a:latin typeface="Roboto Lt"/>
                <a:cs typeface="Roboto Lt"/>
              </a:rPr>
              <a:t> </a:t>
            </a:r>
            <a:r>
              <a:rPr sz="1150" spc="-15" dirty="0">
                <a:solidFill>
                  <a:srgbClr val="333333"/>
                </a:solidFill>
                <a:latin typeface="Roboto Lt"/>
                <a:cs typeface="Roboto Lt"/>
              </a:rPr>
              <a:t>tasks</a:t>
            </a:r>
            <a:endParaRPr sz="1150">
              <a:latin typeface="Roboto Lt"/>
              <a:cs typeface="Roboto Lt"/>
            </a:endParaRPr>
          </a:p>
          <a:p>
            <a:pPr marL="266700" marR="89535">
              <a:lnSpc>
                <a:spcPct val="123200"/>
              </a:lnSpc>
            </a:pPr>
            <a:r>
              <a:rPr sz="1150" spc="-15" dirty="0">
                <a:solidFill>
                  <a:srgbClr val="333333"/>
                </a:solidFill>
                <a:latin typeface="Roboto Lt"/>
                <a:cs typeface="Roboto Lt"/>
              </a:rPr>
              <a:t>are not </a:t>
            </a:r>
            <a:r>
              <a:rPr sz="1150" spc="-20" dirty="0">
                <a:solidFill>
                  <a:srgbClr val="333333"/>
                </a:solidFill>
                <a:latin typeface="Roboto Lt"/>
                <a:cs typeface="Roboto Lt"/>
              </a:rPr>
              <a:t>well </a:t>
            </a:r>
            <a:r>
              <a:rPr sz="1150" spc="-10" dirty="0">
                <a:solidFill>
                  <a:srgbClr val="333333"/>
                </a:solidFill>
                <a:latin typeface="Roboto Lt"/>
                <a:cs typeface="Roboto Lt"/>
              </a:rPr>
              <a:t>defined. If the </a:t>
            </a:r>
            <a:r>
              <a:rPr sz="1150" spc="-20" dirty="0">
                <a:solidFill>
                  <a:srgbClr val="333333"/>
                </a:solidFill>
                <a:latin typeface="Roboto Lt"/>
                <a:cs typeface="Roboto Lt"/>
              </a:rPr>
              <a:t>initial </a:t>
            </a:r>
            <a:r>
              <a:rPr sz="1150" spc="-15" dirty="0">
                <a:solidFill>
                  <a:srgbClr val="333333"/>
                </a:solidFill>
                <a:latin typeface="Roboto Lt"/>
                <a:cs typeface="Roboto Lt"/>
              </a:rPr>
              <a:t>goals are </a:t>
            </a:r>
            <a:r>
              <a:rPr sz="1150" spc="-25" dirty="0">
                <a:solidFill>
                  <a:srgbClr val="333333"/>
                </a:solidFill>
                <a:latin typeface="Roboto Lt"/>
                <a:cs typeface="Roboto Lt"/>
              </a:rPr>
              <a:t>unclear, </a:t>
            </a:r>
            <a:r>
              <a:rPr sz="1150" spc="-20" dirty="0">
                <a:solidFill>
                  <a:srgbClr val="333333"/>
                </a:solidFill>
                <a:latin typeface="Roboto Lt"/>
                <a:cs typeface="Roboto Lt"/>
              </a:rPr>
              <a:t> planning</a:t>
            </a:r>
            <a:r>
              <a:rPr sz="1150" spc="-15" dirty="0">
                <a:solidFill>
                  <a:srgbClr val="333333"/>
                </a:solidFill>
                <a:latin typeface="Roboto Lt"/>
                <a:cs typeface="Roboto Lt"/>
              </a:rPr>
              <a:t> </a:t>
            </a:r>
            <a:r>
              <a:rPr sz="1150" spc="-5" dirty="0">
                <a:solidFill>
                  <a:srgbClr val="333333"/>
                </a:solidFill>
                <a:latin typeface="Roboto Lt"/>
                <a:cs typeface="Roboto Lt"/>
              </a:rPr>
              <a:t>becomes</a:t>
            </a:r>
            <a:r>
              <a:rPr sz="1150" spc="-15" dirty="0">
                <a:solidFill>
                  <a:srgbClr val="333333"/>
                </a:solidFill>
                <a:latin typeface="Roboto Lt"/>
                <a:cs typeface="Roboto Lt"/>
              </a:rPr>
              <a:t> </a:t>
            </a:r>
            <a:r>
              <a:rPr sz="1150" spc="-10" dirty="0">
                <a:solidFill>
                  <a:srgbClr val="333333"/>
                </a:solidFill>
                <a:latin typeface="Roboto Lt"/>
                <a:cs typeface="Roboto Lt"/>
              </a:rPr>
              <a:t>difficult and</a:t>
            </a:r>
            <a:r>
              <a:rPr sz="1150" spc="-15" dirty="0">
                <a:solidFill>
                  <a:srgbClr val="333333"/>
                </a:solidFill>
                <a:latin typeface="Roboto Lt"/>
                <a:cs typeface="Roboto Lt"/>
              </a:rPr>
              <a:t> </a:t>
            </a:r>
            <a:r>
              <a:rPr sz="1150" spc="-20" dirty="0">
                <a:solidFill>
                  <a:srgbClr val="333333"/>
                </a:solidFill>
                <a:latin typeface="Roboto Lt"/>
                <a:cs typeface="Roboto Lt"/>
              </a:rPr>
              <a:t>sprints</a:t>
            </a:r>
            <a:r>
              <a:rPr sz="1150" spc="-10" dirty="0">
                <a:solidFill>
                  <a:srgbClr val="333333"/>
                </a:solidFill>
                <a:latin typeface="Roboto Lt"/>
                <a:cs typeface="Roboto Lt"/>
              </a:rPr>
              <a:t> can</a:t>
            </a:r>
            <a:r>
              <a:rPr sz="1150" spc="-15" dirty="0">
                <a:solidFill>
                  <a:srgbClr val="333333"/>
                </a:solidFill>
                <a:latin typeface="Roboto Lt"/>
                <a:cs typeface="Roboto Lt"/>
              </a:rPr>
              <a:t> </a:t>
            </a:r>
            <a:r>
              <a:rPr sz="1150" spc="-20" dirty="0">
                <a:solidFill>
                  <a:srgbClr val="333333"/>
                </a:solidFill>
                <a:latin typeface="Roboto Lt"/>
                <a:cs typeface="Roboto Lt"/>
              </a:rPr>
              <a:t>take</a:t>
            </a:r>
            <a:r>
              <a:rPr sz="1150" spc="-10" dirty="0">
                <a:solidFill>
                  <a:srgbClr val="333333"/>
                </a:solidFill>
                <a:latin typeface="Roboto Lt"/>
                <a:cs typeface="Roboto Lt"/>
              </a:rPr>
              <a:t> </a:t>
            </a:r>
            <a:r>
              <a:rPr sz="1150" spc="-5" dirty="0">
                <a:solidFill>
                  <a:srgbClr val="333333"/>
                </a:solidFill>
                <a:latin typeface="Roboto Lt"/>
                <a:cs typeface="Roboto Lt"/>
              </a:rPr>
              <a:t>more </a:t>
            </a:r>
            <a:r>
              <a:rPr sz="1150" spc="-265" dirty="0">
                <a:solidFill>
                  <a:srgbClr val="333333"/>
                </a:solidFill>
                <a:latin typeface="Roboto Lt"/>
                <a:cs typeface="Roboto Lt"/>
              </a:rPr>
              <a:t> </a:t>
            </a:r>
            <a:r>
              <a:rPr sz="1150" spc="-10" dirty="0">
                <a:solidFill>
                  <a:srgbClr val="333333"/>
                </a:solidFill>
                <a:latin typeface="Roboto Lt"/>
                <a:cs typeface="Roboto Lt"/>
              </a:rPr>
              <a:t>time</a:t>
            </a:r>
            <a:r>
              <a:rPr sz="1150" spc="-25" dirty="0">
                <a:solidFill>
                  <a:srgbClr val="333333"/>
                </a:solidFill>
                <a:latin typeface="Roboto Lt"/>
                <a:cs typeface="Roboto Lt"/>
              </a:rPr>
              <a:t> </a:t>
            </a:r>
            <a:r>
              <a:rPr sz="1150" spc="-15" dirty="0">
                <a:solidFill>
                  <a:srgbClr val="333333"/>
                </a:solidFill>
                <a:latin typeface="Roboto Lt"/>
                <a:cs typeface="Roboto Lt"/>
              </a:rPr>
              <a:t>than</a:t>
            </a:r>
            <a:r>
              <a:rPr sz="1150" spc="-20" dirty="0">
                <a:solidFill>
                  <a:srgbClr val="333333"/>
                </a:solidFill>
                <a:latin typeface="Roboto Lt"/>
                <a:cs typeface="Roboto Lt"/>
              </a:rPr>
              <a:t> originally </a:t>
            </a:r>
            <a:r>
              <a:rPr sz="1150" spc="-15" dirty="0">
                <a:solidFill>
                  <a:srgbClr val="333333"/>
                </a:solidFill>
                <a:latin typeface="Roboto Lt"/>
                <a:cs typeface="Roboto Lt"/>
              </a:rPr>
              <a:t>estimated.</a:t>
            </a:r>
            <a:endParaRPr sz="1150">
              <a:latin typeface="Roboto Lt"/>
              <a:cs typeface="Roboto Lt"/>
            </a:endParaRPr>
          </a:p>
        </p:txBody>
      </p:sp>
    </p:spTree>
    <p:extLst>
      <p:ext uri="{BB962C8B-B14F-4D97-AF65-F5344CB8AC3E}">
        <p14:creationId xmlns:p14="http://schemas.microsoft.com/office/powerpoint/2010/main" val="32000486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52481-A05B-C1B9-3952-7F212D3D958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690019B-BF63-9DD5-4428-EA94A808B825}"/>
              </a:ext>
            </a:extLst>
          </p:cNvPr>
          <p:cNvSpPr/>
          <p:nvPr/>
        </p:nvSpPr>
        <p:spPr>
          <a:xfrm>
            <a:off x="0" y="0"/>
            <a:ext cx="3168650" cy="5943600"/>
          </a:xfrm>
          <a:custGeom>
            <a:avLst/>
            <a:gdLst/>
            <a:ahLst/>
            <a:cxnLst/>
            <a:rect l="l" t="t" r="r" b="b"/>
            <a:pathLst>
              <a:path w="5029200" h="5943600">
                <a:moveTo>
                  <a:pt x="5029200" y="0"/>
                </a:moveTo>
                <a:lnTo>
                  <a:pt x="0" y="0"/>
                </a:lnTo>
                <a:lnTo>
                  <a:pt x="0" y="5943600"/>
                </a:lnTo>
                <a:lnTo>
                  <a:pt x="5029200" y="5943600"/>
                </a:lnTo>
                <a:lnTo>
                  <a:pt x="5029200" y="0"/>
                </a:lnTo>
                <a:close/>
              </a:path>
            </a:pathLst>
          </a:custGeom>
          <a:solidFill>
            <a:schemeClr val="accent2">
              <a:lumMod val="75000"/>
            </a:schemeClr>
          </a:solidFill>
        </p:spPr>
        <p:txBody>
          <a:bodyPr wrap="square" lIns="0" tIns="0" rIns="0" bIns="0" rtlCol="0"/>
          <a:lstStyle/>
          <a:p>
            <a:endParaRPr/>
          </a:p>
        </p:txBody>
      </p:sp>
      <p:sp>
        <p:nvSpPr>
          <p:cNvPr id="3" name="object 3">
            <a:extLst>
              <a:ext uri="{FF2B5EF4-FFF2-40B4-BE49-F238E27FC236}">
                <a16:creationId xmlns:a16="http://schemas.microsoft.com/office/drawing/2014/main" id="{E51475D5-6423-EA86-20D8-8FB313DCE3BB}"/>
              </a:ext>
            </a:extLst>
          </p:cNvPr>
          <p:cNvSpPr txBox="1">
            <a:spLocks noGrp="1"/>
          </p:cNvSpPr>
          <p:nvPr>
            <p:ph type="title"/>
          </p:nvPr>
        </p:nvSpPr>
        <p:spPr>
          <a:xfrm>
            <a:off x="526368" y="510301"/>
            <a:ext cx="2521632" cy="1313180"/>
          </a:xfrm>
          <a:prstGeom prst="rect">
            <a:avLst/>
          </a:prstGeom>
        </p:spPr>
        <p:txBody>
          <a:bodyPr vert="horz" wrap="square" lIns="0" tIns="106680" rIns="0" bIns="0" rtlCol="0">
            <a:spAutoFit/>
          </a:bodyPr>
          <a:lstStyle/>
          <a:p>
            <a:pPr marL="12700" marR="5080">
              <a:lnSpc>
                <a:spcPts val="4700"/>
              </a:lnSpc>
              <a:spcBef>
                <a:spcPts val="840"/>
              </a:spcBef>
            </a:pPr>
            <a:r>
              <a:rPr lang="en-US" spc="-80" dirty="0"/>
              <a:t>Lets discuss</a:t>
            </a:r>
            <a:endParaRPr spc="240" dirty="0"/>
          </a:p>
        </p:txBody>
      </p:sp>
      <p:sp>
        <p:nvSpPr>
          <p:cNvPr id="7" name="object 7">
            <a:extLst>
              <a:ext uri="{FF2B5EF4-FFF2-40B4-BE49-F238E27FC236}">
                <a16:creationId xmlns:a16="http://schemas.microsoft.com/office/drawing/2014/main" id="{DD3B0C38-AE12-4ACD-9D77-1D33738A6051}"/>
              </a:ext>
            </a:extLst>
          </p:cNvPr>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31</a:t>
            </a:r>
            <a:endParaRPr spc="35" dirty="0"/>
          </a:p>
        </p:txBody>
      </p:sp>
      <p:sp>
        <p:nvSpPr>
          <p:cNvPr id="8" name="object 8">
            <a:extLst>
              <a:ext uri="{FF2B5EF4-FFF2-40B4-BE49-F238E27FC236}">
                <a16:creationId xmlns:a16="http://schemas.microsoft.com/office/drawing/2014/main" id="{80B831D9-0EF8-842C-B468-75C956FFB61D}"/>
              </a:ext>
            </a:extLst>
          </p:cNvPr>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Agile Methodology</a:t>
            </a:r>
            <a:endParaRPr dirty="0"/>
          </a:p>
        </p:txBody>
      </p:sp>
      <p:sp>
        <p:nvSpPr>
          <p:cNvPr id="4" name="object 4">
            <a:extLst>
              <a:ext uri="{FF2B5EF4-FFF2-40B4-BE49-F238E27FC236}">
                <a16:creationId xmlns:a16="http://schemas.microsoft.com/office/drawing/2014/main" id="{62033BB4-E8C2-88FE-B3DA-6EE0AF5280BB}"/>
              </a:ext>
            </a:extLst>
          </p:cNvPr>
          <p:cNvSpPr txBox="1"/>
          <p:nvPr/>
        </p:nvSpPr>
        <p:spPr>
          <a:xfrm>
            <a:off x="526368" y="1973979"/>
            <a:ext cx="2197465" cy="1749710"/>
          </a:xfrm>
          <a:prstGeom prst="rect">
            <a:avLst/>
          </a:prstGeom>
        </p:spPr>
        <p:txBody>
          <a:bodyPr vert="horz" wrap="square" lIns="0" tIns="7620" rIns="0" bIns="0" rtlCol="0">
            <a:spAutoFit/>
          </a:bodyPr>
          <a:lstStyle/>
          <a:p>
            <a:pPr marL="12700" marR="5080">
              <a:lnSpc>
                <a:spcPct val="102099"/>
              </a:lnSpc>
              <a:spcBef>
                <a:spcPts val="60"/>
              </a:spcBef>
            </a:pPr>
            <a:r>
              <a:rPr lang="en-US" sz="1600" dirty="0">
                <a:solidFill>
                  <a:schemeClr val="bg1"/>
                </a:solidFill>
                <a:latin typeface="Arial"/>
                <a:cs typeface="Arial"/>
              </a:rPr>
              <a:t>Should the Scrum Master have the authority to remove a team member if they are consistently disrupting the Scrum process?</a:t>
            </a:r>
          </a:p>
        </p:txBody>
      </p:sp>
      <p:sp>
        <p:nvSpPr>
          <p:cNvPr id="5" name="object 5">
            <a:extLst>
              <a:ext uri="{FF2B5EF4-FFF2-40B4-BE49-F238E27FC236}">
                <a16:creationId xmlns:a16="http://schemas.microsoft.com/office/drawing/2014/main" id="{8C8CD8E7-428D-765C-5573-BCFCBC09D4D1}"/>
              </a:ext>
            </a:extLst>
          </p:cNvPr>
          <p:cNvSpPr txBox="1"/>
          <p:nvPr/>
        </p:nvSpPr>
        <p:spPr>
          <a:xfrm>
            <a:off x="3392106" y="594386"/>
            <a:ext cx="5240169" cy="4716356"/>
          </a:xfrm>
          <a:prstGeom prst="rect">
            <a:avLst/>
          </a:prstGeom>
        </p:spPr>
        <p:txBody>
          <a:bodyPr vert="horz" wrap="square" lIns="0" tIns="12700" rIns="0" bIns="0" rtlCol="0">
            <a:spAutoFit/>
          </a:bodyPr>
          <a:lstStyle/>
          <a:p>
            <a:pPr marL="298450" marR="5080" indent="-285750">
              <a:lnSpc>
                <a:spcPct val="121800"/>
              </a:lnSpc>
              <a:spcBef>
                <a:spcPts val="100"/>
              </a:spcBef>
              <a:buFont typeface="Arial" panose="020B0604020202020204" pitchFamily="34" charset="0"/>
              <a:buChar char="•"/>
            </a:pPr>
            <a:r>
              <a:rPr lang="en-US" sz="1300" dirty="0">
                <a:latin typeface="Roboto Lt"/>
                <a:cs typeface="Roboto Lt"/>
              </a:rPr>
              <a:t>The Scrum Master is a servant-leader and facilitator, but their authority over the team is deliberately limited.</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Scrum Framework Perspective:</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The Scrum Master is not a traditional manager; they are responsible for facilitating the process, removing impediments, and coaching the team. Removing a team member is not within their direct authority.</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Collaborative Approach:</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A disruptive team member should be addressed through coaching, conflict resolution, and encouraging self-organization within the team.</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The Scrum Master should work with stakeholders or line managers (who have the authority) to discuss potential removal if coaching fails.</a:t>
            </a:r>
          </a:p>
          <a:p>
            <a:pPr marL="298450" marR="5080" indent="-285750">
              <a:lnSpc>
                <a:spcPct val="121800"/>
              </a:lnSpc>
              <a:spcBef>
                <a:spcPts val="100"/>
              </a:spcBef>
              <a:buFont typeface="Arial" panose="020B0604020202020204" pitchFamily="34" charset="0"/>
              <a:buChar char="•"/>
            </a:pPr>
            <a:r>
              <a:rPr lang="en-US" sz="1300" b="1" dirty="0">
                <a:latin typeface="Roboto Lt"/>
                <a:cs typeface="Roboto Lt"/>
              </a:rPr>
              <a:t>When Removal is Necessary:</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In extreme cases where disruption jeopardizes the team's ability to deliver, the Scrum Master must escalate the issue to appropriate management, emphasizing the impact on team performance and sprint goals.</a:t>
            </a:r>
            <a:endParaRPr sz="1300" dirty="0">
              <a:latin typeface="Roboto Lt"/>
              <a:cs typeface="Roboto Lt"/>
            </a:endParaRPr>
          </a:p>
        </p:txBody>
      </p:sp>
    </p:spTree>
    <p:extLst>
      <p:ext uri="{BB962C8B-B14F-4D97-AF65-F5344CB8AC3E}">
        <p14:creationId xmlns:p14="http://schemas.microsoft.com/office/powerpoint/2010/main" val="3086573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5029200" cy="5943600"/>
          </a:xfrm>
          <a:custGeom>
            <a:avLst/>
            <a:gdLst/>
            <a:ahLst/>
            <a:cxnLst/>
            <a:rect l="l" t="t" r="r" b="b"/>
            <a:pathLst>
              <a:path w="5029200" h="5943600">
                <a:moveTo>
                  <a:pt x="5029200" y="0"/>
                </a:moveTo>
                <a:lnTo>
                  <a:pt x="0" y="0"/>
                </a:lnTo>
                <a:lnTo>
                  <a:pt x="0" y="5943600"/>
                </a:lnTo>
                <a:lnTo>
                  <a:pt x="5029200" y="5943600"/>
                </a:lnTo>
                <a:lnTo>
                  <a:pt x="5029200" y="0"/>
                </a:lnTo>
                <a:close/>
              </a:path>
            </a:pathLst>
          </a:custGeom>
          <a:solidFill>
            <a:srgbClr val="4F0093"/>
          </a:solidFill>
        </p:spPr>
        <p:txBody>
          <a:bodyPr wrap="square" lIns="0" tIns="0" rIns="0" bIns="0" rtlCol="0"/>
          <a:lstStyle/>
          <a:p>
            <a:endParaRPr/>
          </a:p>
        </p:txBody>
      </p:sp>
      <p:sp>
        <p:nvSpPr>
          <p:cNvPr id="3" name="object 3"/>
          <p:cNvSpPr txBox="1">
            <a:spLocks noGrp="1"/>
          </p:cNvSpPr>
          <p:nvPr>
            <p:ph type="title"/>
          </p:nvPr>
        </p:nvSpPr>
        <p:spPr>
          <a:xfrm>
            <a:off x="526368" y="510301"/>
            <a:ext cx="3601720" cy="1308100"/>
          </a:xfrm>
          <a:prstGeom prst="rect">
            <a:avLst/>
          </a:prstGeom>
        </p:spPr>
        <p:txBody>
          <a:bodyPr vert="horz" wrap="square" lIns="0" tIns="106680" rIns="0" bIns="0" rtlCol="0">
            <a:spAutoFit/>
          </a:bodyPr>
          <a:lstStyle/>
          <a:p>
            <a:pPr marL="12700" marR="5080">
              <a:lnSpc>
                <a:spcPts val="4700"/>
              </a:lnSpc>
              <a:spcBef>
                <a:spcPts val="840"/>
              </a:spcBef>
            </a:pPr>
            <a:r>
              <a:rPr spc="-80" dirty="0"/>
              <a:t>Kanban </a:t>
            </a:r>
            <a:r>
              <a:rPr spc="-75" dirty="0"/>
              <a:t> </a:t>
            </a:r>
            <a:r>
              <a:rPr spc="340" dirty="0"/>
              <a:t>M</a:t>
            </a:r>
            <a:r>
              <a:rPr spc="15" dirty="0"/>
              <a:t>e</a:t>
            </a:r>
            <a:r>
              <a:rPr spc="355" dirty="0"/>
              <a:t>t</a:t>
            </a:r>
            <a:r>
              <a:rPr spc="-10" dirty="0"/>
              <a:t>h</a:t>
            </a:r>
            <a:r>
              <a:rPr spc="-150" dirty="0"/>
              <a:t>o</a:t>
            </a:r>
            <a:r>
              <a:rPr spc="-125" dirty="0"/>
              <a:t>d</a:t>
            </a:r>
            <a:r>
              <a:rPr spc="-140" dirty="0"/>
              <a:t>ol</a:t>
            </a:r>
            <a:r>
              <a:rPr spc="-125" dirty="0"/>
              <a:t>o</a:t>
            </a:r>
            <a:r>
              <a:rPr spc="-140" dirty="0"/>
              <a:t>g</a:t>
            </a:r>
            <a:r>
              <a:rPr spc="240" dirty="0"/>
              <a:t>y</a:t>
            </a:r>
          </a:p>
        </p:txBody>
      </p:sp>
      <p:sp>
        <p:nvSpPr>
          <p:cNvPr id="7" name="object 7"/>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32</a:t>
            </a:r>
            <a:endParaRPr spc="35" dirty="0"/>
          </a:p>
        </p:txBody>
      </p:sp>
      <p:sp>
        <p:nvSpPr>
          <p:cNvPr id="8" name="object 8"/>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Agile Methodology</a:t>
            </a:r>
            <a:endParaRPr dirty="0"/>
          </a:p>
        </p:txBody>
      </p:sp>
      <p:sp>
        <p:nvSpPr>
          <p:cNvPr id="4" name="object 4"/>
          <p:cNvSpPr txBox="1"/>
          <p:nvPr/>
        </p:nvSpPr>
        <p:spPr>
          <a:xfrm>
            <a:off x="526368" y="1953021"/>
            <a:ext cx="3562985" cy="2758440"/>
          </a:xfrm>
          <a:prstGeom prst="rect">
            <a:avLst/>
          </a:prstGeom>
        </p:spPr>
        <p:txBody>
          <a:bodyPr vert="horz" wrap="square" lIns="0" tIns="7620" rIns="0" bIns="0" rtlCol="0">
            <a:spAutoFit/>
          </a:bodyPr>
          <a:lstStyle/>
          <a:p>
            <a:pPr marL="12700" marR="5080">
              <a:lnSpc>
                <a:spcPct val="102099"/>
              </a:lnSpc>
              <a:spcBef>
                <a:spcPts val="60"/>
              </a:spcBef>
            </a:pPr>
            <a:r>
              <a:rPr sz="1600" b="1" spc="-35" dirty="0">
                <a:solidFill>
                  <a:srgbClr val="FFFFFF"/>
                </a:solidFill>
                <a:latin typeface="Arial"/>
                <a:cs typeface="Arial"/>
              </a:rPr>
              <a:t>Kanb</a:t>
            </a:r>
            <a:r>
              <a:rPr sz="1600" b="1" spc="15" dirty="0">
                <a:solidFill>
                  <a:srgbClr val="FFFFFF"/>
                </a:solidFill>
                <a:latin typeface="Arial"/>
                <a:cs typeface="Arial"/>
              </a:rPr>
              <a:t>a</a:t>
            </a:r>
            <a:r>
              <a:rPr sz="1600" b="1" spc="105" dirty="0">
                <a:solidFill>
                  <a:srgbClr val="FFFFFF"/>
                </a:solidFill>
                <a:latin typeface="Arial"/>
                <a:cs typeface="Arial"/>
              </a:rPr>
              <a:t>n</a:t>
            </a:r>
            <a:r>
              <a:rPr sz="1600" b="1" spc="-190" dirty="0">
                <a:solidFill>
                  <a:srgbClr val="FFFFFF"/>
                </a:solidFill>
                <a:latin typeface="Arial"/>
                <a:cs typeface="Arial"/>
              </a:rPr>
              <a:t> </a:t>
            </a:r>
            <a:r>
              <a:rPr sz="1600" b="1" spc="-10" dirty="0">
                <a:solidFill>
                  <a:srgbClr val="FFFFFF"/>
                </a:solidFill>
                <a:latin typeface="Arial"/>
                <a:cs typeface="Arial"/>
              </a:rPr>
              <a:t>i</a:t>
            </a:r>
            <a:r>
              <a:rPr sz="1600" b="1" spc="-40" dirty="0">
                <a:solidFill>
                  <a:srgbClr val="FFFFFF"/>
                </a:solidFill>
                <a:latin typeface="Arial"/>
                <a:cs typeface="Arial"/>
              </a:rPr>
              <a:t>s</a:t>
            </a:r>
            <a:r>
              <a:rPr sz="1600" b="1" spc="-190" dirty="0">
                <a:solidFill>
                  <a:srgbClr val="FFFFFF"/>
                </a:solidFill>
                <a:latin typeface="Arial"/>
                <a:cs typeface="Arial"/>
              </a:rPr>
              <a:t> </a:t>
            </a:r>
            <a:r>
              <a:rPr sz="1600" b="1" spc="-415" dirty="0">
                <a:solidFill>
                  <a:srgbClr val="FFFFFF"/>
                </a:solidFill>
                <a:latin typeface="Arial"/>
                <a:cs typeface="Arial"/>
              </a:rPr>
              <a:t>J</a:t>
            </a:r>
            <a:r>
              <a:rPr sz="1600" b="1" spc="-5" dirty="0">
                <a:solidFill>
                  <a:srgbClr val="FFFFFF"/>
                </a:solidFill>
                <a:latin typeface="Arial"/>
                <a:cs typeface="Arial"/>
              </a:rPr>
              <a:t>ap</a:t>
            </a:r>
            <a:r>
              <a:rPr sz="1600" b="1" spc="15" dirty="0">
                <a:solidFill>
                  <a:srgbClr val="FFFFFF"/>
                </a:solidFill>
                <a:latin typeface="Arial"/>
                <a:cs typeface="Arial"/>
              </a:rPr>
              <a:t>a</a:t>
            </a:r>
            <a:r>
              <a:rPr sz="1600" b="1" spc="20" dirty="0">
                <a:solidFill>
                  <a:srgbClr val="FFFFFF"/>
                </a:solidFill>
                <a:latin typeface="Arial"/>
                <a:cs typeface="Arial"/>
              </a:rPr>
              <a:t>n</a:t>
            </a:r>
            <a:r>
              <a:rPr sz="1600" b="1" spc="10" dirty="0">
                <a:solidFill>
                  <a:srgbClr val="FFFFFF"/>
                </a:solidFill>
                <a:latin typeface="Arial"/>
                <a:cs typeface="Arial"/>
              </a:rPr>
              <a:t>e</a:t>
            </a:r>
            <a:r>
              <a:rPr sz="1600" b="1" spc="-125" dirty="0">
                <a:solidFill>
                  <a:srgbClr val="FFFFFF"/>
                </a:solidFill>
                <a:latin typeface="Arial"/>
                <a:cs typeface="Arial"/>
              </a:rPr>
              <a:t>s</a:t>
            </a:r>
            <a:r>
              <a:rPr sz="1600" b="1" spc="95" dirty="0">
                <a:solidFill>
                  <a:srgbClr val="FFFFFF"/>
                </a:solidFill>
                <a:latin typeface="Arial"/>
                <a:cs typeface="Arial"/>
              </a:rPr>
              <a:t>e</a:t>
            </a:r>
            <a:r>
              <a:rPr sz="1600" b="1" spc="-190" dirty="0">
                <a:solidFill>
                  <a:srgbClr val="FFFFFF"/>
                </a:solidFill>
                <a:latin typeface="Arial"/>
                <a:cs typeface="Arial"/>
              </a:rPr>
              <a:t> </a:t>
            </a:r>
            <a:r>
              <a:rPr sz="1600" b="1" spc="50" dirty="0">
                <a:solidFill>
                  <a:srgbClr val="FFFFFF"/>
                </a:solidFill>
                <a:latin typeface="Arial"/>
                <a:cs typeface="Arial"/>
              </a:rPr>
              <a:t>f</a:t>
            </a:r>
            <a:r>
              <a:rPr sz="1600" b="1" spc="-40" dirty="0">
                <a:solidFill>
                  <a:srgbClr val="FFFFFF"/>
                </a:solidFill>
                <a:latin typeface="Arial"/>
                <a:cs typeface="Arial"/>
              </a:rPr>
              <a:t>o</a:t>
            </a:r>
            <a:r>
              <a:rPr sz="1600" b="1" spc="125" dirty="0">
                <a:solidFill>
                  <a:srgbClr val="FFFFFF"/>
                </a:solidFill>
                <a:latin typeface="Arial"/>
                <a:cs typeface="Arial"/>
              </a:rPr>
              <a:t>r</a:t>
            </a:r>
            <a:r>
              <a:rPr sz="1600" b="1" spc="-190" dirty="0">
                <a:solidFill>
                  <a:srgbClr val="FFFFFF"/>
                </a:solidFill>
                <a:latin typeface="Arial"/>
                <a:cs typeface="Arial"/>
              </a:rPr>
              <a:t> </a:t>
            </a:r>
            <a:r>
              <a:rPr sz="1600" b="1" spc="-50" dirty="0">
                <a:solidFill>
                  <a:srgbClr val="FFFFFF"/>
                </a:solidFill>
                <a:latin typeface="Arial"/>
                <a:cs typeface="Arial"/>
              </a:rPr>
              <a:t>“</a:t>
            </a:r>
            <a:r>
              <a:rPr sz="1600" b="1" spc="15" dirty="0">
                <a:solidFill>
                  <a:srgbClr val="FFFFFF"/>
                </a:solidFill>
                <a:latin typeface="Arial"/>
                <a:cs typeface="Arial"/>
              </a:rPr>
              <a:t>v</a:t>
            </a:r>
            <a:r>
              <a:rPr sz="1600" b="1" spc="-10" dirty="0">
                <a:solidFill>
                  <a:srgbClr val="FFFFFF"/>
                </a:solidFill>
                <a:latin typeface="Arial"/>
                <a:cs typeface="Arial"/>
              </a:rPr>
              <a:t>i</a:t>
            </a:r>
            <a:r>
              <a:rPr sz="1600" b="1" spc="-125" dirty="0">
                <a:solidFill>
                  <a:srgbClr val="FFFFFF"/>
                </a:solidFill>
                <a:latin typeface="Arial"/>
                <a:cs typeface="Arial"/>
              </a:rPr>
              <a:t>s</a:t>
            </a:r>
            <a:r>
              <a:rPr sz="1600" b="1" spc="5" dirty="0">
                <a:solidFill>
                  <a:srgbClr val="FFFFFF"/>
                </a:solidFill>
                <a:latin typeface="Arial"/>
                <a:cs typeface="Arial"/>
              </a:rPr>
              <a:t>u</a:t>
            </a:r>
            <a:r>
              <a:rPr sz="1600" b="1" spc="35" dirty="0">
                <a:solidFill>
                  <a:srgbClr val="FFFFFF"/>
                </a:solidFill>
                <a:latin typeface="Arial"/>
                <a:cs typeface="Arial"/>
              </a:rPr>
              <a:t>a</a:t>
            </a:r>
            <a:r>
              <a:rPr sz="1600" b="1" spc="55" dirty="0">
                <a:solidFill>
                  <a:srgbClr val="FFFFFF"/>
                </a:solidFill>
                <a:latin typeface="Arial"/>
                <a:cs typeface="Arial"/>
              </a:rPr>
              <a:t>l</a:t>
            </a:r>
            <a:r>
              <a:rPr sz="1600" b="1" spc="-190" dirty="0">
                <a:solidFill>
                  <a:srgbClr val="FFFFFF"/>
                </a:solidFill>
                <a:latin typeface="Arial"/>
                <a:cs typeface="Arial"/>
              </a:rPr>
              <a:t> </a:t>
            </a:r>
            <a:r>
              <a:rPr sz="1600" b="1" spc="-55" dirty="0">
                <a:solidFill>
                  <a:srgbClr val="FFFFFF"/>
                </a:solidFill>
                <a:latin typeface="Arial"/>
                <a:cs typeface="Arial"/>
              </a:rPr>
              <a:t>s</a:t>
            </a:r>
            <a:r>
              <a:rPr sz="1600" b="1" spc="-80" dirty="0">
                <a:solidFill>
                  <a:srgbClr val="FFFFFF"/>
                </a:solidFill>
                <a:latin typeface="Arial"/>
                <a:cs typeface="Arial"/>
              </a:rPr>
              <a:t>i</a:t>
            </a:r>
            <a:r>
              <a:rPr sz="1600" b="1" spc="-85" dirty="0">
                <a:solidFill>
                  <a:srgbClr val="FFFFFF"/>
                </a:solidFill>
                <a:latin typeface="Arial"/>
                <a:cs typeface="Arial"/>
              </a:rPr>
              <a:t>g</a:t>
            </a:r>
            <a:r>
              <a:rPr sz="1600" b="1" spc="30" dirty="0">
                <a:solidFill>
                  <a:srgbClr val="FFFFFF"/>
                </a:solidFill>
                <a:latin typeface="Arial"/>
                <a:cs typeface="Arial"/>
              </a:rPr>
              <a:t>n</a:t>
            </a:r>
            <a:r>
              <a:rPr sz="1600" b="1" spc="-5" dirty="0">
                <a:solidFill>
                  <a:srgbClr val="FFFFFF"/>
                </a:solidFill>
                <a:latin typeface="Arial"/>
                <a:cs typeface="Arial"/>
              </a:rPr>
              <a:t>”  </a:t>
            </a:r>
            <a:r>
              <a:rPr sz="1600" b="1" spc="15" dirty="0">
                <a:solidFill>
                  <a:srgbClr val="FFFFFF"/>
                </a:solidFill>
                <a:latin typeface="Arial"/>
                <a:cs typeface="Arial"/>
              </a:rPr>
              <a:t>o</a:t>
            </a:r>
            <a:r>
              <a:rPr sz="1600" b="1" spc="65" dirty="0">
                <a:solidFill>
                  <a:srgbClr val="FFFFFF"/>
                </a:solidFill>
                <a:latin typeface="Arial"/>
                <a:cs typeface="Arial"/>
              </a:rPr>
              <a:t>r</a:t>
            </a:r>
            <a:r>
              <a:rPr sz="1600" b="1" spc="-190" dirty="0">
                <a:solidFill>
                  <a:srgbClr val="FFFFFF"/>
                </a:solidFill>
                <a:latin typeface="Arial"/>
                <a:cs typeface="Arial"/>
              </a:rPr>
              <a:t> </a:t>
            </a:r>
            <a:r>
              <a:rPr sz="1600" b="1" spc="-105" dirty="0">
                <a:solidFill>
                  <a:srgbClr val="FFFFFF"/>
                </a:solidFill>
                <a:latin typeface="Arial"/>
                <a:cs typeface="Arial"/>
              </a:rPr>
              <a:t>“</a:t>
            </a:r>
            <a:r>
              <a:rPr sz="1600" b="1" spc="-110" dirty="0">
                <a:solidFill>
                  <a:srgbClr val="FFFFFF"/>
                </a:solidFill>
                <a:latin typeface="Arial"/>
                <a:cs typeface="Arial"/>
              </a:rPr>
              <a:t>c</a:t>
            </a:r>
            <a:r>
              <a:rPr sz="1600" b="1" spc="25" dirty="0">
                <a:solidFill>
                  <a:srgbClr val="FFFFFF"/>
                </a:solidFill>
                <a:latin typeface="Arial"/>
                <a:cs typeface="Arial"/>
              </a:rPr>
              <a:t>a</a:t>
            </a:r>
            <a:r>
              <a:rPr sz="1600" b="1" spc="45" dirty="0">
                <a:solidFill>
                  <a:srgbClr val="FFFFFF"/>
                </a:solidFill>
                <a:latin typeface="Arial"/>
                <a:cs typeface="Arial"/>
              </a:rPr>
              <a:t>r</a:t>
            </a:r>
            <a:r>
              <a:rPr sz="1600" b="1" spc="-10" dirty="0">
                <a:solidFill>
                  <a:srgbClr val="FFFFFF"/>
                </a:solidFill>
                <a:latin typeface="Arial"/>
                <a:cs typeface="Arial"/>
              </a:rPr>
              <a:t>d</a:t>
            </a:r>
            <a:r>
              <a:rPr sz="1600" b="1" spc="-95" dirty="0">
                <a:solidFill>
                  <a:srgbClr val="FFFFFF"/>
                </a:solidFill>
                <a:latin typeface="Arial"/>
                <a:cs typeface="Arial"/>
              </a:rPr>
              <a:t>.</a:t>
            </a:r>
            <a:r>
              <a:rPr sz="1600" b="1" spc="-5" dirty="0">
                <a:solidFill>
                  <a:srgbClr val="FFFFFF"/>
                </a:solidFill>
                <a:latin typeface="Arial"/>
                <a:cs typeface="Arial"/>
              </a:rPr>
              <a:t>”</a:t>
            </a:r>
            <a:r>
              <a:rPr sz="1600" b="1" spc="-190" dirty="0">
                <a:solidFill>
                  <a:srgbClr val="FFFFFF"/>
                </a:solidFill>
                <a:latin typeface="Arial"/>
                <a:cs typeface="Arial"/>
              </a:rPr>
              <a:t> </a:t>
            </a:r>
            <a:r>
              <a:rPr sz="1600" b="1" spc="30" dirty="0">
                <a:solidFill>
                  <a:srgbClr val="FFFFFF"/>
                </a:solidFill>
                <a:latin typeface="Arial"/>
                <a:cs typeface="Arial"/>
              </a:rPr>
              <a:t>I</a:t>
            </a:r>
            <a:r>
              <a:rPr sz="1600" b="1" spc="200" dirty="0">
                <a:solidFill>
                  <a:srgbClr val="FFFFFF"/>
                </a:solidFill>
                <a:latin typeface="Arial"/>
                <a:cs typeface="Arial"/>
              </a:rPr>
              <a:t>t</a:t>
            </a:r>
            <a:r>
              <a:rPr sz="1600" b="1" spc="-190" dirty="0">
                <a:solidFill>
                  <a:srgbClr val="FFFFFF"/>
                </a:solidFill>
                <a:latin typeface="Arial"/>
                <a:cs typeface="Arial"/>
              </a:rPr>
              <a:t> </a:t>
            </a:r>
            <a:r>
              <a:rPr sz="1600" b="1" spc="-10" dirty="0">
                <a:solidFill>
                  <a:srgbClr val="FFFFFF"/>
                </a:solidFill>
                <a:latin typeface="Arial"/>
                <a:cs typeface="Arial"/>
              </a:rPr>
              <a:t>i</a:t>
            </a:r>
            <a:r>
              <a:rPr sz="1600" b="1" spc="-40" dirty="0">
                <a:solidFill>
                  <a:srgbClr val="FFFFFF"/>
                </a:solidFill>
                <a:latin typeface="Arial"/>
                <a:cs typeface="Arial"/>
              </a:rPr>
              <a:t>s</a:t>
            </a:r>
            <a:r>
              <a:rPr sz="1600" b="1" spc="-190" dirty="0">
                <a:solidFill>
                  <a:srgbClr val="FFFFFF"/>
                </a:solidFill>
                <a:latin typeface="Arial"/>
                <a:cs typeface="Arial"/>
              </a:rPr>
              <a:t> </a:t>
            </a:r>
            <a:r>
              <a:rPr sz="1600" b="1" spc="105" dirty="0">
                <a:solidFill>
                  <a:srgbClr val="FFFFFF"/>
                </a:solidFill>
                <a:latin typeface="Arial"/>
                <a:cs typeface="Arial"/>
              </a:rPr>
              <a:t>a</a:t>
            </a:r>
            <a:r>
              <a:rPr sz="1600" b="1" spc="-190" dirty="0">
                <a:solidFill>
                  <a:srgbClr val="FFFFFF"/>
                </a:solidFill>
                <a:latin typeface="Arial"/>
                <a:cs typeface="Arial"/>
              </a:rPr>
              <a:t> </a:t>
            </a:r>
            <a:r>
              <a:rPr sz="1600" b="1" spc="15" dirty="0">
                <a:solidFill>
                  <a:srgbClr val="FFFFFF"/>
                </a:solidFill>
                <a:latin typeface="Arial"/>
                <a:cs typeface="Arial"/>
              </a:rPr>
              <a:t>v</a:t>
            </a:r>
            <a:r>
              <a:rPr sz="1600" b="1" spc="-10" dirty="0">
                <a:solidFill>
                  <a:srgbClr val="FFFFFF"/>
                </a:solidFill>
                <a:latin typeface="Arial"/>
                <a:cs typeface="Arial"/>
              </a:rPr>
              <a:t>i</a:t>
            </a:r>
            <a:r>
              <a:rPr sz="1600" b="1" spc="-125" dirty="0">
                <a:solidFill>
                  <a:srgbClr val="FFFFFF"/>
                </a:solidFill>
                <a:latin typeface="Arial"/>
                <a:cs typeface="Arial"/>
              </a:rPr>
              <a:t>s</a:t>
            </a:r>
            <a:r>
              <a:rPr sz="1600" b="1" spc="5" dirty="0">
                <a:solidFill>
                  <a:srgbClr val="FFFFFF"/>
                </a:solidFill>
                <a:latin typeface="Arial"/>
                <a:cs typeface="Arial"/>
              </a:rPr>
              <a:t>u</a:t>
            </a:r>
            <a:r>
              <a:rPr sz="1600" b="1" spc="25" dirty="0">
                <a:solidFill>
                  <a:srgbClr val="FFFFFF"/>
                </a:solidFill>
                <a:latin typeface="Arial"/>
                <a:cs typeface="Arial"/>
              </a:rPr>
              <a:t>a</a:t>
            </a:r>
            <a:r>
              <a:rPr sz="1600" b="1" spc="70" dirty="0">
                <a:solidFill>
                  <a:srgbClr val="FFFFFF"/>
                </a:solidFill>
                <a:latin typeface="Arial"/>
                <a:cs typeface="Arial"/>
              </a:rPr>
              <a:t>l</a:t>
            </a:r>
            <a:r>
              <a:rPr sz="1600" b="1" spc="-190" dirty="0">
                <a:solidFill>
                  <a:srgbClr val="FFFFFF"/>
                </a:solidFill>
                <a:latin typeface="Arial"/>
                <a:cs typeface="Arial"/>
              </a:rPr>
              <a:t> </a:t>
            </a:r>
            <a:r>
              <a:rPr sz="1600" b="1" spc="50" dirty="0">
                <a:solidFill>
                  <a:srgbClr val="FFFFFF"/>
                </a:solidFill>
                <a:latin typeface="Arial"/>
                <a:cs typeface="Arial"/>
              </a:rPr>
              <a:t>f</a:t>
            </a:r>
            <a:r>
              <a:rPr sz="1600" b="1" spc="25" dirty="0">
                <a:solidFill>
                  <a:srgbClr val="FFFFFF"/>
                </a:solidFill>
                <a:latin typeface="Arial"/>
                <a:cs typeface="Arial"/>
              </a:rPr>
              <a:t>ra</a:t>
            </a:r>
            <a:r>
              <a:rPr sz="1600" b="1" spc="90" dirty="0">
                <a:solidFill>
                  <a:srgbClr val="FFFFFF"/>
                </a:solidFill>
                <a:latin typeface="Arial"/>
                <a:cs typeface="Arial"/>
              </a:rPr>
              <a:t>m</a:t>
            </a:r>
            <a:r>
              <a:rPr sz="1600" b="1" dirty="0">
                <a:solidFill>
                  <a:srgbClr val="FFFFFF"/>
                </a:solidFill>
                <a:latin typeface="Arial"/>
                <a:cs typeface="Arial"/>
              </a:rPr>
              <a:t>e</a:t>
            </a:r>
            <a:r>
              <a:rPr sz="1600" b="1" spc="105" dirty="0">
                <a:solidFill>
                  <a:srgbClr val="FFFFFF"/>
                </a:solidFill>
                <a:latin typeface="Arial"/>
                <a:cs typeface="Arial"/>
              </a:rPr>
              <a:t>w</a:t>
            </a:r>
            <a:r>
              <a:rPr sz="1600" b="1" spc="15" dirty="0">
                <a:solidFill>
                  <a:srgbClr val="FFFFFF"/>
                </a:solidFill>
                <a:latin typeface="Arial"/>
                <a:cs typeface="Arial"/>
              </a:rPr>
              <a:t>o</a:t>
            </a:r>
            <a:r>
              <a:rPr sz="1600" b="1" spc="-15" dirty="0">
                <a:solidFill>
                  <a:srgbClr val="FFFFFF"/>
                </a:solidFill>
                <a:latin typeface="Arial"/>
                <a:cs typeface="Arial"/>
              </a:rPr>
              <a:t>r</a:t>
            </a:r>
            <a:r>
              <a:rPr sz="1600" b="1" spc="105" dirty="0">
                <a:solidFill>
                  <a:srgbClr val="FFFFFF"/>
                </a:solidFill>
                <a:latin typeface="Arial"/>
                <a:cs typeface="Arial"/>
              </a:rPr>
              <a:t>k  </a:t>
            </a:r>
            <a:r>
              <a:rPr sz="1600" b="1" spc="-50" dirty="0">
                <a:solidFill>
                  <a:srgbClr val="FFFFFF"/>
                </a:solidFill>
                <a:latin typeface="Arial"/>
                <a:cs typeface="Arial"/>
              </a:rPr>
              <a:t>u</a:t>
            </a:r>
            <a:r>
              <a:rPr sz="1600" b="1" spc="-60" dirty="0">
                <a:solidFill>
                  <a:srgbClr val="FFFFFF"/>
                </a:solidFill>
                <a:latin typeface="Arial"/>
                <a:cs typeface="Arial"/>
              </a:rPr>
              <a:t>s</a:t>
            </a:r>
            <a:r>
              <a:rPr sz="1600" b="1" spc="20" dirty="0">
                <a:solidFill>
                  <a:srgbClr val="FFFFFF"/>
                </a:solidFill>
                <a:latin typeface="Arial"/>
                <a:cs typeface="Arial"/>
              </a:rPr>
              <a:t>e</a:t>
            </a:r>
            <a:r>
              <a:rPr sz="1600" b="1" spc="50" dirty="0">
                <a:solidFill>
                  <a:srgbClr val="FFFFFF"/>
                </a:solidFill>
                <a:latin typeface="Arial"/>
                <a:cs typeface="Arial"/>
              </a:rPr>
              <a:t>d</a:t>
            </a:r>
            <a:r>
              <a:rPr sz="1600" b="1" spc="-190" dirty="0">
                <a:solidFill>
                  <a:srgbClr val="FFFFFF"/>
                </a:solidFill>
                <a:latin typeface="Arial"/>
                <a:cs typeface="Arial"/>
              </a:rPr>
              <a:t> </a:t>
            </a:r>
            <a:r>
              <a:rPr sz="1600" b="1" spc="5" dirty="0">
                <a:solidFill>
                  <a:srgbClr val="FFFFFF"/>
                </a:solidFill>
                <a:latin typeface="Arial"/>
                <a:cs typeface="Arial"/>
              </a:rPr>
              <a:t>t</a:t>
            </a:r>
            <a:r>
              <a:rPr sz="1600" b="1" spc="155" dirty="0">
                <a:solidFill>
                  <a:srgbClr val="FFFFFF"/>
                </a:solidFill>
                <a:latin typeface="Arial"/>
                <a:cs typeface="Arial"/>
              </a:rPr>
              <a:t>o</a:t>
            </a:r>
            <a:r>
              <a:rPr sz="1600" b="1" spc="-190" dirty="0">
                <a:solidFill>
                  <a:srgbClr val="FFFFFF"/>
                </a:solidFill>
                <a:latin typeface="Arial"/>
                <a:cs typeface="Arial"/>
              </a:rPr>
              <a:t> </a:t>
            </a:r>
            <a:r>
              <a:rPr sz="1600" b="1" spc="-5" dirty="0">
                <a:solidFill>
                  <a:srgbClr val="FFFFFF"/>
                </a:solidFill>
                <a:latin typeface="Arial"/>
                <a:cs typeface="Arial"/>
              </a:rPr>
              <a:t>i</a:t>
            </a:r>
            <a:r>
              <a:rPr sz="1600" b="1" spc="95" dirty="0">
                <a:solidFill>
                  <a:srgbClr val="FFFFFF"/>
                </a:solidFill>
                <a:latin typeface="Arial"/>
                <a:cs typeface="Arial"/>
              </a:rPr>
              <a:t>m</a:t>
            </a:r>
            <a:r>
              <a:rPr sz="1600" b="1" spc="-25" dirty="0">
                <a:solidFill>
                  <a:srgbClr val="FFFFFF"/>
                </a:solidFill>
                <a:latin typeface="Arial"/>
                <a:cs typeface="Arial"/>
              </a:rPr>
              <a:t>p</a:t>
            </a:r>
            <a:r>
              <a:rPr sz="1600" b="1" spc="-30" dirty="0">
                <a:solidFill>
                  <a:srgbClr val="FFFFFF"/>
                </a:solidFill>
                <a:latin typeface="Arial"/>
                <a:cs typeface="Arial"/>
              </a:rPr>
              <a:t>l</a:t>
            </a:r>
            <a:r>
              <a:rPr sz="1600" b="1" spc="35" dirty="0">
                <a:solidFill>
                  <a:srgbClr val="FFFFFF"/>
                </a:solidFill>
                <a:latin typeface="Arial"/>
                <a:cs typeface="Arial"/>
              </a:rPr>
              <a:t>e</a:t>
            </a:r>
            <a:r>
              <a:rPr sz="1600" b="1" spc="90" dirty="0">
                <a:solidFill>
                  <a:srgbClr val="FFFFFF"/>
                </a:solidFill>
                <a:latin typeface="Arial"/>
                <a:cs typeface="Arial"/>
              </a:rPr>
              <a:t>m</a:t>
            </a:r>
            <a:r>
              <a:rPr sz="1600" b="1" spc="20" dirty="0">
                <a:solidFill>
                  <a:srgbClr val="FFFFFF"/>
                </a:solidFill>
                <a:latin typeface="Arial"/>
                <a:cs typeface="Arial"/>
              </a:rPr>
              <a:t>e</a:t>
            </a:r>
            <a:r>
              <a:rPr sz="1600" b="1" dirty="0">
                <a:solidFill>
                  <a:srgbClr val="FFFFFF"/>
                </a:solidFill>
                <a:latin typeface="Arial"/>
                <a:cs typeface="Arial"/>
              </a:rPr>
              <a:t>n</a:t>
            </a:r>
            <a:r>
              <a:rPr sz="1600" b="1" spc="200" dirty="0">
                <a:solidFill>
                  <a:srgbClr val="FFFFFF"/>
                </a:solidFill>
                <a:latin typeface="Arial"/>
                <a:cs typeface="Arial"/>
              </a:rPr>
              <a:t>t</a:t>
            </a:r>
            <a:r>
              <a:rPr sz="1600" b="1" spc="-190" dirty="0">
                <a:solidFill>
                  <a:srgbClr val="FFFFFF"/>
                </a:solidFill>
                <a:latin typeface="Arial"/>
                <a:cs typeface="Arial"/>
              </a:rPr>
              <a:t> </a:t>
            </a:r>
            <a:r>
              <a:rPr sz="1600" b="1" spc="-40" dirty="0">
                <a:solidFill>
                  <a:srgbClr val="FFFFFF"/>
                </a:solidFill>
                <a:latin typeface="Arial"/>
                <a:cs typeface="Arial"/>
              </a:rPr>
              <a:t>A</a:t>
            </a:r>
            <a:r>
              <a:rPr sz="1600" b="1" spc="-90" dirty="0">
                <a:solidFill>
                  <a:srgbClr val="FFFFFF"/>
                </a:solidFill>
                <a:latin typeface="Arial"/>
                <a:cs typeface="Arial"/>
              </a:rPr>
              <a:t>g</a:t>
            </a:r>
            <a:r>
              <a:rPr sz="1600" b="1" spc="-5" dirty="0">
                <a:solidFill>
                  <a:srgbClr val="FFFFFF"/>
                </a:solidFill>
                <a:latin typeface="Arial"/>
                <a:cs typeface="Arial"/>
              </a:rPr>
              <a:t>i</a:t>
            </a:r>
            <a:r>
              <a:rPr sz="1600" b="1" spc="-30" dirty="0">
                <a:solidFill>
                  <a:srgbClr val="FFFFFF"/>
                </a:solidFill>
                <a:latin typeface="Arial"/>
                <a:cs typeface="Arial"/>
              </a:rPr>
              <a:t>l</a:t>
            </a:r>
            <a:r>
              <a:rPr sz="1600" b="1" spc="110" dirty="0">
                <a:solidFill>
                  <a:srgbClr val="FFFFFF"/>
                </a:solidFill>
                <a:latin typeface="Arial"/>
                <a:cs typeface="Arial"/>
              </a:rPr>
              <a:t>e</a:t>
            </a:r>
            <a:r>
              <a:rPr sz="1600" b="1" spc="-190" dirty="0">
                <a:solidFill>
                  <a:srgbClr val="FFFFFF"/>
                </a:solidFill>
                <a:latin typeface="Arial"/>
                <a:cs typeface="Arial"/>
              </a:rPr>
              <a:t> </a:t>
            </a:r>
            <a:r>
              <a:rPr sz="1600" b="1" spc="25" dirty="0">
                <a:solidFill>
                  <a:srgbClr val="FFFFFF"/>
                </a:solidFill>
                <a:latin typeface="Arial"/>
                <a:cs typeface="Arial"/>
              </a:rPr>
              <a:t>a</a:t>
            </a:r>
            <a:r>
              <a:rPr sz="1600" b="1" spc="10" dirty="0">
                <a:solidFill>
                  <a:srgbClr val="FFFFFF"/>
                </a:solidFill>
                <a:latin typeface="Arial"/>
                <a:cs typeface="Arial"/>
              </a:rPr>
              <a:t>n</a:t>
            </a:r>
            <a:r>
              <a:rPr sz="1600" b="1" spc="50" dirty="0">
                <a:solidFill>
                  <a:srgbClr val="FFFFFF"/>
                </a:solidFill>
                <a:latin typeface="Arial"/>
                <a:cs typeface="Arial"/>
              </a:rPr>
              <a:t>d</a:t>
            </a:r>
            <a:r>
              <a:rPr sz="1600" b="1" spc="-190" dirty="0">
                <a:solidFill>
                  <a:srgbClr val="FFFFFF"/>
                </a:solidFill>
                <a:latin typeface="Arial"/>
                <a:cs typeface="Arial"/>
              </a:rPr>
              <a:t> </a:t>
            </a:r>
            <a:r>
              <a:rPr sz="1600" b="1" spc="-114" dirty="0">
                <a:solidFill>
                  <a:srgbClr val="FFFFFF"/>
                </a:solidFill>
                <a:latin typeface="Arial"/>
                <a:cs typeface="Arial"/>
              </a:rPr>
              <a:t>s</a:t>
            </a:r>
            <a:r>
              <a:rPr sz="1600" b="1" spc="5" dirty="0">
                <a:solidFill>
                  <a:srgbClr val="FFFFFF"/>
                </a:solidFill>
                <a:latin typeface="Arial"/>
                <a:cs typeface="Arial"/>
              </a:rPr>
              <a:t>h</a:t>
            </a:r>
            <a:r>
              <a:rPr sz="1600" b="1" spc="-65" dirty="0">
                <a:solidFill>
                  <a:srgbClr val="FFFFFF"/>
                </a:solidFill>
                <a:latin typeface="Arial"/>
                <a:cs typeface="Arial"/>
              </a:rPr>
              <a:t>o</a:t>
            </a:r>
            <a:r>
              <a:rPr sz="1600" b="1" spc="110" dirty="0">
                <a:solidFill>
                  <a:srgbClr val="FFFFFF"/>
                </a:solidFill>
                <a:latin typeface="Arial"/>
                <a:cs typeface="Arial"/>
              </a:rPr>
              <a:t>w</a:t>
            </a:r>
            <a:r>
              <a:rPr sz="1600" b="1" spc="-25" dirty="0">
                <a:solidFill>
                  <a:srgbClr val="FFFFFF"/>
                </a:solidFill>
                <a:latin typeface="Arial"/>
                <a:cs typeface="Arial"/>
              </a:rPr>
              <a:t>s  </a:t>
            </a:r>
            <a:r>
              <a:rPr sz="1600" b="1" spc="130" dirty="0">
                <a:solidFill>
                  <a:srgbClr val="FFFFFF"/>
                </a:solidFill>
                <a:latin typeface="Arial"/>
                <a:cs typeface="Arial"/>
              </a:rPr>
              <a:t>w</a:t>
            </a:r>
            <a:r>
              <a:rPr sz="1600" b="1" dirty="0">
                <a:solidFill>
                  <a:srgbClr val="FFFFFF"/>
                </a:solidFill>
                <a:latin typeface="Arial"/>
                <a:cs typeface="Arial"/>
              </a:rPr>
              <a:t>h</a:t>
            </a:r>
            <a:r>
              <a:rPr sz="1600" b="1" spc="15" dirty="0">
                <a:solidFill>
                  <a:srgbClr val="FFFFFF"/>
                </a:solidFill>
                <a:latin typeface="Arial"/>
                <a:cs typeface="Arial"/>
              </a:rPr>
              <a:t>a</a:t>
            </a:r>
            <a:r>
              <a:rPr sz="1600" b="1" spc="200" dirty="0">
                <a:solidFill>
                  <a:srgbClr val="FFFFFF"/>
                </a:solidFill>
                <a:latin typeface="Arial"/>
                <a:cs typeface="Arial"/>
              </a:rPr>
              <a:t>t</a:t>
            </a:r>
            <a:r>
              <a:rPr sz="1600" b="1" spc="-190" dirty="0">
                <a:solidFill>
                  <a:srgbClr val="FFFFFF"/>
                </a:solidFill>
                <a:latin typeface="Arial"/>
                <a:cs typeface="Arial"/>
              </a:rPr>
              <a:t> </a:t>
            </a:r>
            <a:r>
              <a:rPr sz="1600" b="1" spc="5" dirty="0">
                <a:solidFill>
                  <a:srgbClr val="FFFFFF"/>
                </a:solidFill>
                <a:latin typeface="Arial"/>
                <a:cs typeface="Arial"/>
              </a:rPr>
              <a:t>t</a:t>
            </a:r>
            <a:r>
              <a:rPr sz="1600" b="1" spc="155" dirty="0">
                <a:solidFill>
                  <a:srgbClr val="FFFFFF"/>
                </a:solidFill>
                <a:latin typeface="Arial"/>
                <a:cs typeface="Arial"/>
              </a:rPr>
              <a:t>o</a:t>
            </a:r>
            <a:r>
              <a:rPr sz="1600" b="1" spc="-190" dirty="0">
                <a:solidFill>
                  <a:srgbClr val="FFFFFF"/>
                </a:solidFill>
                <a:latin typeface="Arial"/>
                <a:cs typeface="Arial"/>
              </a:rPr>
              <a:t> </a:t>
            </a:r>
            <a:r>
              <a:rPr sz="1600" b="1" spc="-25" dirty="0">
                <a:solidFill>
                  <a:srgbClr val="FFFFFF"/>
                </a:solidFill>
                <a:latin typeface="Arial"/>
                <a:cs typeface="Arial"/>
              </a:rPr>
              <a:t>p</a:t>
            </a:r>
            <a:r>
              <a:rPr sz="1600" b="1" spc="45" dirty="0">
                <a:solidFill>
                  <a:srgbClr val="FFFFFF"/>
                </a:solidFill>
                <a:latin typeface="Arial"/>
                <a:cs typeface="Arial"/>
              </a:rPr>
              <a:t>r</a:t>
            </a:r>
            <a:r>
              <a:rPr sz="1600" b="1" spc="-40" dirty="0">
                <a:solidFill>
                  <a:srgbClr val="FFFFFF"/>
                </a:solidFill>
                <a:latin typeface="Arial"/>
                <a:cs typeface="Arial"/>
              </a:rPr>
              <a:t>o</a:t>
            </a:r>
            <a:r>
              <a:rPr sz="1600" b="1" spc="-30" dirty="0">
                <a:solidFill>
                  <a:srgbClr val="FFFFFF"/>
                </a:solidFill>
                <a:latin typeface="Arial"/>
                <a:cs typeface="Arial"/>
              </a:rPr>
              <a:t>d</a:t>
            </a:r>
            <a:r>
              <a:rPr sz="1600" b="1" spc="10" dirty="0">
                <a:solidFill>
                  <a:srgbClr val="FFFFFF"/>
                </a:solidFill>
                <a:latin typeface="Arial"/>
                <a:cs typeface="Arial"/>
              </a:rPr>
              <a:t>u</a:t>
            </a:r>
            <a:r>
              <a:rPr sz="1600" b="1" spc="-114" dirty="0">
                <a:solidFill>
                  <a:srgbClr val="FFFFFF"/>
                </a:solidFill>
                <a:latin typeface="Arial"/>
                <a:cs typeface="Arial"/>
              </a:rPr>
              <a:t>c</a:t>
            </a:r>
            <a:r>
              <a:rPr sz="1600" b="1" spc="15" dirty="0">
                <a:solidFill>
                  <a:srgbClr val="FFFFFF"/>
                </a:solidFill>
                <a:latin typeface="Arial"/>
                <a:cs typeface="Arial"/>
              </a:rPr>
              <a:t>e</a:t>
            </a:r>
            <a:r>
              <a:rPr sz="1600" b="1" spc="50" dirty="0">
                <a:solidFill>
                  <a:srgbClr val="FFFFFF"/>
                </a:solidFill>
                <a:latin typeface="Arial"/>
                <a:cs typeface="Arial"/>
              </a:rPr>
              <a:t>,</a:t>
            </a:r>
            <a:r>
              <a:rPr sz="1600" b="1" spc="-190" dirty="0">
                <a:solidFill>
                  <a:srgbClr val="FFFFFF"/>
                </a:solidFill>
                <a:latin typeface="Arial"/>
                <a:cs typeface="Arial"/>
              </a:rPr>
              <a:t> </a:t>
            </a:r>
            <a:r>
              <a:rPr sz="1600" b="1" spc="130" dirty="0">
                <a:solidFill>
                  <a:srgbClr val="FFFFFF"/>
                </a:solidFill>
                <a:latin typeface="Arial"/>
                <a:cs typeface="Arial"/>
              </a:rPr>
              <a:t>w</a:t>
            </a:r>
            <a:r>
              <a:rPr sz="1600" b="1" spc="5" dirty="0">
                <a:solidFill>
                  <a:srgbClr val="FFFFFF"/>
                </a:solidFill>
                <a:latin typeface="Arial"/>
                <a:cs typeface="Arial"/>
              </a:rPr>
              <a:t>h</a:t>
            </a:r>
            <a:r>
              <a:rPr sz="1600" b="1" spc="20" dirty="0">
                <a:solidFill>
                  <a:srgbClr val="FFFFFF"/>
                </a:solidFill>
                <a:latin typeface="Arial"/>
                <a:cs typeface="Arial"/>
              </a:rPr>
              <a:t>e</a:t>
            </a:r>
            <a:r>
              <a:rPr sz="1600" b="1" spc="90" dirty="0">
                <a:solidFill>
                  <a:srgbClr val="FFFFFF"/>
                </a:solidFill>
                <a:latin typeface="Arial"/>
                <a:cs typeface="Arial"/>
              </a:rPr>
              <a:t>n</a:t>
            </a:r>
            <a:r>
              <a:rPr sz="1600" b="1" spc="-190" dirty="0">
                <a:solidFill>
                  <a:srgbClr val="FFFFFF"/>
                </a:solidFill>
                <a:latin typeface="Arial"/>
                <a:cs typeface="Arial"/>
              </a:rPr>
              <a:t> </a:t>
            </a:r>
            <a:r>
              <a:rPr sz="1600" b="1" spc="5" dirty="0">
                <a:solidFill>
                  <a:srgbClr val="FFFFFF"/>
                </a:solidFill>
                <a:latin typeface="Arial"/>
                <a:cs typeface="Arial"/>
              </a:rPr>
              <a:t>t</a:t>
            </a:r>
            <a:r>
              <a:rPr sz="1600" b="1" spc="155" dirty="0">
                <a:solidFill>
                  <a:srgbClr val="FFFFFF"/>
                </a:solidFill>
                <a:latin typeface="Arial"/>
                <a:cs typeface="Arial"/>
              </a:rPr>
              <a:t>o</a:t>
            </a:r>
            <a:r>
              <a:rPr sz="1600" b="1" spc="-190" dirty="0">
                <a:solidFill>
                  <a:srgbClr val="FFFFFF"/>
                </a:solidFill>
                <a:latin typeface="Arial"/>
                <a:cs typeface="Arial"/>
              </a:rPr>
              <a:t> </a:t>
            </a:r>
            <a:r>
              <a:rPr sz="1600" b="1" spc="-25" dirty="0">
                <a:solidFill>
                  <a:srgbClr val="FFFFFF"/>
                </a:solidFill>
                <a:latin typeface="Arial"/>
                <a:cs typeface="Arial"/>
              </a:rPr>
              <a:t>p</a:t>
            </a:r>
            <a:r>
              <a:rPr sz="1600" b="1" spc="45" dirty="0">
                <a:solidFill>
                  <a:srgbClr val="FFFFFF"/>
                </a:solidFill>
                <a:latin typeface="Arial"/>
                <a:cs typeface="Arial"/>
              </a:rPr>
              <a:t>r</a:t>
            </a:r>
            <a:r>
              <a:rPr sz="1600" b="1" spc="-40" dirty="0">
                <a:solidFill>
                  <a:srgbClr val="FFFFFF"/>
                </a:solidFill>
                <a:latin typeface="Arial"/>
                <a:cs typeface="Arial"/>
              </a:rPr>
              <a:t>o</a:t>
            </a:r>
            <a:r>
              <a:rPr sz="1600" b="1" spc="-30" dirty="0">
                <a:solidFill>
                  <a:srgbClr val="FFFFFF"/>
                </a:solidFill>
                <a:latin typeface="Arial"/>
                <a:cs typeface="Arial"/>
              </a:rPr>
              <a:t>d</a:t>
            </a:r>
            <a:r>
              <a:rPr sz="1600" b="1" spc="10" dirty="0">
                <a:solidFill>
                  <a:srgbClr val="FFFFFF"/>
                </a:solidFill>
                <a:latin typeface="Arial"/>
                <a:cs typeface="Arial"/>
              </a:rPr>
              <a:t>u</a:t>
            </a:r>
            <a:r>
              <a:rPr sz="1600" b="1" spc="-114" dirty="0">
                <a:solidFill>
                  <a:srgbClr val="FFFFFF"/>
                </a:solidFill>
                <a:latin typeface="Arial"/>
                <a:cs typeface="Arial"/>
              </a:rPr>
              <a:t>c</a:t>
            </a:r>
            <a:r>
              <a:rPr sz="1600" b="1" spc="95" dirty="0">
                <a:solidFill>
                  <a:srgbClr val="FFFFFF"/>
                </a:solidFill>
                <a:latin typeface="Arial"/>
                <a:cs typeface="Arial"/>
              </a:rPr>
              <a:t>e</a:t>
            </a:r>
            <a:r>
              <a:rPr sz="1600" b="1" spc="-190" dirty="0">
                <a:solidFill>
                  <a:srgbClr val="FFFFFF"/>
                </a:solidFill>
                <a:latin typeface="Arial"/>
                <a:cs typeface="Arial"/>
              </a:rPr>
              <a:t> </a:t>
            </a:r>
            <a:r>
              <a:rPr sz="1600" b="1" spc="-15" dirty="0">
                <a:solidFill>
                  <a:srgbClr val="FFFFFF"/>
                </a:solidFill>
                <a:latin typeface="Arial"/>
                <a:cs typeface="Arial"/>
              </a:rPr>
              <a:t>i</a:t>
            </a:r>
            <a:r>
              <a:rPr sz="1600" b="1" spc="155" dirty="0">
                <a:solidFill>
                  <a:srgbClr val="FFFFFF"/>
                </a:solidFill>
                <a:latin typeface="Arial"/>
                <a:cs typeface="Arial"/>
              </a:rPr>
              <a:t>t</a:t>
            </a:r>
            <a:r>
              <a:rPr sz="1600" b="1" spc="50" dirty="0">
                <a:solidFill>
                  <a:srgbClr val="FFFFFF"/>
                </a:solidFill>
                <a:latin typeface="Arial"/>
                <a:cs typeface="Arial"/>
              </a:rPr>
              <a:t>,  </a:t>
            </a:r>
            <a:r>
              <a:rPr sz="1600" b="1" spc="25" dirty="0">
                <a:solidFill>
                  <a:srgbClr val="FFFFFF"/>
                </a:solidFill>
                <a:latin typeface="Arial"/>
                <a:cs typeface="Arial"/>
              </a:rPr>
              <a:t>a</a:t>
            </a:r>
            <a:r>
              <a:rPr sz="1600" b="1" spc="10" dirty="0">
                <a:solidFill>
                  <a:srgbClr val="FFFFFF"/>
                </a:solidFill>
                <a:latin typeface="Arial"/>
                <a:cs typeface="Arial"/>
              </a:rPr>
              <a:t>n</a:t>
            </a:r>
            <a:r>
              <a:rPr sz="1600" b="1" spc="50" dirty="0">
                <a:solidFill>
                  <a:srgbClr val="FFFFFF"/>
                </a:solidFill>
                <a:latin typeface="Arial"/>
                <a:cs typeface="Arial"/>
              </a:rPr>
              <a:t>d</a:t>
            </a:r>
            <a:r>
              <a:rPr sz="1600" b="1" spc="-190" dirty="0">
                <a:solidFill>
                  <a:srgbClr val="FFFFFF"/>
                </a:solidFill>
                <a:latin typeface="Arial"/>
                <a:cs typeface="Arial"/>
              </a:rPr>
              <a:t> </a:t>
            </a:r>
            <a:r>
              <a:rPr sz="1600" b="1" spc="5" dirty="0">
                <a:solidFill>
                  <a:srgbClr val="FFFFFF"/>
                </a:solidFill>
                <a:latin typeface="Arial"/>
                <a:cs typeface="Arial"/>
              </a:rPr>
              <a:t>h</a:t>
            </a:r>
            <a:r>
              <a:rPr sz="1600" b="1" spc="-65" dirty="0">
                <a:solidFill>
                  <a:srgbClr val="FFFFFF"/>
                </a:solidFill>
                <a:latin typeface="Arial"/>
                <a:cs typeface="Arial"/>
              </a:rPr>
              <a:t>o</a:t>
            </a:r>
            <a:r>
              <a:rPr sz="1600" b="1" spc="210" dirty="0">
                <a:solidFill>
                  <a:srgbClr val="FFFFFF"/>
                </a:solidFill>
                <a:latin typeface="Arial"/>
                <a:cs typeface="Arial"/>
              </a:rPr>
              <a:t>w</a:t>
            </a:r>
            <a:r>
              <a:rPr sz="1600" b="1" spc="-190" dirty="0">
                <a:solidFill>
                  <a:srgbClr val="FFFFFF"/>
                </a:solidFill>
                <a:latin typeface="Arial"/>
                <a:cs typeface="Arial"/>
              </a:rPr>
              <a:t> </a:t>
            </a:r>
            <a:r>
              <a:rPr sz="1600" b="1" spc="90" dirty="0">
                <a:solidFill>
                  <a:srgbClr val="FFFFFF"/>
                </a:solidFill>
                <a:latin typeface="Arial"/>
                <a:cs typeface="Arial"/>
              </a:rPr>
              <a:t>m</a:t>
            </a:r>
            <a:r>
              <a:rPr sz="1600" b="1" spc="10" dirty="0">
                <a:solidFill>
                  <a:srgbClr val="FFFFFF"/>
                </a:solidFill>
                <a:latin typeface="Arial"/>
                <a:cs typeface="Arial"/>
              </a:rPr>
              <a:t>u</a:t>
            </a:r>
            <a:r>
              <a:rPr sz="1600" b="1" spc="-105" dirty="0">
                <a:solidFill>
                  <a:srgbClr val="FFFFFF"/>
                </a:solidFill>
                <a:latin typeface="Arial"/>
                <a:cs typeface="Arial"/>
              </a:rPr>
              <a:t>c</a:t>
            </a:r>
            <a:r>
              <a:rPr sz="1600" b="1" spc="90" dirty="0">
                <a:solidFill>
                  <a:srgbClr val="FFFFFF"/>
                </a:solidFill>
                <a:latin typeface="Arial"/>
                <a:cs typeface="Arial"/>
              </a:rPr>
              <a:t>h</a:t>
            </a:r>
            <a:r>
              <a:rPr sz="1600" b="1" spc="-190" dirty="0">
                <a:solidFill>
                  <a:srgbClr val="FFFFFF"/>
                </a:solidFill>
                <a:latin typeface="Arial"/>
                <a:cs typeface="Arial"/>
              </a:rPr>
              <a:t> </a:t>
            </a:r>
            <a:r>
              <a:rPr sz="1600" b="1" spc="5" dirty="0">
                <a:solidFill>
                  <a:srgbClr val="FFFFFF"/>
                </a:solidFill>
                <a:latin typeface="Arial"/>
                <a:cs typeface="Arial"/>
              </a:rPr>
              <a:t>t</a:t>
            </a:r>
            <a:r>
              <a:rPr sz="1600" b="1" spc="155" dirty="0">
                <a:solidFill>
                  <a:srgbClr val="FFFFFF"/>
                </a:solidFill>
                <a:latin typeface="Arial"/>
                <a:cs typeface="Arial"/>
              </a:rPr>
              <a:t>o</a:t>
            </a:r>
            <a:r>
              <a:rPr sz="1600" b="1" spc="-190" dirty="0">
                <a:solidFill>
                  <a:srgbClr val="FFFFFF"/>
                </a:solidFill>
                <a:latin typeface="Arial"/>
                <a:cs typeface="Arial"/>
              </a:rPr>
              <a:t> </a:t>
            </a:r>
            <a:r>
              <a:rPr sz="1600" b="1" spc="-25" dirty="0">
                <a:solidFill>
                  <a:srgbClr val="FFFFFF"/>
                </a:solidFill>
                <a:latin typeface="Arial"/>
                <a:cs typeface="Arial"/>
              </a:rPr>
              <a:t>p</a:t>
            </a:r>
            <a:r>
              <a:rPr sz="1600" b="1" spc="45" dirty="0">
                <a:solidFill>
                  <a:srgbClr val="FFFFFF"/>
                </a:solidFill>
                <a:latin typeface="Arial"/>
                <a:cs typeface="Arial"/>
              </a:rPr>
              <a:t>r</a:t>
            </a:r>
            <a:r>
              <a:rPr sz="1600" b="1" spc="-40" dirty="0">
                <a:solidFill>
                  <a:srgbClr val="FFFFFF"/>
                </a:solidFill>
                <a:latin typeface="Arial"/>
                <a:cs typeface="Arial"/>
              </a:rPr>
              <a:t>o</a:t>
            </a:r>
            <a:r>
              <a:rPr sz="1600" b="1" spc="-30" dirty="0">
                <a:solidFill>
                  <a:srgbClr val="FFFFFF"/>
                </a:solidFill>
                <a:latin typeface="Arial"/>
                <a:cs typeface="Arial"/>
              </a:rPr>
              <a:t>d</a:t>
            </a:r>
            <a:r>
              <a:rPr sz="1600" b="1" spc="10" dirty="0">
                <a:solidFill>
                  <a:srgbClr val="FFFFFF"/>
                </a:solidFill>
                <a:latin typeface="Arial"/>
                <a:cs typeface="Arial"/>
              </a:rPr>
              <a:t>u</a:t>
            </a:r>
            <a:r>
              <a:rPr sz="1600" b="1" spc="-114" dirty="0">
                <a:solidFill>
                  <a:srgbClr val="FFFFFF"/>
                </a:solidFill>
                <a:latin typeface="Arial"/>
                <a:cs typeface="Arial"/>
              </a:rPr>
              <a:t>c</a:t>
            </a:r>
            <a:r>
              <a:rPr sz="1600" b="1" spc="20" dirty="0">
                <a:solidFill>
                  <a:srgbClr val="FFFFFF"/>
                </a:solidFill>
                <a:latin typeface="Arial"/>
                <a:cs typeface="Arial"/>
              </a:rPr>
              <a:t>e</a:t>
            </a:r>
            <a:r>
              <a:rPr sz="1600" b="1" spc="15" dirty="0">
                <a:solidFill>
                  <a:srgbClr val="FFFFFF"/>
                </a:solidFill>
                <a:latin typeface="Arial"/>
                <a:cs typeface="Arial"/>
              </a:rPr>
              <a:t>.</a:t>
            </a:r>
            <a:r>
              <a:rPr sz="1600" b="1" spc="-190" dirty="0">
                <a:solidFill>
                  <a:srgbClr val="FFFFFF"/>
                </a:solidFill>
                <a:latin typeface="Arial"/>
                <a:cs typeface="Arial"/>
              </a:rPr>
              <a:t> </a:t>
            </a:r>
            <a:r>
              <a:rPr sz="1600" b="1" spc="30" dirty="0">
                <a:solidFill>
                  <a:srgbClr val="FFFFFF"/>
                </a:solidFill>
                <a:latin typeface="Arial"/>
                <a:cs typeface="Arial"/>
              </a:rPr>
              <a:t>I</a:t>
            </a:r>
            <a:r>
              <a:rPr sz="1600" b="1" spc="180" dirty="0">
                <a:solidFill>
                  <a:srgbClr val="FFFFFF"/>
                </a:solidFill>
                <a:latin typeface="Arial"/>
                <a:cs typeface="Arial"/>
              </a:rPr>
              <a:t>t  </a:t>
            </a:r>
            <a:r>
              <a:rPr sz="1600" b="1" spc="20" dirty="0">
                <a:solidFill>
                  <a:srgbClr val="FFFFFF"/>
                </a:solidFill>
                <a:latin typeface="Arial"/>
                <a:cs typeface="Arial"/>
              </a:rPr>
              <a:t>e</a:t>
            </a:r>
            <a:r>
              <a:rPr sz="1600" b="1" spc="-45" dirty="0">
                <a:solidFill>
                  <a:srgbClr val="FFFFFF"/>
                </a:solidFill>
                <a:latin typeface="Arial"/>
                <a:cs typeface="Arial"/>
              </a:rPr>
              <a:t>n</a:t>
            </a:r>
            <a:r>
              <a:rPr sz="1600" b="1" spc="-55" dirty="0">
                <a:solidFill>
                  <a:srgbClr val="FFFFFF"/>
                </a:solidFill>
                <a:latin typeface="Arial"/>
                <a:cs typeface="Arial"/>
              </a:rPr>
              <a:t>c</a:t>
            </a:r>
            <a:r>
              <a:rPr sz="1600" b="1" spc="-45" dirty="0">
                <a:solidFill>
                  <a:srgbClr val="FFFFFF"/>
                </a:solidFill>
                <a:latin typeface="Arial"/>
                <a:cs typeface="Arial"/>
              </a:rPr>
              <a:t>o</a:t>
            </a:r>
            <a:r>
              <a:rPr sz="1600" b="1" spc="10" dirty="0">
                <a:solidFill>
                  <a:srgbClr val="FFFFFF"/>
                </a:solidFill>
                <a:latin typeface="Arial"/>
                <a:cs typeface="Arial"/>
              </a:rPr>
              <a:t>u</a:t>
            </a:r>
            <a:r>
              <a:rPr sz="1600" b="1" spc="25" dirty="0">
                <a:solidFill>
                  <a:srgbClr val="FFFFFF"/>
                </a:solidFill>
                <a:latin typeface="Arial"/>
                <a:cs typeface="Arial"/>
              </a:rPr>
              <a:t>r</a:t>
            </a:r>
            <a:r>
              <a:rPr sz="1600" b="1" spc="15" dirty="0">
                <a:solidFill>
                  <a:srgbClr val="FFFFFF"/>
                </a:solidFill>
                <a:latin typeface="Arial"/>
                <a:cs typeface="Arial"/>
              </a:rPr>
              <a:t>a</a:t>
            </a:r>
            <a:r>
              <a:rPr sz="1600" b="1" spc="-105" dirty="0">
                <a:solidFill>
                  <a:srgbClr val="FFFFFF"/>
                </a:solidFill>
                <a:latin typeface="Arial"/>
                <a:cs typeface="Arial"/>
              </a:rPr>
              <a:t>g</a:t>
            </a:r>
            <a:r>
              <a:rPr sz="1600" b="1" spc="10" dirty="0">
                <a:solidFill>
                  <a:srgbClr val="FFFFFF"/>
                </a:solidFill>
                <a:latin typeface="Arial"/>
                <a:cs typeface="Arial"/>
              </a:rPr>
              <a:t>e</a:t>
            </a:r>
            <a:r>
              <a:rPr sz="1600" b="1" spc="-40" dirty="0">
                <a:solidFill>
                  <a:srgbClr val="FFFFFF"/>
                </a:solidFill>
                <a:latin typeface="Arial"/>
                <a:cs typeface="Arial"/>
              </a:rPr>
              <a:t>s</a:t>
            </a:r>
            <a:r>
              <a:rPr sz="1600" b="1" spc="-190" dirty="0">
                <a:solidFill>
                  <a:srgbClr val="FFFFFF"/>
                </a:solidFill>
                <a:latin typeface="Arial"/>
                <a:cs typeface="Arial"/>
              </a:rPr>
              <a:t> </a:t>
            </a:r>
            <a:r>
              <a:rPr sz="1600" b="1" spc="-114" dirty="0">
                <a:solidFill>
                  <a:srgbClr val="FFFFFF"/>
                </a:solidFill>
                <a:latin typeface="Arial"/>
                <a:cs typeface="Arial"/>
              </a:rPr>
              <a:t>s</a:t>
            </a:r>
            <a:r>
              <a:rPr sz="1600" b="1" spc="90" dirty="0">
                <a:solidFill>
                  <a:srgbClr val="FFFFFF"/>
                </a:solidFill>
                <a:latin typeface="Arial"/>
                <a:cs typeface="Arial"/>
              </a:rPr>
              <a:t>m</a:t>
            </a:r>
            <a:r>
              <a:rPr sz="1600" b="1" spc="25" dirty="0">
                <a:solidFill>
                  <a:srgbClr val="FFFFFF"/>
                </a:solidFill>
                <a:latin typeface="Arial"/>
                <a:cs typeface="Arial"/>
              </a:rPr>
              <a:t>a</a:t>
            </a:r>
            <a:r>
              <a:rPr sz="1600" b="1" spc="-10" dirty="0">
                <a:solidFill>
                  <a:srgbClr val="FFFFFF"/>
                </a:solidFill>
                <a:latin typeface="Arial"/>
                <a:cs typeface="Arial"/>
              </a:rPr>
              <a:t>l</a:t>
            </a:r>
            <a:r>
              <a:rPr sz="1600" b="1" spc="-5" dirty="0">
                <a:solidFill>
                  <a:srgbClr val="FFFFFF"/>
                </a:solidFill>
                <a:latin typeface="Arial"/>
                <a:cs typeface="Arial"/>
              </a:rPr>
              <a:t>l</a:t>
            </a:r>
            <a:r>
              <a:rPr sz="1600" b="1" spc="50" dirty="0">
                <a:solidFill>
                  <a:srgbClr val="FFFFFF"/>
                </a:solidFill>
                <a:latin typeface="Arial"/>
                <a:cs typeface="Arial"/>
              </a:rPr>
              <a:t>,</a:t>
            </a:r>
            <a:r>
              <a:rPr sz="1600" b="1" spc="-190" dirty="0">
                <a:solidFill>
                  <a:srgbClr val="FFFFFF"/>
                </a:solidFill>
                <a:latin typeface="Arial"/>
                <a:cs typeface="Arial"/>
              </a:rPr>
              <a:t> </a:t>
            </a:r>
            <a:r>
              <a:rPr sz="1600" b="1" spc="-5" dirty="0">
                <a:solidFill>
                  <a:srgbClr val="FFFFFF"/>
                </a:solidFill>
                <a:latin typeface="Arial"/>
                <a:cs typeface="Arial"/>
              </a:rPr>
              <a:t>i</a:t>
            </a:r>
            <a:r>
              <a:rPr sz="1600" b="1" spc="-45" dirty="0">
                <a:solidFill>
                  <a:srgbClr val="FFFFFF"/>
                </a:solidFill>
                <a:latin typeface="Arial"/>
                <a:cs typeface="Arial"/>
              </a:rPr>
              <a:t>nc</a:t>
            </a:r>
            <a:r>
              <a:rPr sz="1600" b="1" spc="45" dirty="0">
                <a:solidFill>
                  <a:srgbClr val="FFFFFF"/>
                </a:solidFill>
                <a:latin typeface="Arial"/>
                <a:cs typeface="Arial"/>
              </a:rPr>
              <a:t>r</a:t>
            </a:r>
            <a:r>
              <a:rPr sz="1600" b="1" spc="20" dirty="0">
                <a:solidFill>
                  <a:srgbClr val="FFFFFF"/>
                </a:solidFill>
                <a:latin typeface="Arial"/>
                <a:cs typeface="Arial"/>
              </a:rPr>
              <a:t>e</a:t>
            </a:r>
            <a:r>
              <a:rPr sz="1600" b="1" spc="90" dirty="0">
                <a:solidFill>
                  <a:srgbClr val="FFFFFF"/>
                </a:solidFill>
                <a:latin typeface="Arial"/>
                <a:cs typeface="Arial"/>
              </a:rPr>
              <a:t>m</a:t>
            </a:r>
            <a:r>
              <a:rPr sz="1600" b="1" spc="20" dirty="0">
                <a:solidFill>
                  <a:srgbClr val="FFFFFF"/>
                </a:solidFill>
                <a:latin typeface="Arial"/>
                <a:cs typeface="Arial"/>
              </a:rPr>
              <a:t>e</a:t>
            </a:r>
            <a:r>
              <a:rPr sz="1600" b="1" dirty="0">
                <a:solidFill>
                  <a:srgbClr val="FFFFFF"/>
                </a:solidFill>
                <a:latin typeface="Arial"/>
                <a:cs typeface="Arial"/>
              </a:rPr>
              <a:t>n</a:t>
            </a:r>
            <a:r>
              <a:rPr sz="1600" b="1" spc="130" dirty="0">
                <a:solidFill>
                  <a:srgbClr val="FFFFFF"/>
                </a:solidFill>
                <a:latin typeface="Arial"/>
                <a:cs typeface="Arial"/>
              </a:rPr>
              <a:t>t</a:t>
            </a:r>
            <a:r>
              <a:rPr sz="1600" b="1" spc="25" dirty="0">
                <a:solidFill>
                  <a:srgbClr val="FFFFFF"/>
                </a:solidFill>
                <a:latin typeface="Arial"/>
                <a:cs typeface="Arial"/>
              </a:rPr>
              <a:t>a</a:t>
            </a:r>
            <a:r>
              <a:rPr sz="1600" b="1" spc="70" dirty="0">
                <a:solidFill>
                  <a:srgbClr val="FFFFFF"/>
                </a:solidFill>
                <a:latin typeface="Arial"/>
                <a:cs typeface="Arial"/>
              </a:rPr>
              <a:t>l  </a:t>
            </a:r>
            <a:r>
              <a:rPr sz="1600" b="1" spc="-105" dirty="0">
                <a:solidFill>
                  <a:srgbClr val="FFFFFF"/>
                </a:solidFill>
                <a:latin typeface="Arial"/>
                <a:cs typeface="Arial"/>
              </a:rPr>
              <a:t>c</a:t>
            </a:r>
            <a:r>
              <a:rPr sz="1600" b="1" dirty="0">
                <a:solidFill>
                  <a:srgbClr val="FFFFFF"/>
                </a:solidFill>
                <a:latin typeface="Arial"/>
                <a:cs typeface="Arial"/>
              </a:rPr>
              <a:t>h</a:t>
            </a:r>
            <a:r>
              <a:rPr sz="1600" b="1" spc="25" dirty="0">
                <a:solidFill>
                  <a:srgbClr val="FFFFFF"/>
                </a:solidFill>
                <a:latin typeface="Arial"/>
                <a:cs typeface="Arial"/>
              </a:rPr>
              <a:t>a</a:t>
            </a:r>
            <a:r>
              <a:rPr sz="1600" b="1" dirty="0">
                <a:solidFill>
                  <a:srgbClr val="FFFFFF"/>
                </a:solidFill>
                <a:latin typeface="Arial"/>
                <a:cs typeface="Arial"/>
              </a:rPr>
              <a:t>n</a:t>
            </a:r>
            <a:r>
              <a:rPr sz="1600" b="1" spc="-105" dirty="0">
                <a:solidFill>
                  <a:srgbClr val="FFFFFF"/>
                </a:solidFill>
                <a:latin typeface="Arial"/>
                <a:cs typeface="Arial"/>
              </a:rPr>
              <a:t>g</a:t>
            </a:r>
            <a:r>
              <a:rPr sz="1600" b="1" spc="10" dirty="0">
                <a:solidFill>
                  <a:srgbClr val="FFFFFF"/>
                </a:solidFill>
                <a:latin typeface="Arial"/>
                <a:cs typeface="Arial"/>
              </a:rPr>
              <a:t>e</a:t>
            </a:r>
            <a:r>
              <a:rPr sz="1600" b="1" spc="-40" dirty="0">
                <a:solidFill>
                  <a:srgbClr val="FFFFFF"/>
                </a:solidFill>
                <a:latin typeface="Arial"/>
                <a:cs typeface="Arial"/>
              </a:rPr>
              <a:t>s</a:t>
            </a:r>
            <a:r>
              <a:rPr sz="1600" b="1" spc="-190" dirty="0">
                <a:solidFill>
                  <a:srgbClr val="FFFFFF"/>
                </a:solidFill>
                <a:latin typeface="Arial"/>
                <a:cs typeface="Arial"/>
              </a:rPr>
              <a:t> </a:t>
            </a:r>
            <a:r>
              <a:rPr sz="1600" b="1" spc="5" dirty="0">
                <a:solidFill>
                  <a:srgbClr val="FFFFFF"/>
                </a:solidFill>
                <a:latin typeface="Arial"/>
                <a:cs typeface="Arial"/>
              </a:rPr>
              <a:t>t</a:t>
            </a:r>
            <a:r>
              <a:rPr sz="1600" b="1" spc="155" dirty="0">
                <a:solidFill>
                  <a:srgbClr val="FFFFFF"/>
                </a:solidFill>
                <a:latin typeface="Arial"/>
                <a:cs typeface="Arial"/>
              </a:rPr>
              <a:t>o</a:t>
            </a:r>
            <a:r>
              <a:rPr sz="1600" b="1" spc="-190" dirty="0">
                <a:solidFill>
                  <a:srgbClr val="FFFFFF"/>
                </a:solidFill>
                <a:latin typeface="Arial"/>
                <a:cs typeface="Arial"/>
              </a:rPr>
              <a:t> </a:t>
            </a:r>
            <a:r>
              <a:rPr sz="1600" b="1" spc="-20" dirty="0">
                <a:solidFill>
                  <a:srgbClr val="FFFFFF"/>
                </a:solidFill>
                <a:latin typeface="Arial"/>
                <a:cs typeface="Arial"/>
              </a:rPr>
              <a:t>y</a:t>
            </a:r>
            <a:r>
              <a:rPr sz="1600" b="1" spc="-45" dirty="0">
                <a:solidFill>
                  <a:srgbClr val="FFFFFF"/>
                </a:solidFill>
                <a:latin typeface="Arial"/>
                <a:cs typeface="Arial"/>
              </a:rPr>
              <a:t>o</a:t>
            </a:r>
            <a:r>
              <a:rPr sz="1600" b="1" spc="10" dirty="0">
                <a:solidFill>
                  <a:srgbClr val="FFFFFF"/>
                </a:solidFill>
                <a:latin typeface="Arial"/>
                <a:cs typeface="Arial"/>
              </a:rPr>
              <a:t>u</a:t>
            </a:r>
            <a:r>
              <a:rPr sz="1600" b="1" spc="125" dirty="0">
                <a:solidFill>
                  <a:srgbClr val="FFFFFF"/>
                </a:solidFill>
                <a:latin typeface="Arial"/>
                <a:cs typeface="Arial"/>
              </a:rPr>
              <a:t>r</a:t>
            </a:r>
            <a:r>
              <a:rPr sz="1600" b="1" spc="-190" dirty="0">
                <a:solidFill>
                  <a:srgbClr val="FFFFFF"/>
                </a:solidFill>
                <a:latin typeface="Arial"/>
                <a:cs typeface="Arial"/>
              </a:rPr>
              <a:t> </a:t>
            </a:r>
            <a:r>
              <a:rPr sz="1600" b="1" spc="-110" dirty="0">
                <a:solidFill>
                  <a:srgbClr val="FFFFFF"/>
                </a:solidFill>
                <a:latin typeface="Arial"/>
                <a:cs typeface="Arial"/>
              </a:rPr>
              <a:t>c</a:t>
            </a:r>
            <a:r>
              <a:rPr sz="1600" b="1" spc="10" dirty="0">
                <a:solidFill>
                  <a:srgbClr val="FFFFFF"/>
                </a:solidFill>
                <a:latin typeface="Arial"/>
                <a:cs typeface="Arial"/>
              </a:rPr>
              <a:t>u</a:t>
            </a:r>
            <a:r>
              <a:rPr sz="1600" b="1" spc="45" dirty="0">
                <a:solidFill>
                  <a:srgbClr val="FFFFFF"/>
                </a:solidFill>
                <a:latin typeface="Arial"/>
                <a:cs typeface="Arial"/>
              </a:rPr>
              <a:t>rr</a:t>
            </a:r>
            <a:r>
              <a:rPr sz="1600" b="1" spc="20" dirty="0">
                <a:solidFill>
                  <a:srgbClr val="FFFFFF"/>
                </a:solidFill>
                <a:latin typeface="Arial"/>
                <a:cs typeface="Arial"/>
              </a:rPr>
              <a:t>e</a:t>
            </a:r>
            <a:r>
              <a:rPr sz="1600" b="1" dirty="0">
                <a:solidFill>
                  <a:srgbClr val="FFFFFF"/>
                </a:solidFill>
                <a:latin typeface="Arial"/>
                <a:cs typeface="Arial"/>
              </a:rPr>
              <a:t>n</a:t>
            </a:r>
            <a:r>
              <a:rPr sz="1600" b="1" spc="200" dirty="0">
                <a:solidFill>
                  <a:srgbClr val="FFFFFF"/>
                </a:solidFill>
                <a:latin typeface="Arial"/>
                <a:cs typeface="Arial"/>
              </a:rPr>
              <a:t>t</a:t>
            </a:r>
            <a:r>
              <a:rPr sz="1600" b="1" spc="-190" dirty="0">
                <a:solidFill>
                  <a:srgbClr val="FFFFFF"/>
                </a:solidFill>
                <a:latin typeface="Arial"/>
                <a:cs typeface="Arial"/>
              </a:rPr>
              <a:t> </a:t>
            </a:r>
            <a:r>
              <a:rPr sz="1600" b="1" spc="-100" dirty="0">
                <a:solidFill>
                  <a:srgbClr val="FFFFFF"/>
                </a:solidFill>
                <a:latin typeface="Arial"/>
                <a:cs typeface="Arial"/>
              </a:rPr>
              <a:t>s</a:t>
            </a:r>
            <a:r>
              <a:rPr sz="1600" b="1" spc="-10" dirty="0">
                <a:solidFill>
                  <a:srgbClr val="FFFFFF"/>
                </a:solidFill>
                <a:latin typeface="Arial"/>
                <a:cs typeface="Arial"/>
              </a:rPr>
              <a:t>y</a:t>
            </a:r>
            <a:r>
              <a:rPr sz="1600" b="1" spc="-114" dirty="0">
                <a:solidFill>
                  <a:srgbClr val="FFFFFF"/>
                </a:solidFill>
                <a:latin typeface="Arial"/>
                <a:cs typeface="Arial"/>
              </a:rPr>
              <a:t>s</a:t>
            </a:r>
            <a:r>
              <a:rPr sz="1600" b="1" spc="30" dirty="0">
                <a:solidFill>
                  <a:srgbClr val="FFFFFF"/>
                </a:solidFill>
                <a:latin typeface="Arial"/>
                <a:cs typeface="Arial"/>
              </a:rPr>
              <a:t>t</a:t>
            </a:r>
            <a:r>
              <a:rPr sz="1600" b="1" spc="110" dirty="0">
                <a:solidFill>
                  <a:srgbClr val="FFFFFF"/>
                </a:solidFill>
                <a:latin typeface="Arial"/>
                <a:cs typeface="Arial"/>
              </a:rPr>
              <a:t>e</a:t>
            </a:r>
            <a:r>
              <a:rPr sz="1600" b="1" spc="175" dirty="0">
                <a:solidFill>
                  <a:srgbClr val="FFFFFF"/>
                </a:solidFill>
                <a:latin typeface="Arial"/>
                <a:cs typeface="Arial"/>
              </a:rPr>
              <a:t>m</a:t>
            </a:r>
            <a:r>
              <a:rPr sz="1600" b="1" spc="-190" dirty="0">
                <a:solidFill>
                  <a:srgbClr val="FFFFFF"/>
                </a:solidFill>
                <a:latin typeface="Arial"/>
                <a:cs typeface="Arial"/>
              </a:rPr>
              <a:t> </a:t>
            </a:r>
            <a:r>
              <a:rPr sz="1600" b="1" spc="25" dirty="0">
                <a:solidFill>
                  <a:srgbClr val="FFFFFF"/>
                </a:solidFill>
                <a:latin typeface="Arial"/>
                <a:cs typeface="Arial"/>
              </a:rPr>
              <a:t>a</a:t>
            </a:r>
            <a:r>
              <a:rPr sz="1600" b="1" spc="10" dirty="0">
                <a:solidFill>
                  <a:srgbClr val="FFFFFF"/>
                </a:solidFill>
                <a:latin typeface="Arial"/>
                <a:cs typeface="Arial"/>
              </a:rPr>
              <a:t>n</a:t>
            </a:r>
            <a:r>
              <a:rPr sz="1600" b="1" spc="30" dirty="0">
                <a:solidFill>
                  <a:srgbClr val="FFFFFF"/>
                </a:solidFill>
                <a:latin typeface="Arial"/>
                <a:cs typeface="Arial"/>
              </a:rPr>
              <a:t>d  </a:t>
            </a:r>
            <a:r>
              <a:rPr sz="1600" b="1" spc="-35" dirty="0">
                <a:solidFill>
                  <a:srgbClr val="FFFFFF"/>
                </a:solidFill>
                <a:latin typeface="Arial"/>
                <a:cs typeface="Arial"/>
              </a:rPr>
              <a:t>d</a:t>
            </a:r>
            <a:r>
              <a:rPr sz="1600" b="1" spc="-45" dirty="0">
                <a:solidFill>
                  <a:srgbClr val="FFFFFF"/>
                </a:solidFill>
                <a:latin typeface="Arial"/>
                <a:cs typeface="Arial"/>
              </a:rPr>
              <a:t>o</a:t>
            </a:r>
            <a:r>
              <a:rPr sz="1600" b="1" spc="10" dirty="0">
                <a:solidFill>
                  <a:srgbClr val="FFFFFF"/>
                </a:solidFill>
                <a:latin typeface="Arial"/>
                <a:cs typeface="Arial"/>
              </a:rPr>
              <a:t>e</a:t>
            </a:r>
            <a:r>
              <a:rPr sz="1600" b="1" spc="-40" dirty="0">
                <a:solidFill>
                  <a:srgbClr val="FFFFFF"/>
                </a:solidFill>
                <a:latin typeface="Arial"/>
                <a:cs typeface="Arial"/>
              </a:rPr>
              <a:t>s</a:t>
            </a:r>
            <a:r>
              <a:rPr sz="1600" b="1" spc="-190" dirty="0">
                <a:solidFill>
                  <a:srgbClr val="FFFFFF"/>
                </a:solidFill>
                <a:latin typeface="Arial"/>
                <a:cs typeface="Arial"/>
              </a:rPr>
              <a:t> </a:t>
            </a:r>
            <a:r>
              <a:rPr sz="1600" b="1" spc="5" dirty="0">
                <a:solidFill>
                  <a:srgbClr val="FFFFFF"/>
                </a:solidFill>
                <a:latin typeface="Arial"/>
                <a:cs typeface="Arial"/>
              </a:rPr>
              <a:t>n</a:t>
            </a:r>
            <a:r>
              <a:rPr sz="1600" b="1" spc="-50" dirty="0">
                <a:solidFill>
                  <a:srgbClr val="FFFFFF"/>
                </a:solidFill>
                <a:latin typeface="Arial"/>
                <a:cs typeface="Arial"/>
              </a:rPr>
              <a:t>o</a:t>
            </a:r>
            <a:r>
              <a:rPr sz="1600" b="1" spc="200" dirty="0">
                <a:solidFill>
                  <a:srgbClr val="FFFFFF"/>
                </a:solidFill>
                <a:latin typeface="Arial"/>
                <a:cs typeface="Arial"/>
              </a:rPr>
              <a:t>t</a:t>
            </a:r>
            <a:r>
              <a:rPr sz="1600" b="1" spc="-190" dirty="0">
                <a:solidFill>
                  <a:srgbClr val="FFFFFF"/>
                </a:solidFill>
                <a:latin typeface="Arial"/>
                <a:cs typeface="Arial"/>
              </a:rPr>
              <a:t> </a:t>
            </a:r>
            <a:r>
              <a:rPr sz="1600" b="1" spc="45" dirty="0">
                <a:solidFill>
                  <a:srgbClr val="FFFFFF"/>
                </a:solidFill>
                <a:latin typeface="Arial"/>
                <a:cs typeface="Arial"/>
              </a:rPr>
              <a:t>r</a:t>
            </a:r>
            <a:r>
              <a:rPr sz="1600" b="1" spc="20" dirty="0">
                <a:solidFill>
                  <a:srgbClr val="FFFFFF"/>
                </a:solidFill>
                <a:latin typeface="Arial"/>
                <a:cs typeface="Arial"/>
              </a:rPr>
              <a:t>e</a:t>
            </a:r>
            <a:r>
              <a:rPr sz="1600" b="1" spc="-30" dirty="0">
                <a:solidFill>
                  <a:srgbClr val="FFFFFF"/>
                </a:solidFill>
                <a:latin typeface="Arial"/>
                <a:cs typeface="Arial"/>
              </a:rPr>
              <a:t>q</a:t>
            </a:r>
            <a:r>
              <a:rPr sz="1600" b="1" spc="10" dirty="0">
                <a:solidFill>
                  <a:srgbClr val="FFFFFF"/>
                </a:solidFill>
                <a:latin typeface="Arial"/>
                <a:cs typeface="Arial"/>
              </a:rPr>
              <a:t>u</a:t>
            </a:r>
            <a:r>
              <a:rPr sz="1600" b="1" spc="-5" dirty="0">
                <a:solidFill>
                  <a:srgbClr val="FFFFFF"/>
                </a:solidFill>
                <a:latin typeface="Arial"/>
                <a:cs typeface="Arial"/>
              </a:rPr>
              <a:t>i</a:t>
            </a:r>
            <a:r>
              <a:rPr sz="1600" b="1" spc="45" dirty="0">
                <a:solidFill>
                  <a:srgbClr val="FFFFFF"/>
                </a:solidFill>
                <a:latin typeface="Arial"/>
                <a:cs typeface="Arial"/>
              </a:rPr>
              <a:t>r</a:t>
            </a:r>
            <a:r>
              <a:rPr sz="1600" b="1" spc="95" dirty="0">
                <a:solidFill>
                  <a:srgbClr val="FFFFFF"/>
                </a:solidFill>
                <a:latin typeface="Arial"/>
                <a:cs typeface="Arial"/>
              </a:rPr>
              <a:t>e</a:t>
            </a:r>
            <a:r>
              <a:rPr sz="1600" b="1" spc="-190" dirty="0">
                <a:solidFill>
                  <a:srgbClr val="FFFFFF"/>
                </a:solidFill>
                <a:latin typeface="Arial"/>
                <a:cs typeface="Arial"/>
              </a:rPr>
              <a:t> </a:t>
            </a:r>
            <a:r>
              <a:rPr sz="1600" b="1" spc="105" dirty="0">
                <a:solidFill>
                  <a:srgbClr val="FFFFFF"/>
                </a:solidFill>
                <a:latin typeface="Arial"/>
                <a:cs typeface="Arial"/>
              </a:rPr>
              <a:t>a</a:t>
            </a:r>
            <a:r>
              <a:rPr sz="1600" b="1" spc="-190" dirty="0">
                <a:solidFill>
                  <a:srgbClr val="FFFFFF"/>
                </a:solidFill>
                <a:latin typeface="Arial"/>
                <a:cs typeface="Arial"/>
              </a:rPr>
              <a:t> </a:t>
            </a:r>
            <a:r>
              <a:rPr sz="1600" b="1" spc="-114" dirty="0">
                <a:solidFill>
                  <a:srgbClr val="FFFFFF"/>
                </a:solidFill>
                <a:latin typeface="Arial"/>
                <a:cs typeface="Arial"/>
              </a:rPr>
              <a:t>c</a:t>
            </a:r>
            <a:r>
              <a:rPr sz="1600" b="1" spc="20" dirty="0">
                <a:solidFill>
                  <a:srgbClr val="FFFFFF"/>
                </a:solidFill>
                <a:latin typeface="Arial"/>
                <a:cs typeface="Arial"/>
              </a:rPr>
              <a:t>e</a:t>
            </a:r>
            <a:r>
              <a:rPr sz="1600" b="1" spc="75" dirty="0">
                <a:solidFill>
                  <a:srgbClr val="FFFFFF"/>
                </a:solidFill>
                <a:latin typeface="Arial"/>
                <a:cs typeface="Arial"/>
              </a:rPr>
              <a:t>r</a:t>
            </a:r>
            <a:r>
              <a:rPr sz="1600" b="1" spc="130" dirty="0">
                <a:solidFill>
                  <a:srgbClr val="FFFFFF"/>
                </a:solidFill>
                <a:latin typeface="Arial"/>
                <a:cs typeface="Arial"/>
              </a:rPr>
              <a:t>t</a:t>
            </a:r>
            <a:r>
              <a:rPr sz="1600" b="1" spc="35" dirty="0">
                <a:solidFill>
                  <a:srgbClr val="FFFFFF"/>
                </a:solidFill>
                <a:latin typeface="Arial"/>
                <a:cs typeface="Arial"/>
              </a:rPr>
              <a:t>a</a:t>
            </a:r>
            <a:r>
              <a:rPr sz="1600" b="1" spc="-20" dirty="0">
                <a:solidFill>
                  <a:srgbClr val="FFFFFF"/>
                </a:solidFill>
                <a:latin typeface="Arial"/>
                <a:cs typeface="Arial"/>
              </a:rPr>
              <a:t>i</a:t>
            </a:r>
            <a:r>
              <a:rPr sz="1600" b="1" spc="90" dirty="0">
                <a:solidFill>
                  <a:srgbClr val="FFFFFF"/>
                </a:solidFill>
                <a:latin typeface="Arial"/>
                <a:cs typeface="Arial"/>
              </a:rPr>
              <a:t>n</a:t>
            </a:r>
            <a:r>
              <a:rPr sz="1600" b="1" spc="-190" dirty="0">
                <a:solidFill>
                  <a:srgbClr val="FFFFFF"/>
                </a:solidFill>
                <a:latin typeface="Arial"/>
                <a:cs typeface="Arial"/>
              </a:rPr>
              <a:t> </a:t>
            </a:r>
            <a:r>
              <a:rPr sz="1600" b="1" spc="-125" dirty="0">
                <a:solidFill>
                  <a:srgbClr val="FFFFFF"/>
                </a:solidFill>
                <a:latin typeface="Arial"/>
                <a:cs typeface="Arial"/>
              </a:rPr>
              <a:t>s</a:t>
            </a:r>
            <a:r>
              <a:rPr sz="1600" b="1" spc="15" dirty="0">
                <a:solidFill>
                  <a:srgbClr val="FFFFFF"/>
                </a:solidFill>
                <a:latin typeface="Arial"/>
                <a:cs typeface="Arial"/>
              </a:rPr>
              <a:t>e</a:t>
            </a:r>
            <a:r>
              <a:rPr sz="1600" b="1" spc="200" dirty="0">
                <a:solidFill>
                  <a:srgbClr val="FFFFFF"/>
                </a:solidFill>
                <a:latin typeface="Arial"/>
                <a:cs typeface="Arial"/>
              </a:rPr>
              <a:t>t</a:t>
            </a:r>
            <a:r>
              <a:rPr sz="1600" b="1" spc="-190" dirty="0">
                <a:solidFill>
                  <a:srgbClr val="FFFFFF"/>
                </a:solidFill>
                <a:latin typeface="Arial"/>
                <a:cs typeface="Arial"/>
              </a:rPr>
              <a:t> </a:t>
            </a:r>
            <a:r>
              <a:rPr sz="1600" b="1" spc="10" dirty="0">
                <a:solidFill>
                  <a:srgbClr val="FFFFFF"/>
                </a:solidFill>
                <a:latin typeface="Arial"/>
                <a:cs typeface="Arial"/>
              </a:rPr>
              <a:t>u</a:t>
            </a:r>
            <a:r>
              <a:rPr sz="1600" b="1" spc="50" dirty="0">
                <a:solidFill>
                  <a:srgbClr val="FFFFFF"/>
                </a:solidFill>
                <a:latin typeface="Arial"/>
                <a:cs typeface="Arial"/>
              </a:rPr>
              <a:t>p</a:t>
            </a:r>
            <a:r>
              <a:rPr sz="1600" b="1" spc="-190" dirty="0">
                <a:solidFill>
                  <a:srgbClr val="FFFFFF"/>
                </a:solidFill>
                <a:latin typeface="Arial"/>
                <a:cs typeface="Arial"/>
              </a:rPr>
              <a:t> </a:t>
            </a:r>
            <a:r>
              <a:rPr sz="1600" b="1" spc="-20" dirty="0">
                <a:solidFill>
                  <a:srgbClr val="FFFFFF"/>
                </a:solidFill>
                <a:latin typeface="Arial"/>
                <a:cs typeface="Arial"/>
              </a:rPr>
              <a:t>or  </a:t>
            </a:r>
            <a:r>
              <a:rPr sz="1600" b="1" spc="-25" dirty="0">
                <a:solidFill>
                  <a:srgbClr val="FFFFFF"/>
                </a:solidFill>
                <a:latin typeface="Arial"/>
                <a:cs typeface="Arial"/>
              </a:rPr>
              <a:t>p</a:t>
            </a:r>
            <a:r>
              <a:rPr sz="1600" b="1" spc="45" dirty="0">
                <a:solidFill>
                  <a:srgbClr val="FFFFFF"/>
                </a:solidFill>
                <a:latin typeface="Arial"/>
                <a:cs typeface="Arial"/>
              </a:rPr>
              <a:t>r</a:t>
            </a:r>
            <a:r>
              <a:rPr sz="1600" b="1" spc="-45" dirty="0">
                <a:solidFill>
                  <a:srgbClr val="FFFFFF"/>
                </a:solidFill>
                <a:latin typeface="Arial"/>
                <a:cs typeface="Arial"/>
              </a:rPr>
              <a:t>o</a:t>
            </a:r>
            <a:r>
              <a:rPr sz="1600" b="1" spc="-114" dirty="0">
                <a:solidFill>
                  <a:srgbClr val="FFFFFF"/>
                </a:solidFill>
                <a:latin typeface="Arial"/>
                <a:cs typeface="Arial"/>
              </a:rPr>
              <a:t>c</a:t>
            </a:r>
            <a:r>
              <a:rPr sz="1600" b="1" spc="20" dirty="0">
                <a:solidFill>
                  <a:srgbClr val="FFFFFF"/>
                </a:solidFill>
                <a:latin typeface="Arial"/>
                <a:cs typeface="Arial"/>
              </a:rPr>
              <a:t>e</a:t>
            </a:r>
            <a:r>
              <a:rPr sz="1600" b="1" spc="-30" dirty="0">
                <a:solidFill>
                  <a:srgbClr val="FFFFFF"/>
                </a:solidFill>
                <a:latin typeface="Arial"/>
                <a:cs typeface="Arial"/>
              </a:rPr>
              <a:t>d</a:t>
            </a:r>
            <a:r>
              <a:rPr sz="1600" b="1" spc="10" dirty="0">
                <a:solidFill>
                  <a:srgbClr val="FFFFFF"/>
                </a:solidFill>
                <a:latin typeface="Arial"/>
                <a:cs typeface="Arial"/>
              </a:rPr>
              <a:t>u</a:t>
            </a:r>
            <a:r>
              <a:rPr sz="1600" b="1" spc="45" dirty="0">
                <a:solidFill>
                  <a:srgbClr val="FFFFFF"/>
                </a:solidFill>
                <a:latin typeface="Arial"/>
                <a:cs typeface="Arial"/>
              </a:rPr>
              <a:t>r</a:t>
            </a:r>
            <a:r>
              <a:rPr sz="1600" b="1" spc="95" dirty="0">
                <a:solidFill>
                  <a:srgbClr val="FFFFFF"/>
                </a:solidFill>
                <a:latin typeface="Arial"/>
                <a:cs typeface="Arial"/>
              </a:rPr>
              <a:t>e</a:t>
            </a:r>
            <a:r>
              <a:rPr sz="1600" b="1" spc="-190" dirty="0">
                <a:solidFill>
                  <a:srgbClr val="FFFFFF"/>
                </a:solidFill>
                <a:latin typeface="Arial"/>
                <a:cs typeface="Arial"/>
              </a:rPr>
              <a:t> </a:t>
            </a:r>
            <a:r>
              <a:rPr sz="1600" b="1" spc="-90" dirty="0">
                <a:solidFill>
                  <a:srgbClr val="FFFFFF"/>
                </a:solidFill>
                <a:latin typeface="Arial"/>
                <a:cs typeface="Arial"/>
              </a:rPr>
              <a:t>(</a:t>
            </a:r>
            <a:r>
              <a:rPr sz="1600" b="1" spc="90" dirty="0">
                <a:solidFill>
                  <a:srgbClr val="FFFFFF"/>
                </a:solidFill>
                <a:latin typeface="Arial"/>
                <a:cs typeface="Arial"/>
              </a:rPr>
              <a:t>m</a:t>
            </a:r>
            <a:r>
              <a:rPr sz="1600" b="1" spc="15" dirty="0">
                <a:solidFill>
                  <a:srgbClr val="FFFFFF"/>
                </a:solidFill>
                <a:latin typeface="Arial"/>
                <a:cs typeface="Arial"/>
              </a:rPr>
              <a:t>e</a:t>
            </a:r>
            <a:r>
              <a:rPr sz="1600" b="1" spc="20" dirty="0">
                <a:solidFill>
                  <a:srgbClr val="FFFFFF"/>
                </a:solidFill>
                <a:latin typeface="Arial"/>
                <a:cs typeface="Arial"/>
              </a:rPr>
              <a:t>a</a:t>
            </a:r>
            <a:r>
              <a:rPr sz="1600" b="1" spc="5" dirty="0">
                <a:solidFill>
                  <a:srgbClr val="FFFFFF"/>
                </a:solidFill>
                <a:latin typeface="Arial"/>
                <a:cs typeface="Arial"/>
              </a:rPr>
              <a:t>ni</a:t>
            </a:r>
            <a:r>
              <a:rPr sz="1600" b="1" dirty="0">
                <a:solidFill>
                  <a:srgbClr val="FFFFFF"/>
                </a:solidFill>
                <a:latin typeface="Arial"/>
                <a:cs typeface="Arial"/>
              </a:rPr>
              <a:t>n</a:t>
            </a:r>
            <a:r>
              <a:rPr sz="1600" b="1" spc="-70" dirty="0">
                <a:solidFill>
                  <a:srgbClr val="FFFFFF"/>
                </a:solidFill>
                <a:latin typeface="Arial"/>
                <a:cs typeface="Arial"/>
              </a:rPr>
              <a:t>g</a:t>
            </a:r>
            <a:r>
              <a:rPr sz="1600" b="1" spc="50" dirty="0">
                <a:solidFill>
                  <a:srgbClr val="FFFFFF"/>
                </a:solidFill>
                <a:latin typeface="Arial"/>
                <a:cs typeface="Arial"/>
              </a:rPr>
              <a:t>,</a:t>
            </a:r>
            <a:r>
              <a:rPr sz="1600" b="1" spc="-190" dirty="0">
                <a:solidFill>
                  <a:srgbClr val="FFFFFF"/>
                </a:solidFill>
                <a:latin typeface="Arial"/>
                <a:cs typeface="Arial"/>
              </a:rPr>
              <a:t> </a:t>
            </a:r>
            <a:r>
              <a:rPr sz="1600" b="1" spc="-20" dirty="0">
                <a:solidFill>
                  <a:srgbClr val="FFFFFF"/>
                </a:solidFill>
                <a:latin typeface="Arial"/>
                <a:cs typeface="Arial"/>
              </a:rPr>
              <a:t>y</a:t>
            </a:r>
            <a:r>
              <a:rPr sz="1600" b="1" spc="-45" dirty="0">
                <a:solidFill>
                  <a:srgbClr val="FFFFFF"/>
                </a:solidFill>
                <a:latin typeface="Arial"/>
                <a:cs typeface="Arial"/>
              </a:rPr>
              <a:t>o</a:t>
            </a:r>
            <a:r>
              <a:rPr sz="1600" b="1" spc="90" dirty="0">
                <a:solidFill>
                  <a:srgbClr val="FFFFFF"/>
                </a:solidFill>
                <a:latin typeface="Arial"/>
                <a:cs typeface="Arial"/>
              </a:rPr>
              <a:t>u</a:t>
            </a:r>
            <a:r>
              <a:rPr sz="1600" b="1" spc="-190" dirty="0">
                <a:solidFill>
                  <a:srgbClr val="FFFFFF"/>
                </a:solidFill>
                <a:latin typeface="Arial"/>
                <a:cs typeface="Arial"/>
              </a:rPr>
              <a:t> </a:t>
            </a:r>
            <a:r>
              <a:rPr sz="1600" b="1" spc="-114" dirty="0">
                <a:solidFill>
                  <a:srgbClr val="FFFFFF"/>
                </a:solidFill>
                <a:latin typeface="Arial"/>
                <a:cs typeface="Arial"/>
              </a:rPr>
              <a:t>c</a:t>
            </a:r>
            <a:r>
              <a:rPr sz="1600" b="1" spc="-45" dirty="0">
                <a:solidFill>
                  <a:srgbClr val="FFFFFF"/>
                </a:solidFill>
                <a:latin typeface="Arial"/>
                <a:cs typeface="Arial"/>
              </a:rPr>
              <a:t>o</a:t>
            </a:r>
            <a:r>
              <a:rPr sz="1600" b="1" spc="10" dirty="0">
                <a:solidFill>
                  <a:srgbClr val="FFFFFF"/>
                </a:solidFill>
                <a:latin typeface="Arial"/>
                <a:cs typeface="Arial"/>
              </a:rPr>
              <a:t>u</a:t>
            </a:r>
            <a:r>
              <a:rPr sz="1600" b="1" spc="-10" dirty="0">
                <a:solidFill>
                  <a:srgbClr val="FFFFFF"/>
                </a:solidFill>
                <a:latin typeface="Arial"/>
                <a:cs typeface="Arial"/>
              </a:rPr>
              <a:t>l</a:t>
            </a:r>
            <a:r>
              <a:rPr sz="1600" b="1" spc="30" dirty="0">
                <a:solidFill>
                  <a:srgbClr val="FFFFFF"/>
                </a:solidFill>
                <a:latin typeface="Arial"/>
                <a:cs typeface="Arial"/>
              </a:rPr>
              <a:t>d  </a:t>
            </a:r>
            <a:r>
              <a:rPr sz="1600" b="1" spc="-70" dirty="0">
                <a:solidFill>
                  <a:srgbClr val="FFFFFF"/>
                </a:solidFill>
                <a:latin typeface="Arial"/>
                <a:cs typeface="Arial"/>
              </a:rPr>
              <a:t>o</a:t>
            </a:r>
            <a:r>
              <a:rPr sz="1600" b="1" spc="-20" dirty="0">
                <a:solidFill>
                  <a:srgbClr val="FFFFFF"/>
                </a:solidFill>
                <a:latin typeface="Arial"/>
                <a:cs typeface="Arial"/>
              </a:rPr>
              <a:t>v</a:t>
            </a:r>
            <a:r>
              <a:rPr sz="1600" b="1" spc="20" dirty="0">
                <a:solidFill>
                  <a:srgbClr val="FFFFFF"/>
                </a:solidFill>
                <a:latin typeface="Arial"/>
                <a:cs typeface="Arial"/>
              </a:rPr>
              <a:t>e</a:t>
            </a:r>
            <a:r>
              <a:rPr sz="1600" b="1" spc="45" dirty="0">
                <a:solidFill>
                  <a:srgbClr val="FFFFFF"/>
                </a:solidFill>
                <a:latin typeface="Arial"/>
                <a:cs typeface="Arial"/>
              </a:rPr>
              <a:t>r</a:t>
            </a:r>
            <a:r>
              <a:rPr sz="1600" b="1" spc="-15" dirty="0">
                <a:solidFill>
                  <a:srgbClr val="FFFFFF"/>
                </a:solidFill>
                <a:latin typeface="Arial"/>
                <a:cs typeface="Arial"/>
              </a:rPr>
              <a:t>l</a:t>
            </a:r>
            <a:r>
              <a:rPr sz="1600" b="1" dirty="0">
                <a:solidFill>
                  <a:srgbClr val="FFFFFF"/>
                </a:solidFill>
                <a:latin typeface="Arial"/>
                <a:cs typeface="Arial"/>
              </a:rPr>
              <a:t>a</a:t>
            </a:r>
            <a:r>
              <a:rPr sz="1600" b="1" spc="85" dirty="0">
                <a:solidFill>
                  <a:srgbClr val="FFFFFF"/>
                </a:solidFill>
                <a:latin typeface="Arial"/>
                <a:cs typeface="Arial"/>
              </a:rPr>
              <a:t>y</a:t>
            </a:r>
            <a:r>
              <a:rPr sz="1600" b="1" spc="-190" dirty="0">
                <a:solidFill>
                  <a:srgbClr val="FFFFFF"/>
                </a:solidFill>
                <a:latin typeface="Arial"/>
                <a:cs typeface="Arial"/>
              </a:rPr>
              <a:t> </a:t>
            </a:r>
            <a:r>
              <a:rPr sz="1600" b="1" spc="-140" dirty="0">
                <a:solidFill>
                  <a:srgbClr val="FFFFFF"/>
                </a:solidFill>
                <a:latin typeface="Arial"/>
                <a:cs typeface="Arial"/>
              </a:rPr>
              <a:t>K</a:t>
            </a:r>
            <a:r>
              <a:rPr sz="1600" b="1" spc="25" dirty="0">
                <a:solidFill>
                  <a:srgbClr val="FFFFFF"/>
                </a:solidFill>
                <a:latin typeface="Arial"/>
                <a:cs typeface="Arial"/>
              </a:rPr>
              <a:t>a</a:t>
            </a:r>
            <a:r>
              <a:rPr sz="1600" b="1" spc="10" dirty="0">
                <a:solidFill>
                  <a:srgbClr val="FFFFFF"/>
                </a:solidFill>
                <a:latin typeface="Arial"/>
                <a:cs typeface="Arial"/>
              </a:rPr>
              <a:t>n</a:t>
            </a:r>
            <a:r>
              <a:rPr sz="1600" b="1" spc="-35" dirty="0">
                <a:solidFill>
                  <a:srgbClr val="FFFFFF"/>
                </a:solidFill>
                <a:latin typeface="Arial"/>
                <a:cs typeface="Arial"/>
              </a:rPr>
              <a:t>b</a:t>
            </a:r>
            <a:r>
              <a:rPr sz="1600" b="1" spc="25" dirty="0">
                <a:solidFill>
                  <a:srgbClr val="FFFFFF"/>
                </a:solidFill>
                <a:latin typeface="Arial"/>
                <a:cs typeface="Arial"/>
              </a:rPr>
              <a:t>a</a:t>
            </a:r>
            <a:r>
              <a:rPr sz="1600" b="1" spc="90" dirty="0">
                <a:solidFill>
                  <a:srgbClr val="FFFFFF"/>
                </a:solidFill>
                <a:latin typeface="Arial"/>
                <a:cs typeface="Arial"/>
              </a:rPr>
              <a:t>n</a:t>
            </a:r>
            <a:r>
              <a:rPr sz="1600" b="1" spc="-190" dirty="0">
                <a:solidFill>
                  <a:srgbClr val="FFFFFF"/>
                </a:solidFill>
                <a:latin typeface="Arial"/>
                <a:cs typeface="Arial"/>
              </a:rPr>
              <a:t> </a:t>
            </a:r>
            <a:r>
              <a:rPr sz="1600" b="1" spc="-20" dirty="0">
                <a:solidFill>
                  <a:srgbClr val="FFFFFF"/>
                </a:solidFill>
                <a:latin typeface="Arial"/>
                <a:cs typeface="Arial"/>
              </a:rPr>
              <a:t>o</a:t>
            </a:r>
            <a:r>
              <a:rPr sz="1600" b="1" spc="65" dirty="0">
                <a:solidFill>
                  <a:srgbClr val="FFFFFF"/>
                </a:solidFill>
                <a:latin typeface="Arial"/>
                <a:cs typeface="Arial"/>
              </a:rPr>
              <a:t>n</a:t>
            </a:r>
            <a:r>
              <a:rPr sz="1600" b="1" spc="-190" dirty="0">
                <a:solidFill>
                  <a:srgbClr val="FFFFFF"/>
                </a:solidFill>
                <a:latin typeface="Arial"/>
                <a:cs typeface="Arial"/>
              </a:rPr>
              <a:t> </a:t>
            </a:r>
            <a:r>
              <a:rPr sz="1600" b="1" spc="10" dirty="0">
                <a:solidFill>
                  <a:srgbClr val="FFFFFF"/>
                </a:solidFill>
                <a:latin typeface="Arial"/>
                <a:cs typeface="Arial"/>
              </a:rPr>
              <a:t>to</a:t>
            </a:r>
            <a:r>
              <a:rPr sz="1600" b="1" spc="114" dirty="0">
                <a:solidFill>
                  <a:srgbClr val="FFFFFF"/>
                </a:solidFill>
                <a:latin typeface="Arial"/>
                <a:cs typeface="Arial"/>
              </a:rPr>
              <a:t>p</a:t>
            </a:r>
            <a:r>
              <a:rPr sz="1600" b="1" spc="-190" dirty="0">
                <a:solidFill>
                  <a:srgbClr val="FFFFFF"/>
                </a:solidFill>
                <a:latin typeface="Arial"/>
                <a:cs typeface="Arial"/>
              </a:rPr>
              <a:t> </a:t>
            </a:r>
            <a:r>
              <a:rPr sz="1600" b="1" spc="-45" dirty="0">
                <a:solidFill>
                  <a:srgbClr val="FFFFFF"/>
                </a:solidFill>
                <a:latin typeface="Arial"/>
                <a:cs typeface="Arial"/>
              </a:rPr>
              <a:t>o</a:t>
            </a:r>
            <a:r>
              <a:rPr sz="1600" b="1" spc="125" dirty="0">
                <a:solidFill>
                  <a:srgbClr val="FFFFFF"/>
                </a:solidFill>
                <a:latin typeface="Arial"/>
                <a:cs typeface="Arial"/>
              </a:rPr>
              <a:t>f</a:t>
            </a:r>
            <a:r>
              <a:rPr sz="1600" b="1" spc="-190" dirty="0">
                <a:solidFill>
                  <a:srgbClr val="FFFFFF"/>
                </a:solidFill>
                <a:latin typeface="Arial"/>
                <a:cs typeface="Arial"/>
              </a:rPr>
              <a:t> </a:t>
            </a:r>
            <a:r>
              <a:rPr sz="1600" b="1" spc="-50" dirty="0">
                <a:solidFill>
                  <a:srgbClr val="FFFFFF"/>
                </a:solidFill>
                <a:latin typeface="Arial"/>
                <a:cs typeface="Arial"/>
              </a:rPr>
              <a:t>o</a:t>
            </a:r>
            <a:r>
              <a:rPr sz="1600" b="1" spc="135" dirty="0">
                <a:solidFill>
                  <a:srgbClr val="FFFFFF"/>
                </a:solidFill>
                <a:latin typeface="Arial"/>
                <a:cs typeface="Arial"/>
              </a:rPr>
              <a:t>t</a:t>
            </a:r>
            <a:r>
              <a:rPr sz="1600" b="1" spc="5" dirty="0">
                <a:solidFill>
                  <a:srgbClr val="FFFFFF"/>
                </a:solidFill>
                <a:latin typeface="Arial"/>
                <a:cs typeface="Arial"/>
              </a:rPr>
              <a:t>h</a:t>
            </a:r>
            <a:r>
              <a:rPr sz="1600" b="1" spc="20" dirty="0">
                <a:solidFill>
                  <a:srgbClr val="FFFFFF"/>
                </a:solidFill>
                <a:latin typeface="Arial"/>
                <a:cs typeface="Arial"/>
              </a:rPr>
              <a:t>e</a:t>
            </a:r>
            <a:r>
              <a:rPr sz="1600" b="1" spc="100" dirty="0">
                <a:solidFill>
                  <a:srgbClr val="FFFFFF"/>
                </a:solidFill>
                <a:latin typeface="Arial"/>
                <a:cs typeface="Arial"/>
              </a:rPr>
              <a:t>r  </a:t>
            </a:r>
            <a:r>
              <a:rPr sz="1600" b="1" spc="5" dirty="0">
                <a:solidFill>
                  <a:srgbClr val="FFFFFF"/>
                </a:solidFill>
                <a:latin typeface="Arial"/>
                <a:cs typeface="Arial"/>
              </a:rPr>
              <a:t>e</a:t>
            </a:r>
            <a:r>
              <a:rPr sz="1600" b="1" spc="40" dirty="0">
                <a:solidFill>
                  <a:srgbClr val="FFFFFF"/>
                </a:solidFill>
                <a:latin typeface="Arial"/>
                <a:cs typeface="Arial"/>
              </a:rPr>
              <a:t>x</a:t>
            </a:r>
            <a:r>
              <a:rPr sz="1600" b="1" spc="-10" dirty="0">
                <a:solidFill>
                  <a:srgbClr val="FFFFFF"/>
                </a:solidFill>
                <a:latin typeface="Arial"/>
                <a:cs typeface="Arial"/>
              </a:rPr>
              <a:t>i</a:t>
            </a:r>
            <a:r>
              <a:rPr sz="1600" b="1" spc="-114" dirty="0">
                <a:solidFill>
                  <a:srgbClr val="FFFFFF"/>
                </a:solidFill>
                <a:latin typeface="Arial"/>
                <a:cs typeface="Arial"/>
              </a:rPr>
              <a:t>s</a:t>
            </a:r>
            <a:r>
              <a:rPr sz="1600" b="1" spc="135" dirty="0">
                <a:solidFill>
                  <a:srgbClr val="FFFFFF"/>
                </a:solidFill>
                <a:latin typeface="Arial"/>
                <a:cs typeface="Arial"/>
              </a:rPr>
              <a:t>t</a:t>
            </a:r>
            <a:r>
              <a:rPr sz="1600" b="1" spc="-5" dirty="0">
                <a:solidFill>
                  <a:srgbClr val="FFFFFF"/>
                </a:solidFill>
                <a:latin typeface="Arial"/>
                <a:cs typeface="Arial"/>
              </a:rPr>
              <a:t>i</a:t>
            </a:r>
            <a:r>
              <a:rPr sz="1600" b="1" dirty="0">
                <a:solidFill>
                  <a:srgbClr val="FFFFFF"/>
                </a:solidFill>
                <a:latin typeface="Arial"/>
                <a:cs typeface="Arial"/>
              </a:rPr>
              <a:t>n</a:t>
            </a:r>
            <a:r>
              <a:rPr sz="1600" b="1" spc="-10" dirty="0">
                <a:solidFill>
                  <a:srgbClr val="FFFFFF"/>
                </a:solidFill>
                <a:latin typeface="Arial"/>
                <a:cs typeface="Arial"/>
              </a:rPr>
              <a:t>g</a:t>
            </a:r>
            <a:r>
              <a:rPr sz="1600" b="1" spc="-190" dirty="0">
                <a:solidFill>
                  <a:srgbClr val="FFFFFF"/>
                </a:solidFill>
                <a:latin typeface="Arial"/>
                <a:cs typeface="Arial"/>
              </a:rPr>
              <a:t> </a:t>
            </a:r>
            <a:r>
              <a:rPr sz="1600" b="1" spc="105" dirty="0">
                <a:solidFill>
                  <a:srgbClr val="FFFFFF"/>
                </a:solidFill>
                <a:latin typeface="Arial"/>
                <a:cs typeface="Arial"/>
              </a:rPr>
              <a:t>w</a:t>
            </a:r>
            <a:r>
              <a:rPr sz="1600" b="1" spc="15" dirty="0">
                <a:solidFill>
                  <a:srgbClr val="FFFFFF"/>
                </a:solidFill>
                <a:latin typeface="Arial"/>
                <a:cs typeface="Arial"/>
              </a:rPr>
              <a:t>o</a:t>
            </a:r>
            <a:r>
              <a:rPr sz="1600" b="1" spc="-15" dirty="0">
                <a:solidFill>
                  <a:srgbClr val="FFFFFF"/>
                </a:solidFill>
                <a:latin typeface="Arial"/>
                <a:cs typeface="Arial"/>
              </a:rPr>
              <a:t>r</a:t>
            </a:r>
            <a:r>
              <a:rPr sz="1600" b="1" spc="100" dirty="0">
                <a:solidFill>
                  <a:srgbClr val="FFFFFF"/>
                </a:solidFill>
                <a:latin typeface="Arial"/>
                <a:cs typeface="Arial"/>
              </a:rPr>
              <a:t>k</a:t>
            </a:r>
            <a:r>
              <a:rPr sz="1600" b="1" spc="105" dirty="0">
                <a:solidFill>
                  <a:srgbClr val="FFFFFF"/>
                </a:solidFill>
                <a:latin typeface="Arial"/>
                <a:cs typeface="Arial"/>
              </a:rPr>
              <a:t>f</a:t>
            </a:r>
            <a:r>
              <a:rPr sz="1600" b="1" spc="15" dirty="0">
                <a:solidFill>
                  <a:srgbClr val="FFFFFF"/>
                </a:solidFill>
                <a:latin typeface="Arial"/>
                <a:cs typeface="Arial"/>
              </a:rPr>
              <a:t>l</a:t>
            </a:r>
            <a:r>
              <a:rPr sz="1600" b="1" spc="-65" dirty="0">
                <a:solidFill>
                  <a:srgbClr val="FFFFFF"/>
                </a:solidFill>
                <a:latin typeface="Arial"/>
                <a:cs typeface="Arial"/>
              </a:rPr>
              <a:t>o</a:t>
            </a:r>
            <a:r>
              <a:rPr sz="1600" b="1" spc="114" dirty="0">
                <a:solidFill>
                  <a:srgbClr val="FFFFFF"/>
                </a:solidFill>
                <a:latin typeface="Arial"/>
                <a:cs typeface="Arial"/>
              </a:rPr>
              <a:t>w</a:t>
            </a:r>
            <a:r>
              <a:rPr sz="1600" b="1" spc="-175" dirty="0">
                <a:solidFill>
                  <a:srgbClr val="FFFFFF"/>
                </a:solidFill>
                <a:latin typeface="Arial"/>
                <a:cs typeface="Arial"/>
              </a:rPr>
              <a:t>s</a:t>
            </a:r>
            <a:r>
              <a:rPr sz="1600" b="1" spc="-15" dirty="0">
                <a:solidFill>
                  <a:srgbClr val="FFFFFF"/>
                </a:solidFill>
                <a:latin typeface="Arial"/>
                <a:cs typeface="Arial"/>
              </a:rPr>
              <a:t>)</a:t>
            </a:r>
            <a:r>
              <a:rPr sz="1600" b="1" spc="15" dirty="0">
                <a:solidFill>
                  <a:srgbClr val="FFFFFF"/>
                </a:solidFill>
                <a:latin typeface="Arial"/>
                <a:cs typeface="Arial"/>
              </a:rPr>
              <a:t>.</a:t>
            </a:r>
            <a:endParaRPr sz="1600">
              <a:latin typeface="Arial"/>
              <a:cs typeface="Arial"/>
            </a:endParaRPr>
          </a:p>
        </p:txBody>
      </p:sp>
      <p:sp>
        <p:nvSpPr>
          <p:cNvPr id="5" name="object 5"/>
          <p:cNvSpPr txBox="1"/>
          <p:nvPr/>
        </p:nvSpPr>
        <p:spPr>
          <a:xfrm>
            <a:off x="5435600" y="615151"/>
            <a:ext cx="3168650" cy="2197100"/>
          </a:xfrm>
          <a:prstGeom prst="rect">
            <a:avLst/>
          </a:prstGeom>
        </p:spPr>
        <p:txBody>
          <a:bodyPr vert="horz" wrap="square" lIns="0" tIns="12700" rIns="0" bIns="0" rtlCol="0">
            <a:spAutoFit/>
          </a:bodyPr>
          <a:lstStyle/>
          <a:p>
            <a:pPr marL="12700" marR="5080">
              <a:lnSpc>
                <a:spcPct val="121800"/>
              </a:lnSpc>
              <a:spcBef>
                <a:spcPts val="100"/>
              </a:spcBef>
            </a:pPr>
            <a:r>
              <a:rPr sz="1300" spc="-25" dirty="0">
                <a:solidFill>
                  <a:srgbClr val="333333"/>
                </a:solidFill>
                <a:latin typeface="Roboto Lt"/>
                <a:cs typeface="Roboto Lt"/>
              </a:rPr>
              <a:t>Kanban </a:t>
            </a:r>
            <a:r>
              <a:rPr sz="1300" spc="-30" dirty="0">
                <a:solidFill>
                  <a:srgbClr val="333333"/>
                </a:solidFill>
                <a:latin typeface="Roboto Lt"/>
                <a:cs typeface="Roboto Lt"/>
              </a:rPr>
              <a:t>was inspired </a:t>
            </a:r>
            <a:r>
              <a:rPr sz="1300" spc="-35" dirty="0">
                <a:solidFill>
                  <a:srgbClr val="333333"/>
                </a:solidFill>
                <a:latin typeface="Roboto Lt"/>
                <a:cs typeface="Roboto Lt"/>
              </a:rPr>
              <a:t>by </a:t>
            </a:r>
            <a:r>
              <a:rPr sz="1300" spc="-25" dirty="0">
                <a:solidFill>
                  <a:srgbClr val="333333"/>
                </a:solidFill>
                <a:latin typeface="Roboto Lt"/>
                <a:cs typeface="Roboto Lt"/>
              </a:rPr>
              <a:t>the </a:t>
            </a:r>
            <a:r>
              <a:rPr sz="1300" spc="-50" dirty="0">
                <a:solidFill>
                  <a:srgbClr val="333333"/>
                </a:solidFill>
                <a:latin typeface="Roboto Lt"/>
                <a:cs typeface="Roboto Lt"/>
              </a:rPr>
              <a:t>Toyota </a:t>
            </a:r>
            <a:r>
              <a:rPr sz="1300" spc="-45" dirty="0">
                <a:solidFill>
                  <a:srgbClr val="333333"/>
                </a:solidFill>
                <a:latin typeface="Roboto Lt"/>
                <a:cs typeface="Roboto Lt"/>
              </a:rPr>
              <a:t> </a:t>
            </a:r>
            <a:r>
              <a:rPr sz="1300" spc="-30" dirty="0">
                <a:solidFill>
                  <a:srgbClr val="333333"/>
                </a:solidFill>
                <a:latin typeface="Roboto Lt"/>
                <a:cs typeface="Roboto Lt"/>
              </a:rPr>
              <a:t>Production System</a:t>
            </a:r>
            <a:r>
              <a:rPr sz="1300" spc="-25" dirty="0">
                <a:solidFill>
                  <a:srgbClr val="333333"/>
                </a:solidFill>
                <a:latin typeface="Roboto Lt"/>
                <a:cs typeface="Roboto Lt"/>
              </a:rPr>
              <a:t> and</a:t>
            </a:r>
            <a:r>
              <a:rPr sz="1300" spc="-30" dirty="0">
                <a:solidFill>
                  <a:srgbClr val="333333"/>
                </a:solidFill>
                <a:latin typeface="Roboto Lt"/>
                <a:cs typeface="Roboto Lt"/>
              </a:rPr>
              <a:t> </a:t>
            </a:r>
            <a:r>
              <a:rPr sz="1300" spc="-35" dirty="0">
                <a:solidFill>
                  <a:srgbClr val="333333"/>
                </a:solidFill>
                <a:latin typeface="Roboto Lt"/>
                <a:cs typeface="Roboto Lt"/>
              </a:rPr>
              <a:t>Lean</a:t>
            </a:r>
            <a:r>
              <a:rPr sz="1300" spc="-25" dirty="0">
                <a:solidFill>
                  <a:srgbClr val="333333"/>
                </a:solidFill>
                <a:latin typeface="Roboto Lt"/>
                <a:cs typeface="Roboto Lt"/>
              </a:rPr>
              <a:t> </a:t>
            </a:r>
            <a:r>
              <a:rPr sz="1300" spc="-30" dirty="0">
                <a:solidFill>
                  <a:srgbClr val="333333"/>
                </a:solidFill>
                <a:latin typeface="Roboto Lt"/>
                <a:cs typeface="Roboto Lt"/>
              </a:rPr>
              <a:t>Manufacturing. </a:t>
            </a:r>
            <a:r>
              <a:rPr sz="1300" spc="-25" dirty="0">
                <a:solidFill>
                  <a:srgbClr val="333333"/>
                </a:solidFill>
                <a:latin typeface="Roboto Lt"/>
                <a:cs typeface="Roboto Lt"/>
              </a:rPr>
              <a:t> </a:t>
            </a:r>
            <a:r>
              <a:rPr sz="1300" spc="-45" dirty="0">
                <a:solidFill>
                  <a:srgbClr val="333333"/>
                </a:solidFill>
                <a:latin typeface="Roboto Lt"/>
                <a:cs typeface="Roboto Lt"/>
              </a:rPr>
              <a:t>I</a:t>
            </a:r>
            <a:r>
              <a:rPr sz="1300" spc="-10" dirty="0">
                <a:solidFill>
                  <a:srgbClr val="333333"/>
                </a:solidFill>
                <a:latin typeface="Roboto Lt"/>
                <a:cs typeface="Roboto Lt"/>
              </a:rPr>
              <a:t>n</a:t>
            </a:r>
            <a:r>
              <a:rPr sz="1300" spc="-30" dirty="0">
                <a:solidFill>
                  <a:srgbClr val="333333"/>
                </a:solidFill>
                <a:latin typeface="Roboto Lt"/>
                <a:cs typeface="Roboto Lt"/>
              </a:rPr>
              <a:t> </a:t>
            </a:r>
            <a:r>
              <a:rPr sz="1300" spc="-35" dirty="0">
                <a:solidFill>
                  <a:srgbClr val="333333"/>
                </a:solidFill>
                <a:latin typeface="Roboto Lt"/>
                <a:cs typeface="Roboto Lt"/>
              </a:rPr>
              <a:t>t</a:t>
            </a:r>
            <a:r>
              <a:rPr sz="1300" spc="-40" dirty="0">
                <a:solidFill>
                  <a:srgbClr val="333333"/>
                </a:solidFill>
                <a:latin typeface="Roboto Lt"/>
                <a:cs typeface="Roboto Lt"/>
              </a:rPr>
              <a:t>h</a:t>
            </a:r>
            <a:r>
              <a:rPr sz="1300" dirty="0">
                <a:solidFill>
                  <a:srgbClr val="333333"/>
                </a:solidFill>
                <a:latin typeface="Roboto Lt"/>
                <a:cs typeface="Roboto Lt"/>
              </a:rPr>
              <a:t>e</a:t>
            </a:r>
            <a:r>
              <a:rPr sz="1300" spc="-30" dirty="0">
                <a:solidFill>
                  <a:srgbClr val="333333"/>
                </a:solidFill>
                <a:latin typeface="Roboto Lt"/>
                <a:cs typeface="Roboto Lt"/>
              </a:rPr>
              <a:t> </a:t>
            </a:r>
            <a:r>
              <a:rPr sz="1300" spc="-110" dirty="0">
                <a:solidFill>
                  <a:srgbClr val="333333"/>
                </a:solidFill>
                <a:latin typeface="Roboto Lt"/>
                <a:cs typeface="Roboto Lt"/>
              </a:rPr>
              <a:t>1</a:t>
            </a:r>
            <a:r>
              <a:rPr sz="1300" spc="-10" dirty="0">
                <a:solidFill>
                  <a:srgbClr val="333333"/>
                </a:solidFill>
                <a:latin typeface="Roboto Lt"/>
                <a:cs typeface="Roboto Lt"/>
              </a:rPr>
              <a:t>9</a:t>
            </a:r>
            <a:r>
              <a:rPr sz="1300" spc="15" dirty="0">
                <a:solidFill>
                  <a:srgbClr val="333333"/>
                </a:solidFill>
                <a:latin typeface="Roboto Lt"/>
                <a:cs typeface="Roboto Lt"/>
              </a:rPr>
              <a:t>4</a:t>
            </a:r>
            <a:r>
              <a:rPr sz="1300" spc="-20" dirty="0">
                <a:solidFill>
                  <a:srgbClr val="333333"/>
                </a:solidFill>
                <a:latin typeface="Roboto Lt"/>
                <a:cs typeface="Roboto Lt"/>
              </a:rPr>
              <a:t>0s</a:t>
            </a:r>
            <a:r>
              <a:rPr sz="1300" dirty="0">
                <a:solidFill>
                  <a:srgbClr val="333333"/>
                </a:solidFill>
                <a:latin typeface="Roboto Lt"/>
                <a:cs typeface="Roboto Lt"/>
              </a:rPr>
              <a:t>,</a:t>
            </a:r>
            <a:r>
              <a:rPr sz="1300" spc="-30" dirty="0">
                <a:solidFill>
                  <a:srgbClr val="333333"/>
                </a:solidFill>
                <a:latin typeface="Roboto Lt"/>
                <a:cs typeface="Roboto Lt"/>
              </a:rPr>
              <a:t> </a:t>
            </a:r>
            <a:r>
              <a:rPr sz="1300" spc="-140" dirty="0">
                <a:solidFill>
                  <a:srgbClr val="333333"/>
                </a:solidFill>
                <a:latin typeface="Roboto Lt"/>
                <a:cs typeface="Roboto Lt"/>
              </a:rPr>
              <a:t>T</a:t>
            </a:r>
            <a:r>
              <a:rPr sz="1300" spc="-40" dirty="0">
                <a:solidFill>
                  <a:srgbClr val="333333"/>
                </a:solidFill>
                <a:latin typeface="Roboto Lt"/>
                <a:cs typeface="Roboto Lt"/>
              </a:rPr>
              <a:t>o</a:t>
            </a:r>
            <a:r>
              <a:rPr sz="1300" spc="-60" dirty="0">
                <a:solidFill>
                  <a:srgbClr val="333333"/>
                </a:solidFill>
                <a:latin typeface="Roboto Lt"/>
                <a:cs typeface="Roboto Lt"/>
              </a:rPr>
              <a:t>y</a:t>
            </a:r>
            <a:r>
              <a:rPr sz="1300" spc="-40" dirty="0">
                <a:solidFill>
                  <a:srgbClr val="333333"/>
                </a:solidFill>
                <a:latin typeface="Roboto Lt"/>
                <a:cs typeface="Roboto Lt"/>
              </a:rPr>
              <a:t>o</a:t>
            </a:r>
            <a:r>
              <a:rPr sz="1300" spc="-35" dirty="0">
                <a:solidFill>
                  <a:srgbClr val="333333"/>
                </a:solidFill>
                <a:latin typeface="Roboto Lt"/>
                <a:cs typeface="Roboto Lt"/>
              </a:rPr>
              <a:t>t</a:t>
            </a:r>
            <a:r>
              <a:rPr sz="1300" spc="-5" dirty="0">
                <a:solidFill>
                  <a:srgbClr val="333333"/>
                </a:solidFill>
                <a:latin typeface="Roboto Lt"/>
                <a:cs typeface="Roboto Lt"/>
              </a:rPr>
              <a:t>a</a:t>
            </a:r>
            <a:r>
              <a:rPr sz="1300" spc="-30" dirty="0">
                <a:solidFill>
                  <a:srgbClr val="333333"/>
                </a:solidFill>
                <a:latin typeface="Roboto Lt"/>
                <a:cs typeface="Roboto Lt"/>
              </a:rPr>
              <a:t> </a:t>
            </a:r>
            <a:r>
              <a:rPr sz="1300" spc="-35" dirty="0">
                <a:solidFill>
                  <a:srgbClr val="333333"/>
                </a:solidFill>
                <a:latin typeface="Roboto Lt"/>
                <a:cs typeface="Roboto Lt"/>
              </a:rPr>
              <a:t>i</a:t>
            </a:r>
            <a:r>
              <a:rPr sz="1300" spc="-25" dirty="0">
                <a:solidFill>
                  <a:srgbClr val="333333"/>
                </a:solidFill>
                <a:latin typeface="Roboto Lt"/>
                <a:cs typeface="Roboto Lt"/>
              </a:rPr>
              <a:t>m</a:t>
            </a:r>
            <a:r>
              <a:rPr sz="1300" spc="-30" dirty="0">
                <a:solidFill>
                  <a:srgbClr val="333333"/>
                </a:solidFill>
                <a:latin typeface="Roboto Lt"/>
                <a:cs typeface="Roboto Lt"/>
              </a:rPr>
              <a:t>p</a:t>
            </a:r>
            <a:r>
              <a:rPr sz="1300" spc="-50" dirty="0">
                <a:solidFill>
                  <a:srgbClr val="333333"/>
                </a:solidFill>
                <a:latin typeface="Roboto Lt"/>
                <a:cs typeface="Roboto Lt"/>
              </a:rPr>
              <a:t>r</a:t>
            </a:r>
            <a:r>
              <a:rPr sz="1300" spc="-40" dirty="0">
                <a:solidFill>
                  <a:srgbClr val="333333"/>
                </a:solidFill>
                <a:latin typeface="Roboto Lt"/>
                <a:cs typeface="Roboto Lt"/>
              </a:rPr>
              <a:t>o</a:t>
            </a:r>
            <a:r>
              <a:rPr sz="1300" spc="-60" dirty="0">
                <a:solidFill>
                  <a:srgbClr val="333333"/>
                </a:solidFill>
                <a:latin typeface="Roboto Lt"/>
                <a:cs typeface="Roboto Lt"/>
              </a:rPr>
              <a:t>v</a:t>
            </a:r>
            <a:r>
              <a:rPr sz="1300" spc="-15" dirty="0">
                <a:solidFill>
                  <a:srgbClr val="333333"/>
                </a:solidFill>
                <a:latin typeface="Roboto Lt"/>
                <a:cs typeface="Roboto Lt"/>
              </a:rPr>
              <a:t>e</a:t>
            </a:r>
            <a:r>
              <a:rPr sz="1300" spc="-5" dirty="0">
                <a:solidFill>
                  <a:srgbClr val="333333"/>
                </a:solidFill>
                <a:latin typeface="Roboto Lt"/>
                <a:cs typeface="Roboto Lt"/>
              </a:rPr>
              <a:t>d</a:t>
            </a:r>
            <a:r>
              <a:rPr sz="1300" spc="-30" dirty="0">
                <a:solidFill>
                  <a:srgbClr val="333333"/>
                </a:solidFill>
                <a:latin typeface="Roboto Lt"/>
                <a:cs typeface="Roboto Lt"/>
              </a:rPr>
              <a:t> </a:t>
            </a:r>
            <a:r>
              <a:rPr sz="1300" spc="-25" dirty="0">
                <a:solidFill>
                  <a:srgbClr val="333333"/>
                </a:solidFill>
                <a:latin typeface="Roboto Lt"/>
                <a:cs typeface="Roboto Lt"/>
              </a:rPr>
              <a:t>i</a:t>
            </a:r>
            <a:r>
              <a:rPr sz="1300" spc="-40" dirty="0">
                <a:solidFill>
                  <a:srgbClr val="333333"/>
                </a:solidFill>
                <a:latin typeface="Roboto Lt"/>
                <a:cs typeface="Roboto Lt"/>
              </a:rPr>
              <a:t>t</a:t>
            </a:r>
            <a:r>
              <a:rPr sz="1300" spc="-5" dirty="0">
                <a:solidFill>
                  <a:srgbClr val="333333"/>
                </a:solidFill>
                <a:latin typeface="Roboto Lt"/>
                <a:cs typeface="Roboto Lt"/>
              </a:rPr>
              <a:t>s</a:t>
            </a:r>
            <a:r>
              <a:rPr sz="1300" spc="-30" dirty="0">
                <a:solidFill>
                  <a:srgbClr val="333333"/>
                </a:solidFill>
                <a:latin typeface="Roboto Lt"/>
                <a:cs typeface="Roboto Lt"/>
              </a:rPr>
              <a:t> </a:t>
            </a:r>
            <a:r>
              <a:rPr sz="1300" spc="-20" dirty="0">
                <a:solidFill>
                  <a:srgbClr val="333333"/>
                </a:solidFill>
                <a:latin typeface="Roboto Lt"/>
                <a:cs typeface="Roboto Lt"/>
              </a:rPr>
              <a:t>e</a:t>
            </a:r>
            <a:r>
              <a:rPr sz="1300" spc="-35" dirty="0">
                <a:solidFill>
                  <a:srgbClr val="333333"/>
                </a:solidFill>
                <a:latin typeface="Roboto Lt"/>
                <a:cs typeface="Roboto Lt"/>
              </a:rPr>
              <a:t>ngin</a:t>
            </a:r>
            <a:r>
              <a:rPr sz="1300" spc="-10" dirty="0">
                <a:solidFill>
                  <a:srgbClr val="333333"/>
                </a:solidFill>
                <a:latin typeface="Roboto Lt"/>
                <a:cs typeface="Roboto Lt"/>
              </a:rPr>
              <a:t>e</a:t>
            </a:r>
            <a:r>
              <a:rPr sz="1300" spc="-20" dirty="0">
                <a:solidFill>
                  <a:srgbClr val="333333"/>
                </a:solidFill>
                <a:latin typeface="Roboto Lt"/>
                <a:cs typeface="Roboto Lt"/>
              </a:rPr>
              <a:t>e</a:t>
            </a:r>
            <a:r>
              <a:rPr sz="1300" spc="-35" dirty="0">
                <a:solidFill>
                  <a:srgbClr val="333333"/>
                </a:solidFill>
                <a:latin typeface="Roboto Lt"/>
                <a:cs typeface="Roboto Lt"/>
              </a:rPr>
              <a:t>rin</a:t>
            </a:r>
            <a:r>
              <a:rPr sz="1300" spc="-5" dirty="0">
                <a:solidFill>
                  <a:srgbClr val="333333"/>
                </a:solidFill>
                <a:latin typeface="Roboto Lt"/>
                <a:cs typeface="Roboto Lt"/>
              </a:rPr>
              <a:t>g  </a:t>
            </a:r>
            <a:r>
              <a:rPr sz="1300" spc="-25" dirty="0">
                <a:solidFill>
                  <a:srgbClr val="333333"/>
                </a:solidFill>
                <a:latin typeface="Roboto Lt"/>
                <a:cs typeface="Roboto Lt"/>
              </a:rPr>
              <a:t>process </a:t>
            </a:r>
            <a:r>
              <a:rPr sz="1300" spc="-35" dirty="0">
                <a:solidFill>
                  <a:srgbClr val="333333"/>
                </a:solidFill>
                <a:latin typeface="Roboto Lt"/>
                <a:cs typeface="Roboto Lt"/>
              </a:rPr>
              <a:t>by </a:t>
            </a:r>
            <a:r>
              <a:rPr sz="1300" spc="-25" dirty="0">
                <a:solidFill>
                  <a:srgbClr val="333333"/>
                </a:solidFill>
                <a:latin typeface="Roboto Lt"/>
                <a:cs typeface="Roboto Lt"/>
              </a:rPr>
              <a:t>modeling </a:t>
            </a:r>
            <a:r>
              <a:rPr sz="1300" spc="-15" dirty="0">
                <a:solidFill>
                  <a:srgbClr val="333333"/>
                </a:solidFill>
                <a:latin typeface="Roboto Lt"/>
                <a:cs typeface="Roboto Lt"/>
              </a:rPr>
              <a:t>it </a:t>
            </a:r>
            <a:r>
              <a:rPr sz="1300" spc="-25" dirty="0">
                <a:solidFill>
                  <a:srgbClr val="333333"/>
                </a:solidFill>
                <a:latin typeface="Roboto Lt"/>
                <a:cs typeface="Roboto Lt"/>
              </a:rPr>
              <a:t>after </a:t>
            </a:r>
            <a:r>
              <a:rPr sz="1300" spc="-30" dirty="0">
                <a:solidFill>
                  <a:srgbClr val="333333"/>
                </a:solidFill>
                <a:latin typeface="Roboto Lt"/>
                <a:cs typeface="Roboto Lt"/>
              </a:rPr>
              <a:t>how </a:t>
            </a:r>
            <a:r>
              <a:rPr sz="1300" spc="-25" dirty="0">
                <a:solidFill>
                  <a:srgbClr val="333333"/>
                </a:solidFill>
                <a:latin typeface="Roboto Lt"/>
                <a:cs typeface="Roboto Lt"/>
              </a:rPr>
              <a:t> </a:t>
            </a:r>
            <a:r>
              <a:rPr sz="1300" spc="-30" dirty="0">
                <a:solidFill>
                  <a:srgbClr val="333333"/>
                </a:solidFill>
                <a:latin typeface="Roboto Lt"/>
                <a:cs typeface="Roboto Lt"/>
              </a:rPr>
              <a:t>supermarkets </a:t>
            </a:r>
            <a:r>
              <a:rPr sz="1300" spc="-25" dirty="0">
                <a:solidFill>
                  <a:srgbClr val="333333"/>
                </a:solidFill>
                <a:latin typeface="Roboto Lt"/>
                <a:cs typeface="Roboto Lt"/>
              </a:rPr>
              <a:t>stock </a:t>
            </a:r>
            <a:r>
              <a:rPr sz="1300" spc="-30" dirty="0">
                <a:solidFill>
                  <a:srgbClr val="333333"/>
                </a:solidFill>
                <a:latin typeface="Roboto Lt"/>
                <a:cs typeface="Roboto Lt"/>
              </a:rPr>
              <a:t>shelves. </a:t>
            </a:r>
            <a:r>
              <a:rPr sz="1300" spc="-25" dirty="0">
                <a:solidFill>
                  <a:srgbClr val="333333"/>
                </a:solidFill>
                <a:latin typeface="Roboto Lt"/>
                <a:cs typeface="Roboto Lt"/>
              </a:rPr>
              <a:t>Engineer </a:t>
            </a:r>
            <a:r>
              <a:rPr sz="1300" spc="-45" dirty="0">
                <a:solidFill>
                  <a:srgbClr val="333333"/>
                </a:solidFill>
                <a:latin typeface="Roboto Lt"/>
                <a:cs typeface="Roboto Lt"/>
              </a:rPr>
              <a:t>Taiichi </a:t>
            </a:r>
            <a:r>
              <a:rPr sz="1300" spc="-40" dirty="0">
                <a:solidFill>
                  <a:srgbClr val="333333"/>
                </a:solidFill>
                <a:latin typeface="Roboto Lt"/>
                <a:cs typeface="Roboto Lt"/>
              </a:rPr>
              <a:t> </a:t>
            </a:r>
            <a:r>
              <a:rPr sz="1300" spc="-20" dirty="0">
                <a:solidFill>
                  <a:srgbClr val="333333"/>
                </a:solidFill>
                <a:latin typeface="Roboto Lt"/>
                <a:cs typeface="Roboto Lt"/>
              </a:rPr>
              <a:t>Ohno </a:t>
            </a:r>
            <a:r>
              <a:rPr sz="1300" spc="-25" dirty="0">
                <a:solidFill>
                  <a:srgbClr val="333333"/>
                </a:solidFill>
                <a:latin typeface="Roboto Lt"/>
                <a:cs typeface="Roboto Lt"/>
              </a:rPr>
              <a:t>noticed </a:t>
            </a:r>
            <a:r>
              <a:rPr sz="1300" spc="-30" dirty="0">
                <a:solidFill>
                  <a:srgbClr val="333333"/>
                </a:solidFill>
                <a:latin typeface="Roboto Lt"/>
                <a:cs typeface="Roboto Lt"/>
              </a:rPr>
              <a:t>that supermarkets </a:t>
            </a:r>
            <a:r>
              <a:rPr sz="1300" spc="-25" dirty="0">
                <a:solidFill>
                  <a:srgbClr val="333333"/>
                </a:solidFill>
                <a:latin typeface="Roboto Lt"/>
                <a:cs typeface="Roboto Lt"/>
              </a:rPr>
              <a:t>stock </a:t>
            </a:r>
            <a:r>
              <a:rPr sz="1300" spc="-30" dirty="0">
                <a:solidFill>
                  <a:srgbClr val="333333"/>
                </a:solidFill>
                <a:latin typeface="Roboto Lt"/>
                <a:cs typeface="Roboto Lt"/>
              </a:rPr>
              <a:t>just </a:t>
            </a:r>
            <a:r>
              <a:rPr sz="1300" spc="-25" dirty="0">
                <a:solidFill>
                  <a:srgbClr val="333333"/>
                </a:solidFill>
                <a:latin typeface="Roboto Lt"/>
                <a:cs typeface="Roboto Lt"/>
              </a:rPr>
              <a:t> enough product </a:t>
            </a:r>
            <a:r>
              <a:rPr sz="1300" spc="-30" dirty="0">
                <a:solidFill>
                  <a:srgbClr val="333333"/>
                </a:solidFill>
                <a:latin typeface="Roboto Lt"/>
                <a:cs typeface="Roboto Lt"/>
              </a:rPr>
              <a:t>to </a:t>
            </a:r>
            <a:r>
              <a:rPr sz="1300" spc="-15" dirty="0">
                <a:solidFill>
                  <a:srgbClr val="333333"/>
                </a:solidFill>
                <a:latin typeface="Roboto Lt"/>
                <a:cs typeface="Roboto Lt"/>
              </a:rPr>
              <a:t>meet </a:t>
            </a:r>
            <a:r>
              <a:rPr sz="1300" spc="-25" dirty="0">
                <a:solidFill>
                  <a:srgbClr val="333333"/>
                </a:solidFill>
                <a:latin typeface="Roboto Lt"/>
                <a:cs typeface="Roboto Lt"/>
              </a:rPr>
              <a:t>demand. </a:t>
            </a:r>
            <a:r>
              <a:rPr sz="1300" spc="-35" dirty="0">
                <a:solidFill>
                  <a:srgbClr val="333333"/>
                </a:solidFill>
                <a:latin typeface="Roboto Lt"/>
                <a:cs typeface="Roboto Lt"/>
              </a:rPr>
              <a:t>Inventory </a:t>
            </a:r>
            <a:r>
              <a:rPr sz="1300" spc="-30" dirty="0">
                <a:solidFill>
                  <a:srgbClr val="333333"/>
                </a:solidFill>
                <a:latin typeface="Roboto Lt"/>
                <a:cs typeface="Roboto Lt"/>
              </a:rPr>
              <a:t> would only </a:t>
            </a:r>
            <a:r>
              <a:rPr sz="1300" spc="-15" dirty="0">
                <a:solidFill>
                  <a:srgbClr val="333333"/>
                </a:solidFill>
                <a:latin typeface="Roboto Lt"/>
                <a:cs typeface="Roboto Lt"/>
              </a:rPr>
              <a:t>be </a:t>
            </a:r>
            <a:r>
              <a:rPr sz="1300" spc="-30" dirty="0">
                <a:solidFill>
                  <a:srgbClr val="333333"/>
                </a:solidFill>
                <a:latin typeface="Roboto Lt"/>
                <a:cs typeface="Roboto Lt"/>
              </a:rPr>
              <a:t>restocked </a:t>
            </a:r>
            <a:r>
              <a:rPr sz="1300" spc="-25" dirty="0">
                <a:solidFill>
                  <a:srgbClr val="333333"/>
                </a:solidFill>
                <a:latin typeface="Roboto Lt"/>
                <a:cs typeface="Roboto Lt"/>
              </a:rPr>
              <a:t>when </a:t>
            </a:r>
            <a:r>
              <a:rPr sz="1300" spc="-30" dirty="0">
                <a:solidFill>
                  <a:srgbClr val="333333"/>
                </a:solidFill>
                <a:latin typeface="Roboto Lt"/>
                <a:cs typeface="Roboto Lt"/>
              </a:rPr>
              <a:t>there was </a:t>
            </a:r>
            <a:r>
              <a:rPr sz="1300" spc="-25" dirty="0">
                <a:solidFill>
                  <a:srgbClr val="333333"/>
                </a:solidFill>
                <a:latin typeface="Roboto Lt"/>
                <a:cs typeface="Roboto Lt"/>
              </a:rPr>
              <a:t> empty</a:t>
            </a:r>
            <a:r>
              <a:rPr sz="1300" spc="-30" dirty="0">
                <a:solidFill>
                  <a:srgbClr val="333333"/>
                </a:solidFill>
                <a:latin typeface="Roboto Lt"/>
                <a:cs typeface="Roboto Lt"/>
              </a:rPr>
              <a:t> </a:t>
            </a:r>
            <a:r>
              <a:rPr sz="1300" spc="-25" dirty="0">
                <a:solidFill>
                  <a:srgbClr val="333333"/>
                </a:solidFill>
                <a:latin typeface="Roboto Lt"/>
                <a:cs typeface="Roboto Lt"/>
              </a:rPr>
              <a:t>space</a:t>
            </a:r>
            <a:r>
              <a:rPr sz="1300" spc="-30" dirty="0">
                <a:solidFill>
                  <a:srgbClr val="333333"/>
                </a:solidFill>
                <a:latin typeface="Roboto Lt"/>
                <a:cs typeface="Roboto Lt"/>
              </a:rPr>
              <a:t> </a:t>
            </a:r>
            <a:r>
              <a:rPr sz="1300" spc="-15" dirty="0">
                <a:solidFill>
                  <a:srgbClr val="333333"/>
                </a:solidFill>
                <a:latin typeface="Roboto Lt"/>
                <a:cs typeface="Roboto Lt"/>
              </a:rPr>
              <a:t>on</a:t>
            </a:r>
            <a:r>
              <a:rPr sz="1300" spc="-30" dirty="0">
                <a:solidFill>
                  <a:srgbClr val="333333"/>
                </a:solidFill>
                <a:latin typeface="Roboto Lt"/>
                <a:cs typeface="Roboto Lt"/>
              </a:rPr>
              <a:t> </a:t>
            </a:r>
            <a:r>
              <a:rPr sz="1300" spc="-25" dirty="0">
                <a:solidFill>
                  <a:srgbClr val="333333"/>
                </a:solidFill>
                <a:latin typeface="Roboto Lt"/>
                <a:cs typeface="Roboto Lt"/>
              </a:rPr>
              <a:t>the</a:t>
            </a:r>
            <a:r>
              <a:rPr sz="1300" spc="-30" dirty="0">
                <a:solidFill>
                  <a:srgbClr val="333333"/>
                </a:solidFill>
                <a:latin typeface="Roboto Lt"/>
                <a:cs typeface="Roboto Lt"/>
              </a:rPr>
              <a:t> </a:t>
            </a:r>
            <a:r>
              <a:rPr sz="1300" spc="-25" dirty="0">
                <a:solidFill>
                  <a:srgbClr val="333333"/>
                </a:solidFill>
                <a:latin typeface="Roboto Lt"/>
                <a:cs typeface="Roboto Lt"/>
              </a:rPr>
              <a:t>shelf</a:t>
            </a:r>
            <a:r>
              <a:rPr sz="1300" spc="-30" dirty="0">
                <a:solidFill>
                  <a:srgbClr val="333333"/>
                </a:solidFill>
                <a:latin typeface="Roboto Lt"/>
                <a:cs typeface="Roboto Lt"/>
              </a:rPr>
              <a:t> </a:t>
            </a:r>
            <a:r>
              <a:rPr sz="1300" spc="-40" dirty="0">
                <a:solidFill>
                  <a:srgbClr val="333333"/>
                </a:solidFill>
                <a:latin typeface="Roboto Lt"/>
                <a:cs typeface="Roboto Lt"/>
              </a:rPr>
              <a:t>(a</a:t>
            </a:r>
            <a:r>
              <a:rPr sz="1300" spc="-30" dirty="0">
                <a:solidFill>
                  <a:srgbClr val="333333"/>
                </a:solidFill>
                <a:latin typeface="Roboto Lt"/>
                <a:cs typeface="Roboto Lt"/>
              </a:rPr>
              <a:t> </a:t>
            </a:r>
            <a:r>
              <a:rPr sz="1300" spc="-35" dirty="0">
                <a:solidFill>
                  <a:srgbClr val="333333"/>
                </a:solidFill>
                <a:latin typeface="Roboto Lt"/>
                <a:cs typeface="Roboto Lt"/>
              </a:rPr>
              <a:t>visual</a:t>
            </a:r>
            <a:r>
              <a:rPr sz="1300" spc="-30" dirty="0">
                <a:solidFill>
                  <a:srgbClr val="333333"/>
                </a:solidFill>
                <a:latin typeface="Roboto Lt"/>
                <a:cs typeface="Roboto Lt"/>
              </a:rPr>
              <a:t> </a:t>
            </a:r>
            <a:r>
              <a:rPr sz="1300" spc="-35" dirty="0">
                <a:solidFill>
                  <a:srgbClr val="333333"/>
                </a:solidFill>
                <a:latin typeface="Roboto Lt"/>
                <a:cs typeface="Roboto Lt"/>
              </a:rPr>
              <a:t>cue).</a:t>
            </a:r>
            <a:endParaRPr sz="1300">
              <a:latin typeface="Roboto Lt"/>
              <a:cs typeface="Roboto Lt"/>
            </a:endParaRPr>
          </a:p>
        </p:txBody>
      </p:sp>
      <p:sp>
        <p:nvSpPr>
          <p:cNvPr id="6" name="object 6"/>
          <p:cNvSpPr txBox="1"/>
          <p:nvPr/>
        </p:nvSpPr>
        <p:spPr>
          <a:xfrm>
            <a:off x="5435600" y="2958301"/>
            <a:ext cx="3169285" cy="2197100"/>
          </a:xfrm>
          <a:prstGeom prst="rect">
            <a:avLst/>
          </a:prstGeom>
        </p:spPr>
        <p:txBody>
          <a:bodyPr vert="horz" wrap="square" lIns="0" tIns="12700" rIns="0" bIns="0" rtlCol="0">
            <a:spAutoFit/>
          </a:bodyPr>
          <a:lstStyle/>
          <a:p>
            <a:pPr marL="12700" marR="5080">
              <a:lnSpc>
                <a:spcPct val="121800"/>
              </a:lnSpc>
              <a:spcBef>
                <a:spcPts val="100"/>
              </a:spcBef>
            </a:pPr>
            <a:r>
              <a:rPr sz="1300" spc="-25" dirty="0">
                <a:solidFill>
                  <a:srgbClr val="333333"/>
                </a:solidFill>
                <a:latin typeface="Roboto Lt"/>
                <a:cs typeface="Roboto Lt"/>
              </a:rPr>
              <a:t>These </a:t>
            </a:r>
            <a:r>
              <a:rPr sz="1300" spc="-20" dirty="0">
                <a:solidFill>
                  <a:srgbClr val="333333"/>
                </a:solidFill>
                <a:latin typeface="Roboto Lt"/>
                <a:cs typeface="Roboto Lt"/>
              </a:rPr>
              <a:t>same </a:t>
            </a:r>
            <a:r>
              <a:rPr sz="1300" spc="-25" dirty="0">
                <a:solidFill>
                  <a:srgbClr val="333333"/>
                </a:solidFill>
                <a:latin typeface="Roboto Lt"/>
                <a:cs typeface="Roboto Lt"/>
              </a:rPr>
              <a:t>ideas </a:t>
            </a:r>
            <a:r>
              <a:rPr sz="1300" spc="-30" dirty="0">
                <a:solidFill>
                  <a:srgbClr val="333333"/>
                </a:solidFill>
                <a:latin typeface="Roboto Lt"/>
                <a:cs typeface="Roboto Lt"/>
              </a:rPr>
              <a:t>apply to </a:t>
            </a:r>
            <a:r>
              <a:rPr sz="1300" spc="-25" dirty="0">
                <a:solidFill>
                  <a:srgbClr val="333333"/>
                </a:solidFill>
                <a:latin typeface="Roboto Lt"/>
                <a:cs typeface="Roboto Lt"/>
              </a:rPr>
              <a:t>software </a:t>
            </a:r>
            <a:r>
              <a:rPr sz="1300" spc="-30" dirty="0">
                <a:solidFill>
                  <a:srgbClr val="333333"/>
                </a:solidFill>
                <a:latin typeface="Roboto Lt"/>
                <a:cs typeface="Roboto Lt"/>
              </a:rPr>
              <a:t>teams </a:t>
            </a:r>
            <a:r>
              <a:rPr sz="1300" spc="-25" dirty="0">
                <a:solidFill>
                  <a:srgbClr val="333333"/>
                </a:solidFill>
                <a:latin typeface="Roboto Lt"/>
                <a:cs typeface="Roboto Lt"/>
              </a:rPr>
              <a:t> and </a:t>
            </a:r>
            <a:r>
              <a:rPr sz="1300" spc="-15" dirty="0">
                <a:solidFill>
                  <a:srgbClr val="333333"/>
                </a:solidFill>
                <a:latin typeface="Roboto Lt"/>
                <a:cs typeface="Roboto Lt"/>
              </a:rPr>
              <a:t>IT </a:t>
            </a:r>
            <a:r>
              <a:rPr sz="1300" spc="-30" dirty="0">
                <a:solidFill>
                  <a:srgbClr val="333333"/>
                </a:solidFill>
                <a:latin typeface="Roboto Lt"/>
                <a:cs typeface="Roboto Lt"/>
              </a:rPr>
              <a:t>projects </a:t>
            </a:r>
            <a:r>
              <a:rPr sz="1300" spc="-45" dirty="0">
                <a:solidFill>
                  <a:srgbClr val="333333"/>
                </a:solidFill>
                <a:latin typeface="Roboto Lt"/>
                <a:cs typeface="Roboto Lt"/>
              </a:rPr>
              <a:t>today. </a:t>
            </a:r>
            <a:r>
              <a:rPr sz="1300" spc="-25" dirty="0">
                <a:solidFill>
                  <a:srgbClr val="333333"/>
                </a:solidFill>
                <a:latin typeface="Roboto Lt"/>
                <a:cs typeface="Roboto Lt"/>
              </a:rPr>
              <a:t>In </a:t>
            </a:r>
            <a:r>
              <a:rPr sz="1300" spc="-30" dirty="0">
                <a:solidFill>
                  <a:srgbClr val="333333"/>
                </a:solidFill>
                <a:latin typeface="Roboto Lt"/>
                <a:cs typeface="Roboto Lt"/>
              </a:rPr>
              <a:t>this </a:t>
            </a:r>
            <a:r>
              <a:rPr sz="1300" spc="-25" dirty="0">
                <a:solidFill>
                  <a:srgbClr val="333333"/>
                </a:solidFill>
                <a:latin typeface="Roboto Lt"/>
                <a:cs typeface="Roboto Lt"/>
              </a:rPr>
              <a:t>context, </a:t>
            </a:r>
            <a:r>
              <a:rPr sz="1300" spc="-20" dirty="0">
                <a:solidFill>
                  <a:srgbClr val="333333"/>
                </a:solidFill>
                <a:latin typeface="Roboto Lt"/>
                <a:cs typeface="Roboto Lt"/>
              </a:rPr>
              <a:t> </a:t>
            </a:r>
            <a:r>
              <a:rPr sz="1300" spc="-30" dirty="0">
                <a:solidFill>
                  <a:srgbClr val="333333"/>
                </a:solidFill>
                <a:latin typeface="Roboto Lt"/>
                <a:cs typeface="Roboto Lt"/>
              </a:rPr>
              <a:t>development</a:t>
            </a:r>
            <a:r>
              <a:rPr sz="1300" spc="-25" dirty="0">
                <a:solidFill>
                  <a:srgbClr val="333333"/>
                </a:solidFill>
                <a:latin typeface="Roboto Lt"/>
                <a:cs typeface="Roboto Lt"/>
              </a:rPr>
              <a:t> </a:t>
            </a:r>
            <a:r>
              <a:rPr sz="1300" spc="-50" dirty="0">
                <a:solidFill>
                  <a:srgbClr val="333333"/>
                </a:solidFill>
                <a:latin typeface="Roboto Lt"/>
                <a:cs typeface="Roboto Lt"/>
              </a:rPr>
              <a:t>work-in-progress</a:t>
            </a:r>
            <a:r>
              <a:rPr sz="1300" spc="-25" dirty="0">
                <a:solidFill>
                  <a:srgbClr val="333333"/>
                </a:solidFill>
                <a:latin typeface="Roboto Lt"/>
                <a:cs typeface="Roboto Lt"/>
              </a:rPr>
              <a:t> </a:t>
            </a:r>
            <a:r>
              <a:rPr sz="1300" spc="-15" dirty="0">
                <a:solidFill>
                  <a:srgbClr val="333333"/>
                </a:solidFill>
                <a:latin typeface="Roboto Lt"/>
                <a:cs typeface="Roboto Lt"/>
              </a:rPr>
              <a:t>(WIP)</a:t>
            </a:r>
            <a:r>
              <a:rPr sz="1300" spc="-25" dirty="0">
                <a:solidFill>
                  <a:srgbClr val="333333"/>
                </a:solidFill>
                <a:latin typeface="Roboto Lt"/>
                <a:cs typeface="Roboto Lt"/>
              </a:rPr>
              <a:t> </a:t>
            </a:r>
            <a:r>
              <a:rPr sz="1300" spc="-35" dirty="0">
                <a:solidFill>
                  <a:srgbClr val="333333"/>
                </a:solidFill>
                <a:latin typeface="Roboto Lt"/>
                <a:cs typeface="Roboto Lt"/>
              </a:rPr>
              <a:t>takes </a:t>
            </a:r>
            <a:r>
              <a:rPr sz="1300" spc="-30" dirty="0">
                <a:solidFill>
                  <a:srgbClr val="333333"/>
                </a:solidFill>
                <a:latin typeface="Roboto Lt"/>
                <a:cs typeface="Roboto Lt"/>
              </a:rPr>
              <a:t> </a:t>
            </a:r>
            <a:r>
              <a:rPr sz="1300" spc="-25" dirty="0">
                <a:solidFill>
                  <a:srgbClr val="333333"/>
                </a:solidFill>
                <a:latin typeface="Roboto Lt"/>
                <a:cs typeface="Roboto Lt"/>
              </a:rPr>
              <a:t>the place </a:t>
            </a:r>
            <a:r>
              <a:rPr sz="1300" spc="-15" dirty="0">
                <a:solidFill>
                  <a:srgbClr val="333333"/>
                </a:solidFill>
                <a:latin typeface="Roboto Lt"/>
                <a:cs typeface="Roboto Lt"/>
              </a:rPr>
              <a:t>of </a:t>
            </a:r>
            <a:r>
              <a:rPr sz="1300" spc="-40" dirty="0">
                <a:solidFill>
                  <a:srgbClr val="333333"/>
                </a:solidFill>
                <a:latin typeface="Roboto Lt"/>
                <a:cs typeface="Roboto Lt"/>
              </a:rPr>
              <a:t>inventory, </a:t>
            </a:r>
            <a:r>
              <a:rPr sz="1300" spc="-25" dirty="0">
                <a:solidFill>
                  <a:srgbClr val="333333"/>
                </a:solidFill>
                <a:latin typeface="Roboto Lt"/>
                <a:cs typeface="Roboto Lt"/>
              </a:rPr>
              <a:t>and new work </a:t>
            </a:r>
            <a:r>
              <a:rPr sz="1300" spc="-20" dirty="0">
                <a:solidFill>
                  <a:srgbClr val="333333"/>
                </a:solidFill>
                <a:latin typeface="Roboto Lt"/>
                <a:cs typeface="Roboto Lt"/>
              </a:rPr>
              <a:t>can </a:t>
            </a:r>
            <a:r>
              <a:rPr sz="1300" spc="-30" dirty="0">
                <a:solidFill>
                  <a:srgbClr val="333333"/>
                </a:solidFill>
                <a:latin typeface="Roboto Lt"/>
                <a:cs typeface="Roboto Lt"/>
              </a:rPr>
              <a:t>only </a:t>
            </a:r>
            <a:r>
              <a:rPr sz="1300" spc="-305" dirty="0">
                <a:solidFill>
                  <a:srgbClr val="333333"/>
                </a:solidFill>
                <a:latin typeface="Roboto Lt"/>
                <a:cs typeface="Roboto Lt"/>
              </a:rPr>
              <a:t> </a:t>
            </a:r>
            <a:r>
              <a:rPr sz="1300" spc="-15" dirty="0">
                <a:solidFill>
                  <a:srgbClr val="333333"/>
                </a:solidFill>
                <a:latin typeface="Roboto Lt"/>
                <a:cs typeface="Roboto Lt"/>
              </a:rPr>
              <a:t>be </a:t>
            </a:r>
            <a:r>
              <a:rPr sz="1300" spc="-20" dirty="0">
                <a:solidFill>
                  <a:srgbClr val="333333"/>
                </a:solidFill>
                <a:latin typeface="Roboto Lt"/>
                <a:cs typeface="Roboto Lt"/>
              </a:rPr>
              <a:t>added </a:t>
            </a:r>
            <a:r>
              <a:rPr sz="1300" spc="-25" dirty="0">
                <a:solidFill>
                  <a:srgbClr val="333333"/>
                </a:solidFill>
                <a:latin typeface="Roboto Lt"/>
                <a:cs typeface="Roboto Lt"/>
              </a:rPr>
              <a:t>when </a:t>
            </a:r>
            <a:r>
              <a:rPr sz="1300" spc="-30" dirty="0">
                <a:solidFill>
                  <a:srgbClr val="333333"/>
                </a:solidFill>
                <a:latin typeface="Roboto Lt"/>
                <a:cs typeface="Roboto Lt"/>
              </a:rPr>
              <a:t>there </a:t>
            </a:r>
            <a:r>
              <a:rPr sz="1300" spc="-25" dirty="0">
                <a:solidFill>
                  <a:srgbClr val="333333"/>
                </a:solidFill>
                <a:latin typeface="Roboto Lt"/>
                <a:cs typeface="Roboto Lt"/>
              </a:rPr>
              <a:t>is an </a:t>
            </a:r>
            <a:r>
              <a:rPr sz="1300" spc="-40" dirty="0">
                <a:solidFill>
                  <a:srgbClr val="333333"/>
                </a:solidFill>
                <a:latin typeface="Roboto Lt"/>
                <a:cs typeface="Roboto Lt"/>
              </a:rPr>
              <a:t>“empty </a:t>
            </a:r>
            <a:r>
              <a:rPr sz="1300" spc="-35" dirty="0">
                <a:solidFill>
                  <a:srgbClr val="333333"/>
                </a:solidFill>
                <a:latin typeface="Roboto Lt"/>
                <a:cs typeface="Roboto Lt"/>
              </a:rPr>
              <a:t>space” </a:t>
            </a:r>
            <a:r>
              <a:rPr sz="1300" spc="-15" dirty="0">
                <a:solidFill>
                  <a:srgbClr val="333333"/>
                </a:solidFill>
                <a:latin typeface="Roboto Lt"/>
                <a:cs typeface="Roboto Lt"/>
              </a:rPr>
              <a:t>on </a:t>
            </a:r>
            <a:r>
              <a:rPr sz="1300" spc="-10" dirty="0">
                <a:solidFill>
                  <a:srgbClr val="333333"/>
                </a:solidFill>
                <a:latin typeface="Roboto Lt"/>
                <a:cs typeface="Roboto Lt"/>
              </a:rPr>
              <a:t> </a:t>
            </a:r>
            <a:r>
              <a:rPr sz="1300" spc="-35" dirty="0">
                <a:solidFill>
                  <a:srgbClr val="333333"/>
                </a:solidFill>
                <a:latin typeface="Roboto Lt"/>
                <a:cs typeface="Roboto Lt"/>
              </a:rPr>
              <a:t>t</a:t>
            </a:r>
            <a:r>
              <a:rPr sz="1300" spc="-40" dirty="0">
                <a:solidFill>
                  <a:srgbClr val="333333"/>
                </a:solidFill>
                <a:latin typeface="Roboto Lt"/>
                <a:cs typeface="Roboto Lt"/>
              </a:rPr>
              <a:t>h</a:t>
            </a:r>
            <a:r>
              <a:rPr sz="1300" dirty="0">
                <a:solidFill>
                  <a:srgbClr val="333333"/>
                </a:solidFill>
                <a:latin typeface="Roboto Lt"/>
                <a:cs typeface="Roboto Lt"/>
              </a:rPr>
              <a:t>e</a:t>
            </a:r>
            <a:r>
              <a:rPr sz="1300" spc="-30" dirty="0">
                <a:solidFill>
                  <a:srgbClr val="333333"/>
                </a:solidFill>
                <a:latin typeface="Roboto Lt"/>
                <a:cs typeface="Roboto Lt"/>
              </a:rPr>
              <a:t> </a:t>
            </a:r>
            <a:r>
              <a:rPr sz="1300" spc="-60" dirty="0">
                <a:solidFill>
                  <a:srgbClr val="333333"/>
                </a:solidFill>
                <a:latin typeface="Roboto Lt"/>
                <a:cs typeface="Roboto Lt"/>
              </a:rPr>
              <a:t>t</a:t>
            </a:r>
            <a:r>
              <a:rPr sz="1300" spc="-25" dirty="0">
                <a:solidFill>
                  <a:srgbClr val="333333"/>
                </a:solidFill>
                <a:latin typeface="Roboto Lt"/>
                <a:cs typeface="Roboto Lt"/>
              </a:rPr>
              <a:t>e</a:t>
            </a:r>
            <a:r>
              <a:rPr sz="1300" spc="-30" dirty="0">
                <a:solidFill>
                  <a:srgbClr val="333333"/>
                </a:solidFill>
                <a:latin typeface="Roboto Lt"/>
                <a:cs typeface="Roboto Lt"/>
              </a:rPr>
              <a:t>a</a:t>
            </a:r>
            <a:r>
              <a:rPr sz="1300" spc="-40" dirty="0">
                <a:solidFill>
                  <a:srgbClr val="333333"/>
                </a:solidFill>
                <a:latin typeface="Roboto Lt"/>
                <a:cs typeface="Roboto Lt"/>
              </a:rPr>
              <a:t>m</a:t>
            </a:r>
            <a:r>
              <a:rPr sz="1300" spc="-135" dirty="0">
                <a:solidFill>
                  <a:srgbClr val="333333"/>
                </a:solidFill>
                <a:latin typeface="Roboto Lt"/>
                <a:cs typeface="Roboto Lt"/>
              </a:rPr>
              <a:t>’</a:t>
            </a:r>
            <a:r>
              <a:rPr sz="1300" spc="-5" dirty="0">
                <a:solidFill>
                  <a:srgbClr val="333333"/>
                </a:solidFill>
                <a:latin typeface="Roboto Lt"/>
                <a:cs typeface="Roboto Lt"/>
              </a:rPr>
              <a:t>s</a:t>
            </a:r>
            <a:r>
              <a:rPr sz="1300" spc="-30" dirty="0">
                <a:solidFill>
                  <a:srgbClr val="333333"/>
                </a:solidFill>
                <a:latin typeface="Roboto Lt"/>
                <a:cs typeface="Roboto Lt"/>
              </a:rPr>
              <a:t> </a:t>
            </a:r>
            <a:r>
              <a:rPr sz="1300" spc="-40" dirty="0">
                <a:solidFill>
                  <a:srgbClr val="333333"/>
                </a:solidFill>
                <a:latin typeface="Roboto Lt"/>
                <a:cs typeface="Roboto Lt"/>
              </a:rPr>
              <a:t>vi</a:t>
            </a:r>
            <a:r>
              <a:rPr sz="1300" spc="-35" dirty="0">
                <a:solidFill>
                  <a:srgbClr val="333333"/>
                </a:solidFill>
                <a:latin typeface="Roboto Lt"/>
                <a:cs typeface="Roboto Lt"/>
              </a:rPr>
              <a:t>su</a:t>
            </a:r>
            <a:r>
              <a:rPr sz="1300" spc="-40" dirty="0">
                <a:solidFill>
                  <a:srgbClr val="333333"/>
                </a:solidFill>
                <a:latin typeface="Roboto Lt"/>
                <a:cs typeface="Roboto Lt"/>
              </a:rPr>
              <a:t>a</a:t>
            </a:r>
            <a:r>
              <a:rPr sz="1300" spc="-5" dirty="0">
                <a:solidFill>
                  <a:srgbClr val="333333"/>
                </a:solidFill>
                <a:latin typeface="Roboto Lt"/>
                <a:cs typeface="Roboto Lt"/>
              </a:rPr>
              <a:t>l</a:t>
            </a:r>
            <a:r>
              <a:rPr sz="1300" spc="-30" dirty="0">
                <a:solidFill>
                  <a:srgbClr val="333333"/>
                </a:solidFill>
                <a:latin typeface="Roboto Lt"/>
                <a:cs typeface="Roboto Lt"/>
              </a:rPr>
              <a:t> </a:t>
            </a:r>
            <a:r>
              <a:rPr sz="1300" spc="-10" dirty="0">
                <a:solidFill>
                  <a:srgbClr val="333333"/>
                </a:solidFill>
                <a:latin typeface="Roboto Lt"/>
                <a:cs typeface="Roboto Lt"/>
              </a:rPr>
              <a:t>K</a:t>
            </a:r>
            <a:r>
              <a:rPr sz="1300" spc="-35" dirty="0">
                <a:solidFill>
                  <a:srgbClr val="333333"/>
                </a:solidFill>
                <a:latin typeface="Roboto Lt"/>
                <a:cs typeface="Roboto Lt"/>
              </a:rPr>
              <a:t>anba</a:t>
            </a:r>
            <a:r>
              <a:rPr sz="1300" spc="-10" dirty="0">
                <a:solidFill>
                  <a:srgbClr val="333333"/>
                </a:solidFill>
                <a:latin typeface="Roboto Lt"/>
                <a:cs typeface="Roboto Lt"/>
              </a:rPr>
              <a:t>n</a:t>
            </a:r>
            <a:r>
              <a:rPr sz="1300" spc="-30" dirty="0">
                <a:solidFill>
                  <a:srgbClr val="333333"/>
                </a:solidFill>
                <a:latin typeface="Roboto Lt"/>
                <a:cs typeface="Roboto Lt"/>
              </a:rPr>
              <a:t> </a:t>
            </a:r>
            <a:r>
              <a:rPr sz="1300" spc="-25" dirty="0">
                <a:solidFill>
                  <a:srgbClr val="333333"/>
                </a:solidFill>
                <a:latin typeface="Roboto Lt"/>
                <a:cs typeface="Roboto Lt"/>
              </a:rPr>
              <a:t>bo</a:t>
            </a:r>
            <a:r>
              <a:rPr sz="1300" spc="-35" dirty="0">
                <a:solidFill>
                  <a:srgbClr val="333333"/>
                </a:solidFill>
                <a:latin typeface="Roboto Lt"/>
                <a:cs typeface="Roboto Lt"/>
              </a:rPr>
              <a:t>a</a:t>
            </a:r>
            <a:r>
              <a:rPr sz="1300" spc="-45" dirty="0">
                <a:solidFill>
                  <a:srgbClr val="333333"/>
                </a:solidFill>
                <a:latin typeface="Roboto Lt"/>
                <a:cs typeface="Roboto Lt"/>
              </a:rPr>
              <a:t>r</a:t>
            </a:r>
            <a:r>
              <a:rPr sz="1300" spc="-25" dirty="0">
                <a:solidFill>
                  <a:srgbClr val="333333"/>
                </a:solidFill>
                <a:latin typeface="Roboto Lt"/>
                <a:cs typeface="Roboto Lt"/>
              </a:rPr>
              <a:t>d</a:t>
            </a:r>
            <a:r>
              <a:rPr sz="1300" dirty="0">
                <a:solidFill>
                  <a:srgbClr val="333333"/>
                </a:solidFill>
                <a:latin typeface="Roboto Lt"/>
                <a:cs typeface="Roboto Lt"/>
              </a:rPr>
              <a:t>.</a:t>
            </a:r>
            <a:r>
              <a:rPr sz="1300" spc="-30" dirty="0">
                <a:solidFill>
                  <a:srgbClr val="333333"/>
                </a:solidFill>
                <a:latin typeface="Roboto Lt"/>
                <a:cs typeface="Roboto Lt"/>
              </a:rPr>
              <a:t> </a:t>
            </a:r>
            <a:r>
              <a:rPr sz="1300" spc="-10" dirty="0">
                <a:solidFill>
                  <a:srgbClr val="333333"/>
                </a:solidFill>
                <a:latin typeface="Roboto Lt"/>
                <a:cs typeface="Roboto Lt"/>
              </a:rPr>
              <a:t>K</a:t>
            </a:r>
            <a:r>
              <a:rPr sz="1300" spc="-35" dirty="0">
                <a:solidFill>
                  <a:srgbClr val="333333"/>
                </a:solidFill>
                <a:latin typeface="Roboto Lt"/>
                <a:cs typeface="Roboto Lt"/>
              </a:rPr>
              <a:t>anba</a:t>
            </a:r>
            <a:r>
              <a:rPr sz="1300" spc="-10" dirty="0">
                <a:solidFill>
                  <a:srgbClr val="333333"/>
                </a:solidFill>
                <a:latin typeface="Roboto Lt"/>
                <a:cs typeface="Roboto Lt"/>
              </a:rPr>
              <a:t>n  </a:t>
            </a:r>
            <a:r>
              <a:rPr sz="1300" spc="-30" dirty="0">
                <a:solidFill>
                  <a:srgbClr val="333333"/>
                </a:solidFill>
                <a:latin typeface="Roboto Lt"/>
                <a:cs typeface="Roboto Lt"/>
              </a:rPr>
              <a:t>matches </a:t>
            </a:r>
            <a:r>
              <a:rPr sz="1300" spc="-25" dirty="0">
                <a:solidFill>
                  <a:srgbClr val="333333"/>
                </a:solidFill>
                <a:latin typeface="Roboto Lt"/>
                <a:cs typeface="Roboto Lt"/>
              </a:rPr>
              <a:t>the amount </a:t>
            </a:r>
            <a:r>
              <a:rPr sz="1300" spc="-15" dirty="0">
                <a:solidFill>
                  <a:srgbClr val="333333"/>
                </a:solidFill>
                <a:latin typeface="Roboto Lt"/>
                <a:cs typeface="Roboto Lt"/>
              </a:rPr>
              <a:t>of WIP </a:t>
            </a:r>
            <a:r>
              <a:rPr sz="1300" spc="-30" dirty="0">
                <a:solidFill>
                  <a:srgbClr val="333333"/>
                </a:solidFill>
                <a:latin typeface="Roboto Lt"/>
                <a:cs typeface="Roboto Lt"/>
              </a:rPr>
              <a:t>to </a:t>
            </a:r>
            <a:r>
              <a:rPr sz="1300" spc="-25" dirty="0">
                <a:solidFill>
                  <a:srgbClr val="333333"/>
                </a:solidFill>
                <a:latin typeface="Roboto Lt"/>
                <a:cs typeface="Roboto Lt"/>
              </a:rPr>
              <a:t>the </a:t>
            </a:r>
            <a:r>
              <a:rPr sz="1300" spc="-50" dirty="0">
                <a:solidFill>
                  <a:srgbClr val="333333"/>
                </a:solidFill>
                <a:latin typeface="Roboto Lt"/>
                <a:cs typeface="Roboto Lt"/>
              </a:rPr>
              <a:t>team’s </a:t>
            </a:r>
            <a:r>
              <a:rPr sz="1300" spc="-45" dirty="0">
                <a:solidFill>
                  <a:srgbClr val="333333"/>
                </a:solidFill>
                <a:latin typeface="Roboto Lt"/>
                <a:cs typeface="Roboto Lt"/>
              </a:rPr>
              <a:t> </a:t>
            </a:r>
            <a:r>
              <a:rPr sz="1300" spc="-30" dirty="0">
                <a:solidFill>
                  <a:srgbClr val="333333"/>
                </a:solidFill>
                <a:latin typeface="Roboto Lt"/>
                <a:cs typeface="Roboto Lt"/>
              </a:rPr>
              <a:t>capacity, </a:t>
            </a:r>
            <a:r>
              <a:rPr sz="1300" spc="-35" dirty="0">
                <a:solidFill>
                  <a:srgbClr val="333333"/>
                </a:solidFill>
                <a:latin typeface="Roboto Lt"/>
                <a:cs typeface="Roboto Lt"/>
              </a:rPr>
              <a:t>improving </a:t>
            </a:r>
            <a:r>
              <a:rPr sz="1300" spc="-30" dirty="0">
                <a:solidFill>
                  <a:srgbClr val="333333"/>
                </a:solidFill>
                <a:latin typeface="Roboto Lt"/>
                <a:cs typeface="Roboto Lt"/>
              </a:rPr>
              <a:t>flexibility, </a:t>
            </a:r>
            <a:r>
              <a:rPr sz="1300" spc="-35" dirty="0">
                <a:solidFill>
                  <a:srgbClr val="333333"/>
                </a:solidFill>
                <a:latin typeface="Roboto Lt"/>
                <a:cs typeface="Roboto Lt"/>
              </a:rPr>
              <a:t>transparency, </a:t>
            </a:r>
            <a:r>
              <a:rPr sz="1300" spc="-30" dirty="0">
                <a:solidFill>
                  <a:srgbClr val="333333"/>
                </a:solidFill>
                <a:latin typeface="Roboto Lt"/>
                <a:cs typeface="Roboto Lt"/>
              </a:rPr>
              <a:t> </a:t>
            </a:r>
            <a:r>
              <a:rPr sz="1300" spc="-25" dirty="0">
                <a:solidFill>
                  <a:srgbClr val="333333"/>
                </a:solidFill>
                <a:latin typeface="Roboto Lt"/>
                <a:cs typeface="Roboto Lt"/>
              </a:rPr>
              <a:t>and</a:t>
            </a:r>
            <a:r>
              <a:rPr sz="1300" spc="-35" dirty="0">
                <a:solidFill>
                  <a:srgbClr val="333333"/>
                </a:solidFill>
                <a:latin typeface="Roboto Lt"/>
                <a:cs typeface="Roboto Lt"/>
              </a:rPr>
              <a:t> </a:t>
            </a:r>
            <a:r>
              <a:rPr sz="1300" spc="-25" dirty="0">
                <a:solidFill>
                  <a:srgbClr val="333333"/>
                </a:solidFill>
                <a:latin typeface="Roboto Lt"/>
                <a:cs typeface="Roboto Lt"/>
              </a:rPr>
              <a:t>output.</a:t>
            </a:r>
            <a:endParaRPr sz="1300">
              <a:latin typeface="Roboto Lt"/>
              <a:cs typeface="Roboto L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5943600"/>
            <a:chOff x="0" y="0"/>
            <a:chExt cx="9144000" cy="5943600"/>
          </a:xfrm>
        </p:grpSpPr>
        <p:sp>
          <p:nvSpPr>
            <p:cNvPr id="3" name="object 3"/>
            <p:cNvSpPr/>
            <p:nvPr/>
          </p:nvSpPr>
          <p:spPr>
            <a:xfrm>
              <a:off x="3644900" y="0"/>
              <a:ext cx="5499100" cy="2368550"/>
            </a:xfrm>
            <a:custGeom>
              <a:avLst/>
              <a:gdLst/>
              <a:ahLst/>
              <a:cxnLst/>
              <a:rect l="l" t="t" r="r" b="b"/>
              <a:pathLst>
                <a:path w="5499100" h="2368550">
                  <a:moveTo>
                    <a:pt x="5499100" y="0"/>
                  </a:moveTo>
                  <a:lnTo>
                    <a:pt x="0" y="0"/>
                  </a:lnTo>
                  <a:lnTo>
                    <a:pt x="0" y="2368524"/>
                  </a:lnTo>
                  <a:lnTo>
                    <a:pt x="5499100" y="2368524"/>
                  </a:lnTo>
                  <a:lnTo>
                    <a:pt x="5499100" y="0"/>
                  </a:lnTo>
                  <a:close/>
                </a:path>
              </a:pathLst>
            </a:custGeom>
            <a:solidFill>
              <a:srgbClr val="212121"/>
            </a:solidFill>
          </p:spPr>
          <p:txBody>
            <a:bodyPr wrap="square" lIns="0" tIns="0" rIns="0" bIns="0" rtlCol="0"/>
            <a:lstStyle/>
            <a:p>
              <a:endParaRPr/>
            </a:p>
          </p:txBody>
        </p:sp>
        <p:sp>
          <p:nvSpPr>
            <p:cNvPr id="4" name="object 4"/>
            <p:cNvSpPr/>
            <p:nvPr/>
          </p:nvSpPr>
          <p:spPr>
            <a:xfrm>
              <a:off x="7230236" y="184632"/>
              <a:ext cx="13970" cy="2142490"/>
            </a:xfrm>
            <a:custGeom>
              <a:avLst/>
              <a:gdLst/>
              <a:ahLst/>
              <a:cxnLst/>
              <a:rect l="l" t="t" r="r" b="b"/>
              <a:pathLst>
                <a:path w="13970" h="2142490">
                  <a:moveTo>
                    <a:pt x="13627" y="0"/>
                  </a:moveTo>
                  <a:lnTo>
                    <a:pt x="0" y="0"/>
                  </a:lnTo>
                  <a:lnTo>
                    <a:pt x="0" y="2142058"/>
                  </a:lnTo>
                  <a:lnTo>
                    <a:pt x="13627" y="2142058"/>
                  </a:lnTo>
                  <a:lnTo>
                    <a:pt x="13627" y="0"/>
                  </a:lnTo>
                  <a:close/>
                </a:path>
              </a:pathLst>
            </a:custGeom>
            <a:solidFill>
              <a:srgbClr val="FFFFFF"/>
            </a:solidFill>
          </p:spPr>
          <p:txBody>
            <a:bodyPr wrap="square" lIns="0" tIns="0" rIns="0" bIns="0" rtlCol="0"/>
            <a:lstStyle/>
            <a:p>
              <a:endParaRPr/>
            </a:p>
          </p:txBody>
        </p:sp>
        <p:sp>
          <p:nvSpPr>
            <p:cNvPr id="5" name="object 5"/>
            <p:cNvSpPr/>
            <p:nvPr/>
          </p:nvSpPr>
          <p:spPr>
            <a:xfrm>
              <a:off x="4097515" y="585977"/>
              <a:ext cx="304800" cy="294640"/>
            </a:xfrm>
            <a:custGeom>
              <a:avLst/>
              <a:gdLst/>
              <a:ahLst/>
              <a:cxnLst/>
              <a:rect l="l" t="t" r="r" b="b"/>
              <a:pathLst>
                <a:path w="304800" h="294640">
                  <a:moveTo>
                    <a:pt x="304190" y="0"/>
                  </a:moveTo>
                  <a:lnTo>
                    <a:pt x="0" y="0"/>
                  </a:lnTo>
                  <a:lnTo>
                    <a:pt x="0" y="294208"/>
                  </a:lnTo>
                  <a:lnTo>
                    <a:pt x="304190" y="294208"/>
                  </a:lnTo>
                  <a:lnTo>
                    <a:pt x="304190" y="0"/>
                  </a:lnTo>
                  <a:close/>
                </a:path>
              </a:pathLst>
            </a:custGeom>
            <a:solidFill>
              <a:srgbClr val="FFD32A"/>
            </a:solidFill>
          </p:spPr>
          <p:txBody>
            <a:bodyPr wrap="square" lIns="0" tIns="0" rIns="0" bIns="0" rtlCol="0"/>
            <a:lstStyle/>
            <a:p>
              <a:endParaRPr/>
            </a:p>
          </p:txBody>
        </p:sp>
        <p:sp>
          <p:nvSpPr>
            <p:cNvPr id="6" name="object 6"/>
            <p:cNvSpPr/>
            <p:nvPr/>
          </p:nvSpPr>
          <p:spPr>
            <a:xfrm>
              <a:off x="4137482" y="680427"/>
              <a:ext cx="215265" cy="93980"/>
            </a:xfrm>
            <a:custGeom>
              <a:avLst/>
              <a:gdLst/>
              <a:ahLst/>
              <a:cxnLst/>
              <a:rect l="l" t="t" r="r" b="b"/>
              <a:pathLst>
                <a:path w="215264" h="93979">
                  <a:moveTo>
                    <a:pt x="133477" y="0"/>
                  </a:moveTo>
                  <a:lnTo>
                    <a:pt x="0" y="0"/>
                  </a:lnTo>
                  <a:lnTo>
                    <a:pt x="0" y="21793"/>
                  </a:lnTo>
                  <a:lnTo>
                    <a:pt x="133477" y="21793"/>
                  </a:lnTo>
                  <a:lnTo>
                    <a:pt x="133477" y="0"/>
                  </a:lnTo>
                  <a:close/>
                </a:path>
                <a:path w="215264" h="93979">
                  <a:moveTo>
                    <a:pt x="215188" y="77177"/>
                  </a:moveTo>
                  <a:lnTo>
                    <a:pt x="2705" y="77177"/>
                  </a:lnTo>
                  <a:lnTo>
                    <a:pt x="2705" y="93522"/>
                  </a:lnTo>
                  <a:lnTo>
                    <a:pt x="215188" y="93522"/>
                  </a:lnTo>
                  <a:lnTo>
                    <a:pt x="215188" y="77177"/>
                  </a:lnTo>
                  <a:close/>
                </a:path>
                <a:path w="215264" h="93979">
                  <a:moveTo>
                    <a:pt x="215188" y="41783"/>
                  </a:moveTo>
                  <a:lnTo>
                    <a:pt x="2705" y="41783"/>
                  </a:lnTo>
                  <a:lnTo>
                    <a:pt x="2705" y="58115"/>
                  </a:lnTo>
                  <a:lnTo>
                    <a:pt x="215188" y="58115"/>
                  </a:lnTo>
                  <a:lnTo>
                    <a:pt x="215188" y="41783"/>
                  </a:lnTo>
                  <a:close/>
                </a:path>
              </a:pathLst>
            </a:custGeom>
            <a:solidFill>
              <a:srgbClr val="3E3E3E"/>
            </a:solidFill>
          </p:spPr>
          <p:txBody>
            <a:bodyPr wrap="square" lIns="0" tIns="0" rIns="0" bIns="0" rtlCol="0"/>
            <a:lstStyle/>
            <a:p>
              <a:endParaRPr/>
            </a:p>
          </p:txBody>
        </p:sp>
        <p:sp>
          <p:nvSpPr>
            <p:cNvPr id="7" name="object 7"/>
            <p:cNvSpPr/>
            <p:nvPr/>
          </p:nvSpPr>
          <p:spPr>
            <a:xfrm>
              <a:off x="4309998" y="921042"/>
              <a:ext cx="304800" cy="294640"/>
            </a:xfrm>
            <a:custGeom>
              <a:avLst/>
              <a:gdLst/>
              <a:ahLst/>
              <a:cxnLst/>
              <a:rect l="l" t="t" r="r" b="b"/>
              <a:pathLst>
                <a:path w="304800" h="294640">
                  <a:moveTo>
                    <a:pt x="304190" y="0"/>
                  </a:moveTo>
                  <a:lnTo>
                    <a:pt x="0" y="0"/>
                  </a:lnTo>
                  <a:lnTo>
                    <a:pt x="0" y="294208"/>
                  </a:lnTo>
                  <a:lnTo>
                    <a:pt x="304190" y="294208"/>
                  </a:lnTo>
                  <a:lnTo>
                    <a:pt x="304190" y="0"/>
                  </a:lnTo>
                  <a:close/>
                </a:path>
              </a:pathLst>
            </a:custGeom>
            <a:solidFill>
              <a:srgbClr val="FFD32A"/>
            </a:solidFill>
          </p:spPr>
          <p:txBody>
            <a:bodyPr wrap="square" lIns="0" tIns="0" rIns="0" bIns="0" rtlCol="0"/>
            <a:lstStyle/>
            <a:p>
              <a:endParaRPr/>
            </a:p>
          </p:txBody>
        </p:sp>
        <p:sp>
          <p:nvSpPr>
            <p:cNvPr id="8" name="object 8"/>
            <p:cNvSpPr/>
            <p:nvPr/>
          </p:nvSpPr>
          <p:spPr>
            <a:xfrm>
              <a:off x="4349953" y="1015491"/>
              <a:ext cx="215265" cy="93980"/>
            </a:xfrm>
            <a:custGeom>
              <a:avLst/>
              <a:gdLst/>
              <a:ahLst/>
              <a:cxnLst/>
              <a:rect l="l" t="t" r="r" b="b"/>
              <a:pathLst>
                <a:path w="215264" h="93980">
                  <a:moveTo>
                    <a:pt x="133477" y="0"/>
                  </a:moveTo>
                  <a:lnTo>
                    <a:pt x="0" y="0"/>
                  </a:lnTo>
                  <a:lnTo>
                    <a:pt x="0" y="21793"/>
                  </a:lnTo>
                  <a:lnTo>
                    <a:pt x="133477" y="21793"/>
                  </a:lnTo>
                  <a:lnTo>
                    <a:pt x="133477" y="0"/>
                  </a:lnTo>
                  <a:close/>
                </a:path>
                <a:path w="215264" h="93980">
                  <a:moveTo>
                    <a:pt x="215201" y="77190"/>
                  </a:moveTo>
                  <a:lnTo>
                    <a:pt x="2717" y="77190"/>
                  </a:lnTo>
                  <a:lnTo>
                    <a:pt x="2717" y="93522"/>
                  </a:lnTo>
                  <a:lnTo>
                    <a:pt x="215201" y="93522"/>
                  </a:lnTo>
                  <a:lnTo>
                    <a:pt x="215201" y="77190"/>
                  </a:lnTo>
                  <a:close/>
                </a:path>
                <a:path w="215264" h="93980">
                  <a:moveTo>
                    <a:pt x="215201" y="41770"/>
                  </a:moveTo>
                  <a:lnTo>
                    <a:pt x="2717" y="41770"/>
                  </a:lnTo>
                  <a:lnTo>
                    <a:pt x="2717" y="58115"/>
                  </a:lnTo>
                  <a:lnTo>
                    <a:pt x="215201" y="58115"/>
                  </a:lnTo>
                  <a:lnTo>
                    <a:pt x="215201" y="41770"/>
                  </a:lnTo>
                  <a:close/>
                </a:path>
              </a:pathLst>
            </a:custGeom>
            <a:solidFill>
              <a:srgbClr val="3E3E3E"/>
            </a:solidFill>
          </p:spPr>
          <p:txBody>
            <a:bodyPr wrap="square" lIns="0" tIns="0" rIns="0" bIns="0" rtlCol="0"/>
            <a:lstStyle/>
            <a:p>
              <a:endParaRPr/>
            </a:p>
          </p:txBody>
        </p:sp>
        <p:sp>
          <p:nvSpPr>
            <p:cNvPr id="9" name="object 9"/>
            <p:cNvSpPr/>
            <p:nvPr/>
          </p:nvSpPr>
          <p:spPr>
            <a:xfrm>
              <a:off x="4598758" y="509701"/>
              <a:ext cx="304800" cy="294640"/>
            </a:xfrm>
            <a:custGeom>
              <a:avLst/>
              <a:gdLst/>
              <a:ahLst/>
              <a:cxnLst/>
              <a:rect l="l" t="t" r="r" b="b"/>
              <a:pathLst>
                <a:path w="304800" h="294640">
                  <a:moveTo>
                    <a:pt x="304190" y="0"/>
                  </a:moveTo>
                  <a:lnTo>
                    <a:pt x="0" y="0"/>
                  </a:lnTo>
                  <a:lnTo>
                    <a:pt x="0" y="294208"/>
                  </a:lnTo>
                  <a:lnTo>
                    <a:pt x="304190" y="294208"/>
                  </a:lnTo>
                  <a:lnTo>
                    <a:pt x="304190" y="0"/>
                  </a:lnTo>
                  <a:close/>
                </a:path>
              </a:pathLst>
            </a:custGeom>
            <a:solidFill>
              <a:srgbClr val="FFD32A"/>
            </a:solidFill>
          </p:spPr>
          <p:txBody>
            <a:bodyPr wrap="square" lIns="0" tIns="0" rIns="0" bIns="0" rtlCol="0"/>
            <a:lstStyle/>
            <a:p>
              <a:endParaRPr/>
            </a:p>
          </p:txBody>
        </p:sp>
        <p:sp>
          <p:nvSpPr>
            <p:cNvPr id="10" name="object 10"/>
            <p:cNvSpPr/>
            <p:nvPr/>
          </p:nvSpPr>
          <p:spPr>
            <a:xfrm>
              <a:off x="4638713" y="604151"/>
              <a:ext cx="215265" cy="93980"/>
            </a:xfrm>
            <a:custGeom>
              <a:avLst/>
              <a:gdLst/>
              <a:ahLst/>
              <a:cxnLst/>
              <a:rect l="l" t="t" r="r" b="b"/>
              <a:pathLst>
                <a:path w="215264" h="93979">
                  <a:moveTo>
                    <a:pt x="133477" y="0"/>
                  </a:moveTo>
                  <a:lnTo>
                    <a:pt x="0" y="0"/>
                  </a:lnTo>
                  <a:lnTo>
                    <a:pt x="0" y="21793"/>
                  </a:lnTo>
                  <a:lnTo>
                    <a:pt x="133477" y="21793"/>
                  </a:lnTo>
                  <a:lnTo>
                    <a:pt x="133477" y="0"/>
                  </a:lnTo>
                  <a:close/>
                </a:path>
                <a:path w="215264" h="93979">
                  <a:moveTo>
                    <a:pt x="215201" y="77177"/>
                  </a:moveTo>
                  <a:lnTo>
                    <a:pt x="2717" y="77177"/>
                  </a:lnTo>
                  <a:lnTo>
                    <a:pt x="2717" y="93522"/>
                  </a:lnTo>
                  <a:lnTo>
                    <a:pt x="215201" y="93522"/>
                  </a:lnTo>
                  <a:lnTo>
                    <a:pt x="215201" y="77177"/>
                  </a:lnTo>
                  <a:close/>
                </a:path>
                <a:path w="215264" h="93979">
                  <a:moveTo>
                    <a:pt x="215201" y="41770"/>
                  </a:moveTo>
                  <a:lnTo>
                    <a:pt x="2717" y="41770"/>
                  </a:lnTo>
                  <a:lnTo>
                    <a:pt x="2717" y="58115"/>
                  </a:lnTo>
                  <a:lnTo>
                    <a:pt x="215201" y="58115"/>
                  </a:lnTo>
                  <a:lnTo>
                    <a:pt x="215201" y="41770"/>
                  </a:lnTo>
                  <a:close/>
                </a:path>
              </a:pathLst>
            </a:custGeom>
            <a:solidFill>
              <a:srgbClr val="3E3E3E"/>
            </a:solidFill>
          </p:spPr>
          <p:txBody>
            <a:bodyPr wrap="square" lIns="0" tIns="0" rIns="0" bIns="0" rtlCol="0"/>
            <a:lstStyle/>
            <a:p>
              <a:endParaRPr/>
            </a:p>
          </p:txBody>
        </p:sp>
        <p:sp>
          <p:nvSpPr>
            <p:cNvPr id="11" name="object 11"/>
            <p:cNvSpPr/>
            <p:nvPr/>
          </p:nvSpPr>
          <p:spPr>
            <a:xfrm>
              <a:off x="4702276" y="1114463"/>
              <a:ext cx="304800" cy="294640"/>
            </a:xfrm>
            <a:custGeom>
              <a:avLst/>
              <a:gdLst/>
              <a:ahLst/>
              <a:cxnLst/>
              <a:rect l="l" t="t" r="r" b="b"/>
              <a:pathLst>
                <a:path w="304800" h="294640">
                  <a:moveTo>
                    <a:pt x="304190" y="0"/>
                  </a:moveTo>
                  <a:lnTo>
                    <a:pt x="0" y="0"/>
                  </a:lnTo>
                  <a:lnTo>
                    <a:pt x="0" y="294208"/>
                  </a:lnTo>
                  <a:lnTo>
                    <a:pt x="304190" y="294208"/>
                  </a:lnTo>
                  <a:lnTo>
                    <a:pt x="304190" y="0"/>
                  </a:lnTo>
                  <a:close/>
                </a:path>
              </a:pathLst>
            </a:custGeom>
            <a:solidFill>
              <a:srgbClr val="00BC31"/>
            </a:solidFill>
          </p:spPr>
          <p:txBody>
            <a:bodyPr wrap="square" lIns="0" tIns="0" rIns="0" bIns="0" rtlCol="0"/>
            <a:lstStyle/>
            <a:p>
              <a:endParaRPr/>
            </a:p>
          </p:txBody>
        </p:sp>
        <p:sp>
          <p:nvSpPr>
            <p:cNvPr id="12" name="object 12"/>
            <p:cNvSpPr/>
            <p:nvPr/>
          </p:nvSpPr>
          <p:spPr>
            <a:xfrm>
              <a:off x="4742231" y="1208900"/>
              <a:ext cx="215265" cy="93980"/>
            </a:xfrm>
            <a:custGeom>
              <a:avLst/>
              <a:gdLst/>
              <a:ahLst/>
              <a:cxnLst/>
              <a:rect l="l" t="t" r="r" b="b"/>
              <a:pathLst>
                <a:path w="215264" h="93980">
                  <a:moveTo>
                    <a:pt x="133477" y="0"/>
                  </a:moveTo>
                  <a:lnTo>
                    <a:pt x="0" y="0"/>
                  </a:lnTo>
                  <a:lnTo>
                    <a:pt x="0" y="21793"/>
                  </a:lnTo>
                  <a:lnTo>
                    <a:pt x="133477" y="21793"/>
                  </a:lnTo>
                  <a:lnTo>
                    <a:pt x="133477" y="0"/>
                  </a:lnTo>
                  <a:close/>
                </a:path>
                <a:path w="215264" h="93980">
                  <a:moveTo>
                    <a:pt x="215201" y="77177"/>
                  </a:moveTo>
                  <a:lnTo>
                    <a:pt x="2717" y="77177"/>
                  </a:lnTo>
                  <a:lnTo>
                    <a:pt x="2717" y="93522"/>
                  </a:lnTo>
                  <a:lnTo>
                    <a:pt x="215201" y="93522"/>
                  </a:lnTo>
                  <a:lnTo>
                    <a:pt x="215201" y="77177"/>
                  </a:lnTo>
                  <a:close/>
                </a:path>
                <a:path w="215264" h="93980">
                  <a:moveTo>
                    <a:pt x="215201" y="41770"/>
                  </a:moveTo>
                  <a:lnTo>
                    <a:pt x="2717" y="41770"/>
                  </a:lnTo>
                  <a:lnTo>
                    <a:pt x="2717" y="58115"/>
                  </a:lnTo>
                  <a:lnTo>
                    <a:pt x="215201" y="58115"/>
                  </a:lnTo>
                  <a:lnTo>
                    <a:pt x="215201" y="41770"/>
                  </a:lnTo>
                  <a:close/>
                </a:path>
              </a:pathLst>
            </a:custGeom>
            <a:solidFill>
              <a:srgbClr val="3E3E3E"/>
            </a:solidFill>
          </p:spPr>
          <p:txBody>
            <a:bodyPr wrap="square" lIns="0" tIns="0" rIns="0" bIns="0" rtlCol="0"/>
            <a:lstStyle/>
            <a:p>
              <a:endParaRPr/>
            </a:p>
          </p:txBody>
        </p:sp>
        <p:sp>
          <p:nvSpPr>
            <p:cNvPr id="13" name="object 13"/>
            <p:cNvSpPr/>
            <p:nvPr/>
          </p:nvSpPr>
          <p:spPr>
            <a:xfrm>
              <a:off x="4220755" y="1367279"/>
              <a:ext cx="924560" cy="1001394"/>
            </a:xfrm>
            <a:custGeom>
              <a:avLst/>
              <a:gdLst/>
              <a:ahLst/>
              <a:cxnLst/>
              <a:rect l="l" t="t" r="r" b="b"/>
              <a:pathLst>
                <a:path w="924560" h="1001394">
                  <a:moveTo>
                    <a:pt x="356495" y="534363"/>
                  </a:moveTo>
                  <a:lnTo>
                    <a:pt x="0" y="1001244"/>
                  </a:lnTo>
                  <a:lnTo>
                    <a:pt x="401009" y="1001244"/>
                  </a:lnTo>
                  <a:lnTo>
                    <a:pt x="609810" y="727797"/>
                  </a:lnTo>
                  <a:lnTo>
                    <a:pt x="588880" y="711820"/>
                  </a:lnTo>
                  <a:lnTo>
                    <a:pt x="643439" y="640370"/>
                  </a:lnTo>
                  <a:lnTo>
                    <a:pt x="640226" y="637919"/>
                  </a:lnTo>
                  <a:lnTo>
                    <a:pt x="647850" y="637016"/>
                  </a:lnTo>
                  <a:lnTo>
                    <a:pt x="655309" y="634906"/>
                  </a:lnTo>
                  <a:lnTo>
                    <a:pt x="662456" y="631572"/>
                  </a:lnTo>
                  <a:lnTo>
                    <a:pt x="669144" y="626997"/>
                  </a:lnTo>
                  <a:lnTo>
                    <a:pt x="766313" y="548143"/>
                  </a:lnTo>
                  <a:lnTo>
                    <a:pt x="374529" y="548143"/>
                  </a:lnTo>
                  <a:lnTo>
                    <a:pt x="356495" y="534363"/>
                  </a:lnTo>
                  <a:close/>
                </a:path>
                <a:path w="924560" h="1001394">
                  <a:moveTo>
                    <a:pt x="429089" y="476692"/>
                  </a:moveTo>
                  <a:lnTo>
                    <a:pt x="374529" y="548143"/>
                  </a:lnTo>
                  <a:lnTo>
                    <a:pt x="766313" y="548143"/>
                  </a:lnTo>
                  <a:lnTo>
                    <a:pt x="799991" y="520812"/>
                  </a:lnTo>
                  <a:lnTo>
                    <a:pt x="486861" y="520812"/>
                  </a:lnTo>
                  <a:lnTo>
                    <a:pt x="429089" y="476692"/>
                  </a:lnTo>
                  <a:close/>
                </a:path>
                <a:path w="924560" h="1001394">
                  <a:moveTo>
                    <a:pt x="880994" y="455077"/>
                  </a:moveTo>
                  <a:lnTo>
                    <a:pt x="484562" y="455077"/>
                  </a:lnTo>
                  <a:lnTo>
                    <a:pt x="486861" y="520812"/>
                  </a:lnTo>
                  <a:lnTo>
                    <a:pt x="799991" y="520812"/>
                  </a:lnTo>
                  <a:lnTo>
                    <a:pt x="880994" y="455077"/>
                  </a:lnTo>
                  <a:close/>
                </a:path>
                <a:path w="924560" h="1001394">
                  <a:moveTo>
                    <a:pt x="381140" y="214902"/>
                  </a:moveTo>
                  <a:lnTo>
                    <a:pt x="369195" y="219136"/>
                  </a:lnTo>
                  <a:lnTo>
                    <a:pt x="360458" y="228326"/>
                  </a:lnTo>
                  <a:lnTo>
                    <a:pt x="356395" y="240563"/>
                  </a:lnTo>
                  <a:lnTo>
                    <a:pt x="357203" y="254278"/>
                  </a:lnTo>
                  <a:lnTo>
                    <a:pt x="363074" y="267904"/>
                  </a:lnTo>
                  <a:lnTo>
                    <a:pt x="484537" y="455039"/>
                  </a:lnTo>
                  <a:lnTo>
                    <a:pt x="484003" y="455102"/>
                  </a:lnTo>
                  <a:lnTo>
                    <a:pt x="484562" y="455077"/>
                  </a:lnTo>
                  <a:lnTo>
                    <a:pt x="880994" y="455077"/>
                  </a:lnTo>
                  <a:lnTo>
                    <a:pt x="891910" y="446219"/>
                  </a:lnTo>
                  <a:lnTo>
                    <a:pt x="699208" y="446219"/>
                  </a:lnTo>
                  <a:lnTo>
                    <a:pt x="679250" y="416232"/>
                  </a:lnTo>
                  <a:lnTo>
                    <a:pt x="673984" y="377329"/>
                  </a:lnTo>
                  <a:lnTo>
                    <a:pt x="674262" y="358024"/>
                  </a:lnTo>
                  <a:lnTo>
                    <a:pt x="693830" y="308938"/>
                  </a:lnTo>
                  <a:lnTo>
                    <a:pt x="465220" y="308938"/>
                  </a:lnTo>
                  <a:lnTo>
                    <a:pt x="416198" y="233424"/>
                  </a:lnTo>
                  <a:lnTo>
                    <a:pt x="406154" y="222506"/>
                  </a:lnTo>
                  <a:lnTo>
                    <a:pt x="393964" y="216179"/>
                  </a:lnTo>
                  <a:lnTo>
                    <a:pt x="381140" y="214902"/>
                  </a:lnTo>
                  <a:close/>
                </a:path>
                <a:path w="924560" h="1001394">
                  <a:moveTo>
                    <a:pt x="881188" y="346409"/>
                  </a:moveTo>
                  <a:lnTo>
                    <a:pt x="862982" y="347334"/>
                  </a:lnTo>
                  <a:lnTo>
                    <a:pt x="845941" y="356055"/>
                  </a:lnTo>
                  <a:lnTo>
                    <a:pt x="743007" y="438783"/>
                  </a:lnTo>
                  <a:lnTo>
                    <a:pt x="699208" y="446219"/>
                  </a:lnTo>
                  <a:lnTo>
                    <a:pt x="891910" y="446219"/>
                  </a:lnTo>
                  <a:lnTo>
                    <a:pt x="906253" y="434579"/>
                  </a:lnTo>
                  <a:lnTo>
                    <a:pt x="918685" y="419516"/>
                  </a:lnTo>
                  <a:lnTo>
                    <a:pt x="924184" y="401488"/>
                  </a:lnTo>
                  <a:lnTo>
                    <a:pt x="922518" y="382714"/>
                  </a:lnTo>
                  <a:lnTo>
                    <a:pt x="913454" y="365415"/>
                  </a:lnTo>
                  <a:lnTo>
                    <a:pt x="898649" y="352648"/>
                  </a:lnTo>
                  <a:lnTo>
                    <a:pt x="881188" y="346409"/>
                  </a:lnTo>
                  <a:close/>
                </a:path>
                <a:path w="924560" h="1001394">
                  <a:moveTo>
                    <a:pt x="743007" y="438770"/>
                  </a:moveTo>
                  <a:close/>
                </a:path>
                <a:path w="924560" h="1001394">
                  <a:moveTo>
                    <a:pt x="466833" y="112393"/>
                  </a:moveTo>
                  <a:lnTo>
                    <a:pt x="453872" y="117978"/>
                  </a:lnTo>
                  <a:lnTo>
                    <a:pt x="444365" y="128730"/>
                  </a:lnTo>
                  <a:lnTo>
                    <a:pt x="439199" y="143127"/>
                  </a:lnTo>
                  <a:lnTo>
                    <a:pt x="439261" y="159650"/>
                  </a:lnTo>
                  <a:lnTo>
                    <a:pt x="465220" y="308938"/>
                  </a:lnTo>
                  <a:lnTo>
                    <a:pt x="693830" y="308938"/>
                  </a:lnTo>
                  <a:lnTo>
                    <a:pt x="701803" y="288936"/>
                  </a:lnTo>
                  <a:lnTo>
                    <a:pt x="595281" y="288936"/>
                  </a:lnTo>
                  <a:lnTo>
                    <a:pt x="583203" y="288034"/>
                  </a:lnTo>
                  <a:lnTo>
                    <a:pt x="600697" y="204811"/>
                  </a:lnTo>
                  <a:lnTo>
                    <a:pt x="518674" y="204811"/>
                  </a:lnTo>
                  <a:lnTo>
                    <a:pt x="508718" y="147559"/>
                  </a:lnTo>
                  <a:lnTo>
                    <a:pt x="503198" y="131994"/>
                  </a:lnTo>
                  <a:lnTo>
                    <a:pt x="493481" y="120189"/>
                  </a:lnTo>
                  <a:lnTo>
                    <a:pt x="480911" y="113278"/>
                  </a:lnTo>
                  <a:lnTo>
                    <a:pt x="466833" y="112393"/>
                  </a:lnTo>
                  <a:close/>
                </a:path>
                <a:path w="924560" h="1001394">
                  <a:moveTo>
                    <a:pt x="761572" y="117097"/>
                  </a:moveTo>
                  <a:lnTo>
                    <a:pt x="743735" y="118413"/>
                  </a:lnTo>
                  <a:lnTo>
                    <a:pt x="727196" y="126731"/>
                  </a:lnTo>
                  <a:lnTo>
                    <a:pt x="652190" y="185481"/>
                  </a:lnTo>
                  <a:lnTo>
                    <a:pt x="652367" y="186866"/>
                  </a:lnTo>
                  <a:lnTo>
                    <a:pt x="643905" y="191354"/>
                  </a:lnTo>
                  <a:lnTo>
                    <a:pt x="636416" y="197445"/>
                  </a:lnTo>
                  <a:lnTo>
                    <a:pt x="630175" y="205022"/>
                  </a:lnTo>
                  <a:lnTo>
                    <a:pt x="625456" y="213968"/>
                  </a:lnTo>
                  <a:lnTo>
                    <a:pt x="595281" y="288936"/>
                  </a:lnTo>
                  <a:lnTo>
                    <a:pt x="701803" y="288936"/>
                  </a:lnTo>
                  <a:lnTo>
                    <a:pt x="715969" y="253401"/>
                  </a:lnTo>
                  <a:lnTo>
                    <a:pt x="784905" y="199629"/>
                  </a:lnTo>
                  <a:lnTo>
                    <a:pt x="796891" y="185621"/>
                  </a:lnTo>
                  <a:lnTo>
                    <a:pt x="802323" y="168738"/>
                  </a:lnTo>
                  <a:lnTo>
                    <a:pt x="800982" y="151028"/>
                  </a:lnTo>
                  <a:lnTo>
                    <a:pt x="792652" y="134542"/>
                  </a:lnTo>
                  <a:lnTo>
                    <a:pt x="778584" y="122550"/>
                  </a:lnTo>
                  <a:lnTo>
                    <a:pt x="761572" y="117097"/>
                  </a:lnTo>
                  <a:close/>
                </a:path>
                <a:path w="924560" h="1001394">
                  <a:moveTo>
                    <a:pt x="663043" y="0"/>
                  </a:moveTo>
                  <a:lnTo>
                    <a:pt x="646106" y="4049"/>
                  </a:lnTo>
                  <a:lnTo>
                    <a:pt x="630396" y="14400"/>
                  </a:lnTo>
                  <a:lnTo>
                    <a:pt x="557524" y="82497"/>
                  </a:lnTo>
                  <a:lnTo>
                    <a:pt x="554476" y="84682"/>
                  </a:lnTo>
                  <a:lnTo>
                    <a:pt x="551669" y="87298"/>
                  </a:lnTo>
                  <a:lnTo>
                    <a:pt x="549142" y="90308"/>
                  </a:lnTo>
                  <a:lnTo>
                    <a:pt x="545510" y="93699"/>
                  </a:lnTo>
                  <a:lnTo>
                    <a:pt x="545827" y="94740"/>
                  </a:lnTo>
                  <a:lnTo>
                    <a:pt x="542106" y="100303"/>
                  </a:lnTo>
                  <a:lnTo>
                    <a:pt x="539287" y="106780"/>
                  </a:lnTo>
                  <a:lnTo>
                    <a:pt x="518674" y="204811"/>
                  </a:lnTo>
                  <a:lnTo>
                    <a:pt x="600697" y="204811"/>
                  </a:lnTo>
                  <a:lnTo>
                    <a:pt x="614509" y="139101"/>
                  </a:lnTo>
                  <a:lnTo>
                    <a:pt x="685210" y="73074"/>
                  </a:lnTo>
                  <a:lnTo>
                    <a:pt x="696607" y="58111"/>
                  </a:lnTo>
                  <a:lnTo>
                    <a:pt x="701799" y="41486"/>
                  </a:lnTo>
                  <a:lnTo>
                    <a:pt x="700547" y="25189"/>
                  </a:lnTo>
                  <a:lnTo>
                    <a:pt x="692614" y="11212"/>
                  </a:lnTo>
                  <a:lnTo>
                    <a:pt x="679211" y="2354"/>
                  </a:lnTo>
                  <a:lnTo>
                    <a:pt x="663043" y="0"/>
                  </a:lnTo>
                  <a:close/>
                </a:path>
              </a:pathLst>
            </a:custGeom>
            <a:solidFill>
              <a:srgbClr val="000000">
                <a:alpha val="19999"/>
              </a:srgbClr>
            </a:solidFill>
          </p:spPr>
          <p:txBody>
            <a:bodyPr wrap="square" lIns="0" tIns="0" rIns="0" bIns="0" rtlCol="0"/>
            <a:lstStyle/>
            <a:p>
              <a:endParaRPr/>
            </a:p>
          </p:txBody>
        </p:sp>
        <p:sp>
          <p:nvSpPr>
            <p:cNvPr id="14" name="object 14"/>
            <p:cNvSpPr/>
            <p:nvPr/>
          </p:nvSpPr>
          <p:spPr>
            <a:xfrm>
              <a:off x="4551488" y="1312118"/>
              <a:ext cx="568325" cy="638175"/>
            </a:xfrm>
            <a:custGeom>
              <a:avLst/>
              <a:gdLst/>
              <a:ahLst/>
              <a:cxnLst/>
              <a:rect l="l" t="t" r="r" b="b"/>
              <a:pathLst>
                <a:path w="568325" h="638175">
                  <a:moveTo>
                    <a:pt x="306649" y="0"/>
                  </a:moveTo>
                  <a:lnTo>
                    <a:pt x="289711" y="4049"/>
                  </a:lnTo>
                  <a:lnTo>
                    <a:pt x="274007" y="14400"/>
                  </a:lnTo>
                  <a:lnTo>
                    <a:pt x="201121" y="82497"/>
                  </a:lnTo>
                  <a:lnTo>
                    <a:pt x="198086" y="84682"/>
                  </a:lnTo>
                  <a:lnTo>
                    <a:pt x="195279" y="87298"/>
                  </a:lnTo>
                  <a:lnTo>
                    <a:pt x="192752" y="90308"/>
                  </a:lnTo>
                  <a:lnTo>
                    <a:pt x="189120" y="93699"/>
                  </a:lnTo>
                  <a:lnTo>
                    <a:pt x="189437" y="94740"/>
                  </a:lnTo>
                  <a:lnTo>
                    <a:pt x="185716" y="100303"/>
                  </a:lnTo>
                  <a:lnTo>
                    <a:pt x="182884" y="106780"/>
                  </a:lnTo>
                  <a:lnTo>
                    <a:pt x="162272" y="204811"/>
                  </a:lnTo>
                  <a:lnTo>
                    <a:pt x="152315" y="147559"/>
                  </a:lnTo>
                  <a:lnTo>
                    <a:pt x="146801" y="131994"/>
                  </a:lnTo>
                  <a:lnTo>
                    <a:pt x="137083" y="120189"/>
                  </a:lnTo>
                  <a:lnTo>
                    <a:pt x="124510" y="113278"/>
                  </a:lnTo>
                  <a:lnTo>
                    <a:pt x="110431" y="112393"/>
                  </a:lnTo>
                  <a:lnTo>
                    <a:pt x="97472" y="117978"/>
                  </a:lnTo>
                  <a:lnTo>
                    <a:pt x="87968" y="128730"/>
                  </a:lnTo>
                  <a:lnTo>
                    <a:pt x="82802" y="143127"/>
                  </a:lnTo>
                  <a:lnTo>
                    <a:pt x="82859" y="159650"/>
                  </a:lnTo>
                  <a:lnTo>
                    <a:pt x="108818" y="308938"/>
                  </a:lnTo>
                  <a:lnTo>
                    <a:pt x="59809" y="233424"/>
                  </a:lnTo>
                  <a:lnTo>
                    <a:pt x="49762" y="222506"/>
                  </a:lnTo>
                  <a:lnTo>
                    <a:pt x="37568" y="216179"/>
                  </a:lnTo>
                  <a:lnTo>
                    <a:pt x="24740" y="214902"/>
                  </a:lnTo>
                  <a:lnTo>
                    <a:pt x="12793" y="219136"/>
                  </a:lnTo>
                  <a:lnTo>
                    <a:pt x="4057" y="228326"/>
                  </a:lnTo>
                  <a:lnTo>
                    <a:pt x="0" y="240563"/>
                  </a:lnTo>
                  <a:lnTo>
                    <a:pt x="811" y="254278"/>
                  </a:lnTo>
                  <a:lnTo>
                    <a:pt x="6684" y="267904"/>
                  </a:lnTo>
                  <a:lnTo>
                    <a:pt x="128160" y="455077"/>
                  </a:lnTo>
                  <a:lnTo>
                    <a:pt x="131691" y="555610"/>
                  </a:lnTo>
                  <a:lnTo>
                    <a:pt x="154131" y="592085"/>
                  </a:lnTo>
                  <a:lnTo>
                    <a:pt x="205697" y="634290"/>
                  </a:lnTo>
                  <a:lnTo>
                    <a:pt x="230979" y="637778"/>
                  </a:lnTo>
                  <a:lnTo>
                    <a:pt x="239306" y="624080"/>
                  </a:lnTo>
                  <a:lnTo>
                    <a:pt x="240009" y="614729"/>
                  </a:lnTo>
                  <a:lnTo>
                    <a:pt x="242257" y="618170"/>
                  </a:lnTo>
                  <a:lnTo>
                    <a:pt x="284603" y="637894"/>
                  </a:lnTo>
                  <a:lnTo>
                    <a:pt x="299277" y="634773"/>
                  </a:lnTo>
                  <a:lnTo>
                    <a:pt x="312742" y="626997"/>
                  </a:lnTo>
                  <a:lnTo>
                    <a:pt x="549863" y="434579"/>
                  </a:lnTo>
                  <a:lnTo>
                    <a:pt x="562288" y="419522"/>
                  </a:lnTo>
                  <a:lnTo>
                    <a:pt x="567783" y="401493"/>
                  </a:lnTo>
                  <a:lnTo>
                    <a:pt x="566115" y="382716"/>
                  </a:lnTo>
                  <a:lnTo>
                    <a:pt x="557052" y="365415"/>
                  </a:lnTo>
                  <a:lnTo>
                    <a:pt x="542252" y="352649"/>
                  </a:lnTo>
                  <a:lnTo>
                    <a:pt x="524790" y="346414"/>
                  </a:lnTo>
                  <a:lnTo>
                    <a:pt x="506581" y="347340"/>
                  </a:lnTo>
                  <a:lnTo>
                    <a:pt x="489538" y="356055"/>
                  </a:lnTo>
                  <a:lnTo>
                    <a:pt x="386618" y="438783"/>
                  </a:lnTo>
                  <a:lnTo>
                    <a:pt x="342811" y="446221"/>
                  </a:lnTo>
                  <a:lnTo>
                    <a:pt x="322853" y="416239"/>
                  </a:lnTo>
                  <a:lnTo>
                    <a:pt x="317584" y="377339"/>
                  </a:lnTo>
                  <a:lnTo>
                    <a:pt x="317860" y="358036"/>
                  </a:lnTo>
                  <a:lnTo>
                    <a:pt x="359579" y="253401"/>
                  </a:lnTo>
                  <a:lnTo>
                    <a:pt x="428515" y="199629"/>
                  </a:lnTo>
                  <a:lnTo>
                    <a:pt x="440502" y="185621"/>
                  </a:lnTo>
                  <a:lnTo>
                    <a:pt x="445933" y="168738"/>
                  </a:lnTo>
                  <a:lnTo>
                    <a:pt x="444592" y="151028"/>
                  </a:lnTo>
                  <a:lnTo>
                    <a:pt x="436262" y="134542"/>
                  </a:lnTo>
                  <a:lnTo>
                    <a:pt x="422189" y="122550"/>
                  </a:lnTo>
                  <a:lnTo>
                    <a:pt x="405176" y="117097"/>
                  </a:lnTo>
                  <a:lnTo>
                    <a:pt x="387338" y="118413"/>
                  </a:lnTo>
                  <a:lnTo>
                    <a:pt x="370793" y="126731"/>
                  </a:lnTo>
                  <a:lnTo>
                    <a:pt x="295787" y="185481"/>
                  </a:lnTo>
                  <a:lnTo>
                    <a:pt x="295978" y="186866"/>
                  </a:lnTo>
                  <a:lnTo>
                    <a:pt x="287508" y="191354"/>
                  </a:lnTo>
                  <a:lnTo>
                    <a:pt x="280017" y="197445"/>
                  </a:lnTo>
                  <a:lnTo>
                    <a:pt x="273779" y="205022"/>
                  </a:lnTo>
                  <a:lnTo>
                    <a:pt x="269066" y="213968"/>
                  </a:lnTo>
                  <a:lnTo>
                    <a:pt x="238891" y="288923"/>
                  </a:lnTo>
                  <a:lnTo>
                    <a:pt x="226814" y="288034"/>
                  </a:lnTo>
                  <a:lnTo>
                    <a:pt x="258119" y="139101"/>
                  </a:lnTo>
                  <a:lnTo>
                    <a:pt x="328820" y="73074"/>
                  </a:lnTo>
                  <a:lnTo>
                    <a:pt x="340217" y="58111"/>
                  </a:lnTo>
                  <a:lnTo>
                    <a:pt x="345409" y="41486"/>
                  </a:lnTo>
                  <a:lnTo>
                    <a:pt x="344158" y="25189"/>
                  </a:lnTo>
                  <a:lnTo>
                    <a:pt x="336224" y="11212"/>
                  </a:lnTo>
                  <a:lnTo>
                    <a:pt x="322820" y="2354"/>
                  </a:lnTo>
                  <a:lnTo>
                    <a:pt x="306649" y="0"/>
                  </a:lnTo>
                  <a:close/>
                </a:path>
              </a:pathLst>
            </a:custGeom>
            <a:solidFill>
              <a:srgbClr val="F8DDB4"/>
            </a:solidFill>
          </p:spPr>
          <p:txBody>
            <a:bodyPr wrap="square" lIns="0" tIns="0" rIns="0" bIns="0" rtlCol="0"/>
            <a:lstStyle/>
            <a:p>
              <a:endParaRPr/>
            </a:p>
          </p:txBody>
        </p:sp>
        <p:sp>
          <p:nvSpPr>
            <p:cNvPr id="15" name="object 15"/>
            <p:cNvSpPr/>
            <p:nvPr/>
          </p:nvSpPr>
          <p:spPr>
            <a:xfrm>
              <a:off x="4545937" y="1788812"/>
              <a:ext cx="292735" cy="266700"/>
            </a:xfrm>
            <a:custGeom>
              <a:avLst/>
              <a:gdLst/>
              <a:ahLst/>
              <a:cxnLst/>
              <a:rect l="l" t="t" r="r" b="b"/>
              <a:pathLst>
                <a:path w="292735" h="266700">
                  <a:moveTo>
                    <a:pt x="78244" y="0"/>
                  </a:moveTo>
                  <a:lnTo>
                    <a:pt x="0" y="102488"/>
                  </a:lnTo>
                  <a:lnTo>
                    <a:pt x="214337" y="266153"/>
                  </a:lnTo>
                  <a:lnTo>
                    <a:pt x="292595" y="163677"/>
                  </a:lnTo>
                  <a:lnTo>
                    <a:pt x="78244" y="0"/>
                  </a:lnTo>
                  <a:close/>
                </a:path>
              </a:pathLst>
            </a:custGeom>
            <a:solidFill>
              <a:srgbClr val="FFFFFF"/>
            </a:solidFill>
          </p:spPr>
          <p:txBody>
            <a:bodyPr wrap="square" lIns="0" tIns="0" rIns="0" bIns="0" rtlCol="0"/>
            <a:lstStyle/>
            <a:p>
              <a:endParaRPr/>
            </a:p>
          </p:txBody>
        </p:sp>
        <p:sp>
          <p:nvSpPr>
            <p:cNvPr id="16" name="object 16"/>
            <p:cNvSpPr/>
            <p:nvPr/>
          </p:nvSpPr>
          <p:spPr>
            <a:xfrm>
              <a:off x="4551486" y="1424520"/>
              <a:ext cx="162560" cy="342900"/>
            </a:xfrm>
            <a:custGeom>
              <a:avLst/>
              <a:gdLst/>
              <a:ahLst/>
              <a:cxnLst/>
              <a:rect l="l" t="t" r="r" b="b"/>
              <a:pathLst>
                <a:path w="162560" h="342900">
                  <a:moveTo>
                    <a:pt x="128137" y="342628"/>
                  </a:moveTo>
                  <a:lnTo>
                    <a:pt x="127034" y="342734"/>
                  </a:lnTo>
                  <a:lnTo>
                    <a:pt x="128165" y="342671"/>
                  </a:lnTo>
                  <a:close/>
                </a:path>
                <a:path w="162560" h="342900">
                  <a:moveTo>
                    <a:pt x="129270" y="342518"/>
                  </a:moveTo>
                  <a:lnTo>
                    <a:pt x="128171" y="342625"/>
                  </a:lnTo>
                  <a:lnTo>
                    <a:pt x="129270" y="342518"/>
                  </a:lnTo>
                  <a:close/>
                </a:path>
                <a:path w="162560" h="342900">
                  <a:moveTo>
                    <a:pt x="24745" y="102496"/>
                  </a:moveTo>
                  <a:lnTo>
                    <a:pt x="12798" y="106730"/>
                  </a:lnTo>
                  <a:lnTo>
                    <a:pt x="4060" y="115920"/>
                  </a:lnTo>
                  <a:lnTo>
                    <a:pt x="0" y="128157"/>
                  </a:lnTo>
                  <a:lnTo>
                    <a:pt x="811" y="141872"/>
                  </a:lnTo>
                  <a:lnTo>
                    <a:pt x="6689" y="155498"/>
                  </a:lnTo>
                  <a:lnTo>
                    <a:pt x="128137" y="342628"/>
                  </a:lnTo>
                  <a:lnTo>
                    <a:pt x="148084" y="196532"/>
                  </a:lnTo>
                  <a:lnTo>
                    <a:pt x="108823" y="196532"/>
                  </a:lnTo>
                  <a:lnTo>
                    <a:pt x="59813" y="121018"/>
                  </a:lnTo>
                  <a:lnTo>
                    <a:pt x="49767" y="110100"/>
                  </a:lnTo>
                  <a:lnTo>
                    <a:pt x="37572" y="103773"/>
                  </a:lnTo>
                  <a:lnTo>
                    <a:pt x="24745" y="102496"/>
                  </a:lnTo>
                  <a:close/>
                </a:path>
                <a:path w="162560" h="342900">
                  <a:moveTo>
                    <a:pt x="110436" y="0"/>
                  </a:moveTo>
                  <a:lnTo>
                    <a:pt x="97475" y="5578"/>
                  </a:lnTo>
                  <a:lnTo>
                    <a:pt x="87968" y="16325"/>
                  </a:lnTo>
                  <a:lnTo>
                    <a:pt x="82802" y="30721"/>
                  </a:lnTo>
                  <a:lnTo>
                    <a:pt x="82864" y="47243"/>
                  </a:lnTo>
                  <a:lnTo>
                    <a:pt x="108823" y="196532"/>
                  </a:lnTo>
                  <a:lnTo>
                    <a:pt x="148084" y="196532"/>
                  </a:lnTo>
                  <a:lnTo>
                    <a:pt x="162277" y="92405"/>
                  </a:lnTo>
                  <a:lnTo>
                    <a:pt x="152320" y="35166"/>
                  </a:lnTo>
                  <a:lnTo>
                    <a:pt x="146806" y="19593"/>
                  </a:lnTo>
                  <a:lnTo>
                    <a:pt x="137088" y="7786"/>
                  </a:lnTo>
                  <a:lnTo>
                    <a:pt x="124515" y="878"/>
                  </a:lnTo>
                  <a:lnTo>
                    <a:pt x="110436" y="0"/>
                  </a:lnTo>
                  <a:close/>
                </a:path>
              </a:pathLst>
            </a:custGeom>
            <a:solidFill>
              <a:srgbClr val="F8DDB4"/>
            </a:solidFill>
          </p:spPr>
          <p:txBody>
            <a:bodyPr wrap="square" lIns="0" tIns="0" rIns="0" bIns="0" rtlCol="0"/>
            <a:lstStyle/>
            <a:p>
              <a:endParaRPr/>
            </a:p>
          </p:txBody>
        </p:sp>
        <p:sp>
          <p:nvSpPr>
            <p:cNvPr id="17" name="object 17"/>
            <p:cNvSpPr/>
            <p:nvPr/>
          </p:nvSpPr>
          <p:spPr>
            <a:xfrm>
              <a:off x="4152973" y="1846483"/>
              <a:ext cx="558165" cy="522605"/>
            </a:xfrm>
            <a:custGeom>
              <a:avLst/>
              <a:gdLst/>
              <a:ahLst/>
              <a:cxnLst/>
              <a:rect l="l" t="t" r="r" b="b"/>
              <a:pathLst>
                <a:path w="558164" h="522605">
                  <a:moveTo>
                    <a:pt x="398606" y="0"/>
                  </a:moveTo>
                  <a:lnTo>
                    <a:pt x="0" y="522041"/>
                  </a:lnTo>
                  <a:lnTo>
                    <a:pt x="252483" y="522041"/>
                  </a:lnTo>
                  <a:lnTo>
                    <a:pt x="558105" y="121792"/>
                  </a:lnTo>
                  <a:lnTo>
                    <a:pt x="398606" y="0"/>
                  </a:lnTo>
                  <a:close/>
                </a:path>
              </a:pathLst>
            </a:custGeom>
            <a:solidFill>
              <a:srgbClr val="2DADB7"/>
            </a:solidFill>
          </p:spPr>
          <p:txBody>
            <a:bodyPr wrap="square" lIns="0" tIns="0" rIns="0" bIns="0" rtlCol="0"/>
            <a:lstStyle/>
            <a:p>
              <a:endParaRPr/>
            </a:p>
          </p:txBody>
        </p:sp>
        <p:sp>
          <p:nvSpPr>
            <p:cNvPr id="18" name="object 18"/>
            <p:cNvSpPr/>
            <p:nvPr/>
          </p:nvSpPr>
          <p:spPr>
            <a:xfrm>
              <a:off x="4405452" y="1968283"/>
              <a:ext cx="400050" cy="400685"/>
            </a:xfrm>
            <a:custGeom>
              <a:avLst/>
              <a:gdLst/>
              <a:ahLst/>
              <a:cxnLst/>
              <a:rect l="l" t="t" r="r" b="b"/>
              <a:pathLst>
                <a:path w="400050" h="400685">
                  <a:moveTo>
                    <a:pt x="399440" y="71640"/>
                  </a:moveTo>
                  <a:lnTo>
                    <a:pt x="305625" y="0"/>
                  </a:lnTo>
                  <a:lnTo>
                    <a:pt x="0" y="400253"/>
                  </a:lnTo>
                  <a:lnTo>
                    <a:pt x="148526" y="400253"/>
                  </a:lnTo>
                  <a:lnTo>
                    <a:pt x="399440" y="71640"/>
                  </a:lnTo>
                  <a:close/>
                </a:path>
              </a:pathLst>
            </a:custGeom>
            <a:solidFill>
              <a:srgbClr val="25A7AA"/>
            </a:solidFill>
          </p:spPr>
          <p:txBody>
            <a:bodyPr wrap="square" lIns="0" tIns="0" rIns="0" bIns="0" rtlCol="0"/>
            <a:lstStyle/>
            <a:p>
              <a:endParaRPr/>
            </a:p>
          </p:txBody>
        </p:sp>
        <p:sp>
          <p:nvSpPr>
            <p:cNvPr id="19" name="object 19"/>
            <p:cNvSpPr/>
            <p:nvPr/>
          </p:nvSpPr>
          <p:spPr>
            <a:xfrm>
              <a:off x="6721741" y="1136256"/>
              <a:ext cx="304800" cy="294640"/>
            </a:xfrm>
            <a:custGeom>
              <a:avLst/>
              <a:gdLst/>
              <a:ahLst/>
              <a:cxnLst/>
              <a:rect l="l" t="t" r="r" b="b"/>
              <a:pathLst>
                <a:path w="304800" h="294640">
                  <a:moveTo>
                    <a:pt x="304190" y="0"/>
                  </a:moveTo>
                  <a:lnTo>
                    <a:pt x="0" y="0"/>
                  </a:lnTo>
                  <a:lnTo>
                    <a:pt x="0" y="294208"/>
                  </a:lnTo>
                  <a:lnTo>
                    <a:pt x="304190" y="294208"/>
                  </a:lnTo>
                  <a:lnTo>
                    <a:pt x="304190" y="0"/>
                  </a:lnTo>
                  <a:close/>
                </a:path>
              </a:pathLst>
            </a:custGeom>
            <a:solidFill>
              <a:srgbClr val="FF3F31"/>
            </a:solidFill>
          </p:spPr>
          <p:txBody>
            <a:bodyPr wrap="square" lIns="0" tIns="0" rIns="0" bIns="0" rtlCol="0"/>
            <a:lstStyle/>
            <a:p>
              <a:endParaRPr/>
            </a:p>
          </p:txBody>
        </p:sp>
        <p:sp>
          <p:nvSpPr>
            <p:cNvPr id="20" name="object 20"/>
            <p:cNvSpPr/>
            <p:nvPr/>
          </p:nvSpPr>
          <p:spPr>
            <a:xfrm>
              <a:off x="6761708" y="1230693"/>
              <a:ext cx="215265" cy="93980"/>
            </a:xfrm>
            <a:custGeom>
              <a:avLst/>
              <a:gdLst/>
              <a:ahLst/>
              <a:cxnLst/>
              <a:rect l="l" t="t" r="r" b="b"/>
              <a:pathLst>
                <a:path w="215265" h="93980">
                  <a:moveTo>
                    <a:pt x="133477" y="0"/>
                  </a:moveTo>
                  <a:lnTo>
                    <a:pt x="0" y="0"/>
                  </a:lnTo>
                  <a:lnTo>
                    <a:pt x="0" y="21793"/>
                  </a:lnTo>
                  <a:lnTo>
                    <a:pt x="133477" y="21793"/>
                  </a:lnTo>
                  <a:lnTo>
                    <a:pt x="133477" y="0"/>
                  </a:lnTo>
                  <a:close/>
                </a:path>
                <a:path w="215265" h="93980">
                  <a:moveTo>
                    <a:pt x="215188" y="77177"/>
                  </a:moveTo>
                  <a:lnTo>
                    <a:pt x="2705" y="77177"/>
                  </a:lnTo>
                  <a:lnTo>
                    <a:pt x="2705" y="93522"/>
                  </a:lnTo>
                  <a:lnTo>
                    <a:pt x="215188" y="93522"/>
                  </a:lnTo>
                  <a:lnTo>
                    <a:pt x="215188" y="77177"/>
                  </a:lnTo>
                  <a:close/>
                </a:path>
                <a:path w="215265" h="93980">
                  <a:moveTo>
                    <a:pt x="215188" y="41770"/>
                  </a:moveTo>
                  <a:lnTo>
                    <a:pt x="2705" y="41770"/>
                  </a:lnTo>
                  <a:lnTo>
                    <a:pt x="2705" y="58115"/>
                  </a:lnTo>
                  <a:lnTo>
                    <a:pt x="215188" y="58115"/>
                  </a:lnTo>
                  <a:lnTo>
                    <a:pt x="215188" y="41770"/>
                  </a:lnTo>
                  <a:close/>
                </a:path>
              </a:pathLst>
            </a:custGeom>
            <a:solidFill>
              <a:srgbClr val="3E3E3E"/>
            </a:solidFill>
          </p:spPr>
          <p:txBody>
            <a:bodyPr wrap="square" lIns="0" tIns="0" rIns="0" bIns="0" rtlCol="0"/>
            <a:lstStyle/>
            <a:p>
              <a:endParaRPr/>
            </a:p>
          </p:txBody>
        </p:sp>
        <p:sp>
          <p:nvSpPr>
            <p:cNvPr id="21" name="object 21"/>
            <p:cNvSpPr/>
            <p:nvPr/>
          </p:nvSpPr>
          <p:spPr>
            <a:xfrm>
              <a:off x="6061037" y="1087361"/>
              <a:ext cx="2357755" cy="1281430"/>
            </a:xfrm>
            <a:custGeom>
              <a:avLst/>
              <a:gdLst/>
              <a:ahLst/>
              <a:cxnLst/>
              <a:rect l="l" t="t" r="r" b="b"/>
              <a:pathLst>
                <a:path w="2357754" h="1281430">
                  <a:moveTo>
                    <a:pt x="428244" y="666292"/>
                  </a:moveTo>
                  <a:lnTo>
                    <a:pt x="424726" y="648233"/>
                  </a:lnTo>
                  <a:lnTo>
                    <a:pt x="423037" y="645655"/>
                  </a:lnTo>
                  <a:lnTo>
                    <a:pt x="415074" y="633476"/>
                  </a:lnTo>
                  <a:lnTo>
                    <a:pt x="400608" y="623519"/>
                  </a:lnTo>
                  <a:lnTo>
                    <a:pt x="382676" y="619874"/>
                  </a:lnTo>
                  <a:lnTo>
                    <a:pt x="374484" y="620585"/>
                  </a:lnTo>
                  <a:lnTo>
                    <a:pt x="366763" y="622655"/>
                  </a:lnTo>
                  <a:lnTo>
                    <a:pt x="359664" y="625957"/>
                  </a:lnTo>
                  <a:lnTo>
                    <a:pt x="353364" y="630364"/>
                  </a:lnTo>
                  <a:lnTo>
                    <a:pt x="346760" y="634517"/>
                  </a:lnTo>
                  <a:lnTo>
                    <a:pt x="341985" y="639711"/>
                  </a:lnTo>
                  <a:lnTo>
                    <a:pt x="341985" y="627202"/>
                  </a:lnTo>
                  <a:lnTo>
                    <a:pt x="338175" y="609130"/>
                  </a:lnTo>
                  <a:lnTo>
                    <a:pt x="336397" y="606564"/>
                  </a:lnTo>
                  <a:lnTo>
                    <a:pt x="327901" y="594372"/>
                  </a:lnTo>
                  <a:lnTo>
                    <a:pt x="312813" y="584428"/>
                  </a:lnTo>
                  <a:lnTo>
                    <a:pt x="294601" y="580783"/>
                  </a:lnTo>
                  <a:lnTo>
                    <a:pt x="281292" y="582663"/>
                  </a:lnTo>
                  <a:lnTo>
                    <a:pt x="269227" y="587946"/>
                  </a:lnTo>
                  <a:lnTo>
                    <a:pt x="259232" y="596099"/>
                  </a:lnTo>
                  <a:lnTo>
                    <a:pt x="252095" y="606564"/>
                  </a:lnTo>
                  <a:lnTo>
                    <a:pt x="252095" y="593001"/>
                  </a:lnTo>
                  <a:lnTo>
                    <a:pt x="248602" y="574929"/>
                  </a:lnTo>
                  <a:lnTo>
                    <a:pt x="239001" y="560171"/>
                  </a:lnTo>
                  <a:lnTo>
                    <a:pt x="224599" y="550214"/>
                  </a:lnTo>
                  <a:lnTo>
                    <a:pt x="206692" y="546569"/>
                  </a:lnTo>
                  <a:lnTo>
                    <a:pt x="190690" y="549440"/>
                  </a:lnTo>
                  <a:lnTo>
                    <a:pt x="162077" y="584314"/>
                  </a:lnTo>
                  <a:lnTo>
                    <a:pt x="161290" y="593001"/>
                  </a:lnTo>
                  <a:lnTo>
                    <a:pt x="161290" y="382854"/>
                  </a:lnTo>
                  <a:lnTo>
                    <a:pt x="157861" y="364782"/>
                  </a:lnTo>
                  <a:lnTo>
                    <a:pt x="148424" y="350024"/>
                  </a:lnTo>
                  <a:lnTo>
                    <a:pt x="134175" y="340080"/>
                  </a:lnTo>
                  <a:lnTo>
                    <a:pt x="116344" y="336435"/>
                  </a:lnTo>
                  <a:lnTo>
                    <a:pt x="98501" y="340080"/>
                  </a:lnTo>
                  <a:lnTo>
                    <a:pt x="84239" y="350024"/>
                  </a:lnTo>
                  <a:lnTo>
                    <a:pt x="74803" y="364782"/>
                  </a:lnTo>
                  <a:lnTo>
                    <a:pt x="71386" y="382854"/>
                  </a:lnTo>
                  <a:lnTo>
                    <a:pt x="71386" y="676630"/>
                  </a:lnTo>
                  <a:lnTo>
                    <a:pt x="65049" y="671449"/>
                  </a:lnTo>
                  <a:lnTo>
                    <a:pt x="57696" y="667092"/>
                  </a:lnTo>
                  <a:lnTo>
                    <a:pt x="48018" y="663270"/>
                  </a:lnTo>
                  <a:lnTo>
                    <a:pt x="46875" y="662698"/>
                  </a:lnTo>
                  <a:lnTo>
                    <a:pt x="46875" y="663270"/>
                  </a:lnTo>
                  <a:lnTo>
                    <a:pt x="27724" y="657440"/>
                  </a:lnTo>
                  <a:lnTo>
                    <a:pt x="12915" y="655066"/>
                  </a:lnTo>
                  <a:lnTo>
                    <a:pt x="3378" y="654697"/>
                  </a:lnTo>
                  <a:lnTo>
                    <a:pt x="0" y="654900"/>
                  </a:lnTo>
                  <a:lnTo>
                    <a:pt x="393" y="681634"/>
                  </a:lnTo>
                  <a:lnTo>
                    <a:pt x="596" y="698093"/>
                  </a:lnTo>
                  <a:lnTo>
                    <a:pt x="660" y="727379"/>
                  </a:lnTo>
                  <a:lnTo>
                    <a:pt x="508" y="788619"/>
                  </a:lnTo>
                  <a:lnTo>
                    <a:pt x="431" y="845858"/>
                  </a:lnTo>
                  <a:lnTo>
                    <a:pt x="6286" y="885482"/>
                  </a:lnTo>
                  <a:lnTo>
                    <a:pt x="39141" y="941666"/>
                  </a:lnTo>
                  <a:lnTo>
                    <a:pt x="73202" y="959269"/>
                  </a:lnTo>
                  <a:lnTo>
                    <a:pt x="107670" y="965911"/>
                  </a:lnTo>
                  <a:lnTo>
                    <a:pt x="111086" y="965911"/>
                  </a:lnTo>
                  <a:lnTo>
                    <a:pt x="113461" y="964946"/>
                  </a:lnTo>
                  <a:lnTo>
                    <a:pt x="115011" y="963206"/>
                  </a:lnTo>
                  <a:lnTo>
                    <a:pt x="117017" y="963295"/>
                  </a:lnTo>
                  <a:lnTo>
                    <a:pt x="118605" y="963295"/>
                  </a:lnTo>
                  <a:lnTo>
                    <a:pt x="118605" y="1063180"/>
                  </a:lnTo>
                  <a:lnTo>
                    <a:pt x="89547" y="1063180"/>
                  </a:lnTo>
                  <a:lnTo>
                    <a:pt x="89547" y="1281176"/>
                  </a:lnTo>
                  <a:lnTo>
                    <a:pt x="428244" y="1281176"/>
                  </a:lnTo>
                  <a:lnTo>
                    <a:pt x="428244" y="1063180"/>
                  </a:lnTo>
                  <a:lnTo>
                    <a:pt x="400100" y="1063180"/>
                  </a:lnTo>
                  <a:lnTo>
                    <a:pt x="400100" y="963206"/>
                  </a:lnTo>
                  <a:lnTo>
                    <a:pt x="400100" y="960183"/>
                  </a:lnTo>
                  <a:lnTo>
                    <a:pt x="411695" y="953795"/>
                  </a:lnTo>
                  <a:lnTo>
                    <a:pt x="420573" y="944372"/>
                  </a:lnTo>
                  <a:lnTo>
                    <a:pt x="426237" y="932307"/>
                  </a:lnTo>
                  <a:lnTo>
                    <a:pt x="428218" y="918121"/>
                  </a:lnTo>
                  <a:lnTo>
                    <a:pt x="428244" y="676630"/>
                  </a:lnTo>
                  <a:lnTo>
                    <a:pt x="428244" y="666292"/>
                  </a:lnTo>
                  <a:close/>
                </a:path>
                <a:path w="2357754" h="1281430">
                  <a:moveTo>
                    <a:pt x="2357196" y="1281176"/>
                  </a:moveTo>
                  <a:lnTo>
                    <a:pt x="2356193" y="1235176"/>
                  </a:lnTo>
                  <a:lnTo>
                    <a:pt x="2325713" y="1094968"/>
                  </a:lnTo>
                  <a:lnTo>
                    <a:pt x="2242985" y="949299"/>
                  </a:lnTo>
                  <a:lnTo>
                    <a:pt x="2081885" y="732205"/>
                  </a:lnTo>
                  <a:lnTo>
                    <a:pt x="2050567" y="693127"/>
                  </a:lnTo>
                  <a:lnTo>
                    <a:pt x="2015858" y="653465"/>
                  </a:lnTo>
                  <a:lnTo>
                    <a:pt x="1978456" y="613600"/>
                  </a:lnTo>
                  <a:lnTo>
                    <a:pt x="1939061" y="573925"/>
                  </a:lnTo>
                  <a:lnTo>
                    <a:pt x="1904911" y="541121"/>
                  </a:lnTo>
                  <a:lnTo>
                    <a:pt x="1898396" y="534847"/>
                  </a:lnTo>
                  <a:lnTo>
                    <a:pt x="1857133" y="496760"/>
                  </a:lnTo>
                  <a:lnTo>
                    <a:pt x="1821357" y="464858"/>
                  </a:lnTo>
                  <a:lnTo>
                    <a:pt x="1815985" y="460057"/>
                  </a:lnTo>
                  <a:lnTo>
                    <a:pt x="1775650" y="425132"/>
                  </a:lnTo>
                  <a:lnTo>
                    <a:pt x="1736839" y="392391"/>
                  </a:lnTo>
                  <a:lnTo>
                    <a:pt x="1700237" y="362216"/>
                  </a:lnTo>
                  <a:lnTo>
                    <a:pt x="1666570" y="335000"/>
                  </a:lnTo>
                  <a:lnTo>
                    <a:pt x="1636509" y="311162"/>
                  </a:lnTo>
                  <a:lnTo>
                    <a:pt x="1650479" y="291096"/>
                  </a:lnTo>
                  <a:lnTo>
                    <a:pt x="1598155" y="254673"/>
                  </a:lnTo>
                  <a:lnTo>
                    <a:pt x="1574584" y="238264"/>
                  </a:lnTo>
                  <a:lnTo>
                    <a:pt x="1563166" y="254673"/>
                  </a:lnTo>
                  <a:lnTo>
                    <a:pt x="1548599" y="236499"/>
                  </a:lnTo>
                  <a:lnTo>
                    <a:pt x="1539760" y="216890"/>
                  </a:lnTo>
                  <a:lnTo>
                    <a:pt x="1526895" y="195262"/>
                  </a:lnTo>
                  <a:lnTo>
                    <a:pt x="1504848" y="175221"/>
                  </a:lnTo>
                  <a:lnTo>
                    <a:pt x="1500238" y="171030"/>
                  </a:lnTo>
                  <a:lnTo>
                    <a:pt x="1498219" y="168770"/>
                  </a:lnTo>
                  <a:lnTo>
                    <a:pt x="1495920" y="166611"/>
                  </a:lnTo>
                  <a:lnTo>
                    <a:pt x="1425867" y="111963"/>
                  </a:lnTo>
                  <a:lnTo>
                    <a:pt x="1365821" y="65125"/>
                  </a:lnTo>
                  <a:lnTo>
                    <a:pt x="1294904" y="9804"/>
                  </a:lnTo>
                  <a:lnTo>
                    <a:pt x="1278496" y="1460"/>
                  </a:lnTo>
                  <a:lnTo>
                    <a:pt x="1260919" y="0"/>
                  </a:lnTo>
                  <a:lnTo>
                    <a:pt x="1244180" y="5283"/>
                  </a:lnTo>
                  <a:lnTo>
                    <a:pt x="1220914" y="39065"/>
                  </a:lnTo>
                  <a:lnTo>
                    <a:pt x="1220508" y="46748"/>
                  </a:lnTo>
                  <a:lnTo>
                    <a:pt x="1219720" y="54508"/>
                  </a:lnTo>
                  <a:lnTo>
                    <a:pt x="1220876" y="61468"/>
                  </a:lnTo>
                  <a:lnTo>
                    <a:pt x="1225562" y="65125"/>
                  </a:lnTo>
                  <a:lnTo>
                    <a:pt x="1211021" y="53784"/>
                  </a:lnTo>
                  <a:lnTo>
                    <a:pt x="1194435" y="45656"/>
                  </a:lnTo>
                  <a:lnTo>
                    <a:pt x="1176477" y="44678"/>
                  </a:lnTo>
                  <a:lnTo>
                    <a:pt x="1159344" y="50457"/>
                  </a:lnTo>
                  <a:lnTo>
                    <a:pt x="1145260" y="62585"/>
                  </a:lnTo>
                  <a:lnTo>
                    <a:pt x="1138567" y="74231"/>
                  </a:lnTo>
                  <a:lnTo>
                    <a:pt x="1135316" y="86995"/>
                  </a:lnTo>
                  <a:lnTo>
                    <a:pt x="1135595" y="99885"/>
                  </a:lnTo>
                  <a:lnTo>
                    <a:pt x="1139456" y="111963"/>
                  </a:lnTo>
                  <a:lnTo>
                    <a:pt x="1128750" y="103619"/>
                  </a:lnTo>
                  <a:lnTo>
                    <a:pt x="1112354" y="95250"/>
                  </a:lnTo>
                  <a:lnTo>
                    <a:pt x="1094816" y="93738"/>
                  </a:lnTo>
                  <a:lnTo>
                    <a:pt x="1078115" y="98983"/>
                  </a:lnTo>
                  <a:lnTo>
                    <a:pt x="1064221" y="110871"/>
                  </a:lnTo>
                  <a:lnTo>
                    <a:pt x="1056652" y="125234"/>
                  </a:lnTo>
                  <a:lnTo>
                    <a:pt x="1054696" y="140652"/>
                  </a:lnTo>
                  <a:lnTo>
                    <a:pt x="1058075" y="155778"/>
                  </a:lnTo>
                  <a:lnTo>
                    <a:pt x="1071232" y="173837"/>
                  </a:lnTo>
                  <a:lnTo>
                    <a:pt x="1072311" y="174764"/>
                  </a:lnTo>
                  <a:lnTo>
                    <a:pt x="907211" y="45974"/>
                  </a:lnTo>
                  <a:lnTo>
                    <a:pt x="890866" y="37553"/>
                  </a:lnTo>
                  <a:lnTo>
                    <a:pt x="873417" y="35915"/>
                  </a:lnTo>
                  <a:lnTo>
                    <a:pt x="856805" y="41033"/>
                  </a:lnTo>
                  <a:lnTo>
                    <a:pt x="842962" y="52857"/>
                  </a:lnTo>
                  <a:lnTo>
                    <a:pt x="834872" y="69164"/>
                  </a:lnTo>
                  <a:lnTo>
                    <a:pt x="833945" y="86525"/>
                  </a:lnTo>
                  <a:lnTo>
                    <a:pt x="839774" y="103047"/>
                  </a:lnTo>
                  <a:lnTo>
                    <a:pt x="851916" y="116852"/>
                  </a:lnTo>
                  <a:lnTo>
                    <a:pt x="1083564" y="297535"/>
                  </a:lnTo>
                  <a:lnTo>
                    <a:pt x="1075575" y="299351"/>
                  </a:lnTo>
                  <a:lnTo>
                    <a:pt x="1067625" y="302475"/>
                  </a:lnTo>
                  <a:lnTo>
                    <a:pt x="1058595" y="307797"/>
                  </a:lnTo>
                  <a:lnTo>
                    <a:pt x="1057503" y="308292"/>
                  </a:lnTo>
                  <a:lnTo>
                    <a:pt x="1057948" y="308648"/>
                  </a:lnTo>
                  <a:lnTo>
                    <a:pt x="1041577" y="320167"/>
                  </a:lnTo>
                  <a:lnTo>
                    <a:pt x="1030605" y="330377"/>
                  </a:lnTo>
                  <a:lnTo>
                    <a:pt x="1024445" y="337680"/>
                  </a:lnTo>
                  <a:lnTo>
                    <a:pt x="1022515" y="340474"/>
                  </a:lnTo>
                  <a:lnTo>
                    <a:pt x="1056944" y="366547"/>
                  </a:lnTo>
                  <a:lnTo>
                    <a:pt x="1067219" y="374497"/>
                  </a:lnTo>
                  <a:lnTo>
                    <a:pt x="1173340" y="457581"/>
                  </a:lnTo>
                  <a:lnTo>
                    <a:pt x="1208201" y="477316"/>
                  </a:lnTo>
                  <a:lnTo>
                    <a:pt x="1242847" y="485952"/>
                  </a:lnTo>
                  <a:lnTo>
                    <a:pt x="1272730" y="485952"/>
                  </a:lnTo>
                  <a:lnTo>
                    <a:pt x="1293152" y="479818"/>
                  </a:lnTo>
                  <a:lnTo>
                    <a:pt x="1332979" y="468820"/>
                  </a:lnTo>
                  <a:lnTo>
                    <a:pt x="1356385" y="464858"/>
                  </a:lnTo>
                  <a:lnTo>
                    <a:pt x="1372476" y="467664"/>
                  </a:lnTo>
                  <a:lnTo>
                    <a:pt x="1390370" y="476973"/>
                  </a:lnTo>
                  <a:lnTo>
                    <a:pt x="1402054" y="486092"/>
                  </a:lnTo>
                  <a:lnTo>
                    <a:pt x="1385519" y="509841"/>
                  </a:lnTo>
                  <a:lnTo>
                    <a:pt x="1461414" y="562673"/>
                  </a:lnTo>
                  <a:lnTo>
                    <a:pt x="1569326" y="606590"/>
                  </a:lnTo>
                  <a:lnTo>
                    <a:pt x="1611858" y="637540"/>
                  </a:lnTo>
                  <a:lnTo>
                    <a:pt x="1651025" y="668235"/>
                  </a:lnTo>
                  <a:lnTo>
                    <a:pt x="1686242" y="699389"/>
                  </a:lnTo>
                  <a:lnTo>
                    <a:pt x="1716913" y="731685"/>
                  </a:lnTo>
                  <a:lnTo>
                    <a:pt x="1866722" y="963701"/>
                  </a:lnTo>
                  <a:lnTo>
                    <a:pt x="1954784" y="1190752"/>
                  </a:lnTo>
                  <a:lnTo>
                    <a:pt x="1976589" y="1281176"/>
                  </a:lnTo>
                  <a:lnTo>
                    <a:pt x="2357196" y="1281176"/>
                  </a:lnTo>
                  <a:close/>
                </a:path>
              </a:pathLst>
            </a:custGeom>
            <a:solidFill>
              <a:srgbClr val="000000">
                <a:alpha val="19999"/>
              </a:srgbClr>
            </a:solidFill>
          </p:spPr>
          <p:txBody>
            <a:bodyPr wrap="square" lIns="0" tIns="0" rIns="0" bIns="0" rtlCol="0"/>
            <a:lstStyle/>
            <a:p>
              <a:endParaRPr/>
            </a:p>
          </p:txBody>
        </p:sp>
        <p:sp>
          <p:nvSpPr>
            <p:cNvPr id="22" name="object 22"/>
            <p:cNvSpPr/>
            <p:nvPr/>
          </p:nvSpPr>
          <p:spPr>
            <a:xfrm>
              <a:off x="6202807" y="1748243"/>
              <a:ext cx="60325" cy="248285"/>
            </a:xfrm>
            <a:custGeom>
              <a:avLst/>
              <a:gdLst/>
              <a:ahLst/>
              <a:cxnLst/>
              <a:rect l="l" t="t" r="r" b="b"/>
              <a:pathLst>
                <a:path w="60325" h="248285">
                  <a:moveTo>
                    <a:pt x="52197" y="64681"/>
                  </a:moveTo>
                  <a:lnTo>
                    <a:pt x="39370" y="27076"/>
                  </a:lnTo>
                  <a:lnTo>
                    <a:pt x="4876" y="1155"/>
                  </a:lnTo>
                  <a:lnTo>
                    <a:pt x="3327" y="546"/>
                  </a:lnTo>
                  <a:lnTo>
                    <a:pt x="2260" y="0"/>
                  </a:lnTo>
                  <a:lnTo>
                    <a:pt x="2260" y="15811"/>
                  </a:lnTo>
                  <a:lnTo>
                    <a:pt x="990" y="47396"/>
                  </a:lnTo>
                  <a:lnTo>
                    <a:pt x="330" y="68872"/>
                  </a:lnTo>
                  <a:lnTo>
                    <a:pt x="76" y="90055"/>
                  </a:lnTo>
                  <a:lnTo>
                    <a:pt x="0" y="120802"/>
                  </a:lnTo>
                  <a:lnTo>
                    <a:pt x="2260" y="120802"/>
                  </a:lnTo>
                  <a:lnTo>
                    <a:pt x="2260" y="137414"/>
                  </a:lnTo>
                  <a:lnTo>
                    <a:pt x="7772" y="142875"/>
                  </a:lnTo>
                  <a:lnTo>
                    <a:pt x="21259" y="142875"/>
                  </a:lnTo>
                  <a:lnTo>
                    <a:pt x="26771" y="137414"/>
                  </a:lnTo>
                  <a:lnTo>
                    <a:pt x="26771" y="120802"/>
                  </a:lnTo>
                  <a:lnTo>
                    <a:pt x="52197" y="120802"/>
                  </a:lnTo>
                  <a:lnTo>
                    <a:pt x="52197" y="64681"/>
                  </a:lnTo>
                  <a:close/>
                </a:path>
                <a:path w="60325" h="248285">
                  <a:moveTo>
                    <a:pt x="60121" y="247891"/>
                  </a:moveTo>
                  <a:lnTo>
                    <a:pt x="57683" y="240284"/>
                  </a:lnTo>
                  <a:lnTo>
                    <a:pt x="55702" y="233222"/>
                  </a:lnTo>
                  <a:lnTo>
                    <a:pt x="54368" y="226923"/>
                  </a:lnTo>
                  <a:lnTo>
                    <a:pt x="53886" y="221602"/>
                  </a:lnTo>
                  <a:lnTo>
                    <a:pt x="26987" y="221602"/>
                  </a:lnTo>
                  <a:lnTo>
                    <a:pt x="57594" y="245630"/>
                  </a:lnTo>
                  <a:lnTo>
                    <a:pt x="58839" y="247446"/>
                  </a:lnTo>
                  <a:lnTo>
                    <a:pt x="60121" y="247891"/>
                  </a:lnTo>
                  <a:close/>
                </a:path>
              </a:pathLst>
            </a:custGeom>
            <a:solidFill>
              <a:srgbClr val="E8C59E"/>
            </a:solidFill>
          </p:spPr>
          <p:txBody>
            <a:bodyPr wrap="square" lIns="0" tIns="0" rIns="0" bIns="0" rtlCol="0"/>
            <a:lstStyle/>
            <a:p>
              <a:endParaRPr/>
            </a:p>
          </p:txBody>
        </p:sp>
        <p:sp>
          <p:nvSpPr>
            <p:cNvPr id="23" name="object 23"/>
            <p:cNvSpPr/>
            <p:nvPr/>
          </p:nvSpPr>
          <p:spPr>
            <a:xfrm>
              <a:off x="6158192" y="1421980"/>
              <a:ext cx="428625" cy="629920"/>
            </a:xfrm>
            <a:custGeom>
              <a:avLst/>
              <a:gdLst/>
              <a:ahLst/>
              <a:cxnLst/>
              <a:rect l="l" t="t" r="r" b="b"/>
              <a:pathLst>
                <a:path w="428625" h="629919">
                  <a:moveTo>
                    <a:pt x="428244" y="329857"/>
                  </a:moveTo>
                  <a:lnTo>
                    <a:pt x="424726" y="311797"/>
                  </a:lnTo>
                  <a:lnTo>
                    <a:pt x="415074" y="297040"/>
                  </a:lnTo>
                  <a:lnTo>
                    <a:pt x="400608" y="287083"/>
                  </a:lnTo>
                  <a:lnTo>
                    <a:pt x="382676" y="283438"/>
                  </a:lnTo>
                  <a:lnTo>
                    <a:pt x="369519" y="285318"/>
                  </a:lnTo>
                  <a:lnTo>
                    <a:pt x="357886" y="290601"/>
                  </a:lnTo>
                  <a:lnTo>
                    <a:pt x="348462" y="298754"/>
                  </a:lnTo>
                  <a:lnTo>
                    <a:pt x="341985" y="309219"/>
                  </a:lnTo>
                  <a:lnTo>
                    <a:pt x="341985" y="290766"/>
                  </a:lnTo>
                  <a:lnTo>
                    <a:pt x="338188" y="272694"/>
                  </a:lnTo>
                  <a:lnTo>
                    <a:pt x="327914" y="257937"/>
                  </a:lnTo>
                  <a:lnTo>
                    <a:pt x="312826" y="247992"/>
                  </a:lnTo>
                  <a:lnTo>
                    <a:pt x="294601" y="244348"/>
                  </a:lnTo>
                  <a:lnTo>
                    <a:pt x="281292" y="246227"/>
                  </a:lnTo>
                  <a:lnTo>
                    <a:pt x="269240" y="251510"/>
                  </a:lnTo>
                  <a:lnTo>
                    <a:pt x="259232" y="259664"/>
                  </a:lnTo>
                  <a:lnTo>
                    <a:pt x="252095" y="270129"/>
                  </a:lnTo>
                  <a:lnTo>
                    <a:pt x="252095" y="256565"/>
                  </a:lnTo>
                  <a:lnTo>
                    <a:pt x="248602" y="238493"/>
                  </a:lnTo>
                  <a:lnTo>
                    <a:pt x="239014" y="223735"/>
                  </a:lnTo>
                  <a:lnTo>
                    <a:pt x="224599" y="213779"/>
                  </a:lnTo>
                  <a:lnTo>
                    <a:pt x="206692" y="210134"/>
                  </a:lnTo>
                  <a:lnTo>
                    <a:pt x="188785" y="213779"/>
                  </a:lnTo>
                  <a:lnTo>
                    <a:pt x="174371" y="223735"/>
                  </a:lnTo>
                  <a:lnTo>
                    <a:pt x="164782" y="238493"/>
                  </a:lnTo>
                  <a:lnTo>
                    <a:pt x="161290" y="256565"/>
                  </a:lnTo>
                  <a:lnTo>
                    <a:pt x="161290" y="46418"/>
                  </a:lnTo>
                  <a:lnTo>
                    <a:pt x="157873" y="28346"/>
                  </a:lnTo>
                  <a:lnTo>
                    <a:pt x="148424" y="13589"/>
                  </a:lnTo>
                  <a:lnTo>
                    <a:pt x="134175" y="3644"/>
                  </a:lnTo>
                  <a:lnTo>
                    <a:pt x="116344" y="0"/>
                  </a:lnTo>
                  <a:lnTo>
                    <a:pt x="98501" y="3644"/>
                  </a:lnTo>
                  <a:lnTo>
                    <a:pt x="84251" y="13589"/>
                  </a:lnTo>
                  <a:lnTo>
                    <a:pt x="74803" y="28346"/>
                  </a:lnTo>
                  <a:lnTo>
                    <a:pt x="71386" y="46418"/>
                  </a:lnTo>
                  <a:lnTo>
                    <a:pt x="71386" y="340918"/>
                  </a:lnTo>
                  <a:lnTo>
                    <a:pt x="66192" y="336969"/>
                  </a:lnTo>
                  <a:lnTo>
                    <a:pt x="28663" y="321208"/>
                  </a:lnTo>
                  <a:lnTo>
                    <a:pt x="3505" y="318262"/>
                  </a:lnTo>
                  <a:lnTo>
                    <a:pt x="0" y="318465"/>
                  </a:lnTo>
                  <a:lnTo>
                    <a:pt x="660" y="374637"/>
                  </a:lnTo>
                  <a:lnTo>
                    <a:pt x="431" y="509422"/>
                  </a:lnTo>
                  <a:lnTo>
                    <a:pt x="6299" y="549046"/>
                  </a:lnTo>
                  <a:lnTo>
                    <a:pt x="39154" y="605231"/>
                  </a:lnTo>
                  <a:lnTo>
                    <a:pt x="73202" y="622833"/>
                  </a:lnTo>
                  <a:lnTo>
                    <a:pt x="107670" y="629475"/>
                  </a:lnTo>
                  <a:lnTo>
                    <a:pt x="111086" y="629475"/>
                  </a:lnTo>
                  <a:lnTo>
                    <a:pt x="113461" y="628510"/>
                  </a:lnTo>
                  <a:lnTo>
                    <a:pt x="115011" y="626770"/>
                  </a:lnTo>
                  <a:lnTo>
                    <a:pt x="118592" y="626783"/>
                  </a:lnTo>
                  <a:lnTo>
                    <a:pt x="381952" y="626859"/>
                  </a:lnTo>
                  <a:lnTo>
                    <a:pt x="400088" y="626859"/>
                  </a:lnTo>
                  <a:lnTo>
                    <a:pt x="400088" y="623658"/>
                  </a:lnTo>
                  <a:lnTo>
                    <a:pt x="400570" y="623570"/>
                  </a:lnTo>
                  <a:lnTo>
                    <a:pt x="415226" y="614324"/>
                  </a:lnTo>
                  <a:lnTo>
                    <a:pt x="424802" y="600011"/>
                  </a:lnTo>
                  <a:lnTo>
                    <a:pt x="428244" y="581545"/>
                  </a:lnTo>
                  <a:lnTo>
                    <a:pt x="428244" y="329857"/>
                  </a:lnTo>
                  <a:close/>
                </a:path>
              </a:pathLst>
            </a:custGeom>
            <a:solidFill>
              <a:srgbClr val="EAC4AC"/>
            </a:solidFill>
          </p:spPr>
          <p:txBody>
            <a:bodyPr wrap="square" lIns="0" tIns="0" rIns="0" bIns="0" rtlCol="0"/>
            <a:lstStyle/>
            <a:p>
              <a:endParaRPr/>
            </a:p>
          </p:txBody>
        </p:sp>
        <p:sp>
          <p:nvSpPr>
            <p:cNvPr id="24" name="object 24"/>
            <p:cNvSpPr/>
            <p:nvPr/>
          </p:nvSpPr>
          <p:spPr>
            <a:xfrm>
              <a:off x="6276797" y="2048840"/>
              <a:ext cx="281940" cy="100330"/>
            </a:xfrm>
            <a:custGeom>
              <a:avLst/>
              <a:gdLst/>
              <a:ahLst/>
              <a:cxnLst/>
              <a:rect l="l" t="t" r="r" b="b"/>
              <a:pathLst>
                <a:path w="281940" h="100330">
                  <a:moveTo>
                    <a:pt x="0" y="99885"/>
                  </a:moveTo>
                  <a:lnTo>
                    <a:pt x="281495" y="99885"/>
                  </a:lnTo>
                  <a:lnTo>
                    <a:pt x="281495" y="0"/>
                  </a:lnTo>
                  <a:lnTo>
                    <a:pt x="0" y="0"/>
                  </a:lnTo>
                  <a:lnTo>
                    <a:pt x="0" y="99885"/>
                  </a:lnTo>
                  <a:close/>
                </a:path>
              </a:pathLst>
            </a:custGeom>
            <a:solidFill>
              <a:srgbClr val="FFFFFF"/>
            </a:solidFill>
          </p:spPr>
          <p:txBody>
            <a:bodyPr wrap="square" lIns="0" tIns="0" rIns="0" bIns="0" rtlCol="0"/>
            <a:lstStyle/>
            <a:p>
              <a:endParaRPr/>
            </a:p>
          </p:txBody>
        </p:sp>
        <p:sp>
          <p:nvSpPr>
            <p:cNvPr id="25" name="object 25"/>
            <p:cNvSpPr/>
            <p:nvPr/>
          </p:nvSpPr>
          <p:spPr>
            <a:xfrm>
              <a:off x="6247752" y="2148725"/>
              <a:ext cx="215265" cy="220345"/>
            </a:xfrm>
            <a:custGeom>
              <a:avLst/>
              <a:gdLst/>
              <a:ahLst/>
              <a:cxnLst/>
              <a:rect l="l" t="t" r="r" b="b"/>
              <a:pathLst>
                <a:path w="215264" h="220344">
                  <a:moveTo>
                    <a:pt x="0" y="219798"/>
                  </a:moveTo>
                  <a:lnTo>
                    <a:pt x="215201" y="219798"/>
                  </a:lnTo>
                  <a:lnTo>
                    <a:pt x="215201" y="0"/>
                  </a:lnTo>
                  <a:lnTo>
                    <a:pt x="0" y="0"/>
                  </a:lnTo>
                  <a:lnTo>
                    <a:pt x="0" y="219798"/>
                  </a:lnTo>
                  <a:close/>
                </a:path>
              </a:pathLst>
            </a:custGeom>
            <a:solidFill>
              <a:srgbClr val="104171"/>
            </a:solidFill>
          </p:spPr>
          <p:txBody>
            <a:bodyPr wrap="square" lIns="0" tIns="0" rIns="0" bIns="0" rtlCol="0"/>
            <a:lstStyle/>
            <a:p>
              <a:endParaRPr/>
            </a:p>
          </p:txBody>
        </p:sp>
        <p:sp>
          <p:nvSpPr>
            <p:cNvPr id="26" name="object 26"/>
            <p:cNvSpPr/>
            <p:nvPr/>
          </p:nvSpPr>
          <p:spPr>
            <a:xfrm>
              <a:off x="6462953" y="2148725"/>
              <a:ext cx="123825" cy="220345"/>
            </a:xfrm>
            <a:custGeom>
              <a:avLst/>
              <a:gdLst/>
              <a:ahLst/>
              <a:cxnLst/>
              <a:rect l="l" t="t" r="r" b="b"/>
              <a:pathLst>
                <a:path w="123825" h="220344">
                  <a:moveTo>
                    <a:pt x="123494" y="219798"/>
                  </a:moveTo>
                  <a:lnTo>
                    <a:pt x="0" y="219798"/>
                  </a:lnTo>
                  <a:lnTo>
                    <a:pt x="0" y="0"/>
                  </a:lnTo>
                  <a:lnTo>
                    <a:pt x="123494" y="0"/>
                  </a:lnTo>
                  <a:lnTo>
                    <a:pt x="123494" y="219798"/>
                  </a:lnTo>
                  <a:close/>
                </a:path>
              </a:pathLst>
            </a:custGeom>
            <a:solidFill>
              <a:srgbClr val="103A5E"/>
            </a:solidFill>
          </p:spPr>
          <p:txBody>
            <a:bodyPr wrap="square" lIns="0" tIns="0" rIns="0" bIns="0" rtlCol="0"/>
            <a:lstStyle/>
            <a:p>
              <a:endParaRPr/>
            </a:p>
          </p:txBody>
        </p:sp>
        <p:sp>
          <p:nvSpPr>
            <p:cNvPr id="27" name="object 27"/>
            <p:cNvSpPr/>
            <p:nvPr/>
          </p:nvSpPr>
          <p:spPr>
            <a:xfrm>
              <a:off x="6410294" y="1689256"/>
              <a:ext cx="26670" cy="95885"/>
            </a:xfrm>
            <a:custGeom>
              <a:avLst/>
              <a:gdLst/>
              <a:ahLst/>
              <a:cxnLst/>
              <a:rect l="l" t="t" r="r" b="b"/>
              <a:pathLst>
                <a:path w="26670" h="95885">
                  <a:moveTo>
                    <a:pt x="21158" y="0"/>
                  </a:moveTo>
                  <a:lnTo>
                    <a:pt x="6095" y="0"/>
                  </a:lnTo>
                  <a:lnTo>
                    <a:pt x="0" y="5892"/>
                  </a:lnTo>
                  <a:lnTo>
                    <a:pt x="0" y="90297"/>
                  </a:lnTo>
                  <a:lnTo>
                    <a:pt x="6095" y="95338"/>
                  </a:lnTo>
                  <a:lnTo>
                    <a:pt x="21158" y="95338"/>
                  </a:lnTo>
                  <a:lnTo>
                    <a:pt x="26327" y="90297"/>
                  </a:lnTo>
                  <a:lnTo>
                    <a:pt x="26327" y="83553"/>
                  </a:lnTo>
                  <a:lnTo>
                    <a:pt x="26327" y="5892"/>
                  </a:lnTo>
                  <a:lnTo>
                    <a:pt x="21158" y="0"/>
                  </a:lnTo>
                  <a:close/>
                </a:path>
              </a:pathLst>
            </a:custGeom>
            <a:solidFill>
              <a:srgbClr val="EABC81"/>
            </a:solidFill>
          </p:spPr>
          <p:txBody>
            <a:bodyPr wrap="square" lIns="0" tIns="0" rIns="0" bIns="0" rtlCol="0"/>
            <a:lstStyle/>
            <a:p>
              <a:endParaRPr/>
            </a:p>
          </p:txBody>
        </p:sp>
        <p:sp>
          <p:nvSpPr>
            <p:cNvPr id="28" name="object 28"/>
            <p:cNvSpPr/>
            <p:nvPr/>
          </p:nvSpPr>
          <p:spPr>
            <a:xfrm>
              <a:off x="6319482" y="1637728"/>
              <a:ext cx="208915" cy="165735"/>
            </a:xfrm>
            <a:custGeom>
              <a:avLst/>
              <a:gdLst/>
              <a:ahLst/>
              <a:cxnLst/>
              <a:rect l="l" t="t" r="r" b="b"/>
              <a:pathLst>
                <a:path w="208915" h="165735">
                  <a:moveTo>
                    <a:pt x="29057" y="0"/>
                  </a:moveTo>
                  <a:lnTo>
                    <a:pt x="16090" y="7188"/>
                  </a:lnTo>
                  <a:lnTo>
                    <a:pt x="7035" y="16713"/>
                  </a:lnTo>
                  <a:lnTo>
                    <a:pt x="1727" y="28079"/>
                  </a:lnTo>
                  <a:lnTo>
                    <a:pt x="0" y="40817"/>
                  </a:lnTo>
                  <a:lnTo>
                    <a:pt x="0" y="121450"/>
                  </a:lnTo>
                  <a:lnTo>
                    <a:pt x="558" y="120777"/>
                  </a:lnTo>
                  <a:lnTo>
                    <a:pt x="1422" y="126682"/>
                  </a:lnTo>
                  <a:lnTo>
                    <a:pt x="8572" y="131229"/>
                  </a:lnTo>
                  <a:lnTo>
                    <a:pt x="21463" y="131229"/>
                  </a:lnTo>
                  <a:lnTo>
                    <a:pt x="29057" y="125755"/>
                  </a:lnTo>
                  <a:lnTo>
                    <a:pt x="29057" y="0"/>
                  </a:lnTo>
                  <a:close/>
                </a:path>
                <a:path w="208915" h="165735">
                  <a:moveTo>
                    <a:pt x="117132" y="32143"/>
                  </a:moveTo>
                  <a:lnTo>
                    <a:pt x="111353" y="36017"/>
                  </a:lnTo>
                  <a:lnTo>
                    <a:pt x="104305" y="41109"/>
                  </a:lnTo>
                  <a:lnTo>
                    <a:pt x="97091" y="47269"/>
                  </a:lnTo>
                  <a:lnTo>
                    <a:pt x="90805" y="54381"/>
                  </a:lnTo>
                  <a:lnTo>
                    <a:pt x="90805" y="140411"/>
                  </a:lnTo>
                  <a:lnTo>
                    <a:pt x="97218" y="145884"/>
                  </a:lnTo>
                  <a:lnTo>
                    <a:pt x="110718" y="145884"/>
                  </a:lnTo>
                  <a:lnTo>
                    <a:pt x="117132" y="140411"/>
                  </a:lnTo>
                  <a:lnTo>
                    <a:pt x="117132" y="32143"/>
                  </a:lnTo>
                  <a:close/>
                </a:path>
                <a:path w="208915" h="165735">
                  <a:moveTo>
                    <a:pt x="208851" y="70954"/>
                  </a:moveTo>
                  <a:lnTo>
                    <a:pt x="201574" y="71310"/>
                  </a:lnTo>
                  <a:lnTo>
                    <a:pt x="195224" y="76288"/>
                  </a:lnTo>
                  <a:lnTo>
                    <a:pt x="187058" y="80759"/>
                  </a:lnTo>
                  <a:lnTo>
                    <a:pt x="180695" y="86614"/>
                  </a:lnTo>
                  <a:lnTo>
                    <a:pt x="180695" y="155651"/>
                  </a:lnTo>
                  <a:lnTo>
                    <a:pt x="181317" y="154990"/>
                  </a:lnTo>
                  <a:lnTo>
                    <a:pt x="182168" y="160883"/>
                  </a:lnTo>
                  <a:lnTo>
                    <a:pt x="188861" y="165430"/>
                  </a:lnTo>
                  <a:lnTo>
                    <a:pt x="201739" y="165430"/>
                  </a:lnTo>
                  <a:lnTo>
                    <a:pt x="208851" y="159956"/>
                  </a:lnTo>
                  <a:lnTo>
                    <a:pt x="208851" y="154990"/>
                  </a:lnTo>
                  <a:lnTo>
                    <a:pt x="208851" y="70954"/>
                  </a:lnTo>
                  <a:close/>
                </a:path>
              </a:pathLst>
            </a:custGeom>
            <a:solidFill>
              <a:srgbClr val="D7A98F"/>
            </a:solidFill>
          </p:spPr>
          <p:txBody>
            <a:bodyPr wrap="square" lIns="0" tIns="0" rIns="0" bIns="0" rtlCol="0"/>
            <a:lstStyle/>
            <a:p>
              <a:endParaRPr/>
            </a:p>
          </p:txBody>
        </p:sp>
        <p:sp>
          <p:nvSpPr>
            <p:cNvPr id="29" name="object 29"/>
            <p:cNvSpPr/>
            <p:nvPr/>
          </p:nvSpPr>
          <p:spPr>
            <a:xfrm>
              <a:off x="6944017" y="1032878"/>
              <a:ext cx="1524635" cy="1336040"/>
            </a:xfrm>
            <a:custGeom>
              <a:avLst/>
              <a:gdLst/>
              <a:ahLst/>
              <a:cxnLst/>
              <a:rect l="l" t="t" r="r" b="b"/>
              <a:pathLst>
                <a:path w="1524634" h="1336039">
                  <a:moveTo>
                    <a:pt x="1524419" y="1335659"/>
                  </a:moveTo>
                  <a:lnTo>
                    <a:pt x="1522234" y="1235176"/>
                  </a:lnTo>
                  <a:lnTo>
                    <a:pt x="1491767" y="1094955"/>
                  </a:lnTo>
                  <a:lnTo>
                    <a:pt x="1409039" y="949286"/>
                  </a:lnTo>
                  <a:lnTo>
                    <a:pt x="1247940" y="732205"/>
                  </a:lnTo>
                  <a:lnTo>
                    <a:pt x="1210411" y="685800"/>
                  </a:lnTo>
                  <a:lnTo>
                    <a:pt x="1168298" y="638657"/>
                  </a:lnTo>
                  <a:lnTo>
                    <a:pt x="1122768" y="591451"/>
                  </a:lnTo>
                  <a:lnTo>
                    <a:pt x="1074991" y="544817"/>
                  </a:lnTo>
                  <a:lnTo>
                    <a:pt x="1026134" y="499440"/>
                  </a:lnTo>
                  <a:lnTo>
                    <a:pt x="985100" y="462864"/>
                  </a:lnTo>
                  <a:lnTo>
                    <a:pt x="977366" y="455968"/>
                  </a:lnTo>
                  <a:lnTo>
                    <a:pt x="929868" y="415061"/>
                  </a:lnTo>
                  <a:lnTo>
                    <a:pt x="884783" y="377380"/>
                  </a:lnTo>
                  <a:lnTo>
                    <a:pt x="843318" y="343585"/>
                  </a:lnTo>
                  <a:lnTo>
                    <a:pt x="806602" y="314337"/>
                  </a:lnTo>
                  <a:lnTo>
                    <a:pt x="775830" y="290296"/>
                  </a:lnTo>
                  <a:lnTo>
                    <a:pt x="730808" y="255993"/>
                  </a:lnTo>
                  <a:lnTo>
                    <a:pt x="715213" y="237566"/>
                  </a:lnTo>
                  <a:lnTo>
                    <a:pt x="706145" y="217665"/>
                  </a:lnTo>
                  <a:lnTo>
                    <a:pt x="693293" y="195694"/>
                  </a:lnTo>
                  <a:lnTo>
                    <a:pt x="670864" y="175209"/>
                  </a:lnTo>
                  <a:lnTo>
                    <a:pt x="666305" y="171043"/>
                  </a:lnTo>
                  <a:lnTo>
                    <a:pt x="591921" y="111963"/>
                  </a:lnTo>
                  <a:lnTo>
                    <a:pt x="531876" y="65125"/>
                  </a:lnTo>
                  <a:lnTo>
                    <a:pt x="460946" y="9804"/>
                  </a:lnTo>
                  <a:lnTo>
                    <a:pt x="426974" y="0"/>
                  </a:lnTo>
                  <a:lnTo>
                    <a:pt x="410235" y="5283"/>
                  </a:lnTo>
                  <a:lnTo>
                    <a:pt x="396316" y="17183"/>
                  </a:lnTo>
                  <a:lnTo>
                    <a:pt x="389712" y="28714"/>
                  </a:lnTo>
                  <a:lnTo>
                    <a:pt x="386715" y="41135"/>
                  </a:lnTo>
                  <a:lnTo>
                    <a:pt x="387311" y="52857"/>
                  </a:lnTo>
                  <a:lnTo>
                    <a:pt x="387426" y="53771"/>
                  </a:lnTo>
                  <a:lnTo>
                    <a:pt x="391617" y="65125"/>
                  </a:lnTo>
                  <a:lnTo>
                    <a:pt x="377075" y="53771"/>
                  </a:lnTo>
                  <a:lnTo>
                    <a:pt x="360489" y="45656"/>
                  </a:lnTo>
                  <a:lnTo>
                    <a:pt x="342531" y="44678"/>
                  </a:lnTo>
                  <a:lnTo>
                    <a:pt x="325399" y="50457"/>
                  </a:lnTo>
                  <a:lnTo>
                    <a:pt x="311315" y="62585"/>
                  </a:lnTo>
                  <a:lnTo>
                    <a:pt x="304622" y="74231"/>
                  </a:lnTo>
                  <a:lnTo>
                    <a:pt x="301371" y="86982"/>
                  </a:lnTo>
                  <a:lnTo>
                    <a:pt x="301637" y="99885"/>
                  </a:lnTo>
                  <a:lnTo>
                    <a:pt x="305498" y="111963"/>
                  </a:lnTo>
                  <a:lnTo>
                    <a:pt x="294805" y="103619"/>
                  </a:lnTo>
                  <a:lnTo>
                    <a:pt x="278409" y="95250"/>
                  </a:lnTo>
                  <a:lnTo>
                    <a:pt x="260870" y="93738"/>
                  </a:lnTo>
                  <a:lnTo>
                    <a:pt x="244170" y="98983"/>
                  </a:lnTo>
                  <a:lnTo>
                    <a:pt x="230276" y="110858"/>
                  </a:lnTo>
                  <a:lnTo>
                    <a:pt x="222135" y="127228"/>
                  </a:lnTo>
                  <a:lnTo>
                    <a:pt x="221119" y="144703"/>
                  </a:lnTo>
                  <a:lnTo>
                    <a:pt x="226860" y="161353"/>
                  </a:lnTo>
                  <a:lnTo>
                    <a:pt x="238963" y="175209"/>
                  </a:lnTo>
                  <a:lnTo>
                    <a:pt x="73266" y="45974"/>
                  </a:lnTo>
                  <a:lnTo>
                    <a:pt x="56921" y="37553"/>
                  </a:lnTo>
                  <a:lnTo>
                    <a:pt x="39471" y="35915"/>
                  </a:lnTo>
                  <a:lnTo>
                    <a:pt x="22860" y="41033"/>
                  </a:lnTo>
                  <a:lnTo>
                    <a:pt x="9017" y="52857"/>
                  </a:lnTo>
                  <a:lnTo>
                    <a:pt x="927" y="69164"/>
                  </a:lnTo>
                  <a:lnTo>
                    <a:pt x="0" y="86525"/>
                  </a:lnTo>
                  <a:lnTo>
                    <a:pt x="5829" y="103047"/>
                  </a:lnTo>
                  <a:lnTo>
                    <a:pt x="17970" y="116852"/>
                  </a:lnTo>
                  <a:lnTo>
                    <a:pt x="250177" y="297980"/>
                  </a:lnTo>
                  <a:lnTo>
                    <a:pt x="243865" y="299643"/>
                  </a:lnTo>
                  <a:lnTo>
                    <a:pt x="208368" y="319557"/>
                  </a:lnTo>
                  <a:lnTo>
                    <a:pt x="188569" y="340461"/>
                  </a:lnTo>
                  <a:lnTo>
                    <a:pt x="222999" y="366547"/>
                  </a:lnTo>
                  <a:lnTo>
                    <a:pt x="233273" y="374484"/>
                  </a:lnTo>
                  <a:lnTo>
                    <a:pt x="339394" y="457568"/>
                  </a:lnTo>
                  <a:lnTo>
                    <a:pt x="374256" y="477316"/>
                  </a:lnTo>
                  <a:lnTo>
                    <a:pt x="408901" y="485952"/>
                  </a:lnTo>
                  <a:lnTo>
                    <a:pt x="438785" y="485952"/>
                  </a:lnTo>
                  <a:lnTo>
                    <a:pt x="459206" y="479818"/>
                  </a:lnTo>
                  <a:lnTo>
                    <a:pt x="506069" y="466915"/>
                  </a:lnTo>
                  <a:lnTo>
                    <a:pt x="532498" y="462864"/>
                  </a:lnTo>
                  <a:lnTo>
                    <a:pt x="542328" y="466001"/>
                  </a:lnTo>
                  <a:lnTo>
                    <a:pt x="583450" y="498055"/>
                  </a:lnTo>
                  <a:lnTo>
                    <a:pt x="583692" y="497751"/>
                  </a:lnTo>
                  <a:lnTo>
                    <a:pt x="610527" y="518020"/>
                  </a:lnTo>
                  <a:lnTo>
                    <a:pt x="656844" y="551345"/>
                  </a:lnTo>
                  <a:lnTo>
                    <a:pt x="744067" y="612787"/>
                  </a:lnTo>
                  <a:lnTo>
                    <a:pt x="783983" y="642112"/>
                  </a:lnTo>
                  <a:lnTo>
                    <a:pt x="820762" y="671296"/>
                  </a:lnTo>
                  <a:lnTo>
                    <a:pt x="853922" y="700951"/>
                  </a:lnTo>
                  <a:lnTo>
                    <a:pt x="882954" y="731672"/>
                  </a:lnTo>
                  <a:lnTo>
                    <a:pt x="1032776" y="963688"/>
                  </a:lnTo>
                  <a:lnTo>
                    <a:pt x="1120838" y="1190752"/>
                  </a:lnTo>
                  <a:lnTo>
                    <a:pt x="1155776" y="1335659"/>
                  </a:lnTo>
                  <a:lnTo>
                    <a:pt x="1524419" y="1335659"/>
                  </a:lnTo>
                  <a:close/>
                </a:path>
              </a:pathLst>
            </a:custGeom>
            <a:solidFill>
              <a:srgbClr val="F8DDB4"/>
            </a:solidFill>
          </p:spPr>
          <p:txBody>
            <a:bodyPr wrap="square" lIns="0" tIns="0" rIns="0" bIns="0" rtlCol="0"/>
            <a:lstStyle/>
            <a:p>
              <a:endParaRPr/>
            </a:p>
          </p:txBody>
        </p:sp>
        <p:pic>
          <p:nvPicPr>
            <p:cNvPr id="30" name="object 30"/>
            <p:cNvPicPr/>
            <p:nvPr/>
          </p:nvPicPr>
          <p:blipFill>
            <a:blip r:embed="rId2" cstate="print"/>
            <a:stretch>
              <a:fillRect/>
            </a:stretch>
          </p:blipFill>
          <p:spPr>
            <a:xfrm>
              <a:off x="7166374" y="1061952"/>
              <a:ext cx="239006" cy="197824"/>
            </a:xfrm>
            <a:prstGeom prst="rect">
              <a:avLst/>
            </a:prstGeom>
          </p:spPr>
        </p:pic>
        <p:pic>
          <p:nvPicPr>
            <p:cNvPr id="31" name="object 31"/>
            <p:cNvPicPr/>
            <p:nvPr/>
          </p:nvPicPr>
          <p:blipFill>
            <a:blip r:embed="rId3" cstate="print"/>
            <a:stretch>
              <a:fillRect/>
            </a:stretch>
          </p:blipFill>
          <p:spPr>
            <a:xfrm>
              <a:off x="7167575" y="1330405"/>
              <a:ext cx="124343" cy="95275"/>
            </a:xfrm>
            <a:prstGeom prst="rect">
              <a:avLst/>
            </a:prstGeom>
          </p:spPr>
        </p:pic>
        <p:sp>
          <p:nvSpPr>
            <p:cNvPr id="32" name="object 32"/>
            <p:cNvSpPr/>
            <p:nvPr/>
          </p:nvSpPr>
          <p:spPr>
            <a:xfrm>
              <a:off x="7696560" y="1470727"/>
              <a:ext cx="32384" cy="33020"/>
            </a:xfrm>
            <a:custGeom>
              <a:avLst/>
              <a:gdLst/>
              <a:ahLst/>
              <a:cxnLst/>
              <a:rect l="l" t="t" r="r" b="b"/>
              <a:pathLst>
                <a:path w="32384" h="33019">
                  <a:moveTo>
                    <a:pt x="13970" y="0"/>
                  </a:moveTo>
                  <a:lnTo>
                    <a:pt x="0" y="20065"/>
                  </a:lnTo>
                  <a:lnTo>
                    <a:pt x="18186" y="32727"/>
                  </a:lnTo>
                  <a:lnTo>
                    <a:pt x="32156" y="12661"/>
                  </a:lnTo>
                  <a:lnTo>
                    <a:pt x="13970" y="0"/>
                  </a:lnTo>
                  <a:close/>
                </a:path>
              </a:pathLst>
            </a:custGeom>
            <a:solidFill>
              <a:srgbClr val="DDDDDD"/>
            </a:solidFill>
          </p:spPr>
          <p:txBody>
            <a:bodyPr wrap="square" lIns="0" tIns="0" rIns="0" bIns="0" rtlCol="0"/>
            <a:lstStyle/>
            <a:p>
              <a:endParaRPr/>
            </a:p>
          </p:txBody>
        </p:sp>
        <p:sp>
          <p:nvSpPr>
            <p:cNvPr id="33" name="object 33"/>
            <p:cNvSpPr/>
            <p:nvPr/>
          </p:nvSpPr>
          <p:spPr>
            <a:xfrm>
              <a:off x="7696560" y="1480760"/>
              <a:ext cx="25400" cy="22860"/>
            </a:xfrm>
            <a:custGeom>
              <a:avLst/>
              <a:gdLst/>
              <a:ahLst/>
              <a:cxnLst/>
              <a:rect l="l" t="t" r="r" b="b"/>
              <a:pathLst>
                <a:path w="25400" h="22859">
                  <a:moveTo>
                    <a:pt x="6985" y="0"/>
                  </a:moveTo>
                  <a:lnTo>
                    <a:pt x="0" y="10032"/>
                  </a:lnTo>
                  <a:lnTo>
                    <a:pt x="18186" y="22694"/>
                  </a:lnTo>
                  <a:lnTo>
                    <a:pt x="25171" y="12661"/>
                  </a:lnTo>
                  <a:lnTo>
                    <a:pt x="6985" y="0"/>
                  </a:lnTo>
                  <a:close/>
                </a:path>
              </a:pathLst>
            </a:custGeom>
            <a:solidFill>
              <a:srgbClr val="929292"/>
            </a:solidFill>
          </p:spPr>
          <p:txBody>
            <a:bodyPr wrap="square" lIns="0" tIns="0" rIns="0" bIns="0" rtlCol="0"/>
            <a:lstStyle/>
            <a:p>
              <a:endParaRPr/>
            </a:p>
          </p:txBody>
        </p:sp>
        <p:sp>
          <p:nvSpPr>
            <p:cNvPr id="34" name="object 34"/>
            <p:cNvSpPr/>
            <p:nvPr/>
          </p:nvSpPr>
          <p:spPr>
            <a:xfrm>
              <a:off x="7495593" y="1271131"/>
              <a:ext cx="265430" cy="324485"/>
            </a:xfrm>
            <a:custGeom>
              <a:avLst/>
              <a:gdLst/>
              <a:ahLst/>
              <a:cxnLst/>
              <a:rect l="l" t="t" r="r" b="b"/>
              <a:pathLst>
                <a:path w="265429" h="324484">
                  <a:moveTo>
                    <a:pt x="189064" y="0"/>
                  </a:moveTo>
                  <a:lnTo>
                    <a:pt x="0" y="271576"/>
                  </a:lnTo>
                  <a:lnTo>
                    <a:pt x="75895" y="324408"/>
                  </a:lnTo>
                  <a:lnTo>
                    <a:pt x="264960" y="52831"/>
                  </a:lnTo>
                  <a:lnTo>
                    <a:pt x="189064" y="0"/>
                  </a:lnTo>
                  <a:close/>
                </a:path>
              </a:pathLst>
            </a:custGeom>
            <a:solidFill>
              <a:srgbClr val="82522A"/>
            </a:solidFill>
          </p:spPr>
          <p:txBody>
            <a:bodyPr wrap="square" lIns="0" tIns="0" rIns="0" bIns="0" rtlCol="0"/>
            <a:lstStyle/>
            <a:p>
              <a:endParaRPr/>
            </a:p>
          </p:txBody>
        </p:sp>
        <p:pic>
          <p:nvPicPr>
            <p:cNvPr id="35" name="object 35"/>
            <p:cNvPicPr/>
            <p:nvPr/>
          </p:nvPicPr>
          <p:blipFill>
            <a:blip r:embed="rId4" cstate="print"/>
            <a:stretch>
              <a:fillRect/>
            </a:stretch>
          </p:blipFill>
          <p:spPr>
            <a:xfrm>
              <a:off x="7532174" y="1328245"/>
              <a:ext cx="199615" cy="199609"/>
            </a:xfrm>
            <a:prstGeom prst="rect">
              <a:avLst/>
            </a:prstGeom>
          </p:spPr>
        </p:pic>
        <p:sp>
          <p:nvSpPr>
            <p:cNvPr id="36" name="object 36"/>
            <p:cNvSpPr/>
            <p:nvPr/>
          </p:nvSpPr>
          <p:spPr>
            <a:xfrm>
              <a:off x="4968011" y="1358748"/>
              <a:ext cx="396240" cy="390525"/>
            </a:xfrm>
            <a:custGeom>
              <a:avLst/>
              <a:gdLst/>
              <a:ahLst/>
              <a:cxnLst/>
              <a:rect l="l" t="t" r="r" b="b"/>
              <a:pathLst>
                <a:path w="396239" h="390525">
                  <a:moveTo>
                    <a:pt x="279476" y="0"/>
                  </a:moveTo>
                  <a:lnTo>
                    <a:pt x="0" y="120103"/>
                  </a:lnTo>
                  <a:lnTo>
                    <a:pt x="116154" y="390410"/>
                  </a:lnTo>
                  <a:lnTo>
                    <a:pt x="395630" y="270306"/>
                  </a:lnTo>
                  <a:lnTo>
                    <a:pt x="279476" y="0"/>
                  </a:lnTo>
                  <a:close/>
                </a:path>
              </a:pathLst>
            </a:custGeom>
            <a:solidFill>
              <a:srgbClr val="FFD32A"/>
            </a:solidFill>
          </p:spPr>
          <p:txBody>
            <a:bodyPr wrap="square" lIns="0" tIns="0" rIns="0" bIns="0" rtlCol="0"/>
            <a:lstStyle/>
            <a:p>
              <a:endParaRPr/>
            </a:p>
          </p:txBody>
        </p:sp>
        <p:pic>
          <p:nvPicPr>
            <p:cNvPr id="37" name="object 37"/>
            <p:cNvPicPr/>
            <p:nvPr/>
          </p:nvPicPr>
          <p:blipFill>
            <a:blip r:embed="rId5" cstate="print"/>
            <a:stretch>
              <a:fillRect/>
            </a:stretch>
          </p:blipFill>
          <p:spPr>
            <a:xfrm>
              <a:off x="5041999" y="1497137"/>
              <a:ext cx="234646" cy="137552"/>
            </a:xfrm>
            <a:prstGeom prst="rect">
              <a:avLst/>
            </a:prstGeom>
          </p:spPr>
        </p:pic>
        <p:sp>
          <p:nvSpPr>
            <p:cNvPr id="38" name="object 38"/>
            <p:cNvSpPr/>
            <p:nvPr/>
          </p:nvSpPr>
          <p:spPr>
            <a:xfrm>
              <a:off x="5643003" y="153758"/>
              <a:ext cx="13970" cy="2142490"/>
            </a:xfrm>
            <a:custGeom>
              <a:avLst/>
              <a:gdLst/>
              <a:ahLst/>
              <a:cxnLst/>
              <a:rect l="l" t="t" r="r" b="b"/>
              <a:pathLst>
                <a:path w="13970" h="2142490">
                  <a:moveTo>
                    <a:pt x="13614" y="0"/>
                  </a:moveTo>
                  <a:lnTo>
                    <a:pt x="0" y="0"/>
                  </a:lnTo>
                  <a:lnTo>
                    <a:pt x="0" y="2142058"/>
                  </a:lnTo>
                  <a:lnTo>
                    <a:pt x="13614" y="2142058"/>
                  </a:lnTo>
                  <a:lnTo>
                    <a:pt x="13614" y="0"/>
                  </a:lnTo>
                  <a:close/>
                </a:path>
              </a:pathLst>
            </a:custGeom>
            <a:solidFill>
              <a:srgbClr val="FFFFFF"/>
            </a:solidFill>
          </p:spPr>
          <p:txBody>
            <a:bodyPr wrap="square" lIns="0" tIns="0" rIns="0" bIns="0" rtlCol="0"/>
            <a:lstStyle/>
            <a:p>
              <a:endParaRPr/>
            </a:p>
          </p:txBody>
        </p:sp>
        <p:sp>
          <p:nvSpPr>
            <p:cNvPr id="39" name="object 39"/>
            <p:cNvSpPr/>
            <p:nvPr/>
          </p:nvSpPr>
          <p:spPr>
            <a:xfrm>
              <a:off x="8540546" y="1052715"/>
              <a:ext cx="304800" cy="294640"/>
            </a:xfrm>
            <a:custGeom>
              <a:avLst/>
              <a:gdLst/>
              <a:ahLst/>
              <a:cxnLst/>
              <a:rect l="l" t="t" r="r" b="b"/>
              <a:pathLst>
                <a:path w="304800" h="294640">
                  <a:moveTo>
                    <a:pt x="304190" y="0"/>
                  </a:moveTo>
                  <a:lnTo>
                    <a:pt x="0" y="0"/>
                  </a:lnTo>
                  <a:lnTo>
                    <a:pt x="0" y="294208"/>
                  </a:lnTo>
                  <a:lnTo>
                    <a:pt x="304190" y="294208"/>
                  </a:lnTo>
                  <a:lnTo>
                    <a:pt x="304190" y="0"/>
                  </a:lnTo>
                  <a:close/>
                </a:path>
              </a:pathLst>
            </a:custGeom>
            <a:solidFill>
              <a:srgbClr val="FFD32A"/>
            </a:solidFill>
          </p:spPr>
          <p:txBody>
            <a:bodyPr wrap="square" lIns="0" tIns="0" rIns="0" bIns="0" rtlCol="0"/>
            <a:lstStyle/>
            <a:p>
              <a:endParaRPr/>
            </a:p>
          </p:txBody>
        </p:sp>
        <p:sp>
          <p:nvSpPr>
            <p:cNvPr id="40" name="object 40"/>
            <p:cNvSpPr/>
            <p:nvPr/>
          </p:nvSpPr>
          <p:spPr>
            <a:xfrm>
              <a:off x="8580501" y="1147152"/>
              <a:ext cx="215265" cy="93980"/>
            </a:xfrm>
            <a:custGeom>
              <a:avLst/>
              <a:gdLst/>
              <a:ahLst/>
              <a:cxnLst/>
              <a:rect l="l" t="t" r="r" b="b"/>
              <a:pathLst>
                <a:path w="215265" h="93980">
                  <a:moveTo>
                    <a:pt x="133477" y="0"/>
                  </a:moveTo>
                  <a:lnTo>
                    <a:pt x="0" y="0"/>
                  </a:lnTo>
                  <a:lnTo>
                    <a:pt x="0" y="21793"/>
                  </a:lnTo>
                  <a:lnTo>
                    <a:pt x="133477" y="21793"/>
                  </a:lnTo>
                  <a:lnTo>
                    <a:pt x="133477" y="0"/>
                  </a:lnTo>
                  <a:close/>
                </a:path>
                <a:path w="215265" h="93980">
                  <a:moveTo>
                    <a:pt x="215201" y="77177"/>
                  </a:moveTo>
                  <a:lnTo>
                    <a:pt x="2717" y="77177"/>
                  </a:lnTo>
                  <a:lnTo>
                    <a:pt x="2717" y="93522"/>
                  </a:lnTo>
                  <a:lnTo>
                    <a:pt x="215201" y="93522"/>
                  </a:lnTo>
                  <a:lnTo>
                    <a:pt x="215201" y="77177"/>
                  </a:lnTo>
                  <a:close/>
                </a:path>
                <a:path w="215265" h="93980">
                  <a:moveTo>
                    <a:pt x="215201" y="41783"/>
                  </a:moveTo>
                  <a:lnTo>
                    <a:pt x="2717" y="41783"/>
                  </a:lnTo>
                  <a:lnTo>
                    <a:pt x="2717" y="58115"/>
                  </a:lnTo>
                  <a:lnTo>
                    <a:pt x="215201" y="58115"/>
                  </a:lnTo>
                  <a:lnTo>
                    <a:pt x="215201" y="41783"/>
                  </a:lnTo>
                  <a:close/>
                </a:path>
              </a:pathLst>
            </a:custGeom>
            <a:solidFill>
              <a:srgbClr val="3E3E3E"/>
            </a:solidFill>
          </p:spPr>
          <p:txBody>
            <a:bodyPr wrap="square" lIns="0" tIns="0" rIns="0" bIns="0" rtlCol="0"/>
            <a:lstStyle/>
            <a:p>
              <a:endParaRPr/>
            </a:p>
          </p:txBody>
        </p:sp>
        <p:sp>
          <p:nvSpPr>
            <p:cNvPr id="41" name="object 41"/>
            <p:cNvSpPr/>
            <p:nvPr/>
          </p:nvSpPr>
          <p:spPr>
            <a:xfrm>
              <a:off x="7297089" y="671061"/>
              <a:ext cx="346710" cy="338455"/>
            </a:xfrm>
            <a:custGeom>
              <a:avLst/>
              <a:gdLst/>
              <a:ahLst/>
              <a:cxnLst/>
              <a:rect l="l" t="t" r="r" b="b"/>
              <a:pathLst>
                <a:path w="346709" h="338455">
                  <a:moveTo>
                    <a:pt x="46240" y="0"/>
                  </a:moveTo>
                  <a:lnTo>
                    <a:pt x="0" y="290550"/>
                  </a:lnTo>
                  <a:lnTo>
                    <a:pt x="300418" y="338353"/>
                  </a:lnTo>
                  <a:lnTo>
                    <a:pt x="346659" y="47802"/>
                  </a:lnTo>
                  <a:lnTo>
                    <a:pt x="46240" y="0"/>
                  </a:lnTo>
                  <a:close/>
                </a:path>
              </a:pathLst>
            </a:custGeom>
            <a:solidFill>
              <a:srgbClr val="FFD32A"/>
            </a:solidFill>
          </p:spPr>
          <p:txBody>
            <a:bodyPr wrap="square" lIns="0" tIns="0" rIns="0" bIns="0" rtlCol="0"/>
            <a:lstStyle/>
            <a:p>
              <a:endParaRPr/>
            </a:p>
          </p:txBody>
        </p:sp>
        <p:pic>
          <p:nvPicPr>
            <p:cNvPr id="42" name="object 42"/>
            <p:cNvPicPr/>
            <p:nvPr/>
          </p:nvPicPr>
          <p:blipFill>
            <a:blip r:embed="rId6" cstate="print"/>
            <a:stretch>
              <a:fillRect/>
            </a:stretch>
          </p:blipFill>
          <p:spPr>
            <a:xfrm>
              <a:off x="7355939" y="770606"/>
              <a:ext cx="217971" cy="126182"/>
            </a:xfrm>
            <a:prstGeom prst="rect">
              <a:avLst/>
            </a:prstGeom>
          </p:spPr>
        </p:pic>
        <p:sp>
          <p:nvSpPr>
            <p:cNvPr id="43" name="object 43"/>
            <p:cNvSpPr/>
            <p:nvPr/>
          </p:nvSpPr>
          <p:spPr>
            <a:xfrm>
              <a:off x="7716049" y="894714"/>
              <a:ext cx="304800" cy="294640"/>
            </a:xfrm>
            <a:custGeom>
              <a:avLst/>
              <a:gdLst/>
              <a:ahLst/>
              <a:cxnLst/>
              <a:rect l="l" t="t" r="r" b="b"/>
              <a:pathLst>
                <a:path w="304800" h="294640">
                  <a:moveTo>
                    <a:pt x="304190" y="0"/>
                  </a:moveTo>
                  <a:lnTo>
                    <a:pt x="0" y="0"/>
                  </a:lnTo>
                  <a:lnTo>
                    <a:pt x="0" y="294208"/>
                  </a:lnTo>
                  <a:lnTo>
                    <a:pt x="304190" y="294208"/>
                  </a:lnTo>
                  <a:lnTo>
                    <a:pt x="304190" y="0"/>
                  </a:lnTo>
                  <a:close/>
                </a:path>
              </a:pathLst>
            </a:custGeom>
            <a:solidFill>
              <a:srgbClr val="00BC31"/>
            </a:solidFill>
          </p:spPr>
          <p:txBody>
            <a:bodyPr wrap="square" lIns="0" tIns="0" rIns="0" bIns="0" rtlCol="0"/>
            <a:lstStyle/>
            <a:p>
              <a:endParaRPr/>
            </a:p>
          </p:txBody>
        </p:sp>
        <p:sp>
          <p:nvSpPr>
            <p:cNvPr id="44" name="object 44"/>
            <p:cNvSpPr/>
            <p:nvPr/>
          </p:nvSpPr>
          <p:spPr>
            <a:xfrm>
              <a:off x="7756004" y="989151"/>
              <a:ext cx="215265" cy="93980"/>
            </a:xfrm>
            <a:custGeom>
              <a:avLst/>
              <a:gdLst/>
              <a:ahLst/>
              <a:cxnLst/>
              <a:rect l="l" t="t" r="r" b="b"/>
              <a:pathLst>
                <a:path w="215265" h="93980">
                  <a:moveTo>
                    <a:pt x="133477" y="0"/>
                  </a:moveTo>
                  <a:lnTo>
                    <a:pt x="0" y="0"/>
                  </a:lnTo>
                  <a:lnTo>
                    <a:pt x="0" y="21793"/>
                  </a:lnTo>
                  <a:lnTo>
                    <a:pt x="133477" y="21793"/>
                  </a:lnTo>
                  <a:lnTo>
                    <a:pt x="133477" y="0"/>
                  </a:lnTo>
                  <a:close/>
                </a:path>
                <a:path w="215265" h="93980">
                  <a:moveTo>
                    <a:pt x="215201" y="77190"/>
                  </a:moveTo>
                  <a:lnTo>
                    <a:pt x="2717" y="77190"/>
                  </a:lnTo>
                  <a:lnTo>
                    <a:pt x="2717" y="93535"/>
                  </a:lnTo>
                  <a:lnTo>
                    <a:pt x="215201" y="93535"/>
                  </a:lnTo>
                  <a:lnTo>
                    <a:pt x="215201" y="77190"/>
                  </a:lnTo>
                  <a:close/>
                </a:path>
                <a:path w="215265" h="93980">
                  <a:moveTo>
                    <a:pt x="215201" y="41770"/>
                  </a:moveTo>
                  <a:lnTo>
                    <a:pt x="2717" y="41770"/>
                  </a:lnTo>
                  <a:lnTo>
                    <a:pt x="2717" y="58115"/>
                  </a:lnTo>
                  <a:lnTo>
                    <a:pt x="215201" y="58115"/>
                  </a:lnTo>
                  <a:lnTo>
                    <a:pt x="215201" y="41770"/>
                  </a:lnTo>
                  <a:close/>
                </a:path>
              </a:pathLst>
            </a:custGeom>
            <a:solidFill>
              <a:srgbClr val="3E3E3E"/>
            </a:solidFill>
          </p:spPr>
          <p:txBody>
            <a:bodyPr wrap="square" lIns="0" tIns="0" rIns="0" bIns="0" rtlCol="0"/>
            <a:lstStyle/>
            <a:p>
              <a:endParaRPr/>
            </a:p>
          </p:txBody>
        </p:sp>
        <p:sp>
          <p:nvSpPr>
            <p:cNvPr id="45" name="object 45"/>
            <p:cNvSpPr/>
            <p:nvPr/>
          </p:nvSpPr>
          <p:spPr>
            <a:xfrm>
              <a:off x="8257235" y="1390497"/>
              <a:ext cx="304800" cy="294640"/>
            </a:xfrm>
            <a:custGeom>
              <a:avLst/>
              <a:gdLst/>
              <a:ahLst/>
              <a:cxnLst/>
              <a:rect l="l" t="t" r="r" b="b"/>
              <a:pathLst>
                <a:path w="304800" h="294639">
                  <a:moveTo>
                    <a:pt x="304190" y="0"/>
                  </a:moveTo>
                  <a:lnTo>
                    <a:pt x="0" y="0"/>
                  </a:lnTo>
                  <a:lnTo>
                    <a:pt x="0" y="294208"/>
                  </a:lnTo>
                  <a:lnTo>
                    <a:pt x="304190" y="294208"/>
                  </a:lnTo>
                  <a:lnTo>
                    <a:pt x="304190" y="0"/>
                  </a:lnTo>
                  <a:close/>
                </a:path>
              </a:pathLst>
            </a:custGeom>
            <a:solidFill>
              <a:srgbClr val="FF3F31"/>
            </a:solidFill>
          </p:spPr>
          <p:txBody>
            <a:bodyPr wrap="square" lIns="0" tIns="0" rIns="0" bIns="0" rtlCol="0"/>
            <a:lstStyle/>
            <a:p>
              <a:endParaRPr/>
            </a:p>
          </p:txBody>
        </p:sp>
        <p:sp>
          <p:nvSpPr>
            <p:cNvPr id="46" name="object 46"/>
            <p:cNvSpPr/>
            <p:nvPr/>
          </p:nvSpPr>
          <p:spPr>
            <a:xfrm>
              <a:off x="8297189" y="1484947"/>
              <a:ext cx="215265" cy="93980"/>
            </a:xfrm>
            <a:custGeom>
              <a:avLst/>
              <a:gdLst/>
              <a:ahLst/>
              <a:cxnLst/>
              <a:rect l="l" t="t" r="r" b="b"/>
              <a:pathLst>
                <a:path w="215265" h="93980">
                  <a:moveTo>
                    <a:pt x="133477" y="0"/>
                  </a:moveTo>
                  <a:lnTo>
                    <a:pt x="0" y="0"/>
                  </a:lnTo>
                  <a:lnTo>
                    <a:pt x="0" y="21793"/>
                  </a:lnTo>
                  <a:lnTo>
                    <a:pt x="133477" y="21793"/>
                  </a:lnTo>
                  <a:lnTo>
                    <a:pt x="133477" y="0"/>
                  </a:lnTo>
                  <a:close/>
                </a:path>
                <a:path w="215265" h="93980">
                  <a:moveTo>
                    <a:pt x="215201" y="77177"/>
                  </a:moveTo>
                  <a:lnTo>
                    <a:pt x="2717" y="77177"/>
                  </a:lnTo>
                  <a:lnTo>
                    <a:pt x="2717" y="93522"/>
                  </a:lnTo>
                  <a:lnTo>
                    <a:pt x="215201" y="93522"/>
                  </a:lnTo>
                  <a:lnTo>
                    <a:pt x="215201" y="77177"/>
                  </a:lnTo>
                  <a:close/>
                </a:path>
                <a:path w="215265" h="93980">
                  <a:moveTo>
                    <a:pt x="215201" y="41770"/>
                  </a:moveTo>
                  <a:lnTo>
                    <a:pt x="2717" y="41770"/>
                  </a:lnTo>
                  <a:lnTo>
                    <a:pt x="2717" y="58115"/>
                  </a:lnTo>
                  <a:lnTo>
                    <a:pt x="215201" y="58115"/>
                  </a:lnTo>
                  <a:lnTo>
                    <a:pt x="215201" y="41770"/>
                  </a:lnTo>
                  <a:close/>
                </a:path>
              </a:pathLst>
            </a:custGeom>
            <a:solidFill>
              <a:srgbClr val="3E3E3E"/>
            </a:solidFill>
          </p:spPr>
          <p:txBody>
            <a:bodyPr wrap="square" lIns="0" tIns="0" rIns="0" bIns="0" rtlCol="0"/>
            <a:lstStyle/>
            <a:p>
              <a:endParaRPr/>
            </a:p>
          </p:txBody>
        </p:sp>
        <p:sp>
          <p:nvSpPr>
            <p:cNvPr id="47" name="object 47"/>
            <p:cNvSpPr/>
            <p:nvPr/>
          </p:nvSpPr>
          <p:spPr>
            <a:xfrm>
              <a:off x="5788840" y="607499"/>
              <a:ext cx="346710" cy="338455"/>
            </a:xfrm>
            <a:custGeom>
              <a:avLst/>
              <a:gdLst/>
              <a:ahLst/>
              <a:cxnLst/>
              <a:rect l="l" t="t" r="r" b="b"/>
              <a:pathLst>
                <a:path w="346710" h="338455">
                  <a:moveTo>
                    <a:pt x="46240" y="0"/>
                  </a:moveTo>
                  <a:lnTo>
                    <a:pt x="0" y="290550"/>
                  </a:lnTo>
                  <a:lnTo>
                    <a:pt x="300418" y="338353"/>
                  </a:lnTo>
                  <a:lnTo>
                    <a:pt x="346659" y="47802"/>
                  </a:lnTo>
                  <a:lnTo>
                    <a:pt x="46240" y="0"/>
                  </a:lnTo>
                  <a:close/>
                </a:path>
              </a:pathLst>
            </a:custGeom>
            <a:solidFill>
              <a:srgbClr val="FFD32A"/>
            </a:solidFill>
          </p:spPr>
          <p:txBody>
            <a:bodyPr wrap="square" lIns="0" tIns="0" rIns="0" bIns="0" rtlCol="0"/>
            <a:lstStyle/>
            <a:p>
              <a:endParaRPr/>
            </a:p>
          </p:txBody>
        </p:sp>
        <p:pic>
          <p:nvPicPr>
            <p:cNvPr id="48" name="object 48"/>
            <p:cNvPicPr/>
            <p:nvPr/>
          </p:nvPicPr>
          <p:blipFill>
            <a:blip r:embed="rId7" cstate="print"/>
            <a:stretch>
              <a:fillRect/>
            </a:stretch>
          </p:blipFill>
          <p:spPr>
            <a:xfrm>
              <a:off x="5847689" y="707043"/>
              <a:ext cx="217972" cy="126182"/>
            </a:xfrm>
            <a:prstGeom prst="rect">
              <a:avLst/>
            </a:prstGeom>
          </p:spPr>
        </p:pic>
        <p:sp>
          <p:nvSpPr>
            <p:cNvPr id="49" name="object 49"/>
            <p:cNvSpPr/>
            <p:nvPr/>
          </p:nvSpPr>
          <p:spPr>
            <a:xfrm>
              <a:off x="6207798" y="831151"/>
              <a:ext cx="304800" cy="294640"/>
            </a:xfrm>
            <a:custGeom>
              <a:avLst/>
              <a:gdLst/>
              <a:ahLst/>
              <a:cxnLst/>
              <a:rect l="l" t="t" r="r" b="b"/>
              <a:pathLst>
                <a:path w="304800" h="294640">
                  <a:moveTo>
                    <a:pt x="304190" y="0"/>
                  </a:moveTo>
                  <a:lnTo>
                    <a:pt x="0" y="0"/>
                  </a:lnTo>
                  <a:lnTo>
                    <a:pt x="0" y="294208"/>
                  </a:lnTo>
                  <a:lnTo>
                    <a:pt x="304190" y="294208"/>
                  </a:lnTo>
                  <a:lnTo>
                    <a:pt x="304190" y="0"/>
                  </a:lnTo>
                  <a:close/>
                </a:path>
              </a:pathLst>
            </a:custGeom>
            <a:solidFill>
              <a:srgbClr val="00BC31"/>
            </a:solidFill>
          </p:spPr>
          <p:txBody>
            <a:bodyPr wrap="square" lIns="0" tIns="0" rIns="0" bIns="0" rtlCol="0"/>
            <a:lstStyle/>
            <a:p>
              <a:endParaRPr/>
            </a:p>
          </p:txBody>
        </p:sp>
        <p:sp>
          <p:nvSpPr>
            <p:cNvPr id="50" name="object 50"/>
            <p:cNvSpPr/>
            <p:nvPr/>
          </p:nvSpPr>
          <p:spPr>
            <a:xfrm>
              <a:off x="6247752" y="925588"/>
              <a:ext cx="215265" cy="93980"/>
            </a:xfrm>
            <a:custGeom>
              <a:avLst/>
              <a:gdLst/>
              <a:ahLst/>
              <a:cxnLst/>
              <a:rect l="l" t="t" r="r" b="b"/>
              <a:pathLst>
                <a:path w="215264" h="93980">
                  <a:moveTo>
                    <a:pt x="133477" y="0"/>
                  </a:moveTo>
                  <a:lnTo>
                    <a:pt x="0" y="0"/>
                  </a:lnTo>
                  <a:lnTo>
                    <a:pt x="0" y="21793"/>
                  </a:lnTo>
                  <a:lnTo>
                    <a:pt x="133477" y="21793"/>
                  </a:lnTo>
                  <a:lnTo>
                    <a:pt x="133477" y="0"/>
                  </a:lnTo>
                  <a:close/>
                </a:path>
                <a:path w="215264" h="93980">
                  <a:moveTo>
                    <a:pt x="215201" y="77190"/>
                  </a:moveTo>
                  <a:lnTo>
                    <a:pt x="2717" y="77190"/>
                  </a:lnTo>
                  <a:lnTo>
                    <a:pt x="2717" y="93535"/>
                  </a:lnTo>
                  <a:lnTo>
                    <a:pt x="215201" y="93535"/>
                  </a:lnTo>
                  <a:lnTo>
                    <a:pt x="215201" y="77190"/>
                  </a:lnTo>
                  <a:close/>
                </a:path>
                <a:path w="215264" h="93980">
                  <a:moveTo>
                    <a:pt x="215201" y="41770"/>
                  </a:moveTo>
                  <a:lnTo>
                    <a:pt x="2717" y="41770"/>
                  </a:lnTo>
                  <a:lnTo>
                    <a:pt x="2717" y="58115"/>
                  </a:lnTo>
                  <a:lnTo>
                    <a:pt x="215201" y="58115"/>
                  </a:lnTo>
                  <a:lnTo>
                    <a:pt x="215201" y="41770"/>
                  </a:lnTo>
                  <a:close/>
                </a:path>
              </a:pathLst>
            </a:custGeom>
            <a:solidFill>
              <a:srgbClr val="3E3E3E"/>
            </a:solidFill>
          </p:spPr>
          <p:txBody>
            <a:bodyPr wrap="square" lIns="0" tIns="0" rIns="0" bIns="0" rtlCol="0"/>
            <a:lstStyle/>
            <a:p>
              <a:endParaRPr/>
            </a:p>
          </p:txBody>
        </p:sp>
        <p:sp>
          <p:nvSpPr>
            <p:cNvPr id="51" name="object 51"/>
            <p:cNvSpPr/>
            <p:nvPr/>
          </p:nvSpPr>
          <p:spPr>
            <a:xfrm>
              <a:off x="3776979" y="447967"/>
              <a:ext cx="5316855" cy="11430"/>
            </a:xfrm>
            <a:custGeom>
              <a:avLst/>
              <a:gdLst/>
              <a:ahLst/>
              <a:cxnLst/>
              <a:rect l="l" t="t" r="r" b="b"/>
              <a:pathLst>
                <a:path w="5316855" h="11429">
                  <a:moveTo>
                    <a:pt x="5316550" y="0"/>
                  </a:moveTo>
                  <a:lnTo>
                    <a:pt x="0" y="0"/>
                  </a:lnTo>
                  <a:lnTo>
                    <a:pt x="0" y="10896"/>
                  </a:lnTo>
                  <a:lnTo>
                    <a:pt x="5316550" y="10896"/>
                  </a:lnTo>
                  <a:lnTo>
                    <a:pt x="5316550" y="0"/>
                  </a:lnTo>
                  <a:close/>
                </a:path>
              </a:pathLst>
            </a:custGeom>
            <a:solidFill>
              <a:srgbClr val="FFFFFF"/>
            </a:solidFill>
          </p:spPr>
          <p:txBody>
            <a:bodyPr wrap="square" lIns="0" tIns="0" rIns="0" bIns="0" rtlCol="0"/>
            <a:lstStyle/>
            <a:p>
              <a:endParaRPr/>
            </a:p>
          </p:txBody>
        </p:sp>
        <p:pic>
          <p:nvPicPr>
            <p:cNvPr id="52" name="object 52"/>
            <p:cNvPicPr/>
            <p:nvPr/>
          </p:nvPicPr>
          <p:blipFill>
            <a:blip r:embed="rId8" cstate="print"/>
            <a:stretch>
              <a:fillRect/>
            </a:stretch>
          </p:blipFill>
          <p:spPr>
            <a:xfrm>
              <a:off x="4379925" y="212460"/>
              <a:ext cx="275304" cy="144373"/>
            </a:xfrm>
            <a:prstGeom prst="rect">
              <a:avLst/>
            </a:prstGeom>
          </p:spPr>
        </p:pic>
        <p:pic>
          <p:nvPicPr>
            <p:cNvPr id="53" name="object 53"/>
            <p:cNvPicPr/>
            <p:nvPr/>
          </p:nvPicPr>
          <p:blipFill>
            <a:blip r:embed="rId9" cstate="print"/>
            <a:stretch>
              <a:fillRect/>
            </a:stretch>
          </p:blipFill>
          <p:spPr>
            <a:xfrm>
              <a:off x="4753269" y="212460"/>
              <a:ext cx="286590" cy="146350"/>
            </a:xfrm>
            <a:prstGeom prst="rect">
              <a:avLst/>
            </a:prstGeom>
          </p:spPr>
        </p:pic>
        <p:pic>
          <p:nvPicPr>
            <p:cNvPr id="54" name="object 54"/>
            <p:cNvPicPr/>
            <p:nvPr/>
          </p:nvPicPr>
          <p:blipFill>
            <a:blip r:embed="rId10" cstate="print"/>
            <a:stretch>
              <a:fillRect/>
            </a:stretch>
          </p:blipFill>
          <p:spPr>
            <a:xfrm>
              <a:off x="6153821" y="212460"/>
              <a:ext cx="286590" cy="146350"/>
            </a:xfrm>
            <a:prstGeom prst="rect">
              <a:avLst/>
            </a:prstGeom>
          </p:spPr>
        </p:pic>
        <p:sp>
          <p:nvSpPr>
            <p:cNvPr id="55" name="object 55"/>
            <p:cNvSpPr/>
            <p:nvPr/>
          </p:nvSpPr>
          <p:spPr>
            <a:xfrm>
              <a:off x="6464758" y="212831"/>
              <a:ext cx="32384" cy="140335"/>
            </a:xfrm>
            <a:custGeom>
              <a:avLst/>
              <a:gdLst/>
              <a:ahLst/>
              <a:cxnLst/>
              <a:rect l="l" t="t" r="r" b="b"/>
              <a:pathLst>
                <a:path w="32385" h="140335">
                  <a:moveTo>
                    <a:pt x="26987" y="0"/>
                  </a:moveTo>
                  <a:lnTo>
                    <a:pt x="23164" y="0"/>
                  </a:lnTo>
                  <a:lnTo>
                    <a:pt x="21386" y="787"/>
                  </a:lnTo>
                  <a:lnTo>
                    <a:pt x="11531" y="25908"/>
                  </a:lnTo>
                  <a:lnTo>
                    <a:pt x="8280" y="42392"/>
                  </a:lnTo>
                  <a:lnTo>
                    <a:pt x="7150" y="49999"/>
                  </a:lnTo>
                  <a:lnTo>
                    <a:pt x="6769" y="55829"/>
                  </a:lnTo>
                  <a:lnTo>
                    <a:pt x="5270" y="68986"/>
                  </a:lnTo>
                  <a:lnTo>
                    <a:pt x="2116" y="90681"/>
                  </a:lnTo>
                  <a:lnTo>
                    <a:pt x="941" y="100480"/>
                  </a:lnTo>
                  <a:lnTo>
                    <a:pt x="235" y="109011"/>
                  </a:lnTo>
                  <a:lnTo>
                    <a:pt x="0" y="124726"/>
                  </a:lnTo>
                  <a:lnTo>
                    <a:pt x="660" y="130860"/>
                  </a:lnTo>
                  <a:lnTo>
                    <a:pt x="3289" y="138442"/>
                  </a:lnTo>
                  <a:lnTo>
                    <a:pt x="5638" y="140335"/>
                  </a:lnTo>
                  <a:lnTo>
                    <a:pt x="11404" y="140335"/>
                  </a:lnTo>
                  <a:lnTo>
                    <a:pt x="13792" y="139242"/>
                  </a:lnTo>
                  <a:lnTo>
                    <a:pt x="18554" y="134848"/>
                  </a:lnTo>
                  <a:lnTo>
                    <a:pt x="19430" y="131279"/>
                  </a:lnTo>
                  <a:lnTo>
                    <a:pt x="17608" y="113428"/>
                  </a:lnTo>
                  <a:lnTo>
                    <a:pt x="17208" y="100291"/>
                  </a:lnTo>
                  <a:lnTo>
                    <a:pt x="17442" y="94921"/>
                  </a:lnTo>
                  <a:lnTo>
                    <a:pt x="18145" y="87650"/>
                  </a:lnTo>
                  <a:lnTo>
                    <a:pt x="20967" y="67398"/>
                  </a:lnTo>
                  <a:lnTo>
                    <a:pt x="22936" y="51943"/>
                  </a:lnTo>
                  <a:lnTo>
                    <a:pt x="24129" y="45999"/>
                  </a:lnTo>
                  <a:lnTo>
                    <a:pt x="32245" y="12687"/>
                  </a:lnTo>
                  <a:lnTo>
                    <a:pt x="32245" y="9309"/>
                  </a:lnTo>
                  <a:lnTo>
                    <a:pt x="31584" y="6337"/>
                  </a:lnTo>
                  <a:lnTo>
                    <a:pt x="28955" y="1270"/>
                  </a:lnTo>
                  <a:lnTo>
                    <a:pt x="26987" y="0"/>
                  </a:lnTo>
                  <a:close/>
                </a:path>
              </a:pathLst>
            </a:custGeom>
            <a:solidFill>
              <a:srgbClr val="FFFFFF"/>
            </a:solidFill>
          </p:spPr>
          <p:txBody>
            <a:bodyPr wrap="square" lIns="0" tIns="0" rIns="0" bIns="0" rtlCol="0"/>
            <a:lstStyle/>
            <a:p>
              <a:endParaRPr/>
            </a:p>
          </p:txBody>
        </p:sp>
        <p:pic>
          <p:nvPicPr>
            <p:cNvPr id="56" name="object 56"/>
            <p:cNvPicPr/>
            <p:nvPr/>
          </p:nvPicPr>
          <p:blipFill>
            <a:blip r:embed="rId11" cstate="print"/>
            <a:stretch>
              <a:fillRect/>
            </a:stretch>
          </p:blipFill>
          <p:spPr>
            <a:xfrm>
              <a:off x="6520595" y="210106"/>
              <a:ext cx="133845" cy="147294"/>
            </a:xfrm>
            <a:prstGeom prst="rect">
              <a:avLst/>
            </a:prstGeom>
          </p:spPr>
        </p:pic>
        <p:pic>
          <p:nvPicPr>
            <p:cNvPr id="57" name="object 57"/>
            <p:cNvPicPr/>
            <p:nvPr/>
          </p:nvPicPr>
          <p:blipFill>
            <a:blip r:embed="rId12" cstate="print"/>
            <a:stretch>
              <a:fillRect/>
            </a:stretch>
          </p:blipFill>
          <p:spPr>
            <a:xfrm>
              <a:off x="6674182" y="205690"/>
              <a:ext cx="127838" cy="165620"/>
            </a:xfrm>
            <a:prstGeom prst="rect">
              <a:avLst/>
            </a:prstGeom>
          </p:spPr>
        </p:pic>
        <p:pic>
          <p:nvPicPr>
            <p:cNvPr id="58" name="object 58"/>
            <p:cNvPicPr/>
            <p:nvPr/>
          </p:nvPicPr>
          <p:blipFill>
            <a:blip r:embed="rId13" cstate="print"/>
            <a:stretch>
              <a:fillRect/>
            </a:stretch>
          </p:blipFill>
          <p:spPr>
            <a:xfrm>
              <a:off x="7842770" y="212460"/>
              <a:ext cx="286590" cy="146350"/>
            </a:xfrm>
            <a:prstGeom prst="rect">
              <a:avLst/>
            </a:prstGeom>
          </p:spPr>
        </p:pic>
        <p:pic>
          <p:nvPicPr>
            <p:cNvPr id="59" name="object 59"/>
            <p:cNvPicPr/>
            <p:nvPr/>
          </p:nvPicPr>
          <p:blipFill>
            <a:blip r:embed="rId14" cstate="print"/>
            <a:stretch>
              <a:fillRect/>
            </a:stretch>
          </p:blipFill>
          <p:spPr>
            <a:xfrm>
              <a:off x="8148540" y="210106"/>
              <a:ext cx="133845" cy="147294"/>
            </a:xfrm>
            <a:prstGeom prst="rect">
              <a:avLst/>
            </a:prstGeom>
          </p:spPr>
        </p:pic>
        <p:pic>
          <p:nvPicPr>
            <p:cNvPr id="60" name="object 60"/>
            <p:cNvPicPr/>
            <p:nvPr/>
          </p:nvPicPr>
          <p:blipFill>
            <a:blip r:embed="rId15" cstate="print"/>
            <a:stretch>
              <a:fillRect/>
            </a:stretch>
          </p:blipFill>
          <p:spPr>
            <a:xfrm>
              <a:off x="8305420" y="211855"/>
              <a:ext cx="113360" cy="145161"/>
            </a:xfrm>
            <a:prstGeom prst="rect">
              <a:avLst/>
            </a:prstGeom>
          </p:spPr>
        </p:pic>
        <p:sp>
          <p:nvSpPr>
            <p:cNvPr id="61" name="object 61"/>
            <p:cNvSpPr/>
            <p:nvPr/>
          </p:nvSpPr>
          <p:spPr>
            <a:xfrm>
              <a:off x="0" y="0"/>
              <a:ext cx="3657600" cy="5943600"/>
            </a:xfrm>
            <a:custGeom>
              <a:avLst/>
              <a:gdLst/>
              <a:ahLst/>
              <a:cxnLst/>
              <a:rect l="l" t="t" r="r" b="b"/>
              <a:pathLst>
                <a:path w="3657600" h="5943600">
                  <a:moveTo>
                    <a:pt x="3657600" y="0"/>
                  </a:moveTo>
                  <a:lnTo>
                    <a:pt x="0" y="0"/>
                  </a:lnTo>
                  <a:lnTo>
                    <a:pt x="0" y="5943600"/>
                  </a:lnTo>
                  <a:lnTo>
                    <a:pt x="3657600" y="5943600"/>
                  </a:lnTo>
                  <a:lnTo>
                    <a:pt x="3657600" y="0"/>
                  </a:lnTo>
                  <a:close/>
                </a:path>
              </a:pathLst>
            </a:custGeom>
            <a:solidFill>
              <a:srgbClr val="4F0093"/>
            </a:solidFill>
          </p:spPr>
          <p:txBody>
            <a:bodyPr wrap="square" lIns="0" tIns="0" rIns="0" bIns="0" rtlCol="0"/>
            <a:lstStyle/>
            <a:p>
              <a:endParaRPr/>
            </a:p>
          </p:txBody>
        </p:sp>
      </p:grpSp>
      <p:sp>
        <p:nvSpPr>
          <p:cNvPr id="62" name="object 62"/>
          <p:cNvSpPr txBox="1"/>
          <p:nvPr/>
        </p:nvSpPr>
        <p:spPr>
          <a:xfrm>
            <a:off x="4140200" y="2565563"/>
            <a:ext cx="4416425" cy="1168400"/>
          </a:xfrm>
          <a:prstGeom prst="rect">
            <a:avLst/>
          </a:prstGeom>
        </p:spPr>
        <p:txBody>
          <a:bodyPr vert="horz" wrap="square" lIns="0" tIns="12700" rIns="0" bIns="0" rtlCol="0">
            <a:spAutoFit/>
          </a:bodyPr>
          <a:lstStyle/>
          <a:p>
            <a:pPr marL="12700" marR="5080">
              <a:lnSpc>
                <a:spcPct val="115399"/>
              </a:lnSpc>
              <a:spcBef>
                <a:spcPts val="100"/>
              </a:spcBef>
            </a:pPr>
            <a:r>
              <a:rPr sz="1300" spc="10" dirty="0">
                <a:solidFill>
                  <a:srgbClr val="333333"/>
                </a:solidFill>
                <a:latin typeface="Roboto Lt"/>
                <a:cs typeface="Roboto Lt"/>
              </a:rPr>
              <a:t>A </a:t>
            </a:r>
            <a:r>
              <a:rPr sz="1300" spc="-25" dirty="0">
                <a:solidFill>
                  <a:srgbClr val="333333"/>
                </a:solidFill>
                <a:latin typeface="Roboto Lt"/>
                <a:cs typeface="Roboto Lt"/>
              </a:rPr>
              <a:t>Kanban board, </a:t>
            </a:r>
            <a:r>
              <a:rPr sz="1300" spc="-30" dirty="0">
                <a:solidFill>
                  <a:srgbClr val="333333"/>
                </a:solidFill>
                <a:latin typeface="Roboto Lt"/>
                <a:cs typeface="Roboto Lt"/>
              </a:rPr>
              <a:t>whether </a:t>
            </a:r>
            <a:r>
              <a:rPr sz="1300" spc="-15" dirty="0">
                <a:solidFill>
                  <a:srgbClr val="333333"/>
                </a:solidFill>
                <a:latin typeface="Roboto Lt"/>
                <a:cs typeface="Roboto Lt"/>
              </a:rPr>
              <a:t>it </a:t>
            </a:r>
            <a:r>
              <a:rPr sz="1300" spc="-25" dirty="0">
                <a:solidFill>
                  <a:srgbClr val="333333"/>
                </a:solidFill>
                <a:latin typeface="Roboto Lt"/>
                <a:cs typeface="Roboto Lt"/>
              </a:rPr>
              <a:t>is </a:t>
            </a:r>
            <a:r>
              <a:rPr sz="1300" spc="-35" dirty="0">
                <a:solidFill>
                  <a:srgbClr val="333333"/>
                </a:solidFill>
                <a:latin typeface="Roboto Lt"/>
                <a:cs typeface="Roboto Lt"/>
              </a:rPr>
              <a:t>physical </a:t>
            </a:r>
            <a:r>
              <a:rPr sz="1300" spc="-15" dirty="0">
                <a:solidFill>
                  <a:srgbClr val="333333"/>
                </a:solidFill>
                <a:latin typeface="Roboto Lt"/>
                <a:cs typeface="Roboto Lt"/>
              </a:rPr>
              <a:t>or </a:t>
            </a:r>
            <a:r>
              <a:rPr sz="1300" spc="-30" dirty="0">
                <a:solidFill>
                  <a:srgbClr val="333333"/>
                </a:solidFill>
                <a:latin typeface="Roboto Lt"/>
                <a:cs typeface="Roboto Lt"/>
              </a:rPr>
              <a:t>online, </a:t>
            </a:r>
            <a:r>
              <a:rPr sz="1300" spc="-25" dirty="0">
                <a:solidFill>
                  <a:srgbClr val="333333"/>
                </a:solidFill>
                <a:latin typeface="Roboto Lt"/>
                <a:cs typeface="Roboto Lt"/>
              </a:rPr>
              <a:t>is made </a:t>
            </a:r>
            <a:r>
              <a:rPr sz="1300" spc="-20" dirty="0">
                <a:solidFill>
                  <a:srgbClr val="333333"/>
                </a:solidFill>
                <a:latin typeface="Roboto Lt"/>
                <a:cs typeface="Roboto Lt"/>
              </a:rPr>
              <a:t>up </a:t>
            </a:r>
            <a:r>
              <a:rPr sz="1300" spc="-15" dirty="0">
                <a:solidFill>
                  <a:srgbClr val="333333"/>
                </a:solidFill>
                <a:latin typeface="Roboto Lt"/>
                <a:cs typeface="Roboto Lt"/>
              </a:rPr>
              <a:t>of </a:t>
            </a:r>
            <a:r>
              <a:rPr sz="1300" spc="-10" dirty="0">
                <a:solidFill>
                  <a:srgbClr val="333333"/>
                </a:solidFill>
                <a:latin typeface="Roboto Lt"/>
                <a:cs typeface="Roboto Lt"/>
              </a:rPr>
              <a:t> </a:t>
            </a:r>
            <a:r>
              <a:rPr sz="1300" spc="-25" dirty="0">
                <a:solidFill>
                  <a:srgbClr val="333333"/>
                </a:solidFill>
                <a:latin typeface="Roboto Lt"/>
                <a:cs typeface="Roboto Lt"/>
              </a:rPr>
              <a:t>different </a:t>
            </a:r>
            <a:r>
              <a:rPr sz="1300" spc="-30" dirty="0">
                <a:solidFill>
                  <a:srgbClr val="333333"/>
                </a:solidFill>
                <a:latin typeface="Roboto Lt"/>
                <a:cs typeface="Roboto Lt"/>
              </a:rPr>
              <a:t>swim lanes </a:t>
            </a:r>
            <a:r>
              <a:rPr sz="1300" spc="-15" dirty="0">
                <a:solidFill>
                  <a:srgbClr val="333333"/>
                </a:solidFill>
                <a:latin typeface="Roboto Lt"/>
                <a:cs typeface="Roboto Lt"/>
              </a:rPr>
              <a:t>or </a:t>
            </a:r>
            <a:r>
              <a:rPr sz="1300" spc="-25" dirty="0">
                <a:solidFill>
                  <a:srgbClr val="333333"/>
                </a:solidFill>
                <a:latin typeface="Roboto Lt"/>
                <a:cs typeface="Roboto Lt"/>
              </a:rPr>
              <a:t>columns. </a:t>
            </a:r>
            <a:r>
              <a:rPr sz="1300" spc="-20" dirty="0">
                <a:solidFill>
                  <a:srgbClr val="333333"/>
                </a:solidFill>
                <a:latin typeface="Roboto Lt"/>
                <a:cs typeface="Roboto Lt"/>
              </a:rPr>
              <a:t>The </a:t>
            </a:r>
            <a:r>
              <a:rPr sz="1300" spc="-30" dirty="0">
                <a:solidFill>
                  <a:srgbClr val="333333"/>
                </a:solidFill>
                <a:latin typeface="Roboto Lt"/>
                <a:cs typeface="Roboto Lt"/>
              </a:rPr>
              <a:t>simplest boards </a:t>
            </a:r>
            <a:r>
              <a:rPr sz="1300" spc="-40" dirty="0">
                <a:solidFill>
                  <a:srgbClr val="333333"/>
                </a:solidFill>
                <a:latin typeface="Roboto Lt"/>
                <a:cs typeface="Roboto Lt"/>
              </a:rPr>
              <a:t>have </a:t>
            </a:r>
            <a:r>
              <a:rPr sz="1300" spc="-35" dirty="0">
                <a:solidFill>
                  <a:srgbClr val="333333"/>
                </a:solidFill>
                <a:latin typeface="Roboto Lt"/>
                <a:cs typeface="Roboto Lt"/>
              </a:rPr>
              <a:t> </a:t>
            </a:r>
            <a:r>
              <a:rPr sz="1300" spc="-25" dirty="0">
                <a:solidFill>
                  <a:srgbClr val="333333"/>
                </a:solidFill>
                <a:latin typeface="Roboto Lt"/>
                <a:cs typeface="Roboto Lt"/>
              </a:rPr>
              <a:t>three </a:t>
            </a:r>
            <a:r>
              <a:rPr sz="1300" spc="-30" dirty="0">
                <a:solidFill>
                  <a:srgbClr val="333333"/>
                </a:solidFill>
                <a:latin typeface="Roboto Lt"/>
                <a:cs typeface="Roboto Lt"/>
              </a:rPr>
              <a:t>columns:</a:t>
            </a:r>
            <a:r>
              <a:rPr sz="1300" spc="-25" dirty="0">
                <a:solidFill>
                  <a:srgbClr val="333333"/>
                </a:solidFill>
                <a:latin typeface="Roboto Lt"/>
                <a:cs typeface="Roboto Lt"/>
              </a:rPr>
              <a:t> </a:t>
            </a:r>
            <a:r>
              <a:rPr sz="1300" spc="-30" dirty="0">
                <a:solidFill>
                  <a:srgbClr val="333333"/>
                </a:solidFill>
                <a:latin typeface="Roboto Lt"/>
                <a:cs typeface="Roboto Lt"/>
              </a:rPr>
              <a:t>to</a:t>
            </a:r>
            <a:r>
              <a:rPr sz="1300" spc="-25" dirty="0">
                <a:solidFill>
                  <a:srgbClr val="333333"/>
                </a:solidFill>
                <a:latin typeface="Roboto Lt"/>
                <a:cs typeface="Roboto Lt"/>
              </a:rPr>
              <a:t> </a:t>
            </a:r>
            <a:r>
              <a:rPr sz="1300" spc="-20" dirty="0">
                <a:solidFill>
                  <a:srgbClr val="333333"/>
                </a:solidFill>
                <a:latin typeface="Roboto Lt"/>
                <a:cs typeface="Roboto Lt"/>
              </a:rPr>
              <a:t>do,</a:t>
            </a:r>
            <a:r>
              <a:rPr sz="1300" spc="-25" dirty="0">
                <a:solidFill>
                  <a:srgbClr val="333333"/>
                </a:solidFill>
                <a:latin typeface="Roboto Lt"/>
                <a:cs typeface="Roboto Lt"/>
              </a:rPr>
              <a:t> in</a:t>
            </a:r>
            <a:r>
              <a:rPr sz="1300" spc="-20" dirty="0">
                <a:solidFill>
                  <a:srgbClr val="333333"/>
                </a:solidFill>
                <a:latin typeface="Roboto Lt"/>
                <a:cs typeface="Roboto Lt"/>
              </a:rPr>
              <a:t> </a:t>
            </a:r>
            <a:r>
              <a:rPr sz="1300" spc="-30" dirty="0">
                <a:solidFill>
                  <a:srgbClr val="333333"/>
                </a:solidFill>
                <a:latin typeface="Roboto Lt"/>
                <a:cs typeface="Roboto Lt"/>
              </a:rPr>
              <a:t>progress,</a:t>
            </a:r>
            <a:r>
              <a:rPr sz="1300" spc="-25" dirty="0">
                <a:solidFill>
                  <a:srgbClr val="333333"/>
                </a:solidFill>
                <a:latin typeface="Roboto Lt"/>
                <a:cs typeface="Roboto Lt"/>
              </a:rPr>
              <a:t> and </a:t>
            </a:r>
            <a:r>
              <a:rPr sz="1300" spc="-20" dirty="0">
                <a:solidFill>
                  <a:srgbClr val="333333"/>
                </a:solidFill>
                <a:latin typeface="Roboto Lt"/>
                <a:cs typeface="Roboto Lt"/>
              </a:rPr>
              <a:t>done.</a:t>
            </a:r>
            <a:r>
              <a:rPr sz="1300" spc="-25" dirty="0">
                <a:solidFill>
                  <a:srgbClr val="333333"/>
                </a:solidFill>
                <a:latin typeface="Roboto Lt"/>
                <a:cs typeface="Roboto Lt"/>
              </a:rPr>
              <a:t> </a:t>
            </a:r>
            <a:r>
              <a:rPr sz="1300" spc="-20" dirty="0">
                <a:solidFill>
                  <a:srgbClr val="333333"/>
                </a:solidFill>
                <a:latin typeface="Roboto Lt"/>
                <a:cs typeface="Roboto Lt"/>
              </a:rPr>
              <a:t>Other</a:t>
            </a:r>
            <a:r>
              <a:rPr sz="1300" spc="-25" dirty="0">
                <a:solidFill>
                  <a:srgbClr val="333333"/>
                </a:solidFill>
                <a:latin typeface="Roboto Lt"/>
                <a:cs typeface="Roboto Lt"/>
              </a:rPr>
              <a:t> </a:t>
            </a:r>
            <a:r>
              <a:rPr sz="1300" spc="-30" dirty="0">
                <a:solidFill>
                  <a:srgbClr val="333333"/>
                </a:solidFill>
                <a:latin typeface="Roboto Lt"/>
                <a:cs typeface="Roboto Lt"/>
              </a:rPr>
              <a:t>projects</a:t>
            </a:r>
            <a:r>
              <a:rPr sz="1300" spc="-20" dirty="0">
                <a:solidFill>
                  <a:srgbClr val="333333"/>
                </a:solidFill>
                <a:latin typeface="Roboto Lt"/>
                <a:cs typeface="Roboto Lt"/>
              </a:rPr>
              <a:t> </a:t>
            </a:r>
            <a:r>
              <a:rPr sz="1300" spc="-35" dirty="0">
                <a:solidFill>
                  <a:srgbClr val="333333"/>
                </a:solidFill>
                <a:latin typeface="Roboto Lt"/>
                <a:cs typeface="Roboto Lt"/>
              </a:rPr>
              <a:t>may </a:t>
            </a:r>
            <a:r>
              <a:rPr sz="1300" spc="-305" dirty="0">
                <a:solidFill>
                  <a:srgbClr val="333333"/>
                </a:solidFill>
                <a:latin typeface="Roboto Lt"/>
                <a:cs typeface="Roboto Lt"/>
              </a:rPr>
              <a:t> </a:t>
            </a:r>
            <a:r>
              <a:rPr sz="1300" spc="-30" dirty="0">
                <a:solidFill>
                  <a:srgbClr val="333333"/>
                </a:solidFill>
                <a:latin typeface="Roboto Lt"/>
                <a:cs typeface="Roboto Lt"/>
              </a:rPr>
              <a:t>consist </a:t>
            </a:r>
            <a:r>
              <a:rPr sz="1300" spc="-15" dirty="0">
                <a:solidFill>
                  <a:srgbClr val="333333"/>
                </a:solidFill>
                <a:latin typeface="Roboto Lt"/>
                <a:cs typeface="Roboto Lt"/>
              </a:rPr>
              <a:t>of </a:t>
            </a:r>
            <a:r>
              <a:rPr sz="1300" spc="-20" dirty="0">
                <a:solidFill>
                  <a:srgbClr val="333333"/>
                </a:solidFill>
                <a:latin typeface="Roboto Lt"/>
                <a:cs typeface="Roboto Lt"/>
              </a:rPr>
              <a:t>backlog, </a:t>
            </a:r>
            <a:r>
              <a:rPr sz="1300" spc="-40" dirty="0">
                <a:solidFill>
                  <a:srgbClr val="333333"/>
                </a:solidFill>
                <a:latin typeface="Roboto Lt"/>
                <a:cs typeface="Roboto Lt"/>
              </a:rPr>
              <a:t>ready, </a:t>
            </a:r>
            <a:r>
              <a:rPr sz="1300" spc="-25" dirty="0">
                <a:solidFill>
                  <a:srgbClr val="333333"/>
                </a:solidFill>
                <a:latin typeface="Roboto Lt"/>
                <a:cs typeface="Roboto Lt"/>
              </a:rPr>
              <a:t>coding, </a:t>
            </a:r>
            <a:r>
              <a:rPr sz="1300" spc="-30" dirty="0">
                <a:solidFill>
                  <a:srgbClr val="333333"/>
                </a:solidFill>
                <a:latin typeface="Roboto Lt"/>
                <a:cs typeface="Roboto Lt"/>
              </a:rPr>
              <a:t>testing, </a:t>
            </a:r>
            <a:r>
              <a:rPr sz="1300" spc="-35" dirty="0">
                <a:solidFill>
                  <a:srgbClr val="333333"/>
                </a:solidFill>
                <a:latin typeface="Roboto Lt"/>
                <a:cs typeface="Roboto Lt"/>
              </a:rPr>
              <a:t>approval, </a:t>
            </a:r>
            <a:r>
              <a:rPr sz="1300" spc="-25" dirty="0">
                <a:solidFill>
                  <a:srgbClr val="333333"/>
                </a:solidFill>
                <a:latin typeface="Roboto Lt"/>
                <a:cs typeface="Roboto Lt"/>
              </a:rPr>
              <a:t>and </a:t>
            </a:r>
            <a:r>
              <a:rPr sz="1300" spc="-20" dirty="0">
                <a:solidFill>
                  <a:srgbClr val="333333"/>
                </a:solidFill>
                <a:latin typeface="Roboto Lt"/>
                <a:cs typeface="Roboto Lt"/>
              </a:rPr>
              <a:t>done </a:t>
            </a:r>
            <a:r>
              <a:rPr sz="1300" spc="-25" dirty="0">
                <a:solidFill>
                  <a:srgbClr val="333333"/>
                </a:solidFill>
                <a:latin typeface="Roboto Lt"/>
                <a:cs typeface="Roboto Lt"/>
              </a:rPr>
              <a:t>columns.</a:t>
            </a:r>
            <a:endParaRPr sz="1300" dirty="0">
              <a:latin typeface="Roboto Lt"/>
              <a:cs typeface="Roboto Lt"/>
            </a:endParaRPr>
          </a:p>
        </p:txBody>
      </p:sp>
      <p:sp>
        <p:nvSpPr>
          <p:cNvPr id="67" name="object 67"/>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33</a:t>
            </a:r>
            <a:endParaRPr spc="35" dirty="0"/>
          </a:p>
        </p:txBody>
      </p:sp>
      <p:sp>
        <p:nvSpPr>
          <p:cNvPr id="68" name="object 68"/>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Agile Methodology</a:t>
            </a:r>
            <a:endParaRPr dirty="0"/>
          </a:p>
        </p:txBody>
      </p:sp>
      <p:sp>
        <p:nvSpPr>
          <p:cNvPr id="63" name="object 63"/>
          <p:cNvSpPr txBox="1"/>
          <p:nvPr/>
        </p:nvSpPr>
        <p:spPr>
          <a:xfrm>
            <a:off x="4140200" y="3880013"/>
            <a:ext cx="4481830" cy="1397000"/>
          </a:xfrm>
          <a:prstGeom prst="rect">
            <a:avLst/>
          </a:prstGeom>
        </p:spPr>
        <p:txBody>
          <a:bodyPr vert="horz" wrap="square" lIns="0" tIns="12700" rIns="0" bIns="0" rtlCol="0">
            <a:spAutoFit/>
          </a:bodyPr>
          <a:lstStyle/>
          <a:p>
            <a:pPr marL="12700" marR="5080">
              <a:lnSpc>
                <a:spcPct val="115399"/>
              </a:lnSpc>
              <a:spcBef>
                <a:spcPts val="100"/>
              </a:spcBef>
            </a:pPr>
            <a:r>
              <a:rPr sz="1300" spc="-25" dirty="0">
                <a:solidFill>
                  <a:srgbClr val="333333"/>
                </a:solidFill>
                <a:latin typeface="Roboto Lt"/>
                <a:cs typeface="Roboto Lt"/>
              </a:rPr>
              <a:t>Kanban cards </a:t>
            </a:r>
            <a:r>
              <a:rPr sz="1300" spc="-30" dirty="0">
                <a:solidFill>
                  <a:srgbClr val="333333"/>
                </a:solidFill>
                <a:latin typeface="Roboto Lt"/>
                <a:cs typeface="Roboto Lt"/>
              </a:rPr>
              <a:t>(like </a:t>
            </a:r>
            <a:r>
              <a:rPr sz="1300" spc="-20" dirty="0">
                <a:solidFill>
                  <a:srgbClr val="333333"/>
                </a:solidFill>
                <a:latin typeface="Roboto Lt"/>
                <a:cs typeface="Roboto Lt"/>
              </a:rPr>
              <a:t>sticky </a:t>
            </a:r>
            <a:r>
              <a:rPr sz="1300" spc="-40" dirty="0">
                <a:solidFill>
                  <a:srgbClr val="333333"/>
                </a:solidFill>
                <a:latin typeface="Roboto Lt"/>
                <a:cs typeface="Roboto Lt"/>
              </a:rPr>
              <a:t>notes) </a:t>
            </a:r>
            <a:r>
              <a:rPr sz="1300" spc="-30" dirty="0">
                <a:solidFill>
                  <a:srgbClr val="333333"/>
                </a:solidFill>
                <a:latin typeface="Roboto Lt"/>
                <a:cs typeface="Roboto Lt"/>
              </a:rPr>
              <a:t>represent </a:t>
            </a:r>
            <a:r>
              <a:rPr sz="1300" spc="-25" dirty="0">
                <a:solidFill>
                  <a:srgbClr val="333333"/>
                </a:solidFill>
                <a:latin typeface="Roboto Lt"/>
                <a:cs typeface="Roboto Lt"/>
              </a:rPr>
              <a:t>the work and </a:t>
            </a:r>
            <a:r>
              <a:rPr sz="1300" spc="-20" dirty="0">
                <a:solidFill>
                  <a:srgbClr val="333333"/>
                </a:solidFill>
                <a:latin typeface="Roboto Lt"/>
                <a:cs typeface="Roboto Lt"/>
              </a:rPr>
              <a:t>each </a:t>
            </a:r>
            <a:r>
              <a:rPr sz="1300" spc="-15" dirty="0">
                <a:solidFill>
                  <a:srgbClr val="333333"/>
                </a:solidFill>
                <a:latin typeface="Roboto Lt"/>
                <a:cs typeface="Roboto Lt"/>
              </a:rPr>
              <a:t> </a:t>
            </a:r>
            <a:r>
              <a:rPr sz="1300" spc="-25" dirty="0">
                <a:solidFill>
                  <a:srgbClr val="333333"/>
                </a:solidFill>
                <a:latin typeface="Roboto Lt"/>
                <a:cs typeface="Roboto Lt"/>
              </a:rPr>
              <a:t>card is placed </a:t>
            </a:r>
            <a:r>
              <a:rPr sz="1300" spc="-15" dirty="0">
                <a:solidFill>
                  <a:srgbClr val="333333"/>
                </a:solidFill>
                <a:latin typeface="Roboto Lt"/>
                <a:cs typeface="Roboto Lt"/>
              </a:rPr>
              <a:t>on</a:t>
            </a:r>
            <a:r>
              <a:rPr sz="1300" spc="-25" dirty="0">
                <a:solidFill>
                  <a:srgbClr val="333333"/>
                </a:solidFill>
                <a:latin typeface="Roboto Lt"/>
                <a:cs typeface="Roboto Lt"/>
              </a:rPr>
              <a:t> the</a:t>
            </a:r>
            <a:r>
              <a:rPr sz="1300" spc="-20" dirty="0">
                <a:solidFill>
                  <a:srgbClr val="333333"/>
                </a:solidFill>
                <a:latin typeface="Roboto Lt"/>
                <a:cs typeface="Roboto Lt"/>
              </a:rPr>
              <a:t> </a:t>
            </a:r>
            <a:r>
              <a:rPr sz="1300" spc="-25" dirty="0">
                <a:solidFill>
                  <a:srgbClr val="333333"/>
                </a:solidFill>
                <a:latin typeface="Roboto Lt"/>
                <a:cs typeface="Roboto Lt"/>
              </a:rPr>
              <a:t>board in the lane</a:t>
            </a:r>
            <a:r>
              <a:rPr sz="1300" spc="-20" dirty="0">
                <a:solidFill>
                  <a:srgbClr val="333333"/>
                </a:solidFill>
                <a:latin typeface="Roboto Lt"/>
                <a:cs typeface="Roboto Lt"/>
              </a:rPr>
              <a:t> </a:t>
            </a:r>
            <a:r>
              <a:rPr sz="1300" spc="-30" dirty="0">
                <a:solidFill>
                  <a:srgbClr val="333333"/>
                </a:solidFill>
                <a:latin typeface="Roboto Lt"/>
                <a:cs typeface="Roboto Lt"/>
              </a:rPr>
              <a:t>that</a:t>
            </a:r>
            <a:r>
              <a:rPr sz="1300" spc="-25" dirty="0">
                <a:solidFill>
                  <a:srgbClr val="333333"/>
                </a:solidFill>
                <a:latin typeface="Roboto Lt"/>
                <a:cs typeface="Roboto Lt"/>
              </a:rPr>
              <a:t> </a:t>
            </a:r>
            <a:r>
              <a:rPr sz="1300" spc="-35" dirty="0">
                <a:solidFill>
                  <a:srgbClr val="333333"/>
                </a:solidFill>
                <a:latin typeface="Roboto Lt"/>
                <a:cs typeface="Roboto Lt"/>
              </a:rPr>
              <a:t>represents</a:t>
            </a:r>
            <a:r>
              <a:rPr sz="1300" spc="-25" dirty="0">
                <a:solidFill>
                  <a:srgbClr val="333333"/>
                </a:solidFill>
                <a:latin typeface="Roboto Lt"/>
                <a:cs typeface="Roboto Lt"/>
              </a:rPr>
              <a:t> the </a:t>
            </a:r>
            <a:r>
              <a:rPr sz="1300" spc="-35" dirty="0">
                <a:solidFill>
                  <a:srgbClr val="333333"/>
                </a:solidFill>
                <a:latin typeface="Roboto Lt"/>
                <a:cs typeface="Roboto Lt"/>
              </a:rPr>
              <a:t>status </a:t>
            </a:r>
            <a:r>
              <a:rPr sz="1300" spc="-300" dirty="0">
                <a:solidFill>
                  <a:srgbClr val="333333"/>
                </a:solidFill>
                <a:latin typeface="Roboto Lt"/>
                <a:cs typeface="Roboto Lt"/>
              </a:rPr>
              <a:t> </a:t>
            </a:r>
            <a:r>
              <a:rPr sz="1300" spc="-15" dirty="0">
                <a:solidFill>
                  <a:srgbClr val="333333"/>
                </a:solidFill>
                <a:latin typeface="Roboto Lt"/>
                <a:cs typeface="Roboto Lt"/>
              </a:rPr>
              <a:t>of </a:t>
            </a:r>
            <a:r>
              <a:rPr sz="1300" spc="-30" dirty="0">
                <a:solidFill>
                  <a:srgbClr val="333333"/>
                </a:solidFill>
                <a:latin typeface="Roboto Lt"/>
                <a:cs typeface="Roboto Lt"/>
              </a:rPr>
              <a:t>that </a:t>
            </a:r>
            <a:r>
              <a:rPr sz="1300" spc="-20" dirty="0">
                <a:solidFill>
                  <a:srgbClr val="333333"/>
                </a:solidFill>
                <a:latin typeface="Roboto Lt"/>
                <a:cs typeface="Roboto Lt"/>
              </a:rPr>
              <a:t>work. </a:t>
            </a:r>
            <a:r>
              <a:rPr sz="1300" spc="-25" dirty="0">
                <a:solidFill>
                  <a:srgbClr val="333333"/>
                </a:solidFill>
                <a:latin typeface="Roboto Lt"/>
                <a:cs typeface="Roboto Lt"/>
              </a:rPr>
              <a:t>These cards </a:t>
            </a:r>
            <a:r>
              <a:rPr sz="1300" spc="-30" dirty="0">
                <a:solidFill>
                  <a:srgbClr val="333333"/>
                </a:solidFill>
                <a:latin typeface="Roboto Lt"/>
                <a:cs typeface="Roboto Lt"/>
              </a:rPr>
              <a:t>communicate </a:t>
            </a:r>
            <a:r>
              <a:rPr sz="1300" spc="-35" dirty="0">
                <a:solidFill>
                  <a:srgbClr val="333333"/>
                </a:solidFill>
                <a:latin typeface="Roboto Lt"/>
                <a:cs typeface="Roboto Lt"/>
              </a:rPr>
              <a:t>status </a:t>
            </a:r>
            <a:r>
              <a:rPr sz="1300" spc="-25" dirty="0">
                <a:solidFill>
                  <a:srgbClr val="333333"/>
                </a:solidFill>
                <a:latin typeface="Roboto Lt"/>
                <a:cs typeface="Roboto Lt"/>
              </a:rPr>
              <a:t>at </a:t>
            </a:r>
            <a:r>
              <a:rPr sz="1300" spc="-5" dirty="0">
                <a:solidFill>
                  <a:srgbClr val="333333"/>
                </a:solidFill>
                <a:latin typeface="Roboto Lt"/>
                <a:cs typeface="Roboto Lt"/>
              </a:rPr>
              <a:t>a </a:t>
            </a:r>
            <a:r>
              <a:rPr sz="1300" spc="-25" dirty="0">
                <a:solidFill>
                  <a:srgbClr val="333333"/>
                </a:solidFill>
                <a:latin typeface="Roboto Lt"/>
                <a:cs typeface="Roboto Lt"/>
              </a:rPr>
              <a:t>glance. </a:t>
            </a:r>
            <a:r>
              <a:rPr sz="1300" spc="-55" dirty="0">
                <a:solidFill>
                  <a:srgbClr val="333333"/>
                </a:solidFill>
                <a:latin typeface="Roboto Lt"/>
                <a:cs typeface="Roboto Lt"/>
              </a:rPr>
              <a:t>You </a:t>
            </a:r>
            <a:r>
              <a:rPr sz="1300" spc="-50" dirty="0">
                <a:solidFill>
                  <a:srgbClr val="333333"/>
                </a:solidFill>
                <a:latin typeface="Roboto Lt"/>
                <a:cs typeface="Roboto Lt"/>
              </a:rPr>
              <a:t> </a:t>
            </a:r>
            <a:r>
              <a:rPr sz="1300" spc="-25" dirty="0">
                <a:solidFill>
                  <a:srgbClr val="333333"/>
                </a:solidFill>
                <a:latin typeface="Roboto Lt"/>
                <a:cs typeface="Roboto Lt"/>
              </a:rPr>
              <a:t>could </a:t>
            </a:r>
            <a:r>
              <a:rPr sz="1300" spc="-30" dirty="0">
                <a:solidFill>
                  <a:srgbClr val="333333"/>
                </a:solidFill>
                <a:latin typeface="Roboto Lt"/>
                <a:cs typeface="Roboto Lt"/>
              </a:rPr>
              <a:t>also </a:t>
            </a:r>
            <a:r>
              <a:rPr sz="1300" spc="-25" dirty="0">
                <a:solidFill>
                  <a:srgbClr val="333333"/>
                </a:solidFill>
                <a:latin typeface="Roboto Lt"/>
                <a:cs typeface="Roboto Lt"/>
              </a:rPr>
              <a:t>use different </a:t>
            </a:r>
            <a:r>
              <a:rPr sz="1300" spc="-20" dirty="0">
                <a:solidFill>
                  <a:srgbClr val="333333"/>
                </a:solidFill>
                <a:latin typeface="Roboto Lt"/>
                <a:cs typeface="Roboto Lt"/>
              </a:rPr>
              <a:t>color </a:t>
            </a:r>
            <a:r>
              <a:rPr sz="1300" spc="-25" dirty="0">
                <a:solidFill>
                  <a:srgbClr val="333333"/>
                </a:solidFill>
                <a:latin typeface="Roboto Lt"/>
                <a:cs typeface="Roboto Lt"/>
              </a:rPr>
              <a:t>cards </a:t>
            </a:r>
            <a:r>
              <a:rPr sz="1300" spc="-30" dirty="0">
                <a:solidFill>
                  <a:srgbClr val="333333"/>
                </a:solidFill>
                <a:latin typeface="Roboto Lt"/>
                <a:cs typeface="Roboto Lt"/>
              </a:rPr>
              <a:t>to represent </a:t>
            </a:r>
            <a:r>
              <a:rPr sz="1300" spc="-25" dirty="0">
                <a:solidFill>
                  <a:srgbClr val="333333"/>
                </a:solidFill>
                <a:latin typeface="Roboto Lt"/>
                <a:cs typeface="Roboto Lt"/>
              </a:rPr>
              <a:t>different </a:t>
            </a:r>
            <a:r>
              <a:rPr sz="1300" spc="-30" dirty="0">
                <a:solidFill>
                  <a:srgbClr val="333333"/>
                </a:solidFill>
                <a:latin typeface="Roboto Lt"/>
                <a:cs typeface="Roboto Lt"/>
              </a:rPr>
              <a:t>details. </a:t>
            </a:r>
            <a:r>
              <a:rPr sz="1300" spc="-305" dirty="0">
                <a:solidFill>
                  <a:srgbClr val="333333"/>
                </a:solidFill>
                <a:latin typeface="Roboto Lt"/>
                <a:cs typeface="Roboto Lt"/>
              </a:rPr>
              <a:t> </a:t>
            </a:r>
            <a:r>
              <a:rPr sz="1300" spc="-15" dirty="0">
                <a:solidFill>
                  <a:srgbClr val="333333"/>
                </a:solidFill>
                <a:latin typeface="Roboto Lt"/>
                <a:cs typeface="Roboto Lt"/>
              </a:rPr>
              <a:t>For </a:t>
            </a:r>
            <a:r>
              <a:rPr sz="1300" spc="-30" dirty="0">
                <a:solidFill>
                  <a:srgbClr val="333333"/>
                </a:solidFill>
                <a:latin typeface="Roboto Lt"/>
                <a:cs typeface="Roboto Lt"/>
              </a:rPr>
              <a:t>example, </a:t>
            </a:r>
            <a:r>
              <a:rPr sz="1300" spc="-25" dirty="0">
                <a:solidFill>
                  <a:srgbClr val="333333"/>
                </a:solidFill>
                <a:latin typeface="Roboto Lt"/>
                <a:cs typeface="Roboto Lt"/>
              </a:rPr>
              <a:t>green cards could </a:t>
            </a:r>
            <a:r>
              <a:rPr sz="1300" spc="-30" dirty="0">
                <a:solidFill>
                  <a:srgbClr val="333333"/>
                </a:solidFill>
                <a:latin typeface="Roboto Lt"/>
                <a:cs typeface="Roboto Lt"/>
              </a:rPr>
              <a:t>represent </a:t>
            </a:r>
            <a:r>
              <a:rPr sz="1300" spc="-5" dirty="0">
                <a:solidFill>
                  <a:srgbClr val="333333"/>
                </a:solidFill>
                <a:latin typeface="Roboto Lt"/>
                <a:cs typeface="Roboto Lt"/>
              </a:rPr>
              <a:t>a </a:t>
            </a:r>
            <a:r>
              <a:rPr sz="1300" spc="-35" dirty="0">
                <a:solidFill>
                  <a:srgbClr val="333333"/>
                </a:solidFill>
                <a:latin typeface="Roboto Lt"/>
                <a:cs typeface="Roboto Lt"/>
              </a:rPr>
              <a:t>feature </a:t>
            </a:r>
            <a:r>
              <a:rPr sz="1300" spc="-25" dirty="0">
                <a:solidFill>
                  <a:srgbClr val="333333"/>
                </a:solidFill>
                <a:latin typeface="Roboto Lt"/>
                <a:cs typeface="Roboto Lt"/>
              </a:rPr>
              <a:t>and orange </a:t>
            </a:r>
            <a:r>
              <a:rPr sz="1300" spc="-20" dirty="0">
                <a:solidFill>
                  <a:srgbClr val="333333"/>
                </a:solidFill>
                <a:latin typeface="Roboto Lt"/>
                <a:cs typeface="Roboto Lt"/>
              </a:rPr>
              <a:t> </a:t>
            </a:r>
            <a:r>
              <a:rPr sz="1300" spc="-25" dirty="0">
                <a:solidFill>
                  <a:srgbClr val="333333"/>
                </a:solidFill>
                <a:latin typeface="Roboto Lt"/>
                <a:cs typeface="Roboto Lt"/>
              </a:rPr>
              <a:t>cards</a:t>
            </a:r>
            <a:r>
              <a:rPr sz="1300" spc="-35" dirty="0">
                <a:solidFill>
                  <a:srgbClr val="333333"/>
                </a:solidFill>
                <a:latin typeface="Roboto Lt"/>
                <a:cs typeface="Roboto Lt"/>
              </a:rPr>
              <a:t> </a:t>
            </a:r>
            <a:r>
              <a:rPr sz="1300" spc="-25" dirty="0">
                <a:solidFill>
                  <a:srgbClr val="333333"/>
                </a:solidFill>
                <a:latin typeface="Roboto Lt"/>
                <a:cs typeface="Roboto Lt"/>
              </a:rPr>
              <a:t>could</a:t>
            </a:r>
            <a:r>
              <a:rPr sz="1300" spc="-30" dirty="0">
                <a:solidFill>
                  <a:srgbClr val="333333"/>
                </a:solidFill>
                <a:latin typeface="Roboto Lt"/>
                <a:cs typeface="Roboto Lt"/>
              </a:rPr>
              <a:t> represent </a:t>
            </a:r>
            <a:r>
              <a:rPr sz="1300" spc="-5" dirty="0">
                <a:solidFill>
                  <a:srgbClr val="333333"/>
                </a:solidFill>
                <a:latin typeface="Roboto Lt"/>
                <a:cs typeface="Roboto Lt"/>
              </a:rPr>
              <a:t>a</a:t>
            </a:r>
            <a:r>
              <a:rPr sz="1300" spc="-30" dirty="0">
                <a:solidFill>
                  <a:srgbClr val="333333"/>
                </a:solidFill>
                <a:latin typeface="Roboto Lt"/>
                <a:cs typeface="Roboto Lt"/>
              </a:rPr>
              <a:t> </a:t>
            </a:r>
            <a:r>
              <a:rPr sz="1300" spc="-20" dirty="0">
                <a:solidFill>
                  <a:srgbClr val="333333"/>
                </a:solidFill>
                <a:latin typeface="Roboto Lt"/>
                <a:cs typeface="Roboto Lt"/>
              </a:rPr>
              <a:t>task.</a:t>
            </a:r>
            <a:endParaRPr sz="1300" dirty="0">
              <a:latin typeface="Roboto Lt"/>
              <a:cs typeface="Roboto Lt"/>
            </a:endParaRPr>
          </a:p>
        </p:txBody>
      </p:sp>
      <p:sp>
        <p:nvSpPr>
          <p:cNvPr id="64" name="object 64"/>
          <p:cNvSpPr txBox="1">
            <a:spLocks noGrp="1"/>
          </p:cNvSpPr>
          <p:nvPr>
            <p:ph type="title"/>
          </p:nvPr>
        </p:nvSpPr>
        <p:spPr>
          <a:xfrm>
            <a:off x="526368" y="510301"/>
            <a:ext cx="2717165" cy="1905000"/>
          </a:xfrm>
          <a:prstGeom prst="rect">
            <a:avLst/>
          </a:prstGeom>
        </p:spPr>
        <p:txBody>
          <a:bodyPr vert="horz" wrap="square" lIns="0" tIns="106680" rIns="0" bIns="0" rtlCol="0">
            <a:spAutoFit/>
          </a:bodyPr>
          <a:lstStyle/>
          <a:p>
            <a:pPr marL="12700" marR="5080">
              <a:lnSpc>
                <a:spcPts val="4700"/>
              </a:lnSpc>
              <a:spcBef>
                <a:spcPts val="840"/>
              </a:spcBef>
            </a:pPr>
            <a:r>
              <a:rPr spc="-195" dirty="0"/>
              <a:t>A</a:t>
            </a:r>
            <a:r>
              <a:rPr spc="-120" dirty="0"/>
              <a:t>b</a:t>
            </a:r>
            <a:r>
              <a:rPr spc="-90" dirty="0"/>
              <a:t>o</a:t>
            </a:r>
            <a:r>
              <a:rPr spc="-80" dirty="0"/>
              <a:t>u</a:t>
            </a:r>
            <a:r>
              <a:rPr spc="570" dirty="0"/>
              <a:t>t</a:t>
            </a:r>
            <a:r>
              <a:rPr spc="-535" dirty="0"/>
              <a:t> </a:t>
            </a:r>
            <a:r>
              <a:rPr spc="355" dirty="0"/>
              <a:t>t</a:t>
            </a:r>
            <a:r>
              <a:rPr spc="-10" dirty="0"/>
              <a:t>h</a:t>
            </a:r>
            <a:r>
              <a:rPr spc="185" dirty="0"/>
              <a:t>e  </a:t>
            </a:r>
            <a:r>
              <a:rPr spc="-80" dirty="0"/>
              <a:t>Kanban </a:t>
            </a:r>
            <a:r>
              <a:rPr spc="-75" dirty="0"/>
              <a:t> Board</a:t>
            </a:r>
          </a:p>
        </p:txBody>
      </p:sp>
      <p:sp>
        <p:nvSpPr>
          <p:cNvPr id="65" name="object 65"/>
          <p:cNvSpPr txBox="1"/>
          <p:nvPr/>
        </p:nvSpPr>
        <p:spPr>
          <a:xfrm>
            <a:off x="526368" y="2549921"/>
            <a:ext cx="2569845" cy="767080"/>
          </a:xfrm>
          <a:prstGeom prst="rect">
            <a:avLst/>
          </a:prstGeom>
        </p:spPr>
        <p:txBody>
          <a:bodyPr vert="horz" wrap="square" lIns="0" tIns="7620" rIns="0" bIns="0" rtlCol="0">
            <a:spAutoFit/>
          </a:bodyPr>
          <a:lstStyle/>
          <a:p>
            <a:pPr marL="12700" marR="5080">
              <a:lnSpc>
                <a:spcPct val="102099"/>
              </a:lnSpc>
              <a:spcBef>
                <a:spcPts val="60"/>
              </a:spcBef>
            </a:pPr>
            <a:r>
              <a:rPr sz="1600" b="1" spc="55" dirty="0">
                <a:solidFill>
                  <a:srgbClr val="FFFFFF"/>
                </a:solidFill>
                <a:latin typeface="Roboto"/>
                <a:cs typeface="Roboto"/>
              </a:rPr>
              <a:t>A</a:t>
            </a:r>
            <a:r>
              <a:rPr sz="1600" b="1" spc="-160" dirty="0">
                <a:solidFill>
                  <a:srgbClr val="FFFFFF"/>
                </a:solidFill>
                <a:latin typeface="Roboto"/>
                <a:cs typeface="Roboto"/>
              </a:rPr>
              <a:t> </a:t>
            </a:r>
            <a:r>
              <a:rPr sz="1600" b="1" spc="-95" dirty="0">
                <a:solidFill>
                  <a:srgbClr val="FFFFFF"/>
                </a:solidFill>
                <a:latin typeface="Roboto"/>
                <a:cs typeface="Roboto"/>
              </a:rPr>
              <a:t>K</a:t>
            </a:r>
            <a:r>
              <a:rPr sz="1600" b="1" spc="-85" dirty="0">
                <a:solidFill>
                  <a:srgbClr val="FFFFFF"/>
                </a:solidFill>
                <a:latin typeface="Roboto"/>
                <a:cs typeface="Roboto"/>
              </a:rPr>
              <a:t>a</a:t>
            </a:r>
            <a:r>
              <a:rPr sz="1600" b="1" spc="-90" dirty="0">
                <a:solidFill>
                  <a:srgbClr val="FFFFFF"/>
                </a:solidFill>
                <a:latin typeface="Roboto"/>
                <a:cs typeface="Roboto"/>
              </a:rPr>
              <a:t>nb</a:t>
            </a:r>
            <a:r>
              <a:rPr sz="1600" b="1" spc="-85" dirty="0">
                <a:solidFill>
                  <a:srgbClr val="FFFFFF"/>
                </a:solidFill>
                <a:latin typeface="Roboto"/>
                <a:cs typeface="Roboto"/>
              </a:rPr>
              <a:t>a</a:t>
            </a:r>
            <a:r>
              <a:rPr sz="1600" b="1" spc="-10" dirty="0">
                <a:solidFill>
                  <a:srgbClr val="FFFFFF"/>
                </a:solidFill>
                <a:latin typeface="Roboto"/>
                <a:cs typeface="Roboto"/>
              </a:rPr>
              <a:t>n</a:t>
            </a:r>
            <a:r>
              <a:rPr sz="1600" b="1" spc="-165" dirty="0">
                <a:solidFill>
                  <a:srgbClr val="FFFFFF"/>
                </a:solidFill>
                <a:latin typeface="Roboto"/>
                <a:cs typeface="Roboto"/>
              </a:rPr>
              <a:t> </a:t>
            </a:r>
            <a:r>
              <a:rPr sz="1600" b="1" spc="-85" dirty="0">
                <a:solidFill>
                  <a:srgbClr val="FFFFFF"/>
                </a:solidFill>
                <a:latin typeface="Roboto"/>
                <a:cs typeface="Roboto"/>
              </a:rPr>
              <a:t>b</a:t>
            </a:r>
            <a:r>
              <a:rPr sz="1600" b="1" spc="-90" dirty="0">
                <a:solidFill>
                  <a:srgbClr val="FFFFFF"/>
                </a:solidFill>
                <a:latin typeface="Roboto"/>
                <a:cs typeface="Roboto"/>
              </a:rPr>
              <a:t>o</a:t>
            </a:r>
            <a:r>
              <a:rPr sz="1600" b="1" spc="-75" dirty="0">
                <a:solidFill>
                  <a:srgbClr val="FFFFFF"/>
                </a:solidFill>
                <a:latin typeface="Roboto"/>
                <a:cs typeface="Roboto"/>
              </a:rPr>
              <a:t>ar</a:t>
            </a:r>
            <a:r>
              <a:rPr sz="1600" b="1" spc="-5" dirty="0">
                <a:solidFill>
                  <a:srgbClr val="FFFFFF"/>
                </a:solidFill>
                <a:latin typeface="Roboto"/>
                <a:cs typeface="Roboto"/>
              </a:rPr>
              <a:t>d</a:t>
            </a:r>
            <a:r>
              <a:rPr sz="1600" b="1" spc="-165" dirty="0">
                <a:solidFill>
                  <a:srgbClr val="FFFFFF"/>
                </a:solidFill>
                <a:latin typeface="Roboto"/>
                <a:cs typeface="Roboto"/>
              </a:rPr>
              <a:t> </a:t>
            </a:r>
            <a:r>
              <a:rPr sz="1600" b="1" spc="-95" dirty="0">
                <a:solidFill>
                  <a:srgbClr val="FFFFFF"/>
                </a:solidFill>
                <a:latin typeface="Roboto"/>
                <a:cs typeface="Roboto"/>
              </a:rPr>
              <a:t>i</a:t>
            </a:r>
            <a:r>
              <a:rPr sz="1600" b="1" spc="-5" dirty="0">
                <a:solidFill>
                  <a:srgbClr val="FFFFFF"/>
                </a:solidFill>
                <a:latin typeface="Roboto"/>
                <a:cs typeface="Roboto"/>
              </a:rPr>
              <a:t>s</a:t>
            </a:r>
            <a:r>
              <a:rPr sz="1600" b="1" spc="-165" dirty="0">
                <a:solidFill>
                  <a:srgbClr val="FFFFFF"/>
                </a:solidFill>
                <a:latin typeface="Roboto"/>
                <a:cs typeface="Roboto"/>
              </a:rPr>
              <a:t> </a:t>
            </a:r>
            <a:r>
              <a:rPr sz="1600" b="1" spc="-5" dirty="0">
                <a:solidFill>
                  <a:srgbClr val="FFFFFF"/>
                </a:solidFill>
                <a:latin typeface="Roboto"/>
                <a:cs typeface="Roboto"/>
              </a:rPr>
              <a:t>a</a:t>
            </a:r>
            <a:r>
              <a:rPr sz="1600" b="1" spc="-165" dirty="0">
                <a:solidFill>
                  <a:srgbClr val="FFFFFF"/>
                </a:solidFill>
                <a:latin typeface="Roboto"/>
                <a:cs typeface="Roboto"/>
              </a:rPr>
              <a:t> </a:t>
            </a:r>
            <a:r>
              <a:rPr sz="1600" b="1" spc="-114" dirty="0">
                <a:solidFill>
                  <a:srgbClr val="FFFFFF"/>
                </a:solidFill>
                <a:latin typeface="Roboto"/>
                <a:cs typeface="Roboto"/>
              </a:rPr>
              <a:t>t</a:t>
            </a:r>
            <a:r>
              <a:rPr sz="1600" b="1" spc="-85" dirty="0">
                <a:solidFill>
                  <a:srgbClr val="FFFFFF"/>
                </a:solidFill>
                <a:latin typeface="Roboto"/>
                <a:cs typeface="Roboto"/>
              </a:rPr>
              <a:t>o</a:t>
            </a:r>
            <a:r>
              <a:rPr sz="1600" b="1" spc="-90" dirty="0">
                <a:solidFill>
                  <a:srgbClr val="FFFFFF"/>
                </a:solidFill>
                <a:latin typeface="Roboto"/>
                <a:cs typeface="Roboto"/>
              </a:rPr>
              <a:t>o</a:t>
            </a:r>
            <a:r>
              <a:rPr sz="1600" b="1" spc="-5" dirty="0">
                <a:solidFill>
                  <a:srgbClr val="FFFFFF"/>
                </a:solidFill>
                <a:latin typeface="Roboto"/>
                <a:cs typeface="Roboto"/>
              </a:rPr>
              <a:t>l</a:t>
            </a:r>
            <a:r>
              <a:rPr sz="1600" b="1" spc="-165" dirty="0">
                <a:solidFill>
                  <a:srgbClr val="FFFFFF"/>
                </a:solidFill>
                <a:latin typeface="Roboto"/>
                <a:cs typeface="Roboto"/>
              </a:rPr>
              <a:t> </a:t>
            </a:r>
            <a:r>
              <a:rPr sz="1600" b="1" spc="-114" dirty="0">
                <a:solidFill>
                  <a:srgbClr val="FFFFFF"/>
                </a:solidFill>
                <a:latin typeface="Roboto"/>
                <a:cs typeface="Roboto"/>
              </a:rPr>
              <a:t>t</a:t>
            </a:r>
            <a:r>
              <a:rPr sz="1600" b="1" dirty="0">
                <a:solidFill>
                  <a:srgbClr val="FFFFFF"/>
                </a:solidFill>
                <a:latin typeface="Roboto"/>
                <a:cs typeface="Roboto"/>
              </a:rPr>
              <a:t>o  </a:t>
            </a:r>
            <a:r>
              <a:rPr sz="1600" b="1" spc="-90" dirty="0">
                <a:solidFill>
                  <a:srgbClr val="FFFFFF"/>
                </a:solidFill>
                <a:latin typeface="Roboto"/>
                <a:cs typeface="Roboto"/>
              </a:rPr>
              <a:t>i</a:t>
            </a:r>
            <a:r>
              <a:rPr sz="1600" b="1" spc="-80" dirty="0">
                <a:solidFill>
                  <a:srgbClr val="FFFFFF"/>
                </a:solidFill>
                <a:latin typeface="Roboto"/>
                <a:cs typeface="Roboto"/>
              </a:rPr>
              <a:t>m</a:t>
            </a:r>
            <a:r>
              <a:rPr sz="1600" b="1" spc="-90" dirty="0">
                <a:solidFill>
                  <a:srgbClr val="FFFFFF"/>
                </a:solidFill>
                <a:latin typeface="Roboto"/>
                <a:cs typeface="Roboto"/>
              </a:rPr>
              <a:t>p</a:t>
            </a:r>
            <a:r>
              <a:rPr sz="1600" b="1" spc="-95" dirty="0">
                <a:solidFill>
                  <a:srgbClr val="FFFFFF"/>
                </a:solidFill>
                <a:latin typeface="Roboto"/>
                <a:cs typeface="Roboto"/>
              </a:rPr>
              <a:t>l</a:t>
            </a:r>
            <a:r>
              <a:rPr sz="1600" b="1" spc="-50" dirty="0">
                <a:solidFill>
                  <a:srgbClr val="FFFFFF"/>
                </a:solidFill>
                <a:latin typeface="Roboto"/>
                <a:cs typeface="Roboto"/>
              </a:rPr>
              <a:t>e</a:t>
            </a:r>
            <a:r>
              <a:rPr sz="1600" b="1" spc="-90" dirty="0">
                <a:solidFill>
                  <a:srgbClr val="FFFFFF"/>
                </a:solidFill>
                <a:latin typeface="Roboto"/>
                <a:cs typeface="Roboto"/>
              </a:rPr>
              <a:t>m</a:t>
            </a:r>
            <a:r>
              <a:rPr sz="1600" b="1" spc="-45" dirty="0">
                <a:solidFill>
                  <a:srgbClr val="FFFFFF"/>
                </a:solidFill>
                <a:latin typeface="Roboto"/>
                <a:cs typeface="Roboto"/>
              </a:rPr>
              <a:t>e</a:t>
            </a:r>
            <a:r>
              <a:rPr sz="1600" b="1" spc="-100" dirty="0">
                <a:solidFill>
                  <a:srgbClr val="FFFFFF"/>
                </a:solidFill>
                <a:latin typeface="Roboto"/>
                <a:cs typeface="Roboto"/>
              </a:rPr>
              <a:t>n</a:t>
            </a:r>
            <a:r>
              <a:rPr sz="1600" b="1" spc="-10" dirty="0">
                <a:solidFill>
                  <a:srgbClr val="FFFFFF"/>
                </a:solidFill>
                <a:latin typeface="Roboto"/>
                <a:cs typeface="Roboto"/>
              </a:rPr>
              <a:t>t</a:t>
            </a:r>
            <a:r>
              <a:rPr sz="1600" b="1" spc="-165" dirty="0">
                <a:solidFill>
                  <a:srgbClr val="FFFFFF"/>
                </a:solidFill>
                <a:latin typeface="Roboto"/>
                <a:cs typeface="Roboto"/>
              </a:rPr>
              <a:t> </a:t>
            </a:r>
            <a:r>
              <a:rPr sz="1600" b="1" spc="-95" dirty="0">
                <a:solidFill>
                  <a:srgbClr val="FFFFFF"/>
                </a:solidFill>
                <a:latin typeface="Roboto"/>
                <a:cs typeface="Roboto"/>
              </a:rPr>
              <a:t>th</a:t>
            </a:r>
            <a:r>
              <a:rPr sz="1600" b="1" spc="25" dirty="0">
                <a:solidFill>
                  <a:srgbClr val="FFFFFF"/>
                </a:solidFill>
                <a:latin typeface="Roboto"/>
                <a:cs typeface="Roboto"/>
              </a:rPr>
              <a:t>e</a:t>
            </a:r>
            <a:r>
              <a:rPr sz="1600" b="1" spc="-165" dirty="0">
                <a:solidFill>
                  <a:srgbClr val="FFFFFF"/>
                </a:solidFill>
                <a:latin typeface="Roboto"/>
                <a:cs typeface="Roboto"/>
              </a:rPr>
              <a:t> </a:t>
            </a:r>
            <a:r>
              <a:rPr sz="1600" b="1" spc="-95" dirty="0">
                <a:solidFill>
                  <a:srgbClr val="FFFFFF"/>
                </a:solidFill>
                <a:latin typeface="Roboto"/>
                <a:cs typeface="Roboto"/>
              </a:rPr>
              <a:t>K</a:t>
            </a:r>
            <a:r>
              <a:rPr sz="1600" b="1" spc="-85" dirty="0">
                <a:solidFill>
                  <a:srgbClr val="FFFFFF"/>
                </a:solidFill>
                <a:latin typeface="Roboto"/>
                <a:cs typeface="Roboto"/>
              </a:rPr>
              <a:t>a</a:t>
            </a:r>
            <a:r>
              <a:rPr sz="1600" b="1" spc="-90" dirty="0">
                <a:solidFill>
                  <a:srgbClr val="FFFFFF"/>
                </a:solidFill>
                <a:latin typeface="Roboto"/>
                <a:cs typeface="Roboto"/>
              </a:rPr>
              <a:t>nb</a:t>
            </a:r>
            <a:r>
              <a:rPr sz="1600" b="1" spc="-85" dirty="0">
                <a:solidFill>
                  <a:srgbClr val="FFFFFF"/>
                </a:solidFill>
                <a:latin typeface="Roboto"/>
                <a:cs typeface="Roboto"/>
              </a:rPr>
              <a:t>a</a:t>
            </a:r>
            <a:r>
              <a:rPr sz="1600" b="1" spc="-10" dirty="0">
                <a:solidFill>
                  <a:srgbClr val="FFFFFF"/>
                </a:solidFill>
                <a:latin typeface="Roboto"/>
                <a:cs typeface="Roboto"/>
              </a:rPr>
              <a:t>n</a:t>
            </a:r>
            <a:r>
              <a:rPr sz="1600" b="1" spc="-160" dirty="0">
                <a:solidFill>
                  <a:srgbClr val="FFFFFF"/>
                </a:solidFill>
                <a:latin typeface="Roboto"/>
                <a:cs typeface="Roboto"/>
              </a:rPr>
              <a:t> </a:t>
            </a:r>
            <a:r>
              <a:rPr sz="1600" b="1" spc="-90" dirty="0">
                <a:solidFill>
                  <a:srgbClr val="FFFFFF"/>
                </a:solidFill>
                <a:latin typeface="Roboto"/>
                <a:cs typeface="Roboto"/>
              </a:rPr>
              <a:t>m</a:t>
            </a:r>
            <a:r>
              <a:rPr sz="1600" b="1" spc="-50" dirty="0">
                <a:solidFill>
                  <a:srgbClr val="FFFFFF"/>
                </a:solidFill>
                <a:latin typeface="Roboto"/>
                <a:cs typeface="Roboto"/>
              </a:rPr>
              <a:t>e</a:t>
            </a:r>
            <a:r>
              <a:rPr sz="1600" b="1" spc="-95" dirty="0">
                <a:solidFill>
                  <a:srgbClr val="FFFFFF"/>
                </a:solidFill>
                <a:latin typeface="Roboto"/>
                <a:cs typeface="Roboto"/>
              </a:rPr>
              <a:t>th</a:t>
            </a:r>
            <a:r>
              <a:rPr sz="1600" b="1" spc="-80" dirty="0">
                <a:solidFill>
                  <a:srgbClr val="FFFFFF"/>
                </a:solidFill>
                <a:latin typeface="Roboto"/>
                <a:cs typeface="Roboto"/>
              </a:rPr>
              <a:t>o</a:t>
            </a:r>
            <a:r>
              <a:rPr sz="1600" b="1" spc="-5" dirty="0">
                <a:solidFill>
                  <a:srgbClr val="FFFFFF"/>
                </a:solidFill>
                <a:latin typeface="Roboto"/>
                <a:cs typeface="Roboto"/>
              </a:rPr>
              <a:t>d  </a:t>
            </a:r>
            <a:r>
              <a:rPr sz="1600" b="1" spc="-90" dirty="0">
                <a:solidFill>
                  <a:srgbClr val="FFFFFF"/>
                </a:solidFill>
                <a:latin typeface="Roboto"/>
                <a:cs typeface="Roboto"/>
              </a:rPr>
              <a:t>f</a:t>
            </a:r>
            <a:r>
              <a:rPr sz="1600" b="1" spc="-70" dirty="0">
                <a:solidFill>
                  <a:srgbClr val="FFFFFF"/>
                </a:solidFill>
                <a:latin typeface="Roboto"/>
                <a:cs typeface="Roboto"/>
              </a:rPr>
              <a:t>o</a:t>
            </a:r>
            <a:r>
              <a:rPr sz="1600" b="1" spc="20" dirty="0">
                <a:solidFill>
                  <a:srgbClr val="FFFFFF"/>
                </a:solidFill>
                <a:latin typeface="Roboto"/>
                <a:cs typeface="Roboto"/>
              </a:rPr>
              <a:t>r</a:t>
            </a:r>
            <a:r>
              <a:rPr sz="1600" b="1" spc="-160" dirty="0">
                <a:solidFill>
                  <a:srgbClr val="FFFFFF"/>
                </a:solidFill>
                <a:latin typeface="Roboto"/>
                <a:cs typeface="Roboto"/>
              </a:rPr>
              <a:t> </a:t>
            </a:r>
            <a:r>
              <a:rPr sz="1600" b="1" spc="-85" dirty="0">
                <a:solidFill>
                  <a:srgbClr val="FFFFFF"/>
                </a:solidFill>
                <a:latin typeface="Roboto"/>
                <a:cs typeface="Roboto"/>
              </a:rPr>
              <a:t>p</a:t>
            </a:r>
            <a:r>
              <a:rPr sz="1600" b="1" spc="-65" dirty="0">
                <a:solidFill>
                  <a:srgbClr val="FFFFFF"/>
                </a:solidFill>
                <a:latin typeface="Roboto"/>
                <a:cs typeface="Roboto"/>
              </a:rPr>
              <a:t>r</a:t>
            </a:r>
            <a:r>
              <a:rPr sz="1600" b="1" spc="-90" dirty="0">
                <a:solidFill>
                  <a:srgbClr val="FFFFFF"/>
                </a:solidFill>
                <a:latin typeface="Roboto"/>
                <a:cs typeface="Roboto"/>
              </a:rPr>
              <a:t>o</a:t>
            </a:r>
            <a:r>
              <a:rPr sz="1600" b="1" spc="-100" dirty="0">
                <a:solidFill>
                  <a:srgbClr val="FFFFFF"/>
                </a:solidFill>
                <a:latin typeface="Roboto"/>
                <a:cs typeface="Roboto"/>
              </a:rPr>
              <a:t>j</a:t>
            </a:r>
            <a:r>
              <a:rPr sz="1600" b="1" spc="-50" dirty="0">
                <a:solidFill>
                  <a:srgbClr val="FFFFFF"/>
                </a:solidFill>
                <a:latin typeface="Roboto"/>
                <a:cs typeface="Roboto"/>
              </a:rPr>
              <a:t>e</a:t>
            </a:r>
            <a:r>
              <a:rPr sz="1600" b="1" spc="-65" dirty="0">
                <a:solidFill>
                  <a:srgbClr val="FFFFFF"/>
                </a:solidFill>
                <a:latin typeface="Roboto"/>
                <a:cs typeface="Roboto"/>
              </a:rPr>
              <a:t>c</a:t>
            </a:r>
            <a:r>
              <a:rPr sz="1600" b="1" spc="-95" dirty="0">
                <a:solidFill>
                  <a:srgbClr val="FFFFFF"/>
                </a:solidFill>
                <a:latin typeface="Roboto"/>
                <a:cs typeface="Roboto"/>
              </a:rPr>
              <a:t>t</a:t>
            </a:r>
            <a:r>
              <a:rPr sz="1600" b="1" spc="-100" dirty="0">
                <a:solidFill>
                  <a:srgbClr val="FFFFFF"/>
                </a:solidFill>
                <a:latin typeface="Roboto"/>
                <a:cs typeface="Roboto"/>
              </a:rPr>
              <a:t>s.</a:t>
            </a:r>
            <a:endParaRPr sz="1600">
              <a:latin typeface="Roboto"/>
              <a:cs typeface="Roboto"/>
            </a:endParaRPr>
          </a:p>
        </p:txBody>
      </p:sp>
      <p:sp>
        <p:nvSpPr>
          <p:cNvPr id="66" name="object 66"/>
          <p:cNvSpPr txBox="1"/>
          <p:nvPr/>
        </p:nvSpPr>
        <p:spPr>
          <a:xfrm>
            <a:off x="526368" y="3455432"/>
            <a:ext cx="2712085" cy="1714500"/>
          </a:xfrm>
          <a:prstGeom prst="rect">
            <a:avLst/>
          </a:prstGeom>
        </p:spPr>
        <p:txBody>
          <a:bodyPr vert="horz" wrap="square" lIns="0" tIns="12700" rIns="0" bIns="0" rtlCol="0">
            <a:spAutoFit/>
          </a:bodyPr>
          <a:lstStyle/>
          <a:p>
            <a:pPr marL="12700" marR="5080">
              <a:lnSpc>
                <a:spcPct val="121800"/>
              </a:lnSpc>
              <a:spcBef>
                <a:spcPts val="100"/>
              </a:spcBef>
            </a:pPr>
            <a:r>
              <a:rPr sz="1300" spc="-20" dirty="0">
                <a:solidFill>
                  <a:srgbClr val="FFFFFF"/>
                </a:solidFill>
                <a:latin typeface="Roboto Lt"/>
                <a:cs typeface="Roboto Lt"/>
              </a:rPr>
              <a:t>Traditionally, this </a:t>
            </a:r>
            <a:r>
              <a:rPr sz="1300" spc="-15" dirty="0">
                <a:solidFill>
                  <a:srgbClr val="FFFFFF"/>
                </a:solidFill>
                <a:latin typeface="Roboto Lt"/>
                <a:cs typeface="Roboto Lt"/>
              </a:rPr>
              <a:t>tool </a:t>
            </a:r>
            <a:r>
              <a:rPr sz="1300" spc="-20" dirty="0">
                <a:solidFill>
                  <a:srgbClr val="FFFFFF"/>
                </a:solidFill>
                <a:latin typeface="Roboto Lt"/>
                <a:cs typeface="Roboto Lt"/>
              </a:rPr>
              <a:t>has </a:t>
            </a:r>
            <a:r>
              <a:rPr sz="1300" spc="-15" dirty="0">
                <a:solidFill>
                  <a:srgbClr val="FFFFFF"/>
                </a:solidFill>
                <a:latin typeface="Roboto Lt"/>
                <a:cs typeface="Roboto Lt"/>
              </a:rPr>
              <a:t>been </a:t>
            </a:r>
            <a:r>
              <a:rPr sz="1300" spc="-5" dirty="0">
                <a:solidFill>
                  <a:srgbClr val="FFFFFF"/>
                </a:solidFill>
                <a:latin typeface="Roboto Lt"/>
                <a:cs typeface="Roboto Lt"/>
              </a:rPr>
              <a:t>a </a:t>
            </a:r>
            <a:r>
              <a:rPr sz="1300" dirty="0">
                <a:solidFill>
                  <a:srgbClr val="FFFFFF"/>
                </a:solidFill>
                <a:latin typeface="Roboto Lt"/>
                <a:cs typeface="Roboto Lt"/>
              </a:rPr>
              <a:t> </a:t>
            </a:r>
            <a:r>
              <a:rPr sz="1300" spc="-20" dirty="0">
                <a:solidFill>
                  <a:srgbClr val="FFFFFF"/>
                </a:solidFill>
                <a:latin typeface="Roboto Lt"/>
                <a:cs typeface="Roboto Lt"/>
              </a:rPr>
              <a:t>physical </a:t>
            </a:r>
            <a:r>
              <a:rPr sz="1300" spc="-15" dirty="0">
                <a:solidFill>
                  <a:srgbClr val="FFFFFF"/>
                </a:solidFill>
                <a:latin typeface="Roboto Lt"/>
                <a:cs typeface="Roboto Lt"/>
              </a:rPr>
              <a:t>board, </a:t>
            </a:r>
            <a:r>
              <a:rPr sz="1300" spc="-20" dirty="0">
                <a:solidFill>
                  <a:srgbClr val="FFFFFF"/>
                </a:solidFill>
                <a:latin typeface="Roboto Lt"/>
                <a:cs typeface="Roboto Lt"/>
              </a:rPr>
              <a:t>with magnets, plastic </a:t>
            </a:r>
            <a:r>
              <a:rPr sz="1300" spc="-15" dirty="0">
                <a:solidFill>
                  <a:srgbClr val="FFFFFF"/>
                </a:solidFill>
                <a:latin typeface="Roboto Lt"/>
                <a:cs typeface="Roboto Lt"/>
              </a:rPr>
              <a:t> </a:t>
            </a:r>
            <a:r>
              <a:rPr sz="1300" spc="-20" dirty="0">
                <a:solidFill>
                  <a:srgbClr val="FFFFFF"/>
                </a:solidFill>
                <a:latin typeface="Roboto Lt"/>
                <a:cs typeface="Roboto Lt"/>
              </a:rPr>
              <a:t>chips,</a:t>
            </a:r>
            <a:r>
              <a:rPr sz="1300" spc="-35" dirty="0">
                <a:solidFill>
                  <a:srgbClr val="FFFFFF"/>
                </a:solidFill>
                <a:latin typeface="Roboto Lt"/>
                <a:cs typeface="Roboto Lt"/>
              </a:rPr>
              <a:t> </a:t>
            </a:r>
            <a:r>
              <a:rPr sz="1300" spc="-10" dirty="0">
                <a:solidFill>
                  <a:srgbClr val="FFFFFF"/>
                </a:solidFill>
                <a:latin typeface="Roboto Lt"/>
                <a:cs typeface="Roboto Lt"/>
              </a:rPr>
              <a:t>or</a:t>
            </a:r>
            <a:r>
              <a:rPr sz="1300" spc="-30" dirty="0">
                <a:solidFill>
                  <a:srgbClr val="FFFFFF"/>
                </a:solidFill>
                <a:latin typeface="Roboto Lt"/>
                <a:cs typeface="Roboto Lt"/>
              </a:rPr>
              <a:t> </a:t>
            </a:r>
            <a:r>
              <a:rPr sz="1300" spc="-20" dirty="0">
                <a:solidFill>
                  <a:srgbClr val="FFFFFF"/>
                </a:solidFill>
                <a:latin typeface="Roboto Lt"/>
                <a:cs typeface="Roboto Lt"/>
              </a:rPr>
              <a:t>sticky</a:t>
            </a:r>
            <a:r>
              <a:rPr sz="1300" spc="-35" dirty="0">
                <a:solidFill>
                  <a:srgbClr val="FFFFFF"/>
                </a:solidFill>
                <a:latin typeface="Roboto Lt"/>
                <a:cs typeface="Roboto Lt"/>
              </a:rPr>
              <a:t> </a:t>
            </a:r>
            <a:r>
              <a:rPr sz="1300" spc="-15" dirty="0">
                <a:solidFill>
                  <a:srgbClr val="FFFFFF"/>
                </a:solidFill>
                <a:latin typeface="Roboto Lt"/>
                <a:cs typeface="Roboto Lt"/>
              </a:rPr>
              <a:t>notes</a:t>
            </a:r>
            <a:r>
              <a:rPr sz="1300" spc="-30" dirty="0">
                <a:solidFill>
                  <a:srgbClr val="FFFFFF"/>
                </a:solidFill>
                <a:latin typeface="Roboto Lt"/>
                <a:cs typeface="Roboto Lt"/>
              </a:rPr>
              <a:t> </a:t>
            </a:r>
            <a:r>
              <a:rPr sz="1300" spc="-10" dirty="0">
                <a:solidFill>
                  <a:srgbClr val="FFFFFF"/>
                </a:solidFill>
                <a:latin typeface="Roboto Lt"/>
                <a:cs typeface="Roboto Lt"/>
              </a:rPr>
              <a:t>on</a:t>
            </a:r>
            <a:r>
              <a:rPr sz="1300" spc="-35" dirty="0">
                <a:solidFill>
                  <a:srgbClr val="FFFFFF"/>
                </a:solidFill>
                <a:latin typeface="Roboto Lt"/>
                <a:cs typeface="Roboto Lt"/>
              </a:rPr>
              <a:t> </a:t>
            </a:r>
            <a:r>
              <a:rPr sz="1300" spc="-5" dirty="0">
                <a:solidFill>
                  <a:srgbClr val="FFFFFF"/>
                </a:solidFill>
                <a:latin typeface="Roboto Lt"/>
                <a:cs typeface="Roboto Lt"/>
              </a:rPr>
              <a:t>a</a:t>
            </a:r>
            <a:r>
              <a:rPr sz="1300" spc="-30" dirty="0">
                <a:solidFill>
                  <a:srgbClr val="FFFFFF"/>
                </a:solidFill>
                <a:latin typeface="Roboto Lt"/>
                <a:cs typeface="Roboto Lt"/>
              </a:rPr>
              <a:t> </a:t>
            </a:r>
            <a:r>
              <a:rPr sz="1300" spc="-20" dirty="0">
                <a:solidFill>
                  <a:srgbClr val="FFFFFF"/>
                </a:solidFill>
                <a:latin typeface="Roboto Lt"/>
                <a:cs typeface="Roboto Lt"/>
              </a:rPr>
              <a:t>whiteboard. </a:t>
            </a:r>
            <a:r>
              <a:rPr sz="1300" spc="-300" dirty="0">
                <a:solidFill>
                  <a:srgbClr val="FFFFFF"/>
                </a:solidFill>
                <a:latin typeface="Roboto Lt"/>
                <a:cs typeface="Roboto Lt"/>
              </a:rPr>
              <a:t> </a:t>
            </a:r>
            <a:r>
              <a:rPr sz="1300" spc="-15" dirty="0">
                <a:solidFill>
                  <a:srgbClr val="FFFFFF"/>
                </a:solidFill>
                <a:latin typeface="Roboto Lt"/>
                <a:cs typeface="Roboto Lt"/>
              </a:rPr>
              <a:t>However, in recent </a:t>
            </a:r>
            <a:r>
              <a:rPr sz="1300" spc="-20" dirty="0">
                <a:solidFill>
                  <a:srgbClr val="FFFFFF"/>
                </a:solidFill>
                <a:latin typeface="Roboto Lt"/>
                <a:cs typeface="Roboto Lt"/>
              </a:rPr>
              <a:t>years, </a:t>
            </a:r>
            <a:r>
              <a:rPr sz="1300" spc="-15" dirty="0">
                <a:solidFill>
                  <a:srgbClr val="FFFFFF"/>
                </a:solidFill>
                <a:latin typeface="Roboto Lt"/>
                <a:cs typeface="Roboto Lt"/>
              </a:rPr>
              <a:t>more </a:t>
            </a:r>
            <a:r>
              <a:rPr sz="1300" spc="-20" dirty="0">
                <a:solidFill>
                  <a:srgbClr val="FFFFFF"/>
                </a:solidFill>
                <a:latin typeface="Roboto Lt"/>
                <a:cs typeface="Roboto Lt"/>
              </a:rPr>
              <a:t>and </a:t>
            </a:r>
            <a:r>
              <a:rPr sz="1300" spc="-15" dirty="0">
                <a:solidFill>
                  <a:srgbClr val="FFFFFF"/>
                </a:solidFill>
                <a:latin typeface="Roboto Lt"/>
                <a:cs typeface="Roboto Lt"/>
              </a:rPr>
              <a:t> more project </a:t>
            </a:r>
            <a:r>
              <a:rPr sz="1300" spc="-20" dirty="0">
                <a:solidFill>
                  <a:srgbClr val="FFFFFF"/>
                </a:solidFill>
                <a:latin typeface="Roboto Lt"/>
                <a:cs typeface="Roboto Lt"/>
              </a:rPr>
              <a:t>management </a:t>
            </a:r>
            <a:r>
              <a:rPr sz="1300" spc="-15" dirty="0">
                <a:solidFill>
                  <a:srgbClr val="FFFFFF"/>
                </a:solidFill>
                <a:latin typeface="Roboto Lt"/>
                <a:cs typeface="Roboto Lt"/>
              </a:rPr>
              <a:t>software </a:t>
            </a:r>
            <a:r>
              <a:rPr sz="1300" spc="-10" dirty="0">
                <a:solidFill>
                  <a:srgbClr val="FFFFFF"/>
                </a:solidFill>
                <a:latin typeface="Roboto Lt"/>
                <a:cs typeface="Roboto Lt"/>
              </a:rPr>
              <a:t> </a:t>
            </a:r>
            <a:r>
              <a:rPr sz="1300" spc="-15" dirty="0">
                <a:solidFill>
                  <a:srgbClr val="FFFFFF"/>
                </a:solidFill>
                <a:latin typeface="Roboto Lt"/>
                <a:cs typeface="Roboto Lt"/>
              </a:rPr>
              <a:t>tools </a:t>
            </a:r>
            <a:r>
              <a:rPr sz="1300" spc="-20" dirty="0">
                <a:solidFill>
                  <a:srgbClr val="FFFFFF"/>
                </a:solidFill>
                <a:latin typeface="Roboto Lt"/>
                <a:cs typeface="Roboto Lt"/>
              </a:rPr>
              <a:t>have </a:t>
            </a:r>
            <a:r>
              <a:rPr sz="1300" spc="-15" dirty="0">
                <a:solidFill>
                  <a:srgbClr val="FFFFFF"/>
                </a:solidFill>
                <a:latin typeface="Roboto Lt"/>
                <a:cs typeface="Roboto Lt"/>
              </a:rPr>
              <a:t>created </a:t>
            </a:r>
            <a:r>
              <a:rPr sz="1300" spc="-20" dirty="0">
                <a:solidFill>
                  <a:srgbClr val="FFFFFF"/>
                </a:solidFill>
                <a:latin typeface="Roboto Lt"/>
                <a:cs typeface="Roboto Lt"/>
              </a:rPr>
              <a:t>online Kanban </a:t>
            </a:r>
            <a:r>
              <a:rPr sz="1300" spc="-15" dirty="0">
                <a:solidFill>
                  <a:srgbClr val="FFFFFF"/>
                </a:solidFill>
                <a:latin typeface="Roboto Lt"/>
                <a:cs typeface="Roboto Lt"/>
              </a:rPr>
              <a:t> </a:t>
            </a:r>
            <a:r>
              <a:rPr sz="1300" spc="-20" dirty="0">
                <a:solidFill>
                  <a:srgbClr val="FFFFFF"/>
                </a:solidFill>
                <a:latin typeface="Roboto Lt"/>
                <a:cs typeface="Roboto Lt"/>
              </a:rPr>
              <a:t>boards.</a:t>
            </a:r>
            <a:endParaRPr sz="1300">
              <a:latin typeface="Roboto Lt"/>
              <a:cs typeface="Roboto L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1920239"/>
          </a:xfrm>
          <a:custGeom>
            <a:avLst/>
            <a:gdLst/>
            <a:ahLst/>
            <a:cxnLst/>
            <a:rect l="l" t="t" r="r" b="b"/>
            <a:pathLst>
              <a:path w="9144000" h="1920239">
                <a:moveTo>
                  <a:pt x="9144000" y="0"/>
                </a:moveTo>
                <a:lnTo>
                  <a:pt x="0" y="0"/>
                </a:lnTo>
                <a:lnTo>
                  <a:pt x="0" y="1920074"/>
                </a:lnTo>
                <a:lnTo>
                  <a:pt x="9144000" y="1920074"/>
                </a:lnTo>
                <a:lnTo>
                  <a:pt x="9144000" y="0"/>
                </a:lnTo>
                <a:close/>
              </a:path>
            </a:pathLst>
          </a:custGeom>
          <a:solidFill>
            <a:srgbClr val="4F0093"/>
          </a:solidFill>
        </p:spPr>
        <p:txBody>
          <a:bodyPr wrap="square" lIns="0" tIns="0" rIns="0" bIns="0" rtlCol="0"/>
          <a:lstStyle/>
          <a:p>
            <a:endParaRPr/>
          </a:p>
        </p:txBody>
      </p:sp>
      <p:sp>
        <p:nvSpPr>
          <p:cNvPr id="3" name="object 3"/>
          <p:cNvSpPr txBox="1">
            <a:spLocks noGrp="1"/>
          </p:cNvSpPr>
          <p:nvPr>
            <p:ph type="title"/>
          </p:nvPr>
        </p:nvSpPr>
        <p:spPr>
          <a:xfrm>
            <a:off x="526368" y="411876"/>
            <a:ext cx="4935855" cy="711200"/>
          </a:xfrm>
          <a:prstGeom prst="rect">
            <a:avLst/>
          </a:prstGeom>
        </p:spPr>
        <p:txBody>
          <a:bodyPr vert="horz" wrap="square" lIns="0" tIns="12700" rIns="0" bIns="0" rtlCol="0">
            <a:spAutoFit/>
          </a:bodyPr>
          <a:lstStyle/>
          <a:p>
            <a:pPr marL="12700">
              <a:lnSpc>
                <a:spcPct val="100000"/>
              </a:lnSpc>
              <a:spcBef>
                <a:spcPts val="100"/>
              </a:spcBef>
            </a:pPr>
            <a:r>
              <a:rPr spc="-645" dirty="0"/>
              <a:t>C</a:t>
            </a:r>
            <a:r>
              <a:rPr spc="-150" dirty="0"/>
              <a:t>o</a:t>
            </a:r>
            <a:r>
              <a:rPr spc="100" dirty="0"/>
              <a:t>r</a:t>
            </a:r>
            <a:r>
              <a:rPr spc="275" dirty="0"/>
              <a:t>e</a:t>
            </a:r>
            <a:r>
              <a:rPr spc="-535" dirty="0"/>
              <a:t> </a:t>
            </a:r>
            <a:r>
              <a:rPr spc="-455" dirty="0"/>
              <a:t>P</a:t>
            </a:r>
            <a:r>
              <a:rPr spc="35" dirty="0"/>
              <a:t>r</a:t>
            </a:r>
            <a:r>
              <a:rPr spc="25" dirty="0"/>
              <a:t>a</a:t>
            </a:r>
            <a:r>
              <a:rPr spc="-290" dirty="0"/>
              <a:t>c</a:t>
            </a:r>
            <a:r>
              <a:rPr spc="350" dirty="0"/>
              <a:t>t</a:t>
            </a:r>
            <a:r>
              <a:rPr spc="-65" dirty="0"/>
              <a:t>i</a:t>
            </a:r>
            <a:r>
              <a:rPr spc="-360" dirty="0"/>
              <a:t>c</a:t>
            </a:r>
            <a:r>
              <a:rPr spc="-5" dirty="0"/>
              <a:t>e</a:t>
            </a:r>
            <a:r>
              <a:rPr spc="-105" dirty="0"/>
              <a:t>s</a:t>
            </a:r>
            <a:r>
              <a:rPr spc="-535" dirty="0"/>
              <a:t> </a:t>
            </a:r>
            <a:r>
              <a:rPr spc="40" dirty="0"/>
              <a:t>a</a:t>
            </a:r>
            <a:r>
              <a:rPr spc="5" dirty="0"/>
              <a:t>n</a:t>
            </a:r>
            <a:r>
              <a:rPr spc="145" dirty="0"/>
              <a:t>d</a:t>
            </a:r>
          </a:p>
        </p:txBody>
      </p:sp>
      <p:sp>
        <p:nvSpPr>
          <p:cNvPr id="4" name="object 4"/>
          <p:cNvSpPr txBox="1"/>
          <p:nvPr/>
        </p:nvSpPr>
        <p:spPr>
          <a:xfrm>
            <a:off x="526368" y="932576"/>
            <a:ext cx="5422265" cy="711200"/>
          </a:xfrm>
          <a:prstGeom prst="rect">
            <a:avLst/>
          </a:prstGeom>
        </p:spPr>
        <p:txBody>
          <a:bodyPr vert="horz" wrap="square" lIns="0" tIns="12700" rIns="0" bIns="0" rtlCol="0">
            <a:spAutoFit/>
          </a:bodyPr>
          <a:lstStyle/>
          <a:p>
            <a:pPr marL="12700">
              <a:lnSpc>
                <a:spcPct val="100000"/>
              </a:lnSpc>
              <a:spcBef>
                <a:spcPts val="100"/>
              </a:spcBef>
            </a:pPr>
            <a:r>
              <a:rPr sz="4500" b="1" spc="-455" dirty="0">
                <a:solidFill>
                  <a:srgbClr val="FFFFFF"/>
                </a:solidFill>
                <a:latin typeface="Arial"/>
                <a:cs typeface="Arial"/>
              </a:rPr>
              <a:t>P</a:t>
            </a:r>
            <a:r>
              <a:rPr sz="4500" b="1" spc="105" dirty="0">
                <a:solidFill>
                  <a:srgbClr val="FFFFFF"/>
                </a:solidFill>
                <a:latin typeface="Arial"/>
                <a:cs typeface="Arial"/>
              </a:rPr>
              <a:t>r</a:t>
            </a:r>
            <a:r>
              <a:rPr sz="4500" b="1" spc="-55" dirty="0">
                <a:solidFill>
                  <a:srgbClr val="FFFFFF"/>
                </a:solidFill>
                <a:latin typeface="Arial"/>
                <a:cs typeface="Arial"/>
              </a:rPr>
              <a:t>i</a:t>
            </a:r>
            <a:r>
              <a:rPr sz="4500" b="1" spc="-5" dirty="0">
                <a:solidFill>
                  <a:srgbClr val="FFFFFF"/>
                </a:solidFill>
                <a:latin typeface="Arial"/>
                <a:cs typeface="Arial"/>
              </a:rPr>
              <a:t>n</a:t>
            </a:r>
            <a:r>
              <a:rPr sz="4500" b="1" spc="-320" dirty="0">
                <a:solidFill>
                  <a:srgbClr val="FFFFFF"/>
                </a:solidFill>
                <a:latin typeface="Arial"/>
                <a:cs typeface="Arial"/>
              </a:rPr>
              <a:t>c</a:t>
            </a:r>
            <a:r>
              <a:rPr sz="4500" b="1" spc="-55" dirty="0">
                <a:solidFill>
                  <a:srgbClr val="FFFFFF"/>
                </a:solidFill>
                <a:latin typeface="Arial"/>
                <a:cs typeface="Arial"/>
              </a:rPr>
              <a:t>i</a:t>
            </a:r>
            <a:r>
              <a:rPr sz="4500" b="1" spc="-100" dirty="0">
                <a:solidFill>
                  <a:srgbClr val="FFFFFF"/>
                </a:solidFill>
                <a:latin typeface="Arial"/>
                <a:cs typeface="Arial"/>
              </a:rPr>
              <a:t>p</a:t>
            </a:r>
            <a:r>
              <a:rPr sz="4500" b="1" spc="-70" dirty="0">
                <a:solidFill>
                  <a:srgbClr val="FFFFFF"/>
                </a:solidFill>
                <a:latin typeface="Arial"/>
                <a:cs typeface="Arial"/>
              </a:rPr>
              <a:t>l</a:t>
            </a:r>
            <a:r>
              <a:rPr sz="4500" b="1" spc="-5" dirty="0">
                <a:solidFill>
                  <a:srgbClr val="FFFFFF"/>
                </a:solidFill>
                <a:latin typeface="Arial"/>
                <a:cs typeface="Arial"/>
              </a:rPr>
              <a:t>e</a:t>
            </a:r>
            <a:r>
              <a:rPr sz="4500" b="1" spc="-105" dirty="0">
                <a:solidFill>
                  <a:srgbClr val="FFFFFF"/>
                </a:solidFill>
                <a:latin typeface="Arial"/>
                <a:cs typeface="Arial"/>
              </a:rPr>
              <a:t>s</a:t>
            </a:r>
            <a:r>
              <a:rPr sz="4500" b="1" spc="-585" dirty="0">
                <a:solidFill>
                  <a:srgbClr val="FFFFFF"/>
                </a:solidFill>
                <a:latin typeface="Arial"/>
                <a:cs typeface="Arial"/>
              </a:rPr>
              <a:t> </a:t>
            </a:r>
            <a:r>
              <a:rPr sz="4500" b="1" spc="-160" dirty="0">
                <a:solidFill>
                  <a:srgbClr val="FFFFFF"/>
                </a:solidFill>
                <a:latin typeface="Arial"/>
                <a:cs typeface="Arial"/>
              </a:rPr>
              <a:t>o</a:t>
            </a:r>
            <a:r>
              <a:rPr sz="4500" b="1" spc="360" dirty="0">
                <a:solidFill>
                  <a:srgbClr val="FFFFFF"/>
                </a:solidFill>
                <a:latin typeface="Arial"/>
                <a:cs typeface="Arial"/>
              </a:rPr>
              <a:t>f</a:t>
            </a:r>
            <a:r>
              <a:rPr sz="4500" b="1" spc="-585" dirty="0">
                <a:solidFill>
                  <a:srgbClr val="FFFFFF"/>
                </a:solidFill>
                <a:latin typeface="Arial"/>
                <a:cs typeface="Arial"/>
              </a:rPr>
              <a:t> </a:t>
            </a:r>
            <a:r>
              <a:rPr sz="4500" b="1" spc="-125" dirty="0">
                <a:solidFill>
                  <a:srgbClr val="FFFFFF"/>
                </a:solidFill>
                <a:latin typeface="Arial"/>
                <a:cs typeface="Arial"/>
              </a:rPr>
              <a:t>Kan</a:t>
            </a:r>
            <a:r>
              <a:rPr sz="4500" b="1" spc="-140" dirty="0">
                <a:solidFill>
                  <a:srgbClr val="FFFFFF"/>
                </a:solidFill>
                <a:latin typeface="Arial"/>
                <a:cs typeface="Arial"/>
              </a:rPr>
              <a:t>b</a:t>
            </a:r>
            <a:r>
              <a:rPr sz="4500" b="1" spc="20" dirty="0">
                <a:solidFill>
                  <a:srgbClr val="FFFFFF"/>
                </a:solidFill>
                <a:latin typeface="Arial"/>
                <a:cs typeface="Arial"/>
              </a:rPr>
              <a:t>an</a:t>
            </a:r>
            <a:endParaRPr sz="4500">
              <a:latin typeface="Arial"/>
              <a:cs typeface="Arial"/>
            </a:endParaRPr>
          </a:p>
        </p:txBody>
      </p:sp>
      <p:sp>
        <p:nvSpPr>
          <p:cNvPr id="5" name="object 5"/>
          <p:cNvSpPr txBox="1"/>
          <p:nvPr/>
        </p:nvSpPr>
        <p:spPr>
          <a:xfrm>
            <a:off x="6350000" y="1173876"/>
            <a:ext cx="2007235" cy="388620"/>
          </a:xfrm>
          <a:prstGeom prst="rect">
            <a:avLst/>
          </a:prstGeom>
        </p:spPr>
        <p:txBody>
          <a:bodyPr vert="horz" wrap="square" lIns="0" tIns="45720" rIns="0" bIns="0" rtlCol="0">
            <a:spAutoFit/>
          </a:bodyPr>
          <a:lstStyle/>
          <a:p>
            <a:pPr marL="12700" marR="5080">
              <a:lnSpc>
                <a:spcPts val="1300"/>
              </a:lnSpc>
              <a:spcBef>
                <a:spcPts val="360"/>
              </a:spcBef>
            </a:pPr>
            <a:r>
              <a:rPr sz="1300" spc="-20" dirty="0">
                <a:solidFill>
                  <a:srgbClr val="FFFFFF"/>
                </a:solidFill>
                <a:latin typeface="Roboto Lt"/>
                <a:cs typeface="Roboto Lt"/>
              </a:rPr>
              <a:t>Every</a:t>
            </a:r>
            <a:r>
              <a:rPr sz="1300" spc="-50" dirty="0">
                <a:solidFill>
                  <a:srgbClr val="FFFFFF"/>
                </a:solidFill>
                <a:latin typeface="Roboto Lt"/>
                <a:cs typeface="Roboto Lt"/>
              </a:rPr>
              <a:t> </a:t>
            </a:r>
            <a:r>
              <a:rPr sz="1300" spc="-25" dirty="0">
                <a:solidFill>
                  <a:srgbClr val="FFFFFF"/>
                </a:solidFill>
                <a:latin typeface="Roboto Lt"/>
                <a:cs typeface="Roboto Lt"/>
              </a:rPr>
              <a:t>Kanban</a:t>
            </a:r>
            <a:r>
              <a:rPr sz="1300" spc="-50" dirty="0">
                <a:solidFill>
                  <a:srgbClr val="FFFFFF"/>
                </a:solidFill>
                <a:latin typeface="Roboto Lt"/>
                <a:cs typeface="Roboto Lt"/>
              </a:rPr>
              <a:t> </a:t>
            </a:r>
            <a:r>
              <a:rPr sz="1300" spc="-25" dirty="0">
                <a:solidFill>
                  <a:srgbClr val="FFFFFF"/>
                </a:solidFill>
                <a:latin typeface="Roboto Lt"/>
                <a:cs typeface="Roboto Lt"/>
              </a:rPr>
              <a:t>project</a:t>
            </a:r>
            <a:r>
              <a:rPr sz="1300" spc="-50" dirty="0">
                <a:solidFill>
                  <a:srgbClr val="FFFFFF"/>
                </a:solidFill>
                <a:latin typeface="Roboto Lt"/>
                <a:cs typeface="Roboto Lt"/>
              </a:rPr>
              <a:t> </a:t>
            </a:r>
            <a:r>
              <a:rPr sz="1300" spc="-35" dirty="0">
                <a:solidFill>
                  <a:srgbClr val="FFFFFF"/>
                </a:solidFill>
                <a:latin typeface="Roboto Lt"/>
                <a:cs typeface="Roboto Lt"/>
              </a:rPr>
              <a:t>should </a:t>
            </a:r>
            <a:r>
              <a:rPr sz="1300" spc="-300" dirty="0">
                <a:solidFill>
                  <a:srgbClr val="FFFFFF"/>
                </a:solidFill>
                <a:latin typeface="Roboto Lt"/>
                <a:cs typeface="Roboto Lt"/>
              </a:rPr>
              <a:t> </a:t>
            </a:r>
            <a:r>
              <a:rPr sz="1300" spc="-30" dirty="0">
                <a:solidFill>
                  <a:srgbClr val="FFFFFF"/>
                </a:solidFill>
                <a:latin typeface="Roboto Lt"/>
                <a:cs typeface="Roboto Lt"/>
              </a:rPr>
              <a:t>follow</a:t>
            </a:r>
            <a:r>
              <a:rPr sz="1300" spc="-45" dirty="0">
                <a:solidFill>
                  <a:srgbClr val="FFFFFF"/>
                </a:solidFill>
                <a:latin typeface="Roboto Lt"/>
                <a:cs typeface="Roboto Lt"/>
              </a:rPr>
              <a:t> </a:t>
            </a:r>
            <a:r>
              <a:rPr sz="1300" spc="-25" dirty="0">
                <a:solidFill>
                  <a:srgbClr val="FFFFFF"/>
                </a:solidFill>
                <a:latin typeface="Roboto Lt"/>
                <a:cs typeface="Roboto Lt"/>
              </a:rPr>
              <a:t>these</a:t>
            </a:r>
            <a:r>
              <a:rPr sz="1300" spc="-45" dirty="0">
                <a:solidFill>
                  <a:srgbClr val="FFFFFF"/>
                </a:solidFill>
                <a:latin typeface="Roboto Lt"/>
                <a:cs typeface="Roboto Lt"/>
              </a:rPr>
              <a:t> </a:t>
            </a:r>
            <a:r>
              <a:rPr sz="1300" spc="-20" dirty="0">
                <a:solidFill>
                  <a:srgbClr val="FFFFFF"/>
                </a:solidFill>
                <a:latin typeface="Roboto Lt"/>
                <a:cs typeface="Roboto Lt"/>
              </a:rPr>
              <a:t>core</a:t>
            </a:r>
            <a:r>
              <a:rPr sz="1300" spc="-45" dirty="0">
                <a:solidFill>
                  <a:srgbClr val="FFFFFF"/>
                </a:solidFill>
                <a:latin typeface="Roboto Lt"/>
                <a:cs typeface="Roboto Lt"/>
              </a:rPr>
              <a:t> </a:t>
            </a:r>
            <a:r>
              <a:rPr sz="1300" spc="-30" dirty="0">
                <a:solidFill>
                  <a:srgbClr val="FFFFFF"/>
                </a:solidFill>
                <a:latin typeface="Roboto Lt"/>
                <a:cs typeface="Roboto Lt"/>
              </a:rPr>
              <a:t>principles:</a:t>
            </a:r>
            <a:endParaRPr sz="1300">
              <a:latin typeface="Roboto Lt"/>
              <a:cs typeface="Roboto Lt"/>
            </a:endParaRPr>
          </a:p>
        </p:txBody>
      </p:sp>
      <p:grpSp>
        <p:nvGrpSpPr>
          <p:cNvPr id="6" name="object 6"/>
          <p:cNvGrpSpPr/>
          <p:nvPr/>
        </p:nvGrpSpPr>
        <p:grpSpPr>
          <a:xfrm>
            <a:off x="419100" y="1920074"/>
            <a:ext cx="8305800" cy="3452495"/>
            <a:chOff x="419100" y="1920074"/>
            <a:chExt cx="8305800" cy="3452495"/>
          </a:xfrm>
        </p:grpSpPr>
        <p:sp>
          <p:nvSpPr>
            <p:cNvPr id="7" name="object 7"/>
            <p:cNvSpPr/>
            <p:nvPr/>
          </p:nvSpPr>
          <p:spPr>
            <a:xfrm>
              <a:off x="3742664" y="1920074"/>
              <a:ext cx="1661795" cy="3452495"/>
            </a:xfrm>
            <a:custGeom>
              <a:avLst/>
              <a:gdLst/>
              <a:ahLst/>
              <a:cxnLst/>
              <a:rect l="l" t="t" r="r" b="b"/>
              <a:pathLst>
                <a:path w="1661795" h="3452495">
                  <a:moveTo>
                    <a:pt x="1661782" y="0"/>
                  </a:moveTo>
                  <a:lnTo>
                    <a:pt x="0" y="0"/>
                  </a:lnTo>
                  <a:lnTo>
                    <a:pt x="0" y="3452025"/>
                  </a:lnTo>
                  <a:lnTo>
                    <a:pt x="1661782" y="3452025"/>
                  </a:lnTo>
                  <a:lnTo>
                    <a:pt x="1661782" y="0"/>
                  </a:lnTo>
                  <a:close/>
                </a:path>
              </a:pathLst>
            </a:custGeom>
            <a:solidFill>
              <a:srgbClr val="E4D8EE"/>
            </a:solidFill>
          </p:spPr>
          <p:txBody>
            <a:bodyPr wrap="square" lIns="0" tIns="0" rIns="0" bIns="0" rtlCol="0"/>
            <a:lstStyle/>
            <a:p>
              <a:endParaRPr/>
            </a:p>
          </p:txBody>
        </p:sp>
        <p:sp>
          <p:nvSpPr>
            <p:cNvPr id="8" name="object 8"/>
            <p:cNvSpPr/>
            <p:nvPr/>
          </p:nvSpPr>
          <p:spPr>
            <a:xfrm>
              <a:off x="5401335" y="1920074"/>
              <a:ext cx="1661795" cy="3452495"/>
            </a:xfrm>
            <a:custGeom>
              <a:avLst/>
              <a:gdLst/>
              <a:ahLst/>
              <a:cxnLst/>
              <a:rect l="l" t="t" r="r" b="b"/>
              <a:pathLst>
                <a:path w="1661795" h="3452495">
                  <a:moveTo>
                    <a:pt x="1661782" y="0"/>
                  </a:moveTo>
                  <a:lnTo>
                    <a:pt x="0" y="0"/>
                  </a:lnTo>
                  <a:lnTo>
                    <a:pt x="0" y="3452025"/>
                  </a:lnTo>
                  <a:lnTo>
                    <a:pt x="1661782" y="3452025"/>
                  </a:lnTo>
                  <a:lnTo>
                    <a:pt x="1661782" y="0"/>
                  </a:lnTo>
                  <a:close/>
                </a:path>
              </a:pathLst>
            </a:custGeom>
            <a:solidFill>
              <a:srgbClr val="DBCCE9"/>
            </a:solidFill>
          </p:spPr>
          <p:txBody>
            <a:bodyPr wrap="square" lIns="0" tIns="0" rIns="0" bIns="0" rtlCol="0"/>
            <a:lstStyle/>
            <a:p>
              <a:endParaRPr/>
            </a:p>
          </p:txBody>
        </p:sp>
        <p:sp>
          <p:nvSpPr>
            <p:cNvPr id="9" name="object 9"/>
            <p:cNvSpPr/>
            <p:nvPr/>
          </p:nvSpPr>
          <p:spPr>
            <a:xfrm>
              <a:off x="7063117" y="1920074"/>
              <a:ext cx="1661795" cy="3452495"/>
            </a:xfrm>
            <a:custGeom>
              <a:avLst/>
              <a:gdLst/>
              <a:ahLst/>
              <a:cxnLst/>
              <a:rect l="l" t="t" r="r" b="b"/>
              <a:pathLst>
                <a:path w="1661795" h="3452495">
                  <a:moveTo>
                    <a:pt x="1661782" y="0"/>
                  </a:moveTo>
                  <a:lnTo>
                    <a:pt x="0" y="0"/>
                  </a:lnTo>
                  <a:lnTo>
                    <a:pt x="0" y="3452025"/>
                  </a:lnTo>
                  <a:lnTo>
                    <a:pt x="1661782" y="3452025"/>
                  </a:lnTo>
                  <a:lnTo>
                    <a:pt x="1661782" y="0"/>
                  </a:lnTo>
                  <a:close/>
                </a:path>
              </a:pathLst>
            </a:custGeom>
            <a:solidFill>
              <a:srgbClr val="D3BFE4"/>
            </a:solidFill>
          </p:spPr>
          <p:txBody>
            <a:bodyPr wrap="square" lIns="0" tIns="0" rIns="0" bIns="0" rtlCol="0"/>
            <a:lstStyle/>
            <a:p>
              <a:endParaRPr/>
            </a:p>
          </p:txBody>
        </p:sp>
        <p:sp>
          <p:nvSpPr>
            <p:cNvPr id="10" name="object 10"/>
            <p:cNvSpPr/>
            <p:nvPr/>
          </p:nvSpPr>
          <p:spPr>
            <a:xfrm>
              <a:off x="419100" y="1920074"/>
              <a:ext cx="1661795" cy="3452495"/>
            </a:xfrm>
            <a:custGeom>
              <a:avLst/>
              <a:gdLst/>
              <a:ahLst/>
              <a:cxnLst/>
              <a:rect l="l" t="t" r="r" b="b"/>
              <a:pathLst>
                <a:path w="1661795" h="3452495">
                  <a:moveTo>
                    <a:pt x="1661782" y="0"/>
                  </a:moveTo>
                  <a:lnTo>
                    <a:pt x="0" y="0"/>
                  </a:lnTo>
                  <a:lnTo>
                    <a:pt x="0" y="3452025"/>
                  </a:lnTo>
                  <a:lnTo>
                    <a:pt x="1661782" y="3452025"/>
                  </a:lnTo>
                  <a:lnTo>
                    <a:pt x="1661782" y="0"/>
                  </a:lnTo>
                  <a:close/>
                </a:path>
              </a:pathLst>
            </a:custGeom>
            <a:solidFill>
              <a:srgbClr val="F6F2F9"/>
            </a:solidFill>
          </p:spPr>
          <p:txBody>
            <a:bodyPr wrap="square" lIns="0" tIns="0" rIns="0" bIns="0" rtlCol="0"/>
            <a:lstStyle/>
            <a:p>
              <a:endParaRPr/>
            </a:p>
          </p:txBody>
        </p:sp>
        <p:sp>
          <p:nvSpPr>
            <p:cNvPr id="11" name="object 11"/>
            <p:cNvSpPr/>
            <p:nvPr/>
          </p:nvSpPr>
          <p:spPr>
            <a:xfrm>
              <a:off x="2080882" y="1920074"/>
              <a:ext cx="1661795" cy="3452495"/>
            </a:xfrm>
            <a:custGeom>
              <a:avLst/>
              <a:gdLst/>
              <a:ahLst/>
              <a:cxnLst/>
              <a:rect l="l" t="t" r="r" b="b"/>
              <a:pathLst>
                <a:path w="1661795" h="3452495">
                  <a:moveTo>
                    <a:pt x="1661782" y="0"/>
                  </a:moveTo>
                  <a:lnTo>
                    <a:pt x="0" y="0"/>
                  </a:lnTo>
                  <a:lnTo>
                    <a:pt x="0" y="3452025"/>
                  </a:lnTo>
                  <a:lnTo>
                    <a:pt x="1661782" y="3452025"/>
                  </a:lnTo>
                  <a:lnTo>
                    <a:pt x="1661782" y="0"/>
                  </a:lnTo>
                  <a:close/>
                </a:path>
              </a:pathLst>
            </a:custGeom>
            <a:solidFill>
              <a:srgbClr val="EDE5F4"/>
            </a:solidFill>
          </p:spPr>
          <p:txBody>
            <a:bodyPr wrap="square" lIns="0" tIns="0" rIns="0" bIns="0" rtlCol="0"/>
            <a:lstStyle/>
            <a:p>
              <a:endParaRPr/>
            </a:p>
          </p:txBody>
        </p:sp>
      </p:grpSp>
      <p:sp>
        <p:nvSpPr>
          <p:cNvPr id="12" name="object 12"/>
          <p:cNvSpPr txBox="1"/>
          <p:nvPr/>
        </p:nvSpPr>
        <p:spPr>
          <a:xfrm>
            <a:off x="611535" y="2912181"/>
            <a:ext cx="1271905" cy="1905000"/>
          </a:xfrm>
          <a:prstGeom prst="rect">
            <a:avLst/>
          </a:prstGeom>
        </p:spPr>
        <p:txBody>
          <a:bodyPr vert="horz" wrap="square" lIns="0" tIns="29209" rIns="0" bIns="0" rtlCol="0">
            <a:spAutoFit/>
          </a:bodyPr>
          <a:lstStyle/>
          <a:p>
            <a:pPr marL="12700" marR="26034">
              <a:lnSpc>
                <a:spcPts val="1800"/>
              </a:lnSpc>
              <a:spcBef>
                <a:spcPts val="229"/>
              </a:spcBef>
            </a:pPr>
            <a:r>
              <a:rPr sz="1550" b="1" spc="10" dirty="0">
                <a:solidFill>
                  <a:srgbClr val="333333"/>
                </a:solidFill>
                <a:latin typeface="Arial"/>
                <a:cs typeface="Arial"/>
              </a:rPr>
              <a:t>V</a:t>
            </a:r>
            <a:r>
              <a:rPr sz="1550" b="1" spc="-55" dirty="0">
                <a:solidFill>
                  <a:srgbClr val="333333"/>
                </a:solidFill>
                <a:latin typeface="Arial"/>
                <a:cs typeface="Arial"/>
              </a:rPr>
              <a:t>i</a:t>
            </a:r>
            <a:r>
              <a:rPr sz="1550" b="1" spc="-30" dirty="0">
                <a:solidFill>
                  <a:srgbClr val="333333"/>
                </a:solidFill>
                <a:latin typeface="Arial"/>
                <a:cs typeface="Arial"/>
              </a:rPr>
              <a:t>s</a:t>
            </a:r>
            <a:r>
              <a:rPr sz="1550" b="1" spc="45" dirty="0">
                <a:solidFill>
                  <a:srgbClr val="333333"/>
                </a:solidFill>
                <a:latin typeface="Arial"/>
                <a:cs typeface="Arial"/>
              </a:rPr>
              <a:t>ua</a:t>
            </a:r>
            <a:r>
              <a:rPr sz="1550" b="1" spc="10" dirty="0">
                <a:solidFill>
                  <a:srgbClr val="333333"/>
                </a:solidFill>
                <a:latin typeface="Arial"/>
                <a:cs typeface="Arial"/>
              </a:rPr>
              <a:t>l</a:t>
            </a:r>
            <a:r>
              <a:rPr sz="1550" b="1" spc="25" dirty="0">
                <a:solidFill>
                  <a:srgbClr val="333333"/>
                </a:solidFill>
                <a:latin typeface="Arial"/>
                <a:cs typeface="Arial"/>
              </a:rPr>
              <a:t>i</a:t>
            </a:r>
            <a:r>
              <a:rPr sz="1550" b="1" spc="-45" dirty="0">
                <a:solidFill>
                  <a:srgbClr val="333333"/>
                </a:solidFill>
                <a:latin typeface="Arial"/>
                <a:cs typeface="Arial"/>
              </a:rPr>
              <a:t>z</a:t>
            </a:r>
            <a:r>
              <a:rPr sz="1550" b="1" spc="110" dirty="0">
                <a:solidFill>
                  <a:srgbClr val="333333"/>
                </a:solidFill>
                <a:latin typeface="Arial"/>
                <a:cs typeface="Arial"/>
              </a:rPr>
              <a:t>e</a:t>
            </a:r>
            <a:r>
              <a:rPr sz="1550" b="1" spc="-150" dirty="0">
                <a:solidFill>
                  <a:srgbClr val="333333"/>
                </a:solidFill>
                <a:latin typeface="Arial"/>
                <a:cs typeface="Arial"/>
              </a:rPr>
              <a:t> </a:t>
            </a:r>
            <a:r>
              <a:rPr sz="1550" b="1" spc="155" dirty="0">
                <a:solidFill>
                  <a:srgbClr val="333333"/>
                </a:solidFill>
                <a:latin typeface="Arial"/>
                <a:cs typeface="Arial"/>
              </a:rPr>
              <a:t>t</a:t>
            </a:r>
            <a:r>
              <a:rPr sz="1550" b="1" spc="10" dirty="0">
                <a:solidFill>
                  <a:srgbClr val="333333"/>
                </a:solidFill>
                <a:latin typeface="Arial"/>
                <a:cs typeface="Arial"/>
              </a:rPr>
              <a:t>he  </a:t>
            </a:r>
            <a:r>
              <a:rPr sz="1550" b="1" spc="70" dirty="0">
                <a:solidFill>
                  <a:srgbClr val="333333"/>
                </a:solidFill>
                <a:latin typeface="Arial"/>
                <a:cs typeface="Arial"/>
              </a:rPr>
              <a:t>workflow</a:t>
            </a:r>
            <a:endParaRPr sz="1550">
              <a:latin typeface="Arial"/>
              <a:cs typeface="Arial"/>
            </a:endParaRPr>
          </a:p>
          <a:p>
            <a:pPr marL="12700" marR="5080">
              <a:lnSpc>
                <a:spcPct val="111100"/>
              </a:lnSpc>
              <a:spcBef>
                <a:spcPts val="265"/>
              </a:spcBef>
            </a:pPr>
            <a:r>
              <a:rPr sz="900" spc="10" dirty="0">
                <a:solidFill>
                  <a:srgbClr val="333333"/>
                </a:solidFill>
                <a:latin typeface="Roboto Lt"/>
                <a:cs typeface="Roboto Lt"/>
              </a:rPr>
              <a:t>A</a:t>
            </a:r>
            <a:r>
              <a:rPr sz="900" spc="-20" dirty="0">
                <a:solidFill>
                  <a:srgbClr val="333333"/>
                </a:solidFill>
                <a:latin typeface="Roboto Lt"/>
                <a:cs typeface="Roboto Lt"/>
              </a:rPr>
              <a:t> </a:t>
            </a:r>
            <a:r>
              <a:rPr sz="900" spc="-15" dirty="0">
                <a:solidFill>
                  <a:srgbClr val="333333"/>
                </a:solidFill>
                <a:latin typeface="Roboto Lt"/>
                <a:cs typeface="Roboto Lt"/>
              </a:rPr>
              <a:t>v</a:t>
            </a:r>
            <a:r>
              <a:rPr sz="900" spc="-20" dirty="0">
                <a:solidFill>
                  <a:srgbClr val="333333"/>
                </a:solidFill>
                <a:latin typeface="Roboto Lt"/>
                <a:cs typeface="Roboto Lt"/>
              </a:rPr>
              <a:t>i</a:t>
            </a:r>
            <a:r>
              <a:rPr sz="900" spc="-15" dirty="0">
                <a:solidFill>
                  <a:srgbClr val="333333"/>
                </a:solidFill>
                <a:latin typeface="Roboto Lt"/>
                <a:cs typeface="Roboto Lt"/>
              </a:rPr>
              <a:t>sua</a:t>
            </a:r>
            <a:r>
              <a:rPr sz="900" spc="-5" dirty="0">
                <a:solidFill>
                  <a:srgbClr val="333333"/>
                </a:solidFill>
                <a:latin typeface="Roboto Lt"/>
                <a:cs typeface="Roboto Lt"/>
              </a:rPr>
              <a:t>l</a:t>
            </a:r>
            <a:r>
              <a:rPr sz="900" spc="-20" dirty="0">
                <a:solidFill>
                  <a:srgbClr val="333333"/>
                </a:solidFill>
                <a:latin typeface="Roboto Lt"/>
                <a:cs typeface="Roboto Lt"/>
              </a:rPr>
              <a:t> r</a:t>
            </a:r>
            <a:r>
              <a:rPr sz="900" dirty="0">
                <a:solidFill>
                  <a:srgbClr val="333333"/>
                </a:solidFill>
                <a:latin typeface="Roboto Lt"/>
                <a:cs typeface="Roboto Lt"/>
              </a:rPr>
              <a:t>e</a:t>
            </a:r>
            <a:r>
              <a:rPr sz="900" spc="-10" dirty="0">
                <a:solidFill>
                  <a:srgbClr val="333333"/>
                </a:solidFill>
                <a:latin typeface="Roboto Lt"/>
                <a:cs typeface="Roboto Lt"/>
              </a:rPr>
              <a:t>p</a:t>
            </a:r>
            <a:r>
              <a:rPr sz="900" spc="-20" dirty="0">
                <a:solidFill>
                  <a:srgbClr val="333333"/>
                </a:solidFill>
                <a:latin typeface="Roboto Lt"/>
                <a:cs typeface="Roboto Lt"/>
              </a:rPr>
              <a:t>r</a:t>
            </a:r>
            <a:r>
              <a:rPr sz="900" spc="-5" dirty="0">
                <a:solidFill>
                  <a:srgbClr val="333333"/>
                </a:solidFill>
                <a:latin typeface="Roboto Lt"/>
                <a:cs typeface="Roboto Lt"/>
              </a:rPr>
              <a:t>e</a:t>
            </a:r>
            <a:r>
              <a:rPr sz="900" spc="-15" dirty="0">
                <a:solidFill>
                  <a:srgbClr val="333333"/>
                </a:solidFill>
                <a:latin typeface="Roboto Lt"/>
                <a:cs typeface="Roboto Lt"/>
              </a:rPr>
              <a:t>s</a:t>
            </a:r>
            <a:r>
              <a:rPr sz="900" dirty="0">
                <a:solidFill>
                  <a:srgbClr val="333333"/>
                </a:solidFill>
                <a:latin typeface="Roboto Lt"/>
                <a:cs typeface="Roboto Lt"/>
              </a:rPr>
              <a:t>e</a:t>
            </a:r>
            <a:r>
              <a:rPr sz="900" spc="-20" dirty="0">
                <a:solidFill>
                  <a:srgbClr val="333333"/>
                </a:solidFill>
                <a:latin typeface="Roboto Lt"/>
                <a:cs typeface="Roboto Lt"/>
              </a:rPr>
              <a:t>n</a:t>
            </a:r>
            <a:r>
              <a:rPr sz="900" spc="-15" dirty="0">
                <a:solidFill>
                  <a:srgbClr val="333333"/>
                </a:solidFill>
                <a:latin typeface="Roboto Lt"/>
                <a:cs typeface="Roboto Lt"/>
              </a:rPr>
              <a:t>t</a:t>
            </a:r>
            <a:r>
              <a:rPr sz="900" spc="-20" dirty="0">
                <a:solidFill>
                  <a:srgbClr val="333333"/>
                </a:solidFill>
                <a:latin typeface="Roboto Lt"/>
                <a:cs typeface="Roboto Lt"/>
              </a:rPr>
              <a:t>at</a:t>
            </a:r>
            <a:r>
              <a:rPr sz="900" spc="-10" dirty="0">
                <a:solidFill>
                  <a:srgbClr val="333333"/>
                </a:solidFill>
                <a:latin typeface="Roboto Lt"/>
                <a:cs typeface="Roboto Lt"/>
              </a:rPr>
              <a:t>i</a:t>
            </a:r>
            <a:r>
              <a:rPr sz="900" spc="-5" dirty="0">
                <a:solidFill>
                  <a:srgbClr val="333333"/>
                </a:solidFill>
                <a:latin typeface="Roboto Lt"/>
                <a:cs typeface="Roboto Lt"/>
              </a:rPr>
              <a:t>o</a:t>
            </a:r>
            <a:r>
              <a:rPr sz="900" spc="-10" dirty="0">
                <a:solidFill>
                  <a:srgbClr val="333333"/>
                </a:solidFill>
                <a:latin typeface="Roboto Lt"/>
                <a:cs typeface="Roboto Lt"/>
              </a:rPr>
              <a:t>n</a:t>
            </a:r>
            <a:r>
              <a:rPr sz="900" spc="-20" dirty="0">
                <a:solidFill>
                  <a:srgbClr val="333333"/>
                </a:solidFill>
                <a:latin typeface="Roboto Lt"/>
                <a:cs typeface="Roboto Lt"/>
              </a:rPr>
              <a:t> o</a:t>
            </a:r>
            <a:r>
              <a:rPr sz="900" spc="5" dirty="0">
                <a:solidFill>
                  <a:srgbClr val="333333"/>
                </a:solidFill>
                <a:latin typeface="Roboto Lt"/>
                <a:cs typeface="Roboto Lt"/>
              </a:rPr>
              <a:t>f  </a:t>
            </a:r>
            <a:r>
              <a:rPr sz="900" spc="-15" dirty="0">
                <a:solidFill>
                  <a:srgbClr val="333333"/>
                </a:solidFill>
                <a:latin typeface="Roboto Lt"/>
                <a:cs typeface="Roboto Lt"/>
              </a:rPr>
              <a:t>your </a:t>
            </a:r>
            <a:r>
              <a:rPr sz="900" spc="-10" dirty="0">
                <a:solidFill>
                  <a:srgbClr val="333333"/>
                </a:solidFill>
                <a:latin typeface="Roboto Lt"/>
                <a:cs typeface="Roboto Lt"/>
              </a:rPr>
              <a:t>work </a:t>
            </a:r>
            <a:r>
              <a:rPr sz="900" spc="-15" dirty="0">
                <a:solidFill>
                  <a:srgbClr val="333333"/>
                </a:solidFill>
                <a:latin typeface="Roboto Lt"/>
                <a:cs typeface="Roboto Lt"/>
              </a:rPr>
              <a:t>allows you to </a:t>
            </a:r>
            <a:r>
              <a:rPr sz="900" spc="-10" dirty="0">
                <a:solidFill>
                  <a:srgbClr val="333333"/>
                </a:solidFill>
                <a:latin typeface="Roboto Lt"/>
                <a:cs typeface="Roboto Lt"/>
              </a:rPr>
              <a:t> understand the big </a:t>
            </a:r>
            <a:r>
              <a:rPr sz="900" spc="-5" dirty="0">
                <a:solidFill>
                  <a:srgbClr val="333333"/>
                </a:solidFill>
                <a:latin typeface="Roboto Lt"/>
                <a:cs typeface="Roboto Lt"/>
              </a:rPr>
              <a:t> </a:t>
            </a:r>
            <a:r>
              <a:rPr sz="900" spc="-10" dirty="0">
                <a:solidFill>
                  <a:srgbClr val="333333"/>
                </a:solidFill>
                <a:latin typeface="Roboto Lt"/>
                <a:cs typeface="Roboto Lt"/>
              </a:rPr>
              <a:t>picture and </a:t>
            </a:r>
            <a:r>
              <a:rPr sz="900" spc="-5" dirty="0">
                <a:solidFill>
                  <a:srgbClr val="333333"/>
                </a:solidFill>
                <a:latin typeface="Roboto Lt"/>
                <a:cs typeface="Roboto Lt"/>
              </a:rPr>
              <a:t>see </a:t>
            </a:r>
            <a:r>
              <a:rPr sz="900" spc="-10" dirty="0">
                <a:solidFill>
                  <a:srgbClr val="333333"/>
                </a:solidFill>
                <a:latin typeface="Roboto Lt"/>
                <a:cs typeface="Roboto Lt"/>
              </a:rPr>
              <a:t>how the </a:t>
            </a:r>
            <a:r>
              <a:rPr sz="900" spc="-5" dirty="0">
                <a:solidFill>
                  <a:srgbClr val="333333"/>
                </a:solidFill>
                <a:latin typeface="Roboto Lt"/>
                <a:cs typeface="Roboto Lt"/>
              </a:rPr>
              <a:t> flow of </a:t>
            </a:r>
            <a:r>
              <a:rPr sz="900" spc="-10" dirty="0">
                <a:solidFill>
                  <a:srgbClr val="333333"/>
                </a:solidFill>
                <a:latin typeface="Roboto Lt"/>
                <a:cs typeface="Roboto Lt"/>
              </a:rPr>
              <a:t>work progresses. </a:t>
            </a:r>
            <a:r>
              <a:rPr sz="900" spc="-5" dirty="0">
                <a:solidFill>
                  <a:srgbClr val="333333"/>
                </a:solidFill>
                <a:latin typeface="Roboto Lt"/>
                <a:cs typeface="Roboto Lt"/>
              </a:rPr>
              <a:t> </a:t>
            </a:r>
            <a:r>
              <a:rPr sz="900" spc="-10" dirty="0">
                <a:solidFill>
                  <a:srgbClr val="333333"/>
                </a:solidFill>
                <a:latin typeface="Roboto Lt"/>
                <a:cs typeface="Roboto Lt"/>
              </a:rPr>
              <a:t>By making </a:t>
            </a:r>
            <a:r>
              <a:rPr sz="900" spc="-15" dirty="0">
                <a:solidFill>
                  <a:srgbClr val="333333"/>
                </a:solidFill>
                <a:latin typeface="Roboto Lt"/>
                <a:cs typeface="Roboto Lt"/>
              </a:rPr>
              <a:t>all </a:t>
            </a:r>
            <a:r>
              <a:rPr sz="900" spc="-10" dirty="0">
                <a:solidFill>
                  <a:srgbClr val="333333"/>
                </a:solidFill>
                <a:latin typeface="Roboto Lt"/>
                <a:cs typeface="Roboto Lt"/>
              </a:rPr>
              <a:t>the work </a:t>
            </a:r>
            <a:r>
              <a:rPr sz="900" spc="-5" dirty="0">
                <a:solidFill>
                  <a:srgbClr val="333333"/>
                </a:solidFill>
                <a:latin typeface="Roboto Lt"/>
                <a:cs typeface="Roboto Lt"/>
              </a:rPr>
              <a:t> </a:t>
            </a:r>
            <a:r>
              <a:rPr sz="900" spc="-10" dirty="0">
                <a:solidFill>
                  <a:srgbClr val="333333"/>
                </a:solidFill>
                <a:latin typeface="Roboto Lt"/>
                <a:cs typeface="Roboto Lt"/>
              </a:rPr>
              <a:t>visible </a:t>
            </a:r>
            <a:r>
              <a:rPr sz="900" spc="-15" dirty="0">
                <a:solidFill>
                  <a:srgbClr val="333333"/>
                </a:solidFill>
                <a:latin typeface="Roboto Lt"/>
                <a:cs typeface="Roboto Lt"/>
              </a:rPr>
              <a:t>you </a:t>
            </a:r>
            <a:r>
              <a:rPr sz="900" spc="-10" dirty="0">
                <a:solidFill>
                  <a:srgbClr val="333333"/>
                </a:solidFill>
                <a:latin typeface="Roboto Lt"/>
                <a:cs typeface="Roboto Lt"/>
              </a:rPr>
              <a:t>can identify </a:t>
            </a:r>
            <a:r>
              <a:rPr sz="900" spc="-5" dirty="0">
                <a:solidFill>
                  <a:srgbClr val="333333"/>
                </a:solidFill>
                <a:latin typeface="Roboto Lt"/>
                <a:cs typeface="Roboto Lt"/>
              </a:rPr>
              <a:t> </a:t>
            </a:r>
            <a:r>
              <a:rPr sz="900" spc="-10" dirty="0">
                <a:solidFill>
                  <a:srgbClr val="333333"/>
                </a:solidFill>
                <a:latin typeface="Roboto Lt"/>
                <a:cs typeface="Roboto Lt"/>
              </a:rPr>
              <a:t>issues early </a:t>
            </a:r>
            <a:r>
              <a:rPr sz="900" spc="-5" dirty="0">
                <a:solidFill>
                  <a:srgbClr val="333333"/>
                </a:solidFill>
                <a:latin typeface="Roboto Lt"/>
                <a:cs typeface="Roboto Lt"/>
              </a:rPr>
              <a:t>on </a:t>
            </a:r>
            <a:r>
              <a:rPr sz="900" spc="-10" dirty="0">
                <a:solidFill>
                  <a:srgbClr val="333333"/>
                </a:solidFill>
                <a:latin typeface="Roboto Lt"/>
                <a:cs typeface="Roboto Lt"/>
              </a:rPr>
              <a:t>and </a:t>
            </a:r>
            <a:r>
              <a:rPr sz="900" spc="-5" dirty="0">
                <a:solidFill>
                  <a:srgbClr val="333333"/>
                </a:solidFill>
                <a:latin typeface="Roboto Lt"/>
                <a:cs typeface="Roboto Lt"/>
              </a:rPr>
              <a:t> </a:t>
            </a:r>
            <a:r>
              <a:rPr sz="900" spc="-15" dirty="0">
                <a:solidFill>
                  <a:srgbClr val="333333"/>
                </a:solidFill>
                <a:latin typeface="Roboto Lt"/>
                <a:cs typeface="Roboto Lt"/>
              </a:rPr>
              <a:t>improve</a:t>
            </a:r>
            <a:r>
              <a:rPr sz="900" spc="-25" dirty="0">
                <a:solidFill>
                  <a:srgbClr val="333333"/>
                </a:solidFill>
                <a:latin typeface="Roboto Lt"/>
                <a:cs typeface="Roboto Lt"/>
              </a:rPr>
              <a:t> </a:t>
            </a:r>
            <a:r>
              <a:rPr sz="900" spc="-10" dirty="0">
                <a:solidFill>
                  <a:srgbClr val="333333"/>
                </a:solidFill>
                <a:latin typeface="Roboto Lt"/>
                <a:cs typeface="Roboto Lt"/>
              </a:rPr>
              <a:t>collaboration.</a:t>
            </a:r>
            <a:endParaRPr sz="900">
              <a:latin typeface="Roboto Lt"/>
              <a:cs typeface="Roboto Lt"/>
            </a:endParaRPr>
          </a:p>
        </p:txBody>
      </p:sp>
      <p:sp>
        <p:nvSpPr>
          <p:cNvPr id="13" name="object 13"/>
          <p:cNvSpPr txBox="1"/>
          <p:nvPr/>
        </p:nvSpPr>
        <p:spPr>
          <a:xfrm>
            <a:off x="2264073" y="2912181"/>
            <a:ext cx="1295400" cy="2247900"/>
          </a:xfrm>
          <a:prstGeom prst="rect">
            <a:avLst/>
          </a:prstGeom>
        </p:spPr>
        <p:txBody>
          <a:bodyPr vert="horz" wrap="square" lIns="0" tIns="41910" rIns="0" bIns="0" rtlCol="0">
            <a:spAutoFit/>
          </a:bodyPr>
          <a:lstStyle/>
          <a:p>
            <a:pPr marL="12700" marR="203200" algn="just">
              <a:lnSpc>
                <a:spcPct val="88700"/>
              </a:lnSpc>
              <a:spcBef>
                <a:spcPts val="330"/>
              </a:spcBef>
            </a:pPr>
            <a:r>
              <a:rPr sz="1550" b="1" spc="-110" dirty="0">
                <a:solidFill>
                  <a:srgbClr val="333333"/>
                </a:solidFill>
                <a:latin typeface="Arial"/>
                <a:cs typeface="Arial"/>
              </a:rPr>
              <a:t>L</a:t>
            </a:r>
            <a:r>
              <a:rPr sz="1550" b="1" spc="15" dirty="0">
                <a:solidFill>
                  <a:srgbClr val="333333"/>
                </a:solidFill>
                <a:latin typeface="Arial"/>
                <a:cs typeface="Arial"/>
              </a:rPr>
              <a:t>i</a:t>
            </a:r>
            <a:r>
              <a:rPr sz="1550" b="1" spc="145" dirty="0">
                <a:solidFill>
                  <a:srgbClr val="333333"/>
                </a:solidFill>
                <a:latin typeface="Arial"/>
                <a:cs typeface="Arial"/>
              </a:rPr>
              <a:t>m</a:t>
            </a:r>
            <a:r>
              <a:rPr sz="1550" b="1" spc="-5" dirty="0">
                <a:solidFill>
                  <a:srgbClr val="333333"/>
                </a:solidFill>
                <a:latin typeface="Arial"/>
                <a:cs typeface="Arial"/>
              </a:rPr>
              <a:t>i</a:t>
            </a:r>
            <a:r>
              <a:rPr sz="1550" b="1" spc="204" dirty="0">
                <a:solidFill>
                  <a:srgbClr val="333333"/>
                </a:solidFill>
                <a:latin typeface="Arial"/>
                <a:cs typeface="Arial"/>
              </a:rPr>
              <a:t>t</a:t>
            </a:r>
            <a:r>
              <a:rPr sz="1550" b="1" spc="-150" dirty="0">
                <a:solidFill>
                  <a:srgbClr val="333333"/>
                </a:solidFill>
                <a:latin typeface="Arial"/>
                <a:cs typeface="Arial"/>
              </a:rPr>
              <a:t> </a:t>
            </a:r>
            <a:r>
              <a:rPr sz="1550" b="1" spc="140" dirty="0">
                <a:solidFill>
                  <a:srgbClr val="333333"/>
                </a:solidFill>
                <a:latin typeface="Arial"/>
                <a:cs typeface="Arial"/>
              </a:rPr>
              <a:t>w</a:t>
            </a:r>
            <a:r>
              <a:rPr sz="1550" b="1" spc="-10" dirty="0">
                <a:solidFill>
                  <a:srgbClr val="333333"/>
                </a:solidFill>
                <a:latin typeface="Arial"/>
                <a:cs typeface="Arial"/>
              </a:rPr>
              <a:t>o</a:t>
            </a:r>
            <a:r>
              <a:rPr sz="1550" b="1" spc="70" dirty="0">
                <a:solidFill>
                  <a:srgbClr val="333333"/>
                </a:solidFill>
                <a:latin typeface="Arial"/>
                <a:cs typeface="Arial"/>
              </a:rPr>
              <a:t>r</a:t>
            </a:r>
            <a:r>
              <a:rPr sz="1550" b="1" spc="114" dirty="0">
                <a:solidFill>
                  <a:srgbClr val="333333"/>
                </a:solidFill>
                <a:latin typeface="Arial"/>
                <a:cs typeface="Arial"/>
              </a:rPr>
              <a:t>k  </a:t>
            </a:r>
            <a:r>
              <a:rPr sz="1550" b="1" spc="15" dirty="0">
                <a:solidFill>
                  <a:srgbClr val="333333"/>
                </a:solidFill>
                <a:latin typeface="Arial"/>
                <a:cs typeface="Arial"/>
              </a:rPr>
              <a:t>i</a:t>
            </a:r>
            <a:r>
              <a:rPr sz="1550" b="1" spc="105" dirty="0">
                <a:solidFill>
                  <a:srgbClr val="333333"/>
                </a:solidFill>
                <a:latin typeface="Arial"/>
                <a:cs typeface="Arial"/>
              </a:rPr>
              <a:t>n</a:t>
            </a:r>
            <a:r>
              <a:rPr sz="1550" b="1" spc="-150" dirty="0">
                <a:solidFill>
                  <a:srgbClr val="333333"/>
                </a:solidFill>
                <a:latin typeface="Arial"/>
                <a:cs typeface="Arial"/>
              </a:rPr>
              <a:t> </a:t>
            </a:r>
            <a:r>
              <a:rPr sz="1550" b="1" dirty="0">
                <a:solidFill>
                  <a:srgbClr val="333333"/>
                </a:solidFill>
                <a:latin typeface="Arial"/>
                <a:cs typeface="Arial"/>
              </a:rPr>
              <a:t>p</a:t>
            </a:r>
            <a:r>
              <a:rPr sz="1550" b="1" spc="5" dirty="0">
                <a:solidFill>
                  <a:srgbClr val="333333"/>
                </a:solidFill>
                <a:latin typeface="Arial"/>
                <a:cs typeface="Arial"/>
              </a:rPr>
              <a:t>r</a:t>
            </a:r>
            <a:r>
              <a:rPr sz="1550" b="1" spc="40" dirty="0">
                <a:solidFill>
                  <a:srgbClr val="333333"/>
                </a:solidFill>
                <a:latin typeface="Arial"/>
                <a:cs typeface="Arial"/>
              </a:rPr>
              <a:t>o</a:t>
            </a:r>
            <a:r>
              <a:rPr sz="1550" b="1" spc="-50" dirty="0">
                <a:solidFill>
                  <a:srgbClr val="333333"/>
                </a:solidFill>
                <a:latin typeface="Arial"/>
                <a:cs typeface="Arial"/>
              </a:rPr>
              <a:t>g</a:t>
            </a:r>
            <a:r>
              <a:rPr sz="1550" b="1" spc="35" dirty="0">
                <a:solidFill>
                  <a:srgbClr val="333333"/>
                </a:solidFill>
                <a:latin typeface="Arial"/>
                <a:cs typeface="Arial"/>
              </a:rPr>
              <a:t>r</a:t>
            </a:r>
            <a:r>
              <a:rPr sz="1550" b="1" spc="70" dirty="0">
                <a:solidFill>
                  <a:srgbClr val="333333"/>
                </a:solidFill>
                <a:latin typeface="Arial"/>
                <a:cs typeface="Arial"/>
              </a:rPr>
              <a:t>e</a:t>
            </a:r>
            <a:r>
              <a:rPr sz="1550" b="1" spc="-95" dirty="0">
                <a:solidFill>
                  <a:srgbClr val="333333"/>
                </a:solidFill>
                <a:latin typeface="Arial"/>
                <a:cs typeface="Arial"/>
              </a:rPr>
              <a:t>s</a:t>
            </a:r>
            <a:r>
              <a:rPr sz="1550" b="1" spc="-20" dirty="0">
                <a:solidFill>
                  <a:srgbClr val="333333"/>
                </a:solidFill>
                <a:latin typeface="Arial"/>
                <a:cs typeface="Arial"/>
              </a:rPr>
              <a:t>s  </a:t>
            </a:r>
            <a:r>
              <a:rPr sz="1550" b="1" spc="15" dirty="0">
                <a:solidFill>
                  <a:srgbClr val="333333"/>
                </a:solidFill>
                <a:latin typeface="Arial"/>
                <a:cs typeface="Arial"/>
              </a:rPr>
              <a:t>(WIP)</a:t>
            </a:r>
            <a:endParaRPr sz="1550">
              <a:latin typeface="Arial"/>
              <a:cs typeface="Arial"/>
            </a:endParaRPr>
          </a:p>
          <a:p>
            <a:pPr marL="12700" marR="5080">
              <a:lnSpc>
                <a:spcPct val="111100"/>
              </a:lnSpc>
              <a:spcBef>
                <a:spcPts val="315"/>
              </a:spcBef>
            </a:pPr>
            <a:r>
              <a:rPr sz="900" spc="-10" dirty="0">
                <a:solidFill>
                  <a:srgbClr val="333333"/>
                </a:solidFill>
                <a:latin typeface="Roboto Lt"/>
                <a:cs typeface="Roboto Lt"/>
              </a:rPr>
              <a:t>Work in progress limits </a:t>
            </a:r>
            <a:r>
              <a:rPr sz="900" spc="-5" dirty="0">
                <a:solidFill>
                  <a:srgbClr val="333333"/>
                </a:solidFill>
                <a:latin typeface="Roboto Lt"/>
                <a:cs typeface="Roboto Lt"/>
              </a:rPr>
              <a:t> </a:t>
            </a:r>
            <a:r>
              <a:rPr sz="900" spc="-10" dirty="0">
                <a:solidFill>
                  <a:srgbClr val="333333"/>
                </a:solidFill>
                <a:latin typeface="Roboto Lt"/>
                <a:cs typeface="Roboto Lt"/>
              </a:rPr>
              <a:t>determine the minimum </a:t>
            </a:r>
            <a:r>
              <a:rPr sz="900" spc="-5" dirty="0">
                <a:solidFill>
                  <a:srgbClr val="333333"/>
                </a:solidFill>
                <a:latin typeface="Roboto Lt"/>
                <a:cs typeface="Roboto Lt"/>
              </a:rPr>
              <a:t> </a:t>
            </a:r>
            <a:r>
              <a:rPr sz="900" spc="-10" dirty="0">
                <a:solidFill>
                  <a:srgbClr val="333333"/>
                </a:solidFill>
                <a:latin typeface="Roboto Lt"/>
                <a:cs typeface="Roboto Lt"/>
              </a:rPr>
              <a:t>and maximum amount </a:t>
            </a:r>
            <a:r>
              <a:rPr sz="900" spc="-5" dirty="0">
                <a:solidFill>
                  <a:srgbClr val="333333"/>
                </a:solidFill>
                <a:latin typeface="Roboto Lt"/>
                <a:cs typeface="Roboto Lt"/>
              </a:rPr>
              <a:t>of </a:t>
            </a:r>
            <a:r>
              <a:rPr sz="900" spc="-204" dirty="0">
                <a:solidFill>
                  <a:srgbClr val="333333"/>
                </a:solidFill>
                <a:latin typeface="Roboto Lt"/>
                <a:cs typeface="Roboto Lt"/>
              </a:rPr>
              <a:t> </a:t>
            </a:r>
            <a:r>
              <a:rPr sz="900" spc="-10" dirty="0">
                <a:solidFill>
                  <a:srgbClr val="333333"/>
                </a:solidFill>
                <a:latin typeface="Roboto Lt"/>
                <a:cs typeface="Roboto Lt"/>
              </a:rPr>
              <a:t>work for each column on </a:t>
            </a:r>
            <a:r>
              <a:rPr sz="900" spc="-5" dirty="0">
                <a:solidFill>
                  <a:srgbClr val="333333"/>
                </a:solidFill>
                <a:latin typeface="Roboto Lt"/>
                <a:cs typeface="Roboto Lt"/>
              </a:rPr>
              <a:t> </a:t>
            </a:r>
            <a:r>
              <a:rPr sz="900" spc="-10" dirty="0">
                <a:solidFill>
                  <a:srgbClr val="333333"/>
                </a:solidFill>
                <a:latin typeface="Roboto Lt"/>
                <a:cs typeface="Roboto Lt"/>
              </a:rPr>
              <a:t>the board </a:t>
            </a:r>
            <a:r>
              <a:rPr sz="900" spc="-5" dirty="0">
                <a:solidFill>
                  <a:srgbClr val="333333"/>
                </a:solidFill>
                <a:latin typeface="Roboto Lt"/>
                <a:cs typeface="Roboto Lt"/>
              </a:rPr>
              <a:t>or </a:t>
            </a:r>
            <a:r>
              <a:rPr sz="900" spc="-10" dirty="0">
                <a:solidFill>
                  <a:srgbClr val="333333"/>
                </a:solidFill>
                <a:latin typeface="Roboto Lt"/>
                <a:cs typeface="Roboto Lt"/>
              </a:rPr>
              <a:t>for </a:t>
            </a:r>
            <a:r>
              <a:rPr sz="900" spc="-5" dirty="0">
                <a:solidFill>
                  <a:srgbClr val="333333"/>
                </a:solidFill>
                <a:latin typeface="Roboto Lt"/>
                <a:cs typeface="Roboto Lt"/>
              </a:rPr>
              <a:t>each </a:t>
            </a:r>
            <a:r>
              <a:rPr sz="900" dirty="0">
                <a:solidFill>
                  <a:srgbClr val="333333"/>
                </a:solidFill>
                <a:latin typeface="Roboto Lt"/>
                <a:cs typeface="Roboto Lt"/>
              </a:rPr>
              <a:t> </a:t>
            </a:r>
            <a:r>
              <a:rPr sz="900" spc="-10" dirty="0">
                <a:solidFill>
                  <a:srgbClr val="333333"/>
                </a:solidFill>
                <a:latin typeface="Roboto Lt"/>
                <a:cs typeface="Roboto Lt"/>
              </a:rPr>
              <a:t>workflow. By putting </a:t>
            </a:r>
            <a:r>
              <a:rPr sz="900" spc="-5" dirty="0">
                <a:solidFill>
                  <a:srgbClr val="333333"/>
                </a:solidFill>
                <a:latin typeface="Roboto Lt"/>
                <a:cs typeface="Roboto Lt"/>
              </a:rPr>
              <a:t>a </a:t>
            </a:r>
            <a:r>
              <a:rPr sz="900" dirty="0">
                <a:solidFill>
                  <a:srgbClr val="333333"/>
                </a:solidFill>
                <a:latin typeface="Roboto Lt"/>
                <a:cs typeface="Roboto Lt"/>
              </a:rPr>
              <a:t> </a:t>
            </a:r>
            <a:r>
              <a:rPr sz="900" spc="-10" dirty="0">
                <a:solidFill>
                  <a:srgbClr val="333333"/>
                </a:solidFill>
                <a:latin typeface="Roboto Lt"/>
                <a:cs typeface="Roboto Lt"/>
              </a:rPr>
              <a:t>limit </a:t>
            </a:r>
            <a:r>
              <a:rPr sz="900" spc="-5" dirty="0">
                <a:solidFill>
                  <a:srgbClr val="333333"/>
                </a:solidFill>
                <a:latin typeface="Roboto Lt"/>
                <a:cs typeface="Roboto Lt"/>
              </a:rPr>
              <a:t>on </a:t>
            </a:r>
            <a:r>
              <a:rPr sz="900" spc="-25" dirty="0">
                <a:solidFill>
                  <a:srgbClr val="333333"/>
                </a:solidFill>
                <a:latin typeface="Roboto Lt"/>
                <a:cs typeface="Roboto Lt"/>
              </a:rPr>
              <a:t>WIP, </a:t>
            </a:r>
            <a:r>
              <a:rPr sz="900" spc="-15" dirty="0">
                <a:solidFill>
                  <a:srgbClr val="333333"/>
                </a:solidFill>
                <a:latin typeface="Roboto Lt"/>
                <a:cs typeface="Roboto Lt"/>
              </a:rPr>
              <a:t>you </a:t>
            </a:r>
            <a:r>
              <a:rPr sz="900" spc="-10" dirty="0">
                <a:solidFill>
                  <a:srgbClr val="333333"/>
                </a:solidFill>
                <a:latin typeface="Roboto Lt"/>
                <a:cs typeface="Roboto Lt"/>
              </a:rPr>
              <a:t>can </a:t>
            </a:r>
            <a:r>
              <a:rPr sz="900" spc="-5" dirty="0">
                <a:solidFill>
                  <a:srgbClr val="333333"/>
                </a:solidFill>
                <a:latin typeface="Roboto Lt"/>
                <a:cs typeface="Roboto Lt"/>
              </a:rPr>
              <a:t> </a:t>
            </a:r>
            <a:r>
              <a:rPr sz="900" spc="-10" dirty="0">
                <a:solidFill>
                  <a:srgbClr val="333333"/>
                </a:solidFill>
                <a:latin typeface="Roboto Lt"/>
                <a:cs typeface="Roboto Lt"/>
              </a:rPr>
              <a:t>increase </a:t>
            </a:r>
            <a:r>
              <a:rPr sz="900" spc="-5" dirty="0">
                <a:solidFill>
                  <a:srgbClr val="333333"/>
                </a:solidFill>
                <a:latin typeface="Roboto Lt"/>
                <a:cs typeface="Roboto Lt"/>
              </a:rPr>
              <a:t>speed </a:t>
            </a:r>
            <a:r>
              <a:rPr sz="900" spc="-10" dirty="0">
                <a:solidFill>
                  <a:srgbClr val="333333"/>
                </a:solidFill>
                <a:latin typeface="Roboto Lt"/>
                <a:cs typeface="Roboto Lt"/>
              </a:rPr>
              <a:t>and </a:t>
            </a:r>
            <a:r>
              <a:rPr sz="900" spc="-5" dirty="0">
                <a:solidFill>
                  <a:srgbClr val="333333"/>
                </a:solidFill>
                <a:latin typeface="Roboto Lt"/>
                <a:cs typeface="Roboto Lt"/>
              </a:rPr>
              <a:t> </a:t>
            </a:r>
            <a:r>
              <a:rPr sz="900" spc="-10" dirty="0">
                <a:solidFill>
                  <a:srgbClr val="333333"/>
                </a:solidFill>
                <a:latin typeface="Roboto Lt"/>
                <a:cs typeface="Roboto Lt"/>
              </a:rPr>
              <a:t>flexibility, and reduce the </a:t>
            </a:r>
            <a:r>
              <a:rPr sz="900" spc="-5" dirty="0">
                <a:solidFill>
                  <a:srgbClr val="333333"/>
                </a:solidFill>
                <a:latin typeface="Roboto Lt"/>
                <a:cs typeface="Roboto Lt"/>
              </a:rPr>
              <a:t> need</a:t>
            </a:r>
            <a:r>
              <a:rPr sz="900" spc="-40" dirty="0">
                <a:solidFill>
                  <a:srgbClr val="333333"/>
                </a:solidFill>
                <a:latin typeface="Roboto Lt"/>
                <a:cs typeface="Roboto Lt"/>
              </a:rPr>
              <a:t> </a:t>
            </a:r>
            <a:r>
              <a:rPr sz="900" spc="-10" dirty="0">
                <a:solidFill>
                  <a:srgbClr val="333333"/>
                </a:solidFill>
                <a:latin typeface="Roboto Lt"/>
                <a:cs typeface="Roboto Lt"/>
              </a:rPr>
              <a:t>for</a:t>
            </a:r>
            <a:r>
              <a:rPr sz="900" spc="-40" dirty="0">
                <a:solidFill>
                  <a:srgbClr val="333333"/>
                </a:solidFill>
                <a:latin typeface="Roboto Lt"/>
                <a:cs typeface="Roboto Lt"/>
              </a:rPr>
              <a:t> </a:t>
            </a:r>
            <a:r>
              <a:rPr sz="900" spc="-10" dirty="0">
                <a:solidFill>
                  <a:srgbClr val="333333"/>
                </a:solidFill>
                <a:latin typeface="Roboto Lt"/>
                <a:cs typeface="Roboto Lt"/>
              </a:rPr>
              <a:t>prioritizing</a:t>
            </a:r>
            <a:r>
              <a:rPr sz="900" spc="-40" dirty="0">
                <a:solidFill>
                  <a:srgbClr val="333333"/>
                </a:solidFill>
                <a:latin typeface="Roboto Lt"/>
                <a:cs typeface="Roboto Lt"/>
              </a:rPr>
              <a:t> </a:t>
            </a:r>
            <a:r>
              <a:rPr sz="900" spc="-10" dirty="0">
                <a:solidFill>
                  <a:srgbClr val="333333"/>
                </a:solidFill>
                <a:latin typeface="Roboto Lt"/>
                <a:cs typeface="Roboto Lt"/>
              </a:rPr>
              <a:t>tasks.</a:t>
            </a:r>
            <a:endParaRPr sz="900">
              <a:latin typeface="Roboto Lt"/>
              <a:cs typeface="Roboto Lt"/>
            </a:endParaRPr>
          </a:p>
        </p:txBody>
      </p:sp>
      <p:sp>
        <p:nvSpPr>
          <p:cNvPr id="14" name="object 14"/>
          <p:cNvSpPr txBox="1"/>
          <p:nvPr/>
        </p:nvSpPr>
        <p:spPr>
          <a:xfrm>
            <a:off x="3936531" y="2912181"/>
            <a:ext cx="1210310" cy="1905000"/>
          </a:xfrm>
          <a:prstGeom prst="rect">
            <a:avLst/>
          </a:prstGeom>
        </p:spPr>
        <p:txBody>
          <a:bodyPr vert="horz" wrap="square" lIns="0" tIns="59690" rIns="0" bIns="0" rtlCol="0">
            <a:spAutoFit/>
          </a:bodyPr>
          <a:lstStyle/>
          <a:p>
            <a:pPr marL="12700" marR="5080">
              <a:lnSpc>
                <a:spcPts val="1500"/>
              </a:lnSpc>
              <a:spcBef>
                <a:spcPts val="470"/>
              </a:spcBef>
            </a:pPr>
            <a:r>
              <a:rPr sz="1550" b="1" spc="160" dirty="0">
                <a:solidFill>
                  <a:srgbClr val="333333"/>
                </a:solidFill>
                <a:latin typeface="Arial"/>
                <a:cs typeface="Arial"/>
              </a:rPr>
              <a:t>M</a:t>
            </a:r>
            <a:r>
              <a:rPr sz="1550" b="1" spc="55" dirty="0">
                <a:solidFill>
                  <a:srgbClr val="333333"/>
                </a:solidFill>
                <a:latin typeface="Arial"/>
                <a:cs typeface="Arial"/>
              </a:rPr>
              <a:t>a</a:t>
            </a:r>
            <a:r>
              <a:rPr sz="1550" b="1" spc="35" dirty="0">
                <a:solidFill>
                  <a:srgbClr val="333333"/>
                </a:solidFill>
                <a:latin typeface="Arial"/>
                <a:cs typeface="Arial"/>
              </a:rPr>
              <a:t>n</a:t>
            </a:r>
            <a:r>
              <a:rPr sz="1550" b="1" spc="40" dirty="0">
                <a:solidFill>
                  <a:srgbClr val="333333"/>
                </a:solidFill>
                <a:latin typeface="Arial"/>
                <a:cs typeface="Arial"/>
              </a:rPr>
              <a:t>a</a:t>
            </a:r>
            <a:r>
              <a:rPr sz="1550" b="1" spc="-75" dirty="0">
                <a:solidFill>
                  <a:srgbClr val="333333"/>
                </a:solidFill>
                <a:latin typeface="Arial"/>
                <a:cs typeface="Arial"/>
              </a:rPr>
              <a:t>g</a:t>
            </a:r>
            <a:r>
              <a:rPr sz="1550" b="1" spc="110" dirty="0">
                <a:solidFill>
                  <a:srgbClr val="333333"/>
                </a:solidFill>
                <a:latin typeface="Arial"/>
                <a:cs typeface="Arial"/>
              </a:rPr>
              <a:t>e</a:t>
            </a:r>
            <a:r>
              <a:rPr sz="1550" b="1" spc="-150" dirty="0">
                <a:solidFill>
                  <a:srgbClr val="333333"/>
                </a:solidFill>
                <a:latin typeface="Arial"/>
                <a:cs typeface="Arial"/>
              </a:rPr>
              <a:t> </a:t>
            </a:r>
            <a:r>
              <a:rPr sz="1550" b="1" spc="55" dirty="0">
                <a:solidFill>
                  <a:srgbClr val="333333"/>
                </a:solidFill>
                <a:latin typeface="Arial"/>
                <a:cs typeface="Arial"/>
              </a:rPr>
              <a:t>a</a:t>
            </a:r>
            <a:r>
              <a:rPr sz="1550" b="1" spc="40" dirty="0">
                <a:solidFill>
                  <a:srgbClr val="333333"/>
                </a:solidFill>
                <a:latin typeface="Arial"/>
                <a:cs typeface="Arial"/>
              </a:rPr>
              <a:t>nd  </a:t>
            </a:r>
            <a:r>
              <a:rPr sz="1550" b="1" spc="35" dirty="0">
                <a:solidFill>
                  <a:srgbClr val="333333"/>
                </a:solidFill>
                <a:latin typeface="Arial"/>
                <a:cs typeface="Arial"/>
              </a:rPr>
              <a:t>enhance </a:t>
            </a:r>
            <a:r>
              <a:rPr sz="1550" b="1" spc="40" dirty="0">
                <a:solidFill>
                  <a:srgbClr val="333333"/>
                </a:solidFill>
                <a:latin typeface="Arial"/>
                <a:cs typeface="Arial"/>
              </a:rPr>
              <a:t> </a:t>
            </a:r>
            <a:r>
              <a:rPr sz="1550" b="1" spc="155" dirty="0">
                <a:solidFill>
                  <a:srgbClr val="333333"/>
                </a:solidFill>
                <a:latin typeface="Arial"/>
                <a:cs typeface="Arial"/>
              </a:rPr>
              <a:t>t</a:t>
            </a:r>
            <a:r>
              <a:rPr sz="1550" b="1" spc="35" dirty="0">
                <a:solidFill>
                  <a:srgbClr val="333333"/>
                </a:solidFill>
                <a:latin typeface="Arial"/>
                <a:cs typeface="Arial"/>
              </a:rPr>
              <a:t>h</a:t>
            </a:r>
            <a:r>
              <a:rPr sz="1550" b="1" spc="110" dirty="0">
                <a:solidFill>
                  <a:srgbClr val="333333"/>
                </a:solidFill>
                <a:latin typeface="Arial"/>
                <a:cs typeface="Arial"/>
              </a:rPr>
              <a:t>e</a:t>
            </a:r>
            <a:r>
              <a:rPr sz="1550" b="1" spc="-150" dirty="0">
                <a:solidFill>
                  <a:srgbClr val="333333"/>
                </a:solidFill>
                <a:latin typeface="Arial"/>
                <a:cs typeface="Arial"/>
              </a:rPr>
              <a:t> </a:t>
            </a:r>
            <a:r>
              <a:rPr sz="1550" b="1" spc="110" dirty="0">
                <a:solidFill>
                  <a:srgbClr val="333333"/>
                </a:solidFill>
                <a:latin typeface="Arial"/>
                <a:cs typeface="Arial"/>
              </a:rPr>
              <a:t>f</a:t>
            </a:r>
            <a:r>
              <a:rPr sz="1550" b="1" spc="35" dirty="0">
                <a:solidFill>
                  <a:srgbClr val="333333"/>
                </a:solidFill>
                <a:latin typeface="Arial"/>
                <a:cs typeface="Arial"/>
              </a:rPr>
              <a:t>l</a:t>
            </a:r>
            <a:r>
              <a:rPr sz="1550" b="1" spc="-35" dirty="0">
                <a:solidFill>
                  <a:srgbClr val="333333"/>
                </a:solidFill>
                <a:latin typeface="Arial"/>
                <a:cs typeface="Arial"/>
              </a:rPr>
              <a:t>o</a:t>
            </a:r>
            <a:r>
              <a:rPr sz="1550" b="1" spc="225" dirty="0">
                <a:solidFill>
                  <a:srgbClr val="333333"/>
                </a:solidFill>
                <a:latin typeface="Arial"/>
                <a:cs typeface="Arial"/>
              </a:rPr>
              <a:t>w</a:t>
            </a:r>
            <a:endParaRPr sz="1550">
              <a:latin typeface="Arial"/>
              <a:cs typeface="Arial"/>
            </a:endParaRPr>
          </a:p>
          <a:p>
            <a:pPr marL="12700" marR="36830">
              <a:lnSpc>
                <a:spcPct val="111100"/>
              </a:lnSpc>
              <a:spcBef>
                <a:spcPts val="325"/>
              </a:spcBef>
            </a:pPr>
            <a:r>
              <a:rPr sz="900" spc="-5" dirty="0">
                <a:solidFill>
                  <a:srgbClr val="333333"/>
                </a:solidFill>
                <a:latin typeface="Roboto Lt"/>
                <a:cs typeface="Roboto Lt"/>
              </a:rPr>
              <a:t>The flow of </a:t>
            </a:r>
            <a:r>
              <a:rPr sz="900" spc="-10" dirty="0">
                <a:solidFill>
                  <a:srgbClr val="333333"/>
                </a:solidFill>
                <a:latin typeface="Roboto Lt"/>
                <a:cs typeface="Roboto Lt"/>
              </a:rPr>
              <a:t>work </a:t>
            </a:r>
            <a:r>
              <a:rPr sz="900" spc="-5" dirty="0">
                <a:solidFill>
                  <a:srgbClr val="333333"/>
                </a:solidFill>
                <a:latin typeface="Roboto Lt"/>
                <a:cs typeface="Roboto Lt"/>
              </a:rPr>
              <a:t> </a:t>
            </a:r>
            <a:r>
              <a:rPr sz="900" spc="-10" dirty="0">
                <a:solidFill>
                  <a:srgbClr val="333333"/>
                </a:solidFill>
                <a:latin typeface="Roboto Lt"/>
                <a:cs typeface="Roboto Lt"/>
              </a:rPr>
              <a:t>throughout the Kanban </a:t>
            </a:r>
            <a:r>
              <a:rPr sz="900" spc="-204" dirty="0">
                <a:solidFill>
                  <a:srgbClr val="333333"/>
                </a:solidFill>
                <a:latin typeface="Roboto Lt"/>
                <a:cs typeface="Roboto Lt"/>
              </a:rPr>
              <a:t> </a:t>
            </a:r>
            <a:r>
              <a:rPr sz="900" spc="-10" dirty="0">
                <a:solidFill>
                  <a:srgbClr val="333333"/>
                </a:solidFill>
                <a:latin typeface="Roboto Lt"/>
                <a:cs typeface="Roboto Lt"/>
              </a:rPr>
              <a:t>board should </a:t>
            </a:r>
            <a:r>
              <a:rPr sz="900" spc="-5" dirty="0">
                <a:solidFill>
                  <a:srgbClr val="333333"/>
                </a:solidFill>
                <a:latin typeface="Roboto Lt"/>
                <a:cs typeface="Roboto Lt"/>
              </a:rPr>
              <a:t>be </a:t>
            </a:r>
            <a:r>
              <a:rPr sz="900" dirty="0">
                <a:solidFill>
                  <a:srgbClr val="333333"/>
                </a:solidFill>
                <a:latin typeface="Roboto Lt"/>
                <a:cs typeface="Roboto Lt"/>
              </a:rPr>
              <a:t> </a:t>
            </a:r>
            <a:r>
              <a:rPr sz="900" spc="-10" dirty="0">
                <a:solidFill>
                  <a:srgbClr val="333333"/>
                </a:solidFill>
                <a:latin typeface="Roboto Lt"/>
                <a:cs typeface="Roboto Lt"/>
              </a:rPr>
              <a:t>monitored for possible </a:t>
            </a:r>
            <a:r>
              <a:rPr sz="900" spc="-5" dirty="0">
                <a:solidFill>
                  <a:srgbClr val="333333"/>
                </a:solidFill>
                <a:latin typeface="Roboto Lt"/>
                <a:cs typeface="Roboto Lt"/>
              </a:rPr>
              <a:t> </a:t>
            </a:r>
            <a:r>
              <a:rPr sz="900" spc="-10" dirty="0">
                <a:solidFill>
                  <a:srgbClr val="333333"/>
                </a:solidFill>
                <a:latin typeface="Roboto Lt"/>
                <a:cs typeface="Roboto Lt"/>
              </a:rPr>
              <a:t>improvements. </a:t>
            </a:r>
            <a:r>
              <a:rPr sz="900" spc="10" dirty="0">
                <a:solidFill>
                  <a:srgbClr val="333333"/>
                </a:solidFill>
                <a:latin typeface="Roboto Lt"/>
                <a:cs typeface="Roboto Lt"/>
              </a:rPr>
              <a:t>A </a:t>
            </a:r>
            <a:r>
              <a:rPr sz="900" spc="-10" dirty="0">
                <a:solidFill>
                  <a:srgbClr val="333333"/>
                </a:solidFill>
                <a:latin typeface="Roboto Lt"/>
                <a:cs typeface="Roboto Lt"/>
              </a:rPr>
              <a:t>fast, </a:t>
            </a:r>
            <a:r>
              <a:rPr sz="900" spc="-5" dirty="0">
                <a:solidFill>
                  <a:srgbClr val="333333"/>
                </a:solidFill>
                <a:latin typeface="Roboto Lt"/>
                <a:cs typeface="Roboto Lt"/>
              </a:rPr>
              <a:t> </a:t>
            </a:r>
            <a:r>
              <a:rPr sz="900" spc="-10" dirty="0">
                <a:solidFill>
                  <a:srgbClr val="333333"/>
                </a:solidFill>
                <a:latin typeface="Roboto Lt"/>
                <a:cs typeface="Roboto Lt"/>
              </a:rPr>
              <a:t>smooth</a:t>
            </a:r>
            <a:r>
              <a:rPr sz="900" spc="-35" dirty="0">
                <a:solidFill>
                  <a:srgbClr val="333333"/>
                </a:solidFill>
                <a:latin typeface="Roboto Lt"/>
                <a:cs typeface="Roboto Lt"/>
              </a:rPr>
              <a:t> </a:t>
            </a:r>
            <a:r>
              <a:rPr sz="900" spc="-5" dirty="0">
                <a:solidFill>
                  <a:srgbClr val="333333"/>
                </a:solidFill>
                <a:latin typeface="Roboto Lt"/>
                <a:cs typeface="Roboto Lt"/>
              </a:rPr>
              <a:t>flow</a:t>
            </a:r>
            <a:r>
              <a:rPr sz="900" spc="-35" dirty="0">
                <a:solidFill>
                  <a:srgbClr val="333333"/>
                </a:solidFill>
                <a:latin typeface="Roboto Lt"/>
                <a:cs typeface="Roboto Lt"/>
              </a:rPr>
              <a:t> </a:t>
            </a:r>
            <a:r>
              <a:rPr sz="900" spc="-15" dirty="0">
                <a:solidFill>
                  <a:srgbClr val="333333"/>
                </a:solidFill>
                <a:latin typeface="Roboto Lt"/>
                <a:cs typeface="Roboto Lt"/>
              </a:rPr>
              <a:t>shows</a:t>
            </a:r>
            <a:r>
              <a:rPr sz="900" spc="-35" dirty="0">
                <a:solidFill>
                  <a:srgbClr val="333333"/>
                </a:solidFill>
                <a:latin typeface="Roboto Lt"/>
                <a:cs typeface="Roboto Lt"/>
              </a:rPr>
              <a:t> </a:t>
            </a:r>
            <a:r>
              <a:rPr sz="900" spc="-10" dirty="0">
                <a:solidFill>
                  <a:srgbClr val="333333"/>
                </a:solidFill>
                <a:latin typeface="Roboto Lt"/>
                <a:cs typeface="Roboto Lt"/>
              </a:rPr>
              <a:t>the </a:t>
            </a:r>
            <a:r>
              <a:rPr sz="900" spc="-204" dirty="0">
                <a:solidFill>
                  <a:srgbClr val="333333"/>
                </a:solidFill>
                <a:latin typeface="Roboto Lt"/>
                <a:cs typeface="Roboto Lt"/>
              </a:rPr>
              <a:t> </a:t>
            </a:r>
            <a:r>
              <a:rPr sz="900" spc="-10" dirty="0">
                <a:solidFill>
                  <a:srgbClr val="333333"/>
                </a:solidFill>
                <a:latin typeface="Roboto Lt"/>
                <a:cs typeface="Roboto Lt"/>
              </a:rPr>
              <a:t>team </a:t>
            </a:r>
            <a:r>
              <a:rPr sz="900" spc="-15" dirty="0">
                <a:solidFill>
                  <a:srgbClr val="333333"/>
                </a:solidFill>
                <a:latin typeface="Roboto Lt"/>
                <a:cs typeface="Roboto Lt"/>
              </a:rPr>
              <a:t>is </a:t>
            </a:r>
            <a:r>
              <a:rPr sz="900" spc="-10" dirty="0">
                <a:solidFill>
                  <a:srgbClr val="333333"/>
                </a:solidFill>
                <a:latin typeface="Roboto Lt"/>
                <a:cs typeface="Roboto Lt"/>
              </a:rPr>
              <a:t>creating </a:t>
            </a:r>
            <a:r>
              <a:rPr sz="900" spc="-15" dirty="0">
                <a:solidFill>
                  <a:srgbClr val="333333"/>
                </a:solidFill>
                <a:latin typeface="Roboto Lt"/>
                <a:cs typeface="Roboto Lt"/>
              </a:rPr>
              <a:t>value </a:t>
            </a:r>
            <a:r>
              <a:rPr sz="900" spc="-10" dirty="0">
                <a:solidFill>
                  <a:srgbClr val="333333"/>
                </a:solidFill>
                <a:latin typeface="Roboto Lt"/>
                <a:cs typeface="Roboto Lt"/>
              </a:rPr>
              <a:t> </a:t>
            </a:r>
            <a:r>
              <a:rPr sz="900" spc="-20" dirty="0">
                <a:solidFill>
                  <a:srgbClr val="333333"/>
                </a:solidFill>
                <a:latin typeface="Roboto Lt"/>
                <a:cs typeface="Roboto Lt"/>
              </a:rPr>
              <a:t>quickly.</a:t>
            </a:r>
            <a:endParaRPr sz="900">
              <a:latin typeface="Roboto Lt"/>
              <a:cs typeface="Roboto Lt"/>
            </a:endParaRPr>
          </a:p>
        </p:txBody>
      </p:sp>
      <p:sp>
        <p:nvSpPr>
          <p:cNvPr id="15" name="object 15"/>
          <p:cNvSpPr txBox="1"/>
          <p:nvPr/>
        </p:nvSpPr>
        <p:spPr>
          <a:xfrm>
            <a:off x="5608987" y="2912181"/>
            <a:ext cx="1259205" cy="1790700"/>
          </a:xfrm>
          <a:prstGeom prst="rect">
            <a:avLst/>
          </a:prstGeom>
        </p:spPr>
        <p:txBody>
          <a:bodyPr vert="horz" wrap="square" lIns="0" tIns="59690" rIns="0" bIns="0" rtlCol="0">
            <a:spAutoFit/>
          </a:bodyPr>
          <a:lstStyle/>
          <a:p>
            <a:pPr marL="12700" marR="501015">
              <a:lnSpc>
                <a:spcPts val="1500"/>
              </a:lnSpc>
              <a:spcBef>
                <a:spcPts val="470"/>
              </a:spcBef>
            </a:pPr>
            <a:r>
              <a:rPr sz="1550" b="1" spc="75" dirty="0">
                <a:solidFill>
                  <a:srgbClr val="333333"/>
                </a:solidFill>
                <a:latin typeface="Arial"/>
                <a:cs typeface="Arial"/>
              </a:rPr>
              <a:t>Make </a:t>
            </a:r>
            <a:r>
              <a:rPr sz="1550" b="1" spc="80" dirty="0">
                <a:solidFill>
                  <a:srgbClr val="333333"/>
                </a:solidFill>
                <a:latin typeface="Arial"/>
                <a:cs typeface="Arial"/>
              </a:rPr>
              <a:t> </a:t>
            </a:r>
            <a:r>
              <a:rPr sz="1550" b="1" dirty="0">
                <a:solidFill>
                  <a:srgbClr val="333333"/>
                </a:solidFill>
                <a:latin typeface="Arial"/>
                <a:cs typeface="Arial"/>
              </a:rPr>
              <a:t>p</a:t>
            </a:r>
            <a:r>
              <a:rPr sz="1550" b="1" spc="70" dirty="0">
                <a:solidFill>
                  <a:srgbClr val="333333"/>
                </a:solidFill>
                <a:latin typeface="Arial"/>
                <a:cs typeface="Arial"/>
              </a:rPr>
              <a:t>r</a:t>
            </a:r>
            <a:r>
              <a:rPr sz="1550" b="1" spc="-15" dirty="0">
                <a:solidFill>
                  <a:srgbClr val="333333"/>
                </a:solidFill>
                <a:latin typeface="Arial"/>
                <a:cs typeface="Arial"/>
              </a:rPr>
              <a:t>o</a:t>
            </a:r>
            <a:r>
              <a:rPr sz="1550" b="1" spc="-25" dirty="0">
                <a:solidFill>
                  <a:srgbClr val="333333"/>
                </a:solidFill>
                <a:latin typeface="Arial"/>
                <a:cs typeface="Arial"/>
              </a:rPr>
              <a:t>ce</a:t>
            </a:r>
            <a:r>
              <a:rPr sz="1550" b="1" spc="-90" dirty="0">
                <a:solidFill>
                  <a:srgbClr val="333333"/>
                </a:solidFill>
                <a:latin typeface="Arial"/>
                <a:cs typeface="Arial"/>
              </a:rPr>
              <a:t>ss  </a:t>
            </a:r>
            <a:r>
              <a:rPr sz="1550" b="1" spc="-5" dirty="0">
                <a:solidFill>
                  <a:srgbClr val="333333"/>
                </a:solidFill>
                <a:latin typeface="Arial"/>
                <a:cs typeface="Arial"/>
              </a:rPr>
              <a:t>p</a:t>
            </a:r>
            <a:r>
              <a:rPr sz="1550" b="1" spc="-10" dirty="0">
                <a:solidFill>
                  <a:srgbClr val="333333"/>
                </a:solidFill>
                <a:latin typeface="Arial"/>
                <a:cs typeface="Arial"/>
              </a:rPr>
              <a:t>o</a:t>
            </a:r>
            <a:r>
              <a:rPr sz="1550" b="1" spc="10" dirty="0">
                <a:solidFill>
                  <a:srgbClr val="333333"/>
                </a:solidFill>
                <a:latin typeface="Arial"/>
                <a:cs typeface="Arial"/>
              </a:rPr>
              <a:t>l</a:t>
            </a:r>
            <a:r>
              <a:rPr sz="1550" b="1" spc="-45" dirty="0">
                <a:solidFill>
                  <a:srgbClr val="333333"/>
                </a:solidFill>
                <a:latin typeface="Arial"/>
                <a:cs typeface="Arial"/>
              </a:rPr>
              <a:t>i</a:t>
            </a:r>
            <a:r>
              <a:rPr sz="1550" b="1" spc="-15" dirty="0">
                <a:solidFill>
                  <a:srgbClr val="333333"/>
                </a:solidFill>
                <a:latin typeface="Arial"/>
                <a:cs typeface="Arial"/>
              </a:rPr>
              <a:t>c</a:t>
            </a:r>
            <a:r>
              <a:rPr sz="1550" b="1" spc="-5" dirty="0">
                <a:solidFill>
                  <a:srgbClr val="333333"/>
                </a:solidFill>
                <a:latin typeface="Arial"/>
                <a:cs typeface="Arial"/>
              </a:rPr>
              <a:t>i</a:t>
            </a:r>
            <a:r>
              <a:rPr sz="1550" b="1" spc="55" dirty="0">
                <a:solidFill>
                  <a:srgbClr val="333333"/>
                </a:solidFill>
                <a:latin typeface="Arial"/>
                <a:cs typeface="Arial"/>
              </a:rPr>
              <a:t>e</a:t>
            </a:r>
            <a:r>
              <a:rPr sz="1550" b="1" spc="-20" dirty="0">
                <a:solidFill>
                  <a:srgbClr val="333333"/>
                </a:solidFill>
                <a:latin typeface="Arial"/>
                <a:cs typeface="Arial"/>
              </a:rPr>
              <a:t>s  </a:t>
            </a:r>
            <a:r>
              <a:rPr sz="1550" b="1" spc="35" dirty="0">
                <a:solidFill>
                  <a:srgbClr val="333333"/>
                </a:solidFill>
                <a:latin typeface="Arial"/>
                <a:cs typeface="Arial"/>
              </a:rPr>
              <a:t>explicit</a:t>
            </a:r>
            <a:endParaRPr sz="1550">
              <a:latin typeface="Arial"/>
              <a:cs typeface="Arial"/>
            </a:endParaRPr>
          </a:p>
          <a:p>
            <a:pPr marL="12700" marR="5080">
              <a:lnSpc>
                <a:spcPct val="111100"/>
              </a:lnSpc>
              <a:spcBef>
                <a:spcPts val="325"/>
              </a:spcBef>
            </a:pPr>
            <a:r>
              <a:rPr sz="900" spc="-5" dirty="0">
                <a:solidFill>
                  <a:srgbClr val="333333"/>
                </a:solidFill>
                <a:latin typeface="Roboto Lt"/>
                <a:cs typeface="Roboto Lt"/>
              </a:rPr>
              <a:t>Everyone needs </a:t>
            </a:r>
            <a:r>
              <a:rPr sz="900" spc="-15" dirty="0">
                <a:solidFill>
                  <a:srgbClr val="333333"/>
                </a:solidFill>
                <a:latin typeface="Roboto Lt"/>
                <a:cs typeface="Roboto Lt"/>
              </a:rPr>
              <a:t>to </a:t>
            </a:r>
            <a:r>
              <a:rPr sz="900" spc="-10" dirty="0">
                <a:solidFill>
                  <a:srgbClr val="333333"/>
                </a:solidFill>
                <a:latin typeface="Roboto Lt"/>
                <a:cs typeface="Roboto Lt"/>
              </a:rPr>
              <a:t> understand how </a:t>
            </a:r>
            <a:r>
              <a:rPr sz="900" spc="-15" dirty="0">
                <a:solidFill>
                  <a:srgbClr val="333333"/>
                </a:solidFill>
                <a:latin typeface="Roboto Lt"/>
                <a:cs typeface="Roboto Lt"/>
              </a:rPr>
              <a:t>things </a:t>
            </a:r>
            <a:r>
              <a:rPr sz="900" spc="-10" dirty="0">
                <a:solidFill>
                  <a:srgbClr val="333333"/>
                </a:solidFill>
                <a:latin typeface="Roboto Lt"/>
                <a:cs typeface="Roboto Lt"/>
              </a:rPr>
              <a:t> work </a:t>
            </a:r>
            <a:r>
              <a:rPr sz="900" spc="-5" dirty="0">
                <a:solidFill>
                  <a:srgbClr val="333333"/>
                </a:solidFill>
                <a:latin typeface="Roboto Lt"/>
                <a:cs typeface="Roboto Lt"/>
              </a:rPr>
              <a:t>or </a:t>
            </a:r>
            <a:r>
              <a:rPr sz="900" spc="-15" dirty="0">
                <a:solidFill>
                  <a:srgbClr val="333333"/>
                </a:solidFill>
                <a:latin typeface="Roboto Lt"/>
                <a:cs typeface="Roboto Lt"/>
              </a:rPr>
              <a:t>what </a:t>
            </a:r>
            <a:r>
              <a:rPr sz="900" spc="-10" dirty="0">
                <a:solidFill>
                  <a:srgbClr val="333333"/>
                </a:solidFill>
                <a:latin typeface="Roboto Lt"/>
                <a:cs typeface="Roboto Lt"/>
              </a:rPr>
              <a:t>qualifies as </a:t>
            </a:r>
            <a:r>
              <a:rPr sz="900" spc="-204" dirty="0">
                <a:solidFill>
                  <a:srgbClr val="333333"/>
                </a:solidFill>
                <a:latin typeface="Roboto Lt"/>
                <a:cs typeface="Roboto Lt"/>
              </a:rPr>
              <a:t> </a:t>
            </a:r>
            <a:r>
              <a:rPr sz="900" spc="-20" dirty="0">
                <a:solidFill>
                  <a:srgbClr val="333333"/>
                </a:solidFill>
                <a:latin typeface="Roboto Lt"/>
                <a:cs typeface="Roboto Lt"/>
              </a:rPr>
              <a:t>“done”. </a:t>
            </a:r>
            <a:r>
              <a:rPr sz="900" spc="-5" dirty="0">
                <a:solidFill>
                  <a:srgbClr val="333333"/>
                </a:solidFill>
                <a:latin typeface="Roboto Lt"/>
                <a:cs typeface="Roboto Lt"/>
              </a:rPr>
              <a:t>Modify </a:t>
            </a:r>
            <a:r>
              <a:rPr sz="900" spc="-10" dirty="0">
                <a:solidFill>
                  <a:srgbClr val="333333"/>
                </a:solidFill>
                <a:latin typeface="Roboto Lt"/>
                <a:cs typeface="Roboto Lt"/>
              </a:rPr>
              <a:t>the board </a:t>
            </a:r>
            <a:r>
              <a:rPr sz="900" spc="-204" dirty="0">
                <a:solidFill>
                  <a:srgbClr val="333333"/>
                </a:solidFill>
                <a:latin typeface="Roboto Lt"/>
                <a:cs typeface="Roboto Lt"/>
              </a:rPr>
              <a:t> </a:t>
            </a:r>
            <a:r>
              <a:rPr sz="900" spc="-15" dirty="0">
                <a:solidFill>
                  <a:srgbClr val="333333"/>
                </a:solidFill>
                <a:latin typeface="Roboto Lt"/>
                <a:cs typeface="Roboto Lt"/>
              </a:rPr>
              <a:t>to make </a:t>
            </a:r>
            <a:r>
              <a:rPr sz="900" spc="-10" dirty="0">
                <a:solidFill>
                  <a:srgbClr val="333333"/>
                </a:solidFill>
                <a:latin typeface="Roboto Lt"/>
                <a:cs typeface="Roboto Lt"/>
              </a:rPr>
              <a:t>these processes </a:t>
            </a:r>
            <a:r>
              <a:rPr sz="900" spc="-210" dirty="0">
                <a:solidFill>
                  <a:srgbClr val="333333"/>
                </a:solidFill>
                <a:latin typeface="Roboto Lt"/>
                <a:cs typeface="Roboto Lt"/>
              </a:rPr>
              <a:t> </a:t>
            </a:r>
            <a:r>
              <a:rPr sz="900" spc="-10" dirty="0">
                <a:solidFill>
                  <a:srgbClr val="333333"/>
                </a:solidFill>
                <a:latin typeface="Roboto Lt"/>
                <a:cs typeface="Roboto Lt"/>
              </a:rPr>
              <a:t>more</a:t>
            </a:r>
            <a:r>
              <a:rPr sz="900" spc="-25" dirty="0">
                <a:solidFill>
                  <a:srgbClr val="333333"/>
                </a:solidFill>
                <a:latin typeface="Roboto Lt"/>
                <a:cs typeface="Roboto Lt"/>
              </a:rPr>
              <a:t> </a:t>
            </a:r>
            <a:r>
              <a:rPr sz="900" spc="-15" dirty="0">
                <a:solidFill>
                  <a:srgbClr val="333333"/>
                </a:solidFill>
                <a:latin typeface="Roboto Lt"/>
                <a:cs typeface="Roboto Lt"/>
              </a:rPr>
              <a:t>clear.</a:t>
            </a:r>
            <a:endParaRPr sz="900">
              <a:latin typeface="Roboto Lt"/>
              <a:cs typeface="Roboto Lt"/>
            </a:endParaRPr>
          </a:p>
        </p:txBody>
      </p:sp>
      <p:sp>
        <p:nvSpPr>
          <p:cNvPr id="16" name="object 16"/>
          <p:cNvSpPr txBox="1"/>
          <p:nvPr/>
        </p:nvSpPr>
        <p:spPr>
          <a:xfrm>
            <a:off x="7251189" y="2912181"/>
            <a:ext cx="1307465" cy="1866900"/>
          </a:xfrm>
          <a:prstGeom prst="rect">
            <a:avLst/>
          </a:prstGeom>
        </p:spPr>
        <p:txBody>
          <a:bodyPr vert="horz" wrap="square" lIns="0" tIns="59690" rIns="0" bIns="0" rtlCol="0">
            <a:spAutoFit/>
          </a:bodyPr>
          <a:lstStyle/>
          <a:p>
            <a:pPr marL="12700" marR="5080">
              <a:lnSpc>
                <a:spcPts val="1500"/>
              </a:lnSpc>
              <a:spcBef>
                <a:spcPts val="470"/>
              </a:spcBef>
            </a:pPr>
            <a:r>
              <a:rPr sz="1550" b="1" spc="-180" dirty="0">
                <a:solidFill>
                  <a:srgbClr val="333333"/>
                </a:solidFill>
                <a:latin typeface="Arial"/>
                <a:cs typeface="Arial"/>
              </a:rPr>
              <a:t>C</a:t>
            </a:r>
            <a:r>
              <a:rPr sz="1550" b="1" spc="-10" dirty="0">
                <a:solidFill>
                  <a:srgbClr val="333333"/>
                </a:solidFill>
                <a:latin typeface="Arial"/>
                <a:cs typeface="Arial"/>
              </a:rPr>
              <a:t>o</a:t>
            </a:r>
            <a:r>
              <a:rPr sz="1550" b="1" spc="30" dirty="0">
                <a:solidFill>
                  <a:srgbClr val="333333"/>
                </a:solidFill>
                <a:latin typeface="Arial"/>
                <a:cs typeface="Arial"/>
              </a:rPr>
              <a:t>n</a:t>
            </a:r>
            <a:r>
              <a:rPr sz="1550" b="1" spc="155" dirty="0">
                <a:solidFill>
                  <a:srgbClr val="333333"/>
                </a:solidFill>
                <a:latin typeface="Arial"/>
                <a:cs typeface="Arial"/>
              </a:rPr>
              <a:t>t</a:t>
            </a:r>
            <a:r>
              <a:rPr sz="1550" b="1" spc="15" dirty="0">
                <a:solidFill>
                  <a:srgbClr val="333333"/>
                </a:solidFill>
                <a:latin typeface="Arial"/>
                <a:cs typeface="Arial"/>
              </a:rPr>
              <a:t>i</a:t>
            </a:r>
            <a:r>
              <a:rPr sz="1550" b="1" spc="20" dirty="0">
                <a:solidFill>
                  <a:srgbClr val="333333"/>
                </a:solidFill>
                <a:latin typeface="Arial"/>
                <a:cs typeface="Arial"/>
              </a:rPr>
              <a:t>nu</a:t>
            </a:r>
            <a:r>
              <a:rPr sz="1550" b="1" spc="15" dirty="0">
                <a:solidFill>
                  <a:srgbClr val="333333"/>
                </a:solidFill>
                <a:latin typeface="Arial"/>
                <a:cs typeface="Arial"/>
              </a:rPr>
              <a:t>o</a:t>
            </a:r>
            <a:r>
              <a:rPr sz="1550" b="1" spc="40" dirty="0">
                <a:solidFill>
                  <a:srgbClr val="333333"/>
                </a:solidFill>
                <a:latin typeface="Arial"/>
                <a:cs typeface="Arial"/>
              </a:rPr>
              <a:t>u</a:t>
            </a:r>
            <a:r>
              <a:rPr sz="1550" b="1" spc="-85" dirty="0">
                <a:solidFill>
                  <a:srgbClr val="333333"/>
                </a:solidFill>
                <a:latin typeface="Arial"/>
                <a:cs typeface="Arial"/>
              </a:rPr>
              <a:t>s</a:t>
            </a:r>
            <a:r>
              <a:rPr sz="1550" b="1" spc="20" dirty="0">
                <a:solidFill>
                  <a:srgbClr val="333333"/>
                </a:solidFill>
                <a:latin typeface="Arial"/>
                <a:cs typeface="Arial"/>
              </a:rPr>
              <a:t>l</a:t>
            </a:r>
            <a:r>
              <a:rPr sz="1550" b="1" spc="60" dirty="0">
                <a:solidFill>
                  <a:srgbClr val="333333"/>
                </a:solidFill>
                <a:latin typeface="Arial"/>
                <a:cs typeface="Arial"/>
              </a:rPr>
              <a:t>y  </a:t>
            </a:r>
            <a:r>
              <a:rPr sz="1550" b="1" spc="40" dirty="0">
                <a:solidFill>
                  <a:srgbClr val="333333"/>
                </a:solidFill>
                <a:latin typeface="Arial"/>
                <a:cs typeface="Arial"/>
              </a:rPr>
              <a:t>improve</a:t>
            </a:r>
            <a:endParaRPr sz="1550">
              <a:latin typeface="Arial"/>
              <a:cs typeface="Arial"/>
            </a:endParaRPr>
          </a:p>
          <a:p>
            <a:pPr marL="12700" marR="64135">
              <a:lnSpc>
                <a:spcPct val="111100"/>
              </a:lnSpc>
              <a:spcBef>
                <a:spcPts val="325"/>
              </a:spcBef>
            </a:pPr>
            <a:r>
              <a:rPr sz="900" spc="-5" dirty="0">
                <a:solidFill>
                  <a:srgbClr val="333333"/>
                </a:solidFill>
                <a:latin typeface="Roboto Lt"/>
                <a:cs typeface="Roboto Lt"/>
              </a:rPr>
              <a:t>The </a:t>
            </a:r>
            <a:r>
              <a:rPr sz="900" spc="-10" dirty="0">
                <a:solidFill>
                  <a:srgbClr val="333333"/>
                </a:solidFill>
                <a:latin typeface="Roboto Lt"/>
                <a:cs typeface="Roboto Lt"/>
              </a:rPr>
              <a:t>Kanban </a:t>
            </a:r>
            <a:r>
              <a:rPr sz="900" spc="-5" dirty="0">
                <a:solidFill>
                  <a:srgbClr val="333333"/>
                </a:solidFill>
                <a:latin typeface="Roboto Lt"/>
                <a:cs typeface="Roboto Lt"/>
              </a:rPr>
              <a:t>method </a:t>
            </a:r>
            <a:r>
              <a:rPr sz="900" dirty="0">
                <a:solidFill>
                  <a:srgbClr val="333333"/>
                </a:solidFill>
                <a:latin typeface="Roboto Lt"/>
                <a:cs typeface="Roboto Lt"/>
              </a:rPr>
              <a:t> </a:t>
            </a:r>
            <a:r>
              <a:rPr sz="900" spc="-10" dirty="0">
                <a:solidFill>
                  <a:srgbClr val="333333"/>
                </a:solidFill>
                <a:latin typeface="Roboto Lt"/>
                <a:cs typeface="Roboto Lt"/>
              </a:rPr>
              <a:t>encourages small, </a:t>
            </a:r>
            <a:r>
              <a:rPr sz="900" spc="-5" dirty="0">
                <a:solidFill>
                  <a:srgbClr val="333333"/>
                </a:solidFill>
                <a:latin typeface="Roboto Lt"/>
                <a:cs typeface="Roboto Lt"/>
              </a:rPr>
              <a:t> </a:t>
            </a:r>
            <a:r>
              <a:rPr sz="900" dirty="0">
                <a:solidFill>
                  <a:srgbClr val="333333"/>
                </a:solidFill>
                <a:latin typeface="Roboto Lt"/>
                <a:cs typeface="Roboto Lt"/>
              </a:rPr>
              <a:t>c</a:t>
            </a:r>
            <a:r>
              <a:rPr sz="900" spc="-5" dirty="0">
                <a:solidFill>
                  <a:srgbClr val="333333"/>
                </a:solidFill>
                <a:latin typeface="Roboto Lt"/>
                <a:cs typeface="Roboto Lt"/>
              </a:rPr>
              <a:t>o</a:t>
            </a:r>
            <a:r>
              <a:rPr sz="900" spc="-20" dirty="0">
                <a:solidFill>
                  <a:srgbClr val="333333"/>
                </a:solidFill>
                <a:latin typeface="Roboto Lt"/>
                <a:cs typeface="Roboto Lt"/>
              </a:rPr>
              <a:t>nt</a:t>
            </a:r>
            <a:r>
              <a:rPr sz="900" spc="-15" dirty="0">
                <a:solidFill>
                  <a:srgbClr val="333333"/>
                </a:solidFill>
                <a:latin typeface="Roboto Lt"/>
                <a:cs typeface="Roboto Lt"/>
              </a:rPr>
              <a:t>i</a:t>
            </a:r>
            <a:r>
              <a:rPr sz="900" spc="-20" dirty="0">
                <a:solidFill>
                  <a:srgbClr val="333333"/>
                </a:solidFill>
                <a:latin typeface="Roboto Lt"/>
                <a:cs typeface="Roboto Lt"/>
              </a:rPr>
              <a:t>n</a:t>
            </a:r>
            <a:r>
              <a:rPr sz="900" spc="-15" dirty="0">
                <a:solidFill>
                  <a:srgbClr val="333333"/>
                </a:solidFill>
                <a:latin typeface="Roboto Lt"/>
                <a:cs typeface="Roboto Lt"/>
              </a:rPr>
              <a:t>u</a:t>
            </a:r>
            <a:r>
              <a:rPr sz="900" spc="-5" dirty="0">
                <a:solidFill>
                  <a:srgbClr val="333333"/>
                </a:solidFill>
                <a:latin typeface="Roboto Lt"/>
                <a:cs typeface="Roboto Lt"/>
              </a:rPr>
              <a:t>o</a:t>
            </a:r>
            <a:r>
              <a:rPr sz="900" spc="-20" dirty="0">
                <a:solidFill>
                  <a:srgbClr val="333333"/>
                </a:solidFill>
                <a:latin typeface="Roboto Lt"/>
                <a:cs typeface="Roboto Lt"/>
              </a:rPr>
              <a:t>u</a:t>
            </a:r>
            <a:r>
              <a:rPr sz="900" spc="-5" dirty="0">
                <a:solidFill>
                  <a:srgbClr val="333333"/>
                </a:solidFill>
                <a:latin typeface="Roboto Lt"/>
                <a:cs typeface="Roboto Lt"/>
              </a:rPr>
              <a:t>s</a:t>
            </a:r>
            <a:r>
              <a:rPr sz="900" spc="-20" dirty="0">
                <a:solidFill>
                  <a:srgbClr val="333333"/>
                </a:solidFill>
                <a:latin typeface="Roboto Lt"/>
                <a:cs typeface="Roboto Lt"/>
              </a:rPr>
              <a:t> </a:t>
            </a:r>
            <a:r>
              <a:rPr sz="900" dirty="0">
                <a:solidFill>
                  <a:srgbClr val="333333"/>
                </a:solidFill>
                <a:latin typeface="Roboto Lt"/>
                <a:cs typeface="Roboto Lt"/>
              </a:rPr>
              <a:t>c</a:t>
            </a:r>
            <a:r>
              <a:rPr sz="900" spc="-15" dirty="0">
                <a:solidFill>
                  <a:srgbClr val="333333"/>
                </a:solidFill>
                <a:latin typeface="Roboto Lt"/>
                <a:cs typeface="Roboto Lt"/>
              </a:rPr>
              <a:t>han</a:t>
            </a:r>
            <a:r>
              <a:rPr sz="900" spc="-10" dirty="0">
                <a:solidFill>
                  <a:srgbClr val="333333"/>
                </a:solidFill>
                <a:latin typeface="Roboto Lt"/>
                <a:cs typeface="Roboto Lt"/>
              </a:rPr>
              <a:t>ge</a:t>
            </a:r>
            <a:r>
              <a:rPr sz="900" spc="-5" dirty="0">
                <a:solidFill>
                  <a:srgbClr val="333333"/>
                </a:solidFill>
                <a:latin typeface="Roboto Lt"/>
                <a:cs typeface="Roboto Lt"/>
              </a:rPr>
              <a:t>s</a:t>
            </a:r>
            <a:r>
              <a:rPr sz="900" spc="-20" dirty="0">
                <a:solidFill>
                  <a:srgbClr val="333333"/>
                </a:solidFill>
                <a:latin typeface="Roboto Lt"/>
                <a:cs typeface="Roboto Lt"/>
              </a:rPr>
              <a:t> </a:t>
            </a:r>
            <a:r>
              <a:rPr sz="900" spc="-15" dirty="0">
                <a:solidFill>
                  <a:srgbClr val="333333"/>
                </a:solidFill>
                <a:latin typeface="Roboto Lt"/>
                <a:cs typeface="Roboto Lt"/>
              </a:rPr>
              <a:t>th</a:t>
            </a:r>
            <a:r>
              <a:rPr sz="900" spc="-20" dirty="0">
                <a:solidFill>
                  <a:srgbClr val="333333"/>
                </a:solidFill>
                <a:latin typeface="Roboto Lt"/>
                <a:cs typeface="Roboto Lt"/>
              </a:rPr>
              <a:t>a</a:t>
            </a:r>
            <a:r>
              <a:rPr sz="900" spc="-5" dirty="0">
                <a:solidFill>
                  <a:srgbClr val="333333"/>
                </a:solidFill>
                <a:latin typeface="Roboto Lt"/>
                <a:cs typeface="Roboto Lt"/>
              </a:rPr>
              <a:t>t  stick. Once </a:t>
            </a:r>
            <a:r>
              <a:rPr sz="900" spc="-10" dirty="0">
                <a:solidFill>
                  <a:srgbClr val="333333"/>
                </a:solidFill>
                <a:latin typeface="Roboto Lt"/>
                <a:cs typeface="Roboto Lt"/>
              </a:rPr>
              <a:t>the Kanban </a:t>
            </a:r>
            <a:r>
              <a:rPr sz="900" spc="-5" dirty="0">
                <a:solidFill>
                  <a:srgbClr val="333333"/>
                </a:solidFill>
                <a:latin typeface="Roboto Lt"/>
                <a:cs typeface="Roboto Lt"/>
              </a:rPr>
              <a:t> </a:t>
            </a:r>
            <a:r>
              <a:rPr sz="900" spc="-15" dirty="0">
                <a:solidFill>
                  <a:srgbClr val="333333"/>
                </a:solidFill>
                <a:latin typeface="Roboto Lt"/>
                <a:cs typeface="Roboto Lt"/>
              </a:rPr>
              <a:t>system is </a:t>
            </a:r>
            <a:r>
              <a:rPr sz="900" spc="-10" dirty="0">
                <a:solidFill>
                  <a:srgbClr val="333333"/>
                </a:solidFill>
                <a:latin typeface="Roboto Lt"/>
                <a:cs typeface="Roboto Lt"/>
              </a:rPr>
              <a:t>in </a:t>
            </a:r>
            <a:r>
              <a:rPr sz="900" spc="-5" dirty="0">
                <a:solidFill>
                  <a:srgbClr val="333333"/>
                </a:solidFill>
                <a:latin typeface="Roboto Lt"/>
                <a:cs typeface="Roboto Lt"/>
              </a:rPr>
              <a:t>place, </a:t>
            </a:r>
            <a:r>
              <a:rPr sz="900" spc="-10" dirty="0">
                <a:solidFill>
                  <a:srgbClr val="333333"/>
                </a:solidFill>
                <a:latin typeface="Roboto Lt"/>
                <a:cs typeface="Roboto Lt"/>
              </a:rPr>
              <a:t>the </a:t>
            </a:r>
            <a:r>
              <a:rPr sz="900" spc="-5" dirty="0">
                <a:solidFill>
                  <a:srgbClr val="333333"/>
                </a:solidFill>
                <a:latin typeface="Roboto Lt"/>
                <a:cs typeface="Roboto Lt"/>
              </a:rPr>
              <a:t> </a:t>
            </a:r>
            <a:r>
              <a:rPr sz="900" spc="-10" dirty="0">
                <a:solidFill>
                  <a:srgbClr val="333333"/>
                </a:solidFill>
                <a:latin typeface="Roboto Lt"/>
                <a:cs typeface="Roboto Lt"/>
              </a:rPr>
              <a:t>team </a:t>
            </a:r>
            <a:r>
              <a:rPr sz="900" spc="-15" dirty="0">
                <a:solidFill>
                  <a:srgbClr val="333333"/>
                </a:solidFill>
                <a:latin typeface="Roboto Lt"/>
                <a:cs typeface="Roboto Lt"/>
              </a:rPr>
              <a:t>will </a:t>
            </a:r>
            <a:r>
              <a:rPr sz="900" spc="-5" dirty="0">
                <a:solidFill>
                  <a:srgbClr val="333333"/>
                </a:solidFill>
                <a:latin typeface="Roboto Lt"/>
                <a:cs typeface="Roboto Lt"/>
              </a:rPr>
              <a:t>be </a:t>
            </a:r>
            <a:r>
              <a:rPr sz="900" spc="-10" dirty="0">
                <a:solidFill>
                  <a:srgbClr val="333333"/>
                </a:solidFill>
                <a:latin typeface="Roboto Lt"/>
                <a:cs typeface="Roboto Lt"/>
              </a:rPr>
              <a:t>able </a:t>
            </a:r>
            <a:r>
              <a:rPr sz="900" spc="-15" dirty="0">
                <a:solidFill>
                  <a:srgbClr val="333333"/>
                </a:solidFill>
                <a:latin typeface="Roboto Lt"/>
                <a:cs typeface="Roboto Lt"/>
              </a:rPr>
              <a:t>to </a:t>
            </a:r>
            <a:r>
              <a:rPr sz="900" spc="-10" dirty="0">
                <a:solidFill>
                  <a:srgbClr val="333333"/>
                </a:solidFill>
                <a:latin typeface="Roboto Lt"/>
                <a:cs typeface="Roboto Lt"/>
              </a:rPr>
              <a:t> identify and understand </a:t>
            </a:r>
            <a:r>
              <a:rPr sz="900" spc="-5" dirty="0">
                <a:solidFill>
                  <a:srgbClr val="333333"/>
                </a:solidFill>
                <a:latin typeface="Roboto Lt"/>
                <a:cs typeface="Roboto Lt"/>
              </a:rPr>
              <a:t> </a:t>
            </a:r>
            <a:r>
              <a:rPr sz="900" spc="-10" dirty="0">
                <a:solidFill>
                  <a:srgbClr val="333333"/>
                </a:solidFill>
                <a:latin typeface="Roboto Lt"/>
                <a:cs typeface="Roboto Lt"/>
              </a:rPr>
              <a:t>issues and suggest </a:t>
            </a:r>
            <a:r>
              <a:rPr sz="900" spc="-5" dirty="0">
                <a:solidFill>
                  <a:srgbClr val="333333"/>
                </a:solidFill>
                <a:latin typeface="Roboto Lt"/>
                <a:cs typeface="Roboto Lt"/>
              </a:rPr>
              <a:t> </a:t>
            </a:r>
            <a:r>
              <a:rPr sz="900" spc="-10" dirty="0">
                <a:solidFill>
                  <a:srgbClr val="333333"/>
                </a:solidFill>
                <a:latin typeface="Roboto Lt"/>
                <a:cs typeface="Roboto Lt"/>
              </a:rPr>
              <a:t>improvements.</a:t>
            </a:r>
            <a:endParaRPr sz="900">
              <a:latin typeface="Roboto Lt"/>
              <a:cs typeface="Roboto Lt"/>
            </a:endParaRPr>
          </a:p>
        </p:txBody>
      </p:sp>
      <p:grpSp>
        <p:nvGrpSpPr>
          <p:cNvPr id="17" name="object 17"/>
          <p:cNvGrpSpPr/>
          <p:nvPr/>
        </p:nvGrpSpPr>
        <p:grpSpPr>
          <a:xfrm>
            <a:off x="628731" y="2190495"/>
            <a:ext cx="7182484" cy="558165"/>
            <a:chOff x="628731" y="2190495"/>
            <a:chExt cx="7182484" cy="558165"/>
          </a:xfrm>
        </p:grpSpPr>
        <p:pic>
          <p:nvPicPr>
            <p:cNvPr id="18" name="object 18"/>
            <p:cNvPicPr/>
            <p:nvPr/>
          </p:nvPicPr>
          <p:blipFill>
            <a:blip r:embed="rId2" cstate="print"/>
            <a:stretch>
              <a:fillRect/>
            </a:stretch>
          </p:blipFill>
          <p:spPr>
            <a:xfrm>
              <a:off x="628731" y="2190501"/>
              <a:ext cx="548766" cy="557758"/>
            </a:xfrm>
            <a:prstGeom prst="rect">
              <a:avLst/>
            </a:prstGeom>
          </p:spPr>
        </p:pic>
        <p:sp>
          <p:nvSpPr>
            <p:cNvPr id="19" name="object 19"/>
            <p:cNvSpPr/>
            <p:nvPr/>
          </p:nvSpPr>
          <p:spPr>
            <a:xfrm>
              <a:off x="3984091" y="2190495"/>
              <a:ext cx="1951355" cy="558165"/>
            </a:xfrm>
            <a:custGeom>
              <a:avLst/>
              <a:gdLst/>
              <a:ahLst/>
              <a:cxnLst/>
              <a:rect l="l" t="t" r="r" b="b"/>
              <a:pathLst>
                <a:path w="1951354" h="558164">
                  <a:moveTo>
                    <a:pt x="104571" y="505485"/>
                  </a:moveTo>
                  <a:lnTo>
                    <a:pt x="100457" y="485152"/>
                  </a:lnTo>
                  <a:lnTo>
                    <a:pt x="90652" y="470623"/>
                  </a:lnTo>
                  <a:lnTo>
                    <a:pt x="89242" y="468528"/>
                  </a:lnTo>
                  <a:lnTo>
                    <a:pt x="87147" y="467118"/>
                  </a:lnTo>
                  <a:lnTo>
                    <a:pt x="87147" y="505485"/>
                  </a:lnTo>
                  <a:lnTo>
                    <a:pt x="84404" y="519036"/>
                  </a:lnTo>
                  <a:lnTo>
                    <a:pt x="76923" y="530123"/>
                  </a:lnTo>
                  <a:lnTo>
                    <a:pt x="65836" y="537603"/>
                  </a:lnTo>
                  <a:lnTo>
                    <a:pt x="52285" y="540346"/>
                  </a:lnTo>
                  <a:lnTo>
                    <a:pt x="38722" y="537603"/>
                  </a:lnTo>
                  <a:lnTo>
                    <a:pt x="27647" y="530123"/>
                  </a:lnTo>
                  <a:lnTo>
                    <a:pt x="20167" y="519036"/>
                  </a:lnTo>
                  <a:lnTo>
                    <a:pt x="17424" y="505485"/>
                  </a:lnTo>
                  <a:lnTo>
                    <a:pt x="20167" y="491934"/>
                  </a:lnTo>
                  <a:lnTo>
                    <a:pt x="27647" y="480847"/>
                  </a:lnTo>
                  <a:lnTo>
                    <a:pt x="38722" y="473367"/>
                  </a:lnTo>
                  <a:lnTo>
                    <a:pt x="52285" y="470623"/>
                  </a:lnTo>
                  <a:lnTo>
                    <a:pt x="65836" y="473367"/>
                  </a:lnTo>
                  <a:lnTo>
                    <a:pt x="76923" y="480847"/>
                  </a:lnTo>
                  <a:lnTo>
                    <a:pt x="84404" y="491934"/>
                  </a:lnTo>
                  <a:lnTo>
                    <a:pt x="87147" y="505485"/>
                  </a:lnTo>
                  <a:lnTo>
                    <a:pt x="87147" y="467118"/>
                  </a:lnTo>
                  <a:lnTo>
                    <a:pt x="72618" y="457301"/>
                  </a:lnTo>
                  <a:lnTo>
                    <a:pt x="52285" y="453186"/>
                  </a:lnTo>
                  <a:lnTo>
                    <a:pt x="31953" y="457301"/>
                  </a:lnTo>
                  <a:lnTo>
                    <a:pt x="15328" y="468528"/>
                  </a:lnTo>
                  <a:lnTo>
                    <a:pt x="4114" y="485152"/>
                  </a:lnTo>
                  <a:lnTo>
                    <a:pt x="0" y="505485"/>
                  </a:lnTo>
                  <a:lnTo>
                    <a:pt x="4114" y="525818"/>
                  </a:lnTo>
                  <a:lnTo>
                    <a:pt x="15328" y="542442"/>
                  </a:lnTo>
                  <a:lnTo>
                    <a:pt x="31953" y="553656"/>
                  </a:lnTo>
                  <a:lnTo>
                    <a:pt x="52285" y="557771"/>
                  </a:lnTo>
                  <a:lnTo>
                    <a:pt x="72618" y="553656"/>
                  </a:lnTo>
                  <a:lnTo>
                    <a:pt x="89242" y="542442"/>
                  </a:lnTo>
                  <a:lnTo>
                    <a:pt x="90652" y="540346"/>
                  </a:lnTo>
                  <a:lnTo>
                    <a:pt x="100457" y="525818"/>
                  </a:lnTo>
                  <a:lnTo>
                    <a:pt x="104571" y="505485"/>
                  </a:lnTo>
                  <a:close/>
                </a:path>
                <a:path w="1951354" h="558164">
                  <a:moveTo>
                    <a:pt x="104571" y="287604"/>
                  </a:moveTo>
                  <a:lnTo>
                    <a:pt x="69710" y="287604"/>
                  </a:lnTo>
                  <a:lnTo>
                    <a:pt x="59550" y="289661"/>
                  </a:lnTo>
                  <a:lnTo>
                    <a:pt x="51231" y="295275"/>
                  </a:lnTo>
                  <a:lnTo>
                    <a:pt x="45631" y="303580"/>
                  </a:lnTo>
                  <a:lnTo>
                    <a:pt x="43573" y="313753"/>
                  </a:lnTo>
                  <a:lnTo>
                    <a:pt x="43573" y="406019"/>
                  </a:lnTo>
                  <a:lnTo>
                    <a:pt x="23583" y="386029"/>
                  </a:lnTo>
                  <a:lnTo>
                    <a:pt x="11264" y="398348"/>
                  </a:lnTo>
                  <a:lnTo>
                    <a:pt x="47828" y="434911"/>
                  </a:lnTo>
                  <a:lnTo>
                    <a:pt x="50050" y="435762"/>
                  </a:lnTo>
                  <a:lnTo>
                    <a:pt x="52285" y="435762"/>
                  </a:lnTo>
                  <a:lnTo>
                    <a:pt x="54521" y="435762"/>
                  </a:lnTo>
                  <a:lnTo>
                    <a:pt x="56743" y="434911"/>
                  </a:lnTo>
                  <a:lnTo>
                    <a:pt x="93306" y="398348"/>
                  </a:lnTo>
                  <a:lnTo>
                    <a:pt x="80987" y="386029"/>
                  </a:lnTo>
                  <a:lnTo>
                    <a:pt x="60998" y="406019"/>
                  </a:lnTo>
                  <a:lnTo>
                    <a:pt x="60998" y="308940"/>
                  </a:lnTo>
                  <a:lnTo>
                    <a:pt x="64909" y="305041"/>
                  </a:lnTo>
                  <a:lnTo>
                    <a:pt x="104571" y="305041"/>
                  </a:lnTo>
                  <a:lnTo>
                    <a:pt x="104571" y="287604"/>
                  </a:lnTo>
                  <a:close/>
                </a:path>
                <a:path w="1951354" h="558164">
                  <a:moveTo>
                    <a:pt x="104571" y="252755"/>
                  </a:moveTo>
                  <a:lnTo>
                    <a:pt x="64909" y="252755"/>
                  </a:lnTo>
                  <a:lnTo>
                    <a:pt x="60998" y="248843"/>
                  </a:lnTo>
                  <a:lnTo>
                    <a:pt x="60998" y="151765"/>
                  </a:lnTo>
                  <a:lnTo>
                    <a:pt x="80987" y="171754"/>
                  </a:lnTo>
                  <a:lnTo>
                    <a:pt x="93306" y="159435"/>
                  </a:lnTo>
                  <a:lnTo>
                    <a:pt x="55041" y="121170"/>
                  </a:lnTo>
                  <a:lnTo>
                    <a:pt x="49530" y="121170"/>
                  </a:lnTo>
                  <a:lnTo>
                    <a:pt x="11264" y="159435"/>
                  </a:lnTo>
                  <a:lnTo>
                    <a:pt x="23596" y="171754"/>
                  </a:lnTo>
                  <a:lnTo>
                    <a:pt x="43561" y="151790"/>
                  </a:lnTo>
                  <a:lnTo>
                    <a:pt x="43561" y="244030"/>
                  </a:lnTo>
                  <a:lnTo>
                    <a:pt x="45618" y="254203"/>
                  </a:lnTo>
                  <a:lnTo>
                    <a:pt x="51231" y="262509"/>
                  </a:lnTo>
                  <a:lnTo>
                    <a:pt x="59550" y="268122"/>
                  </a:lnTo>
                  <a:lnTo>
                    <a:pt x="69710" y="270179"/>
                  </a:lnTo>
                  <a:lnTo>
                    <a:pt x="104571" y="270179"/>
                  </a:lnTo>
                  <a:lnTo>
                    <a:pt x="104571" y="252755"/>
                  </a:lnTo>
                  <a:close/>
                </a:path>
                <a:path w="1951354" h="558164">
                  <a:moveTo>
                    <a:pt x="104571" y="52298"/>
                  </a:moveTo>
                  <a:lnTo>
                    <a:pt x="100457" y="31965"/>
                  </a:lnTo>
                  <a:lnTo>
                    <a:pt x="90652" y="17437"/>
                  </a:lnTo>
                  <a:lnTo>
                    <a:pt x="89242" y="15341"/>
                  </a:lnTo>
                  <a:lnTo>
                    <a:pt x="87147" y="13931"/>
                  </a:lnTo>
                  <a:lnTo>
                    <a:pt x="87147" y="52298"/>
                  </a:lnTo>
                  <a:lnTo>
                    <a:pt x="84404" y="65862"/>
                  </a:lnTo>
                  <a:lnTo>
                    <a:pt x="76923" y="76949"/>
                  </a:lnTo>
                  <a:lnTo>
                    <a:pt x="65836" y="84416"/>
                  </a:lnTo>
                  <a:lnTo>
                    <a:pt x="52285" y="87160"/>
                  </a:lnTo>
                  <a:lnTo>
                    <a:pt x="38722" y="84416"/>
                  </a:lnTo>
                  <a:lnTo>
                    <a:pt x="27647" y="76949"/>
                  </a:lnTo>
                  <a:lnTo>
                    <a:pt x="20167" y="65862"/>
                  </a:lnTo>
                  <a:lnTo>
                    <a:pt x="17424" y="52298"/>
                  </a:lnTo>
                  <a:lnTo>
                    <a:pt x="20167" y="38747"/>
                  </a:lnTo>
                  <a:lnTo>
                    <a:pt x="27647" y="27660"/>
                  </a:lnTo>
                  <a:lnTo>
                    <a:pt x="38722" y="20180"/>
                  </a:lnTo>
                  <a:lnTo>
                    <a:pt x="52285" y="17437"/>
                  </a:lnTo>
                  <a:lnTo>
                    <a:pt x="65836" y="20180"/>
                  </a:lnTo>
                  <a:lnTo>
                    <a:pt x="76923" y="27660"/>
                  </a:lnTo>
                  <a:lnTo>
                    <a:pt x="84404" y="38747"/>
                  </a:lnTo>
                  <a:lnTo>
                    <a:pt x="87147" y="52298"/>
                  </a:lnTo>
                  <a:lnTo>
                    <a:pt x="87147" y="13931"/>
                  </a:lnTo>
                  <a:lnTo>
                    <a:pt x="72618" y="4127"/>
                  </a:lnTo>
                  <a:lnTo>
                    <a:pt x="52285" y="0"/>
                  </a:lnTo>
                  <a:lnTo>
                    <a:pt x="31953" y="4127"/>
                  </a:lnTo>
                  <a:lnTo>
                    <a:pt x="15328" y="15341"/>
                  </a:lnTo>
                  <a:lnTo>
                    <a:pt x="4114" y="31965"/>
                  </a:lnTo>
                  <a:lnTo>
                    <a:pt x="0" y="52298"/>
                  </a:lnTo>
                  <a:lnTo>
                    <a:pt x="4114" y="72631"/>
                  </a:lnTo>
                  <a:lnTo>
                    <a:pt x="15328" y="89255"/>
                  </a:lnTo>
                  <a:lnTo>
                    <a:pt x="31953" y="100469"/>
                  </a:lnTo>
                  <a:lnTo>
                    <a:pt x="52285" y="104584"/>
                  </a:lnTo>
                  <a:lnTo>
                    <a:pt x="72618" y="100469"/>
                  </a:lnTo>
                  <a:lnTo>
                    <a:pt x="89242" y="89255"/>
                  </a:lnTo>
                  <a:lnTo>
                    <a:pt x="90652" y="87160"/>
                  </a:lnTo>
                  <a:lnTo>
                    <a:pt x="100457" y="72631"/>
                  </a:lnTo>
                  <a:lnTo>
                    <a:pt x="104571" y="52298"/>
                  </a:lnTo>
                  <a:close/>
                </a:path>
                <a:path w="1951354" h="558164">
                  <a:moveTo>
                    <a:pt x="217881" y="270179"/>
                  </a:moveTo>
                  <a:lnTo>
                    <a:pt x="200444" y="270179"/>
                  </a:lnTo>
                  <a:lnTo>
                    <a:pt x="200444" y="287604"/>
                  </a:lnTo>
                  <a:lnTo>
                    <a:pt x="217881" y="287604"/>
                  </a:lnTo>
                  <a:lnTo>
                    <a:pt x="217881" y="270179"/>
                  </a:lnTo>
                  <a:close/>
                </a:path>
                <a:path w="1951354" h="558164">
                  <a:moveTo>
                    <a:pt x="252730" y="270179"/>
                  </a:moveTo>
                  <a:lnTo>
                    <a:pt x="235305" y="270179"/>
                  </a:lnTo>
                  <a:lnTo>
                    <a:pt x="235305" y="287604"/>
                  </a:lnTo>
                  <a:lnTo>
                    <a:pt x="252730" y="287604"/>
                  </a:lnTo>
                  <a:lnTo>
                    <a:pt x="252730" y="270179"/>
                  </a:lnTo>
                  <a:close/>
                </a:path>
                <a:path w="1951354" h="558164">
                  <a:moveTo>
                    <a:pt x="285038" y="398348"/>
                  </a:moveTo>
                  <a:lnTo>
                    <a:pt x="272719" y="386029"/>
                  </a:lnTo>
                  <a:lnTo>
                    <a:pt x="252730" y="406019"/>
                  </a:lnTo>
                  <a:lnTo>
                    <a:pt x="252730" y="348615"/>
                  </a:lnTo>
                  <a:lnTo>
                    <a:pt x="235305" y="348615"/>
                  </a:lnTo>
                  <a:lnTo>
                    <a:pt x="235305" y="406019"/>
                  </a:lnTo>
                  <a:lnTo>
                    <a:pt x="215315" y="386029"/>
                  </a:lnTo>
                  <a:lnTo>
                    <a:pt x="202996" y="398348"/>
                  </a:lnTo>
                  <a:lnTo>
                    <a:pt x="244017" y="439369"/>
                  </a:lnTo>
                  <a:lnTo>
                    <a:pt x="285038" y="398348"/>
                  </a:lnTo>
                  <a:close/>
                </a:path>
                <a:path w="1951354" h="558164">
                  <a:moveTo>
                    <a:pt x="285038" y="159435"/>
                  </a:moveTo>
                  <a:lnTo>
                    <a:pt x="244017" y="118414"/>
                  </a:lnTo>
                  <a:lnTo>
                    <a:pt x="202996" y="159435"/>
                  </a:lnTo>
                  <a:lnTo>
                    <a:pt x="215315" y="171754"/>
                  </a:lnTo>
                  <a:lnTo>
                    <a:pt x="235305" y="151765"/>
                  </a:lnTo>
                  <a:lnTo>
                    <a:pt x="235305" y="209169"/>
                  </a:lnTo>
                  <a:lnTo>
                    <a:pt x="252730" y="209169"/>
                  </a:lnTo>
                  <a:lnTo>
                    <a:pt x="252730" y="151765"/>
                  </a:lnTo>
                  <a:lnTo>
                    <a:pt x="272719" y="171754"/>
                  </a:lnTo>
                  <a:lnTo>
                    <a:pt x="285038" y="159435"/>
                  </a:lnTo>
                  <a:close/>
                </a:path>
                <a:path w="1951354" h="558164">
                  <a:moveTo>
                    <a:pt x="287591" y="270179"/>
                  </a:moveTo>
                  <a:lnTo>
                    <a:pt x="270167" y="270179"/>
                  </a:lnTo>
                  <a:lnTo>
                    <a:pt x="270167" y="287604"/>
                  </a:lnTo>
                  <a:lnTo>
                    <a:pt x="287591" y="287604"/>
                  </a:lnTo>
                  <a:lnTo>
                    <a:pt x="287591" y="270179"/>
                  </a:lnTo>
                  <a:close/>
                </a:path>
                <a:path w="1951354" h="558164">
                  <a:moveTo>
                    <a:pt x="296303" y="505485"/>
                  </a:moveTo>
                  <a:lnTo>
                    <a:pt x="292188" y="485152"/>
                  </a:lnTo>
                  <a:lnTo>
                    <a:pt x="282384" y="470623"/>
                  </a:lnTo>
                  <a:lnTo>
                    <a:pt x="280962" y="468528"/>
                  </a:lnTo>
                  <a:lnTo>
                    <a:pt x="278879" y="467131"/>
                  </a:lnTo>
                  <a:lnTo>
                    <a:pt x="278879" y="505485"/>
                  </a:lnTo>
                  <a:lnTo>
                    <a:pt x="276136" y="519036"/>
                  </a:lnTo>
                  <a:lnTo>
                    <a:pt x="268655" y="530123"/>
                  </a:lnTo>
                  <a:lnTo>
                    <a:pt x="257568" y="537603"/>
                  </a:lnTo>
                  <a:lnTo>
                    <a:pt x="244017" y="540346"/>
                  </a:lnTo>
                  <a:lnTo>
                    <a:pt x="230454" y="537603"/>
                  </a:lnTo>
                  <a:lnTo>
                    <a:pt x="219367" y="530123"/>
                  </a:lnTo>
                  <a:lnTo>
                    <a:pt x="211899" y="519036"/>
                  </a:lnTo>
                  <a:lnTo>
                    <a:pt x="209156" y="505485"/>
                  </a:lnTo>
                  <a:lnTo>
                    <a:pt x="211899" y="491934"/>
                  </a:lnTo>
                  <a:lnTo>
                    <a:pt x="219367" y="480847"/>
                  </a:lnTo>
                  <a:lnTo>
                    <a:pt x="230454" y="473367"/>
                  </a:lnTo>
                  <a:lnTo>
                    <a:pt x="244017" y="470623"/>
                  </a:lnTo>
                  <a:lnTo>
                    <a:pt x="257568" y="473367"/>
                  </a:lnTo>
                  <a:lnTo>
                    <a:pt x="268655" y="480847"/>
                  </a:lnTo>
                  <a:lnTo>
                    <a:pt x="276136" y="491934"/>
                  </a:lnTo>
                  <a:lnTo>
                    <a:pt x="278879" y="505485"/>
                  </a:lnTo>
                  <a:lnTo>
                    <a:pt x="278879" y="467131"/>
                  </a:lnTo>
                  <a:lnTo>
                    <a:pt x="264350" y="457301"/>
                  </a:lnTo>
                  <a:lnTo>
                    <a:pt x="244017" y="453186"/>
                  </a:lnTo>
                  <a:lnTo>
                    <a:pt x="223685" y="457301"/>
                  </a:lnTo>
                  <a:lnTo>
                    <a:pt x="207060" y="468528"/>
                  </a:lnTo>
                  <a:lnTo>
                    <a:pt x="195846" y="485152"/>
                  </a:lnTo>
                  <a:lnTo>
                    <a:pt x="191731" y="505485"/>
                  </a:lnTo>
                  <a:lnTo>
                    <a:pt x="195846" y="525818"/>
                  </a:lnTo>
                  <a:lnTo>
                    <a:pt x="207060" y="542442"/>
                  </a:lnTo>
                  <a:lnTo>
                    <a:pt x="223685" y="553656"/>
                  </a:lnTo>
                  <a:lnTo>
                    <a:pt x="244017" y="557771"/>
                  </a:lnTo>
                  <a:lnTo>
                    <a:pt x="264350" y="553656"/>
                  </a:lnTo>
                  <a:lnTo>
                    <a:pt x="280962" y="542442"/>
                  </a:lnTo>
                  <a:lnTo>
                    <a:pt x="282384" y="540346"/>
                  </a:lnTo>
                  <a:lnTo>
                    <a:pt x="292188" y="525818"/>
                  </a:lnTo>
                  <a:lnTo>
                    <a:pt x="296303" y="505485"/>
                  </a:lnTo>
                  <a:close/>
                </a:path>
                <a:path w="1951354" h="558164">
                  <a:moveTo>
                    <a:pt x="296303" y="52298"/>
                  </a:moveTo>
                  <a:lnTo>
                    <a:pt x="292188" y="31965"/>
                  </a:lnTo>
                  <a:lnTo>
                    <a:pt x="282384" y="17437"/>
                  </a:lnTo>
                  <a:lnTo>
                    <a:pt x="280962" y="15341"/>
                  </a:lnTo>
                  <a:lnTo>
                    <a:pt x="278879" y="13944"/>
                  </a:lnTo>
                  <a:lnTo>
                    <a:pt x="278879" y="52298"/>
                  </a:lnTo>
                  <a:lnTo>
                    <a:pt x="276136" y="65862"/>
                  </a:lnTo>
                  <a:lnTo>
                    <a:pt x="268655" y="76949"/>
                  </a:lnTo>
                  <a:lnTo>
                    <a:pt x="257568" y="84416"/>
                  </a:lnTo>
                  <a:lnTo>
                    <a:pt x="244017" y="87160"/>
                  </a:lnTo>
                  <a:lnTo>
                    <a:pt x="230454" y="84416"/>
                  </a:lnTo>
                  <a:lnTo>
                    <a:pt x="219367" y="76949"/>
                  </a:lnTo>
                  <a:lnTo>
                    <a:pt x="211899" y="65862"/>
                  </a:lnTo>
                  <a:lnTo>
                    <a:pt x="209156" y="52298"/>
                  </a:lnTo>
                  <a:lnTo>
                    <a:pt x="211899" y="38747"/>
                  </a:lnTo>
                  <a:lnTo>
                    <a:pt x="219367" y="27660"/>
                  </a:lnTo>
                  <a:lnTo>
                    <a:pt x="230454" y="20180"/>
                  </a:lnTo>
                  <a:lnTo>
                    <a:pt x="244017" y="17437"/>
                  </a:lnTo>
                  <a:lnTo>
                    <a:pt x="257568" y="20180"/>
                  </a:lnTo>
                  <a:lnTo>
                    <a:pt x="268655" y="27660"/>
                  </a:lnTo>
                  <a:lnTo>
                    <a:pt x="276136" y="38747"/>
                  </a:lnTo>
                  <a:lnTo>
                    <a:pt x="278879" y="52298"/>
                  </a:lnTo>
                  <a:lnTo>
                    <a:pt x="278879" y="13944"/>
                  </a:lnTo>
                  <a:lnTo>
                    <a:pt x="264350" y="4127"/>
                  </a:lnTo>
                  <a:lnTo>
                    <a:pt x="244017" y="0"/>
                  </a:lnTo>
                  <a:lnTo>
                    <a:pt x="223685" y="4127"/>
                  </a:lnTo>
                  <a:lnTo>
                    <a:pt x="207060" y="15341"/>
                  </a:lnTo>
                  <a:lnTo>
                    <a:pt x="195846" y="31965"/>
                  </a:lnTo>
                  <a:lnTo>
                    <a:pt x="191731" y="52298"/>
                  </a:lnTo>
                  <a:lnTo>
                    <a:pt x="195846" y="72631"/>
                  </a:lnTo>
                  <a:lnTo>
                    <a:pt x="207060" y="89255"/>
                  </a:lnTo>
                  <a:lnTo>
                    <a:pt x="223685" y="100469"/>
                  </a:lnTo>
                  <a:lnTo>
                    <a:pt x="244017" y="104584"/>
                  </a:lnTo>
                  <a:lnTo>
                    <a:pt x="264350" y="100469"/>
                  </a:lnTo>
                  <a:lnTo>
                    <a:pt x="280962" y="89255"/>
                  </a:lnTo>
                  <a:lnTo>
                    <a:pt x="282384" y="87160"/>
                  </a:lnTo>
                  <a:lnTo>
                    <a:pt x="292188" y="72631"/>
                  </a:lnTo>
                  <a:lnTo>
                    <a:pt x="296303" y="52298"/>
                  </a:lnTo>
                  <a:close/>
                </a:path>
                <a:path w="1951354" h="558164">
                  <a:moveTo>
                    <a:pt x="366026" y="226314"/>
                  </a:moveTo>
                  <a:lnTo>
                    <a:pt x="122008" y="226314"/>
                  </a:lnTo>
                  <a:lnTo>
                    <a:pt x="122008" y="244094"/>
                  </a:lnTo>
                  <a:lnTo>
                    <a:pt x="122008" y="313944"/>
                  </a:lnTo>
                  <a:lnTo>
                    <a:pt x="122008" y="331724"/>
                  </a:lnTo>
                  <a:lnTo>
                    <a:pt x="366026" y="331724"/>
                  </a:lnTo>
                  <a:lnTo>
                    <a:pt x="366026" y="313944"/>
                  </a:lnTo>
                  <a:lnTo>
                    <a:pt x="139446" y="313944"/>
                  </a:lnTo>
                  <a:lnTo>
                    <a:pt x="139446" y="244094"/>
                  </a:lnTo>
                  <a:lnTo>
                    <a:pt x="348602" y="244094"/>
                  </a:lnTo>
                  <a:lnTo>
                    <a:pt x="348602" y="313740"/>
                  </a:lnTo>
                  <a:lnTo>
                    <a:pt x="366026" y="313740"/>
                  </a:lnTo>
                  <a:lnTo>
                    <a:pt x="366026" y="244094"/>
                  </a:lnTo>
                  <a:lnTo>
                    <a:pt x="366026" y="226314"/>
                  </a:lnTo>
                  <a:close/>
                </a:path>
                <a:path w="1951354" h="558164">
                  <a:moveTo>
                    <a:pt x="476758" y="159435"/>
                  </a:moveTo>
                  <a:lnTo>
                    <a:pt x="435737" y="118414"/>
                  </a:lnTo>
                  <a:lnTo>
                    <a:pt x="394716" y="159435"/>
                  </a:lnTo>
                  <a:lnTo>
                    <a:pt x="407047" y="171754"/>
                  </a:lnTo>
                  <a:lnTo>
                    <a:pt x="427024" y="151777"/>
                  </a:lnTo>
                  <a:lnTo>
                    <a:pt x="427024" y="248843"/>
                  </a:lnTo>
                  <a:lnTo>
                    <a:pt x="423113" y="252755"/>
                  </a:lnTo>
                  <a:lnTo>
                    <a:pt x="383451" y="252755"/>
                  </a:lnTo>
                  <a:lnTo>
                    <a:pt x="383451" y="270179"/>
                  </a:lnTo>
                  <a:lnTo>
                    <a:pt x="418312" y="270179"/>
                  </a:lnTo>
                  <a:lnTo>
                    <a:pt x="428485" y="268122"/>
                  </a:lnTo>
                  <a:lnTo>
                    <a:pt x="436791" y="262509"/>
                  </a:lnTo>
                  <a:lnTo>
                    <a:pt x="442404" y="254203"/>
                  </a:lnTo>
                  <a:lnTo>
                    <a:pt x="444461" y="244030"/>
                  </a:lnTo>
                  <a:lnTo>
                    <a:pt x="444461" y="151777"/>
                  </a:lnTo>
                  <a:lnTo>
                    <a:pt x="464439" y="171754"/>
                  </a:lnTo>
                  <a:lnTo>
                    <a:pt x="476758" y="159435"/>
                  </a:lnTo>
                  <a:close/>
                </a:path>
                <a:path w="1951354" h="558164">
                  <a:moveTo>
                    <a:pt x="476770" y="398348"/>
                  </a:moveTo>
                  <a:lnTo>
                    <a:pt x="464451" y="386029"/>
                  </a:lnTo>
                  <a:lnTo>
                    <a:pt x="444461" y="406019"/>
                  </a:lnTo>
                  <a:lnTo>
                    <a:pt x="444461" y="313753"/>
                  </a:lnTo>
                  <a:lnTo>
                    <a:pt x="442404" y="303580"/>
                  </a:lnTo>
                  <a:lnTo>
                    <a:pt x="436791" y="295275"/>
                  </a:lnTo>
                  <a:lnTo>
                    <a:pt x="428485" y="289661"/>
                  </a:lnTo>
                  <a:lnTo>
                    <a:pt x="418312" y="287604"/>
                  </a:lnTo>
                  <a:lnTo>
                    <a:pt x="383451" y="287604"/>
                  </a:lnTo>
                  <a:lnTo>
                    <a:pt x="383451" y="305041"/>
                  </a:lnTo>
                  <a:lnTo>
                    <a:pt x="423125" y="305041"/>
                  </a:lnTo>
                  <a:lnTo>
                    <a:pt x="427037" y="308940"/>
                  </a:lnTo>
                  <a:lnTo>
                    <a:pt x="427037" y="406019"/>
                  </a:lnTo>
                  <a:lnTo>
                    <a:pt x="407047" y="386029"/>
                  </a:lnTo>
                  <a:lnTo>
                    <a:pt x="394728" y="398348"/>
                  </a:lnTo>
                  <a:lnTo>
                    <a:pt x="435749" y="439369"/>
                  </a:lnTo>
                  <a:lnTo>
                    <a:pt x="476770" y="398348"/>
                  </a:lnTo>
                  <a:close/>
                </a:path>
                <a:path w="1951354" h="558164">
                  <a:moveTo>
                    <a:pt x="488035" y="505485"/>
                  </a:moveTo>
                  <a:lnTo>
                    <a:pt x="483920" y="485152"/>
                  </a:lnTo>
                  <a:lnTo>
                    <a:pt x="474116" y="470623"/>
                  </a:lnTo>
                  <a:lnTo>
                    <a:pt x="472694" y="468528"/>
                  </a:lnTo>
                  <a:lnTo>
                    <a:pt x="470611" y="467131"/>
                  </a:lnTo>
                  <a:lnTo>
                    <a:pt x="470611" y="505485"/>
                  </a:lnTo>
                  <a:lnTo>
                    <a:pt x="467868" y="519036"/>
                  </a:lnTo>
                  <a:lnTo>
                    <a:pt x="460387" y="530123"/>
                  </a:lnTo>
                  <a:lnTo>
                    <a:pt x="449300" y="537603"/>
                  </a:lnTo>
                  <a:lnTo>
                    <a:pt x="435749" y="540346"/>
                  </a:lnTo>
                  <a:lnTo>
                    <a:pt x="422186" y="537603"/>
                  </a:lnTo>
                  <a:lnTo>
                    <a:pt x="411099" y="530123"/>
                  </a:lnTo>
                  <a:lnTo>
                    <a:pt x="403631" y="519036"/>
                  </a:lnTo>
                  <a:lnTo>
                    <a:pt x="400888" y="505485"/>
                  </a:lnTo>
                  <a:lnTo>
                    <a:pt x="403631" y="491934"/>
                  </a:lnTo>
                  <a:lnTo>
                    <a:pt x="411099" y="480847"/>
                  </a:lnTo>
                  <a:lnTo>
                    <a:pt x="422186" y="473367"/>
                  </a:lnTo>
                  <a:lnTo>
                    <a:pt x="435749" y="470623"/>
                  </a:lnTo>
                  <a:lnTo>
                    <a:pt x="449300" y="473367"/>
                  </a:lnTo>
                  <a:lnTo>
                    <a:pt x="460387" y="480847"/>
                  </a:lnTo>
                  <a:lnTo>
                    <a:pt x="467868" y="491934"/>
                  </a:lnTo>
                  <a:lnTo>
                    <a:pt x="470611" y="505485"/>
                  </a:lnTo>
                  <a:lnTo>
                    <a:pt x="470611" y="467131"/>
                  </a:lnTo>
                  <a:lnTo>
                    <a:pt x="456082" y="457301"/>
                  </a:lnTo>
                  <a:lnTo>
                    <a:pt x="435749" y="453186"/>
                  </a:lnTo>
                  <a:lnTo>
                    <a:pt x="415417" y="457301"/>
                  </a:lnTo>
                  <a:lnTo>
                    <a:pt x="398792" y="468528"/>
                  </a:lnTo>
                  <a:lnTo>
                    <a:pt x="387578" y="485152"/>
                  </a:lnTo>
                  <a:lnTo>
                    <a:pt x="383463" y="505485"/>
                  </a:lnTo>
                  <a:lnTo>
                    <a:pt x="387578" y="525818"/>
                  </a:lnTo>
                  <a:lnTo>
                    <a:pt x="398792" y="542442"/>
                  </a:lnTo>
                  <a:lnTo>
                    <a:pt x="415417" y="553656"/>
                  </a:lnTo>
                  <a:lnTo>
                    <a:pt x="435749" y="557771"/>
                  </a:lnTo>
                  <a:lnTo>
                    <a:pt x="456082" y="553656"/>
                  </a:lnTo>
                  <a:lnTo>
                    <a:pt x="472694" y="542442"/>
                  </a:lnTo>
                  <a:lnTo>
                    <a:pt x="474116" y="540346"/>
                  </a:lnTo>
                  <a:lnTo>
                    <a:pt x="483920" y="525818"/>
                  </a:lnTo>
                  <a:lnTo>
                    <a:pt x="488035" y="505485"/>
                  </a:lnTo>
                  <a:close/>
                </a:path>
                <a:path w="1951354" h="558164">
                  <a:moveTo>
                    <a:pt x="488035" y="52298"/>
                  </a:moveTo>
                  <a:lnTo>
                    <a:pt x="483920" y="31965"/>
                  </a:lnTo>
                  <a:lnTo>
                    <a:pt x="474116" y="17437"/>
                  </a:lnTo>
                  <a:lnTo>
                    <a:pt x="472694" y="15341"/>
                  </a:lnTo>
                  <a:lnTo>
                    <a:pt x="470611" y="13944"/>
                  </a:lnTo>
                  <a:lnTo>
                    <a:pt x="470611" y="52298"/>
                  </a:lnTo>
                  <a:lnTo>
                    <a:pt x="467868" y="65862"/>
                  </a:lnTo>
                  <a:lnTo>
                    <a:pt x="460387" y="76949"/>
                  </a:lnTo>
                  <a:lnTo>
                    <a:pt x="449300" y="84416"/>
                  </a:lnTo>
                  <a:lnTo>
                    <a:pt x="435749" y="87160"/>
                  </a:lnTo>
                  <a:lnTo>
                    <a:pt x="422186" y="84416"/>
                  </a:lnTo>
                  <a:lnTo>
                    <a:pt x="411099" y="76949"/>
                  </a:lnTo>
                  <a:lnTo>
                    <a:pt x="403631" y="65862"/>
                  </a:lnTo>
                  <a:lnTo>
                    <a:pt x="400888" y="52298"/>
                  </a:lnTo>
                  <a:lnTo>
                    <a:pt x="403631" y="38747"/>
                  </a:lnTo>
                  <a:lnTo>
                    <a:pt x="411099" y="27660"/>
                  </a:lnTo>
                  <a:lnTo>
                    <a:pt x="422186" y="20180"/>
                  </a:lnTo>
                  <a:lnTo>
                    <a:pt x="435749" y="17437"/>
                  </a:lnTo>
                  <a:lnTo>
                    <a:pt x="449300" y="20180"/>
                  </a:lnTo>
                  <a:lnTo>
                    <a:pt x="460387" y="27660"/>
                  </a:lnTo>
                  <a:lnTo>
                    <a:pt x="467868" y="38747"/>
                  </a:lnTo>
                  <a:lnTo>
                    <a:pt x="470611" y="52298"/>
                  </a:lnTo>
                  <a:lnTo>
                    <a:pt x="470611" y="13944"/>
                  </a:lnTo>
                  <a:lnTo>
                    <a:pt x="456082" y="4127"/>
                  </a:lnTo>
                  <a:lnTo>
                    <a:pt x="435749" y="0"/>
                  </a:lnTo>
                  <a:lnTo>
                    <a:pt x="415417" y="4127"/>
                  </a:lnTo>
                  <a:lnTo>
                    <a:pt x="398792" y="15341"/>
                  </a:lnTo>
                  <a:lnTo>
                    <a:pt x="387578" y="31965"/>
                  </a:lnTo>
                  <a:lnTo>
                    <a:pt x="383463" y="52298"/>
                  </a:lnTo>
                  <a:lnTo>
                    <a:pt x="387578" y="72631"/>
                  </a:lnTo>
                  <a:lnTo>
                    <a:pt x="398792" y="89255"/>
                  </a:lnTo>
                  <a:lnTo>
                    <a:pt x="415417" y="100469"/>
                  </a:lnTo>
                  <a:lnTo>
                    <a:pt x="435749" y="104584"/>
                  </a:lnTo>
                  <a:lnTo>
                    <a:pt x="456082" y="100469"/>
                  </a:lnTo>
                  <a:lnTo>
                    <a:pt x="472694" y="89255"/>
                  </a:lnTo>
                  <a:lnTo>
                    <a:pt x="474116" y="87160"/>
                  </a:lnTo>
                  <a:lnTo>
                    <a:pt x="483920" y="72631"/>
                  </a:lnTo>
                  <a:lnTo>
                    <a:pt x="488035" y="52298"/>
                  </a:lnTo>
                  <a:close/>
                </a:path>
                <a:path w="1951354" h="558164">
                  <a:moveTo>
                    <a:pt x="1951342" y="139446"/>
                  </a:moveTo>
                  <a:lnTo>
                    <a:pt x="1944217" y="95427"/>
                  </a:lnTo>
                  <a:lnTo>
                    <a:pt x="1933905" y="75526"/>
                  </a:lnTo>
                  <a:lnTo>
                    <a:pt x="1933905" y="139446"/>
                  </a:lnTo>
                  <a:lnTo>
                    <a:pt x="1924291" y="186893"/>
                  </a:lnTo>
                  <a:lnTo>
                    <a:pt x="1898129" y="225691"/>
                  </a:lnTo>
                  <a:lnTo>
                    <a:pt x="1859330" y="251866"/>
                  </a:lnTo>
                  <a:lnTo>
                    <a:pt x="1811896" y="261467"/>
                  </a:lnTo>
                  <a:lnTo>
                    <a:pt x="1764449" y="251866"/>
                  </a:lnTo>
                  <a:lnTo>
                    <a:pt x="1725663" y="225691"/>
                  </a:lnTo>
                  <a:lnTo>
                    <a:pt x="1699488" y="186893"/>
                  </a:lnTo>
                  <a:lnTo>
                    <a:pt x="1689887" y="139446"/>
                  </a:lnTo>
                  <a:lnTo>
                    <a:pt x="1699488" y="91998"/>
                  </a:lnTo>
                  <a:lnTo>
                    <a:pt x="1725663" y="53213"/>
                  </a:lnTo>
                  <a:lnTo>
                    <a:pt x="1764449" y="27038"/>
                  </a:lnTo>
                  <a:lnTo>
                    <a:pt x="1811896" y="17437"/>
                  </a:lnTo>
                  <a:lnTo>
                    <a:pt x="1859330" y="27038"/>
                  </a:lnTo>
                  <a:lnTo>
                    <a:pt x="1898129" y="53213"/>
                  </a:lnTo>
                  <a:lnTo>
                    <a:pt x="1924291" y="91998"/>
                  </a:lnTo>
                  <a:lnTo>
                    <a:pt x="1933905" y="139446"/>
                  </a:lnTo>
                  <a:lnTo>
                    <a:pt x="1933905" y="75526"/>
                  </a:lnTo>
                  <a:lnTo>
                    <a:pt x="1894192" y="26949"/>
                  </a:lnTo>
                  <a:lnTo>
                    <a:pt x="1855914" y="7137"/>
                  </a:lnTo>
                  <a:lnTo>
                    <a:pt x="1811896" y="12"/>
                  </a:lnTo>
                  <a:lnTo>
                    <a:pt x="1767865" y="7137"/>
                  </a:lnTo>
                  <a:lnTo>
                    <a:pt x="1729587" y="26949"/>
                  </a:lnTo>
                  <a:lnTo>
                    <a:pt x="1699387" y="57150"/>
                  </a:lnTo>
                  <a:lnTo>
                    <a:pt x="1679562" y="95427"/>
                  </a:lnTo>
                  <a:lnTo>
                    <a:pt x="1672450" y="139446"/>
                  </a:lnTo>
                  <a:lnTo>
                    <a:pt x="1679562" y="183476"/>
                  </a:lnTo>
                  <a:lnTo>
                    <a:pt x="1699387" y="221742"/>
                  </a:lnTo>
                  <a:lnTo>
                    <a:pt x="1729587" y="251955"/>
                  </a:lnTo>
                  <a:lnTo>
                    <a:pt x="1767865" y="271767"/>
                  </a:lnTo>
                  <a:lnTo>
                    <a:pt x="1811896" y="278892"/>
                  </a:lnTo>
                  <a:lnTo>
                    <a:pt x="1855914" y="271767"/>
                  </a:lnTo>
                  <a:lnTo>
                    <a:pt x="1875815" y="261467"/>
                  </a:lnTo>
                  <a:lnTo>
                    <a:pt x="1894192" y="251955"/>
                  </a:lnTo>
                  <a:lnTo>
                    <a:pt x="1924392" y="221742"/>
                  </a:lnTo>
                  <a:lnTo>
                    <a:pt x="1944217" y="183476"/>
                  </a:lnTo>
                  <a:lnTo>
                    <a:pt x="1951342" y="139446"/>
                  </a:lnTo>
                  <a:close/>
                </a:path>
              </a:pathLst>
            </a:custGeom>
            <a:solidFill>
              <a:srgbClr val="4F0093"/>
            </a:solidFill>
          </p:spPr>
          <p:txBody>
            <a:bodyPr wrap="square" lIns="0" tIns="0" rIns="0" bIns="0" rtlCol="0"/>
            <a:lstStyle/>
            <a:p>
              <a:endParaRPr/>
            </a:p>
          </p:txBody>
        </p:sp>
        <p:pic>
          <p:nvPicPr>
            <p:cNvPr id="20" name="object 20"/>
            <p:cNvPicPr/>
            <p:nvPr/>
          </p:nvPicPr>
          <p:blipFill>
            <a:blip r:embed="rId3" cstate="print"/>
            <a:stretch>
              <a:fillRect/>
            </a:stretch>
          </p:blipFill>
          <p:spPr>
            <a:xfrm>
              <a:off x="5752416" y="2460663"/>
              <a:ext cx="87147" cy="217881"/>
            </a:xfrm>
            <a:prstGeom prst="rect">
              <a:avLst/>
            </a:prstGeom>
          </p:spPr>
        </p:pic>
        <p:sp>
          <p:nvSpPr>
            <p:cNvPr id="21" name="object 21"/>
            <p:cNvSpPr/>
            <p:nvPr/>
          </p:nvSpPr>
          <p:spPr>
            <a:xfrm>
              <a:off x="5787263" y="2242794"/>
              <a:ext cx="357505" cy="506095"/>
            </a:xfrm>
            <a:custGeom>
              <a:avLst/>
              <a:gdLst/>
              <a:ahLst/>
              <a:cxnLst/>
              <a:rect l="l" t="t" r="r" b="b"/>
              <a:pathLst>
                <a:path w="357504" h="506094">
                  <a:moveTo>
                    <a:pt x="357327" y="0"/>
                  </a:moveTo>
                  <a:lnTo>
                    <a:pt x="148158" y="0"/>
                  </a:lnTo>
                  <a:lnTo>
                    <a:pt x="148158" y="17424"/>
                  </a:lnTo>
                  <a:lnTo>
                    <a:pt x="339902" y="17424"/>
                  </a:lnTo>
                  <a:lnTo>
                    <a:pt x="339902" y="409613"/>
                  </a:lnTo>
                  <a:lnTo>
                    <a:pt x="327571" y="409613"/>
                  </a:lnTo>
                  <a:lnTo>
                    <a:pt x="327571" y="427037"/>
                  </a:lnTo>
                  <a:lnTo>
                    <a:pt x="278892" y="475716"/>
                  </a:lnTo>
                  <a:lnTo>
                    <a:pt x="278892" y="427037"/>
                  </a:lnTo>
                  <a:lnTo>
                    <a:pt x="327571" y="427037"/>
                  </a:lnTo>
                  <a:lnTo>
                    <a:pt x="327571" y="409613"/>
                  </a:lnTo>
                  <a:lnTo>
                    <a:pt x="261467" y="409613"/>
                  </a:lnTo>
                  <a:lnTo>
                    <a:pt x="261467" y="488035"/>
                  </a:lnTo>
                  <a:lnTo>
                    <a:pt x="17437" y="488035"/>
                  </a:lnTo>
                  <a:lnTo>
                    <a:pt x="17437" y="453174"/>
                  </a:lnTo>
                  <a:lnTo>
                    <a:pt x="0" y="453174"/>
                  </a:lnTo>
                  <a:lnTo>
                    <a:pt x="0" y="505472"/>
                  </a:lnTo>
                  <a:lnTo>
                    <a:pt x="273786" y="505472"/>
                  </a:lnTo>
                  <a:lnTo>
                    <a:pt x="357327" y="421932"/>
                  </a:lnTo>
                  <a:lnTo>
                    <a:pt x="357327" y="0"/>
                  </a:lnTo>
                  <a:close/>
                </a:path>
              </a:pathLst>
            </a:custGeom>
            <a:solidFill>
              <a:srgbClr val="4F0093"/>
            </a:solidFill>
          </p:spPr>
          <p:txBody>
            <a:bodyPr wrap="square" lIns="0" tIns="0" rIns="0" bIns="0" rtlCol="0"/>
            <a:lstStyle/>
            <a:p>
              <a:endParaRPr/>
            </a:p>
          </p:txBody>
        </p:sp>
        <p:pic>
          <p:nvPicPr>
            <p:cNvPr id="22" name="object 22"/>
            <p:cNvPicPr/>
            <p:nvPr/>
          </p:nvPicPr>
          <p:blipFill>
            <a:blip r:embed="rId4" cstate="print"/>
            <a:stretch>
              <a:fillRect/>
            </a:stretch>
          </p:blipFill>
          <p:spPr>
            <a:xfrm>
              <a:off x="5726263" y="2259962"/>
              <a:ext cx="139446" cy="139700"/>
            </a:xfrm>
            <a:prstGeom prst="rect">
              <a:avLst/>
            </a:prstGeom>
          </p:spPr>
        </p:pic>
        <p:sp>
          <p:nvSpPr>
            <p:cNvPr id="23" name="object 23"/>
            <p:cNvSpPr/>
            <p:nvPr/>
          </p:nvSpPr>
          <p:spPr>
            <a:xfrm>
              <a:off x="5856998" y="2190508"/>
              <a:ext cx="1953895" cy="558165"/>
            </a:xfrm>
            <a:custGeom>
              <a:avLst/>
              <a:gdLst/>
              <a:ahLst/>
              <a:cxnLst/>
              <a:rect l="l" t="t" r="r" b="b"/>
              <a:pathLst>
                <a:path w="1953895" h="558164">
                  <a:moveTo>
                    <a:pt x="52285" y="427037"/>
                  </a:moveTo>
                  <a:lnTo>
                    <a:pt x="34848" y="427037"/>
                  </a:lnTo>
                  <a:lnTo>
                    <a:pt x="34848" y="444461"/>
                  </a:lnTo>
                  <a:lnTo>
                    <a:pt x="34848" y="461899"/>
                  </a:lnTo>
                  <a:lnTo>
                    <a:pt x="17424" y="461899"/>
                  </a:lnTo>
                  <a:lnTo>
                    <a:pt x="17424" y="444461"/>
                  </a:lnTo>
                  <a:lnTo>
                    <a:pt x="34848" y="444461"/>
                  </a:lnTo>
                  <a:lnTo>
                    <a:pt x="34848" y="427037"/>
                  </a:lnTo>
                  <a:lnTo>
                    <a:pt x="0" y="427037"/>
                  </a:lnTo>
                  <a:lnTo>
                    <a:pt x="0" y="479323"/>
                  </a:lnTo>
                  <a:lnTo>
                    <a:pt x="52285" y="479323"/>
                  </a:lnTo>
                  <a:lnTo>
                    <a:pt x="52285" y="461899"/>
                  </a:lnTo>
                  <a:lnTo>
                    <a:pt x="52285" y="444461"/>
                  </a:lnTo>
                  <a:lnTo>
                    <a:pt x="52285" y="427037"/>
                  </a:lnTo>
                  <a:close/>
                </a:path>
                <a:path w="1953895" h="558164">
                  <a:moveTo>
                    <a:pt x="52285" y="357314"/>
                  </a:moveTo>
                  <a:lnTo>
                    <a:pt x="34848" y="357314"/>
                  </a:lnTo>
                  <a:lnTo>
                    <a:pt x="34848" y="374751"/>
                  </a:lnTo>
                  <a:lnTo>
                    <a:pt x="34848" y="392176"/>
                  </a:lnTo>
                  <a:lnTo>
                    <a:pt x="17424" y="392176"/>
                  </a:lnTo>
                  <a:lnTo>
                    <a:pt x="17424" y="374751"/>
                  </a:lnTo>
                  <a:lnTo>
                    <a:pt x="34848" y="374751"/>
                  </a:lnTo>
                  <a:lnTo>
                    <a:pt x="34848" y="357314"/>
                  </a:lnTo>
                  <a:lnTo>
                    <a:pt x="0" y="357314"/>
                  </a:lnTo>
                  <a:lnTo>
                    <a:pt x="0" y="409600"/>
                  </a:lnTo>
                  <a:lnTo>
                    <a:pt x="52285" y="409600"/>
                  </a:lnTo>
                  <a:lnTo>
                    <a:pt x="52285" y="392176"/>
                  </a:lnTo>
                  <a:lnTo>
                    <a:pt x="52285" y="374751"/>
                  </a:lnTo>
                  <a:lnTo>
                    <a:pt x="52285" y="357314"/>
                  </a:lnTo>
                  <a:close/>
                </a:path>
                <a:path w="1953895" h="558164">
                  <a:moveTo>
                    <a:pt x="52285" y="287591"/>
                  </a:moveTo>
                  <a:lnTo>
                    <a:pt x="34848" y="287591"/>
                  </a:lnTo>
                  <a:lnTo>
                    <a:pt x="34848" y="305028"/>
                  </a:lnTo>
                  <a:lnTo>
                    <a:pt x="34848" y="322453"/>
                  </a:lnTo>
                  <a:lnTo>
                    <a:pt x="17424" y="322453"/>
                  </a:lnTo>
                  <a:lnTo>
                    <a:pt x="17424" y="305028"/>
                  </a:lnTo>
                  <a:lnTo>
                    <a:pt x="34848" y="305028"/>
                  </a:lnTo>
                  <a:lnTo>
                    <a:pt x="34848" y="287591"/>
                  </a:lnTo>
                  <a:lnTo>
                    <a:pt x="0" y="287591"/>
                  </a:lnTo>
                  <a:lnTo>
                    <a:pt x="0" y="339877"/>
                  </a:lnTo>
                  <a:lnTo>
                    <a:pt x="52285" y="339877"/>
                  </a:lnTo>
                  <a:lnTo>
                    <a:pt x="52285" y="322453"/>
                  </a:lnTo>
                  <a:lnTo>
                    <a:pt x="52285" y="305028"/>
                  </a:lnTo>
                  <a:lnTo>
                    <a:pt x="52285" y="287591"/>
                  </a:lnTo>
                  <a:close/>
                </a:path>
                <a:path w="1953895" h="558164">
                  <a:moveTo>
                    <a:pt x="156870" y="461899"/>
                  </a:moveTo>
                  <a:lnTo>
                    <a:pt x="69723" y="461899"/>
                  </a:lnTo>
                  <a:lnTo>
                    <a:pt x="69723" y="479323"/>
                  </a:lnTo>
                  <a:lnTo>
                    <a:pt x="156870" y="479323"/>
                  </a:lnTo>
                  <a:lnTo>
                    <a:pt x="156870" y="461899"/>
                  </a:lnTo>
                  <a:close/>
                </a:path>
                <a:path w="1953895" h="558164">
                  <a:moveTo>
                    <a:pt x="165582" y="113296"/>
                  </a:moveTo>
                  <a:lnTo>
                    <a:pt x="148158" y="113296"/>
                  </a:lnTo>
                  <a:lnTo>
                    <a:pt x="148158" y="130721"/>
                  </a:lnTo>
                  <a:lnTo>
                    <a:pt x="165582" y="130721"/>
                  </a:lnTo>
                  <a:lnTo>
                    <a:pt x="165582" y="113296"/>
                  </a:lnTo>
                  <a:close/>
                </a:path>
                <a:path w="1953895" h="558164">
                  <a:moveTo>
                    <a:pt x="200444" y="113296"/>
                  </a:moveTo>
                  <a:lnTo>
                    <a:pt x="183019" y="113296"/>
                  </a:lnTo>
                  <a:lnTo>
                    <a:pt x="183019" y="130721"/>
                  </a:lnTo>
                  <a:lnTo>
                    <a:pt x="200444" y="130721"/>
                  </a:lnTo>
                  <a:lnTo>
                    <a:pt x="200444" y="113296"/>
                  </a:lnTo>
                  <a:close/>
                </a:path>
                <a:path w="1953895" h="558164">
                  <a:moveTo>
                    <a:pt x="235292" y="148590"/>
                  </a:moveTo>
                  <a:lnTo>
                    <a:pt x="95846" y="148590"/>
                  </a:lnTo>
                  <a:lnTo>
                    <a:pt x="95846" y="165100"/>
                  </a:lnTo>
                  <a:lnTo>
                    <a:pt x="217868" y="165100"/>
                  </a:lnTo>
                  <a:lnTo>
                    <a:pt x="217868" y="234950"/>
                  </a:lnTo>
                  <a:lnTo>
                    <a:pt x="69710" y="234950"/>
                  </a:lnTo>
                  <a:lnTo>
                    <a:pt x="69710" y="252730"/>
                  </a:lnTo>
                  <a:lnTo>
                    <a:pt x="235292" y="252730"/>
                  </a:lnTo>
                  <a:lnTo>
                    <a:pt x="235292" y="234950"/>
                  </a:lnTo>
                  <a:lnTo>
                    <a:pt x="235292" y="165100"/>
                  </a:lnTo>
                  <a:lnTo>
                    <a:pt x="235292" y="148590"/>
                  </a:lnTo>
                  <a:close/>
                </a:path>
                <a:path w="1953895" h="558164">
                  <a:moveTo>
                    <a:pt x="235305" y="427037"/>
                  </a:moveTo>
                  <a:lnTo>
                    <a:pt x="69723" y="427037"/>
                  </a:lnTo>
                  <a:lnTo>
                    <a:pt x="69723" y="444461"/>
                  </a:lnTo>
                  <a:lnTo>
                    <a:pt x="235305" y="444461"/>
                  </a:lnTo>
                  <a:lnTo>
                    <a:pt x="235305" y="427037"/>
                  </a:lnTo>
                  <a:close/>
                </a:path>
                <a:path w="1953895" h="558164">
                  <a:moveTo>
                    <a:pt x="235305" y="392176"/>
                  </a:moveTo>
                  <a:lnTo>
                    <a:pt x="69723" y="392176"/>
                  </a:lnTo>
                  <a:lnTo>
                    <a:pt x="69723" y="409600"/>
                  </a:lnTo>
                  <a:lnTo>
                    <a:pt x="235305" y="409600"/>
                  </a:lnTo>
                  <a:lnTo>
                    <a:pt x="235305" y="392176"/>
                  </a:lnTo>
                  <a:close/>
                </a:path>
                <a:path w="1953895" h="558164">
                  <a:moveTo>
                    <a:pt x="235305" y="357314"/>
                  </a:moveTo>
                  <a:lnTo>
                    <a:pt x="69723" y="357314"/>
                  </a:lnTo>
                  <a:lnTo>
                    <a:pt x="69723" y="374738"/>
                  </a:lnTo>
                  <a:lnTo>
                    <a:pt x="235305" y="374738"/>
                  </a:lnTo>
                  <a:lnTo>
                    <a:pt x="235305" y="357314"/>
                  </a:lnTo>
                  <a:close/>
                </a:path>
                <a:path w="1953895" h="558164">
                  <a:moveTo>
                    <a:pt x="235305" y="322453"/>
                  </a:moveTo>
                  <a:lnTo>
                    <a:pt x="69723" y="322453"/>
                  </a:lnTo>
                  <a:lnTo>
                    <a:pt x="69723" y="339877"/>
                  </a:lnTo>
                  <a:lnTo>
                    <a:pt x="235305" y="339877"/>
                  </a:lnTo>
                  <a:lnTo>
                    <a:pt x="235305" y="322453"/>
                  </a:lnTo>
                  <a:close/>
                </a:path>
                <a:path w="1953895" h="558164">
                  <a:moveTo>
                    <a:pt x="235305" y="287591"/>
                  </a:moveTo>
                  <a:lnTo>
                    <a:pt x="69723" y="287591"/>
                  </a:lnTo>
                  <a:lnTo>
                    <a:pt x="69723" y="305015"/>
                  </a:lnTo>
                  <a:lnTo>
                    <a:pt x="235305" y="305015"/>
                  </a:lnTo>
                  <a:lnTo>
                    <a:pt x="235305" y="287591"/>
                  </a:lnTo>
                  <a:close/>
                </a:path>
                <a:path w="1953895" h="558164">
                  <a:moveTo>
                    <a:pt x="235305" y="113296"/>
                  </a:moveTo>
                  <a:lnTo>
                    <a:pt x="217881" y="113296"/>
                  </a:lnTo>
                  <a:lnTo>
                    <a:pt x="217881" y="130721"/>
                  </a:lnTo>
                  <a:lnTo>
                    <a:pt x="235305" y="130721"/>
                  </a:lnTo>
                  <a:lnTo>
                    <a:pt x="235305" y="113296"/>
                  </a:lnTo>
                  <a:close/>
                </a:path>
                <a:path w="1953895" h="558164">
                  <a:moveTo>
                    <a:pt x="1413294" y="505472"/>
                  </a:moveTo>
                  <a:lnTo>
                    <a:pt x="1395869" y="505472"/>
                  </a:lnTo>
                  <a:lnTo>
                    <a:pt x="1395869" y="522897"/>
                  </a:lnTo>
                  <a:lnTo>
                    <a:pt x="1413294" y="522897"/>
                  </a:lnTo>
                  <a:lnTo>
                    <a:pt x="1413294" y="505472"/>
                  </a:lnTo>
                  <a:close/>
                </a:path>
                <a:path w="1953895" h="558164">
                  <a:moveTo>
                    <a:pt x="1413294" y="470598"/>
                  </a:moveTo>
                  <a:lnTo>
                    <a:pt x="1395869" y="470598"/>
                  </a:lnTo>
                  <a:lnTo>
                    <a:pt x="1395869" y="488035"/>
                  </a:lnTo>
                  <a:lnTo>
                    <a:pt x="1413294" y="488035"/>
                  </a:lnTo>
                  <a:lnTo>
                    <a:pt x="1413294" y="470598"/>
                  </a:lnTo>
                  <a:close/>
                </a:path>
                <a:path w="1953895" h="558164">
                  <a:moveTo>
                    <a:pt x="1413294" y="435749"/>
                  </a:moveTo>
                  <a:lnTo>
                    <a:pt x="1395869" y="435749"/>
                  </a:lnTo>
                  <a:lnTo>
                    <a:pt x="1395869" y="453174"/>
                  </a:lnTo>
                  <a:lnTo>
                    <a:pt x="1413294" y="453174"/>
                  </a:lnTo>
                  <a:lnTo>
                    <a:pt x="1413294" y="435749"/>
                  </a:lnTo>
                  <a:close/>
                </a:path>
                <a:path w="1953895" h="558164">
                  <a:moveTo>
                    <a:pt x="1413294" y="183019"/>
                  </a:moveTo>
                  <a:lnTo>
                    <a:pt x="1395869" y="183019"/>
                  </a:lnTo>
                  <a:lnTo>
                    <a:pt x="1395869" y="418325"/>
                  </a:lnTo>
                  <a:lnTo>
                    <a:pt x="1413294" y="418325"/>
                  </a:lnTo>
                  <a:lnTo>
                    <a:pt x="1413294" y="183019"/>
                  </a:lnTo>
                  <a:close/>
                </a:path>
                <a:path w="1953895" h="558164">
                  <a:moveTo>
                    <a:pt x="1448155" y="0"/>
                  </a:moveTo>
                  <a:lnTo>
                    <a:pt x="1430731" y="0"/>
                  </a:lnTo>
                  <a:lnTo>
                    <a:pt x="1430731" y="17424"/>
                  </a:lnTo>
                  <a:lnTo>
                    <a:pt x="1448155" y="17424"/>
                  </a:lnTo>
                  <a:lnTo>
                    <a:pt x="1448155" y="0"/>
                  </a:lnTo>
                  <a:close/>
                </a:path>
                <a:path w="1953895" h="558164">
                  <a:moveTo>
                    <a:pt x="1483017" y="0"/>
                  </a:moveTo>
                  <a:lnTo>
                    <a:pt x="1465592" y="0"/>
                  </a:lnTo>
                  <a:lnTo>
                    <a:pt x="1465592" y="17424"/>
                  </a:lnTo>
                  <a:lnTo>
                    <a:pt x="1483017" y="17424"/>
                  </a:lnTo>
                  <a:lnTo>
                    <a:pt x="1483017" y="0"/>
                  </a:lnTo>
                  <a:close/>
                </a:path>
                <a:path w="1953895" h="558164">
                  <a:moveTo>
                    <a:pt x="1491742" y="505472"/>
                  </a:moveTo>
                  <a:lnTo>
                    <a:pt x="1474317" y="505472"/>
                  </a:lnTo>
                  <a:lnTo>
                    <a:pt x="1464144" y="503415"/>
                  </a:lnTo>
                  <a:lnTo>
                    <a:pt x="1455826" y="497814"/>
                  </a:lnTo>
                  <a:lnTo>
                    <a:pt x="1450225" y="489496"/>
                  </a:lnTo>
                  <a:lnTo>
                    <a:pt x="1448168" y="479323"/>
                  </a:lnTo>
                  <a:lnTo>
                    <a:pt x="1448168" y="143052"/>
                  </a:lnTo>
                  <a:lnTo>
                    <a:pt x="1468145" y="163029"/>
                  </a:lnTo>
                  <a:lnTo>
                    <a:pt x="1480464" y="150710"/>
                  </a:lnTo>
                  <a:lnTo>
                    <a:pt x="1442199" y="112445"/>
                  </a:lnTo>
                  <a:lnTo>
                    <a:pt x="1436687" y="112445"/>
                  </a:lnTo>
                  <a:lnTo>
                    <a:pt x="1398422" y="150710"/>
                  </a:lnTo>
                  <a:lnTo>
                    <a:pt x="1410754" y="163029"/>
                  </a:lnTo>
                  <a:lnTo>
                    <a:pt x="1430731" y="143052"/>
                  </a:lnTo>
                  <a:lnTo>
                    <a:pt x="1430731" y="479323"/>
                  </a:lnTo>
                  <a:lnTo>
                    <a:pt x="1434160" y="496277"/>
                  </a:lnTo>
                  <a:lnTo>
                    <a:pt x="1443507" y="510120"/>
                  </a:lnTo>
                  <a:lnTo>
                    <a:pt x="1457363" y="519468"/>
                  </a:lnTo>
                  <a:lnTo>
                    <a:pt x="1474317" y="522897"/>
                  </a:lnTo>
                  <a:lnTo>
                    <a:pt x="1491742" y="522897"/>
                  </a:lnTo>
                  <a:lnTo>
                    <a:pt x="1491742" y="505472"/>
                  </a:lnTo>
                  <a:close/>
                </a:path>
                <a:path w="1953895" h="558164">
                  <a:moveTo>
                    <a:pt x="1517878" y="0"/>
                  </a:moveTo>
                  <a:lnTo>
                    <a:pt x="1500454" y="0"/>
                  </a:lnTo>
                  <a:lnTo>
                    <a:pt x="1500454" y="17424"/>
                  </a:lnTo>
                  <a:lnTo>
                    <a:pt x="1517878" y="17424"/>
                  </a:lnTo>
                  <a:lnTo>
                    <a:pt x="1517878" y="0"/>
                  </a:lnTo>
                  <a:close/>
                </a:path>
                <a:path w="1953895" h="558164">
                  <a:moveTo>
                    <a:pt x="1770621" y="0"/>
                  </a:moveTo>
                  <a:lnTo>
                    <a:pt x="1535315" y="0"/>
                  </a:lnTo>
                  <a:lnTo>
                    <a:pt x="1535315" y="17424"/>
                  </a:lnTo>
                  <a:lnTo>
                    <a:pt x="1770621" y="17424"/>
                  </a:lnTo>
                  <a:lnTo>
                    <a:pt x="1770621" y="0"/>
                  </a:lnTo>
                  <a:close/>
                </a:path>
                <a:path w="1953895" h="558164">
                  <a:moveTo>
                    <a:pt x="1814195" y="540334"/>
                  </a:moveTo>
                  <a:lnTo>
                    <a:pt x="1578889" y="540334"/>
                  </a:lnTo>
                  <a:lnTo>
                    <a:pt x="1578889" y="557758"/>
                  </a:lnTo>
                  <a:lnTo>
                    <a:pt x="1814195" y="557758"/>
                  </a:lnTo>
                  <a:lnTo>
                    <a:pt x="1814195" y="540334"/>
                  </a:lnTo>
                  <a:close/>
                </a:path>
                <a:path w="1953895" h="558164">
                  <a:moveTo>
                    <a:pt x="1841195" y="40817"/>
                  </a:moveTo>
                  <a:lnTo>
                    <a:pt x="1802930" y="2552"/>
                  </a:lnTo>
                  <a:lnTo>
                    <a:pt x="1790611" y="14871"/>
                  </a:lnTo>
                  <a:lnTo>
                    <a:pt x="1810575" y="34848"/>
                  </a:lnTo>
                  <a:lnTo>
                    <a:pt x="1474317" y="34848"/>
                  </a:lnTo>
                  <a:lnTo>
                    <a:pt x="1457363" y="38290"/>
                  </a:lnTo>
                  <a:lnTo>
                    <a:pt x="1443520" y="47637"/>
                  </a:lnTo>
                  <a:lnTo>
                    <a:pt x="1434172" y="61493"/>
                  </a:lnTo>
                  <a:lnTo>
                    <a:pt x="1430743" y="78435"/>
                  </a:lnTo>
                  <a:lnTo>
                    <a:pt x="1430743" y="95859"/>
                  </a:lnTo>
                  <a:lnTo>
                    <a:pt x="1448168" y="95859"/>
                  </a:lnTo>
                  <a:lnTo>
                    <a:pt x="1448168" y="78435"/>
                  </a:lnTo>
                  <a:lnTo>
                    <a:pt x="1450213" y="68275"/>
                  </a:lnTo>
                  <a:lnTo>
                    <a:pt x="1455826" y="59956"/>
                  </a:lnTo>
                  <a:lnTo>
                    <a:pt x="1464144" y="54356"/>
                  </a:lnTo>
                  <a:lnTo>
                    <a:pt x="1474317" y="52285"/>
                  </a:lnTo>
                  <a:lnTo>
                    <a:pt x="1810588" y="52285"/>
                  </a:lnTo>
                  <a:lnTo>
                    <a:pt x="1790611" y="72275"/>
                  </a:lnTo>
                  <a:lnTo>
                    <a:pt x="1802930" y="84594"/>
                  </a:lnTo>
                  <a:lnTo>
                    <a:pt x="1841195" y="46329"/>
                  </a:lnTo>
                  <a:lnTo>
                    <a:pt x="1841195" y="40817"/>
                  </a:lnTo>
                  <a:close/>
                </a:path>
                <a:path w="1953895" h="558164">
                  <a:moveTo>
                    <a:pt x="1849056" y="540334"/>
                  </a:moveTo>
                  <a:lnTo>
                    <a:pt x="1831632" y="540334"/>
                  </a:lnTo>
                  <a:lnTo>
                    <a:pt x="1831632" y="557758"/>
                  </a:lnTo>
                  <a:lnTo>
                    <a:pt x="1849056" y="557758"/>
                  </a:lnTo>
                  <a:lnTo>
                    <a:pt x="1849056" y="540334"/>
                  </a:lnTo>
                  <a:close/>
                </a:path>
                <a:path w="1953895" h="558164">
                  <a:moveTo>
                    <a:pt x="1857565" y="282549"/>
                  </a:moveTo>
                  <a:lnTo>
                    <a:pt x="1855558" y="279273"/>
                  </a:lnTo>
                  <a:lnTo>
                    <a:pt x="1839683" y="272046"/>
                  </a:lnTo>
                  <a:lnTo>
                    <a:pt x="1839683" y="291198"/>
                  </a:lnTo>
                  <a:lnTo>
                    <a:pt x="1839125" y="298729"/>
                  </a:lnTo>
                  <a:lnTo>
                    <a:pt x="1838058" y="306197"/>
                  </a:lnTo>
                  <a:lnTo>
                    <a:pt x="1836496" y="313537"/>
                  </a:lnTo>
                  <a:lnTo>
                    <a:pt x="1791500" y="319976"/>
                  </a:lnTo>
                  <a:lnTo>
                    <a:pt x="1788909" y="321995"/>
                  </a:lnTo>
                  <a:lnTo>
                    <a:pt x="1786445" y="328002"/>
                  </a:lnTo>
                  <a:lnTo>
                    <a:pt x="1784997" y="331063"/>
                  </a:lnTo>
                  <a:lnTo>
                    <a:pt x="1782051" y="336829"/>
                  </a:lnTo>
                  <a:lnTo>
                    <a:pt x="1782216" y="340131"/>
                  </a:lnTo>
                  <a:lnTo>
                    <a:pt x="1806892" y="378485"/>
                  </a:lnTo>
                  <a:lnTo>
                    <a:pt x="1802409" y="384403"/>
                  </a:lnTo>
                  <a:lnTo>
                    <a:pt x="1797469" y="390093"/>
                  </a:lnTo>
                  <a:lnTo>
                    <a:pt x="1792097" y="395478"/>
                  </a:lnTo>
                  <a:lnTo>
                    <a:pt x="1750695" y="376555"/>
                  </a:lnTo>
                  <a:lnTo>
                    <a:pt x="1747405" y="376859"/>
                  </a:lnTo>
                  <a:lnTo>
                    <a:pt x="1742122" y="380580"/>
                  </a:lnTo>
                  <a:lnTo>
                    <a:pt x="1739265" y="382371"/>
                  </a:lnTo>
                  <a:lnTo>
                    <a:pt x="1733677" y="385660"/>
                  </a:lnTo>
                  <a:lnTo>
                    <a:pt x="1732038" y="388505"/>
                  </a:lnTo>
                  <a:lnTo>
                    <a:pt x="1732064" y="434225"/>
                  </a:lnTo>
                  <a:lnTo>
                    <a:pt x="1725104" y="436778"/>
                  </a:lnTo>
                  <a:lnTo>
                    <a:pt x="1717878" y="438912"/>
                  </a:lnTo>
                  <a:lnTo>
                    <a:pt x="1710474" y="440537"/>
                  </a:lnTo>
                  <a:lnTo>
                    <a:pt x="1696186" y="418325"/>
                  </a:lnTo>
                  <a:lnTo>
                    <a:pt x="1685861" y="402259"/>
                  </a:lnTo>
                  <a:lnTo>
                    <a:pt x="1683346" y="401015"/>
                  </a:lnTo>
                  <a:lnTo>
                    <a:pt x="1683092" y="400888"/>
                  </a:lnTo>
                  <a:lnTo>
                    <a:pt x="1677517" y="400888"/>
                  </a:lnTo>
                  <a:lnTo>
                    <a:pt x="1675688" y="401015"/>
                  </a:lnTo>
                  <a:lnTo>
                    <a:pt x="1669745" y="400621"/>
                  </a:lnTo>
                  <a:lnTo>
                    <a:pt x="1666595" y="400494"/>
                  </a:lnTo>
                  <a:lnTo>
                    <a:pt x="1663712" y="402018"/>
                  </a:lnTo>
                  <a:lnTo>
                    <a:pt x="1639036" y="440461"/>
                  </a:lnTo>
                  <a:lnTo>
                    <a:pt x="1631632" y="438848"/>
                  </a:lnTo>
                  <a:lnTo>
                    <a:pt x="1624406" y="436753"/>
                  </a:lnTo>
                  <a:lnTo>
                    <a:pt x="1617510" y="434225"/>
                  </a:lnTo>
                  <a:lnTo>
                    <a:pt x="1617472" y="395706"/>
                  </a:lnTo>
                  <a:lnTo>
                    <a:pt x="1617472" y="395478"/>
                  </a:lnTo>
                  <a:lnTo>
                    <a:pt x="1617484" y="388505"/>
                  </a:lnTo>
                  <a:lnTo>
                    <a:pt x="1615846" y="385648"/>
                  </a:lnTo>
                  <a:lnTo>
                    <a:pt x="1610258" y="382371"/>
                  </a:lnTo>
                  <a:lnTo>
                    <a:pt x="1607400" y="380580"/>
                  </a:lnTo>
                  <a:lnTo>
                    <a:pt x="1602117" y="376847"/>
                  </a:lnTo>
                  <a:lnTo>
                    <a:pt x="1598815" y="376542"/>
                  </a:lnTo>
                  <a:lnTo>
                    <a:pt x="1557413" y="395478"/>
                  </a:lnTo>
                  <a:lnTo>
                    <a:pt x="1552054" y="390093"/>
                  </a:lnTo>
                  <a:lnTo>
                    <a:pt x="1547101" y="384403"/>
                  </a:lnTo>
                  <a:lnTo>
                    <a:pt x="1542630" y="378485"/>
                  </a:lnTo>
                  <a:lnTo>
                    <a:pt x="1567294" y="340131"/>
                  </a:lnTo>
                  <a:lnTo>
                    <a:pt x="1567459" y="336829"/>
                  </a:lnTo>
                  <a:lnTo>
                    <a:pt x="1564513" y="331063"/>
                  </a:lnTo>
                  <a:lnTo>
                    <a:pt x="1563077" y="328002"/>
                  </a:lnTo>
                  <a:lnTo>
                    <a:pt x="1560614" y="321995"/>
                  </a:lnTo>
                  <a:lnTo>
                    <a:pt x="1558010" y="319976"/>
                  </a:lnTo>
                  <a:lnTo>
                    <a:pt x="1513014" y="313537"/>
                  </a:lnTo>
                  <a:lnTo>
                    <a:pt x="1511452" y="306197"/>
                  </a:lnTo>
                  <a:lnTo>
                    <a:pt x="1510385" y="298729"/>
                  </a:lnTo>
                  <a:lnTo>
                    <a:pt x="1509826" y="291198"/>
                  </a:lnTo>
                  <a:lnTo>
                    <a:pt x="1551139" y="272364"/>
                  </a:lnTo>
                  <a:lnTo>
                    <a:pt x="1553057" y="269684"/>
                  </a:lnTo>
                  <a:lnTo>
                    <a:pt x="1553705" y="263182"/>
                  </a:lnTo>
                  <a:lnTo>
                    <a:pt x="1554276" y="259816"/>
                  </a:lnTo>
                  <a:lnTo>
                    <a:pt x="1555457" y="253466"/>
                  </a:lnTo>
                  <a:lnTo>
                    <a:pt x="1554365" y="250355"/>
                  </a:lnTo>
                  <a:lnTo>
                    <a:pt x="1519910" y="220535"/>
                  </a:lnTo>
                  <a:lnTo>
                    <a:pt x="1522552" y="213550"/>
                  </a:lnTo>
                  <a:lnTo>
                    <a:pt x="1525765" y="206578"/>
                  </a:lnTo>
                  <a:lnTo>
                    <a:pt x="1529308" y="200075"/>
                  </a:lnTo>
                  <a:lnTo>
                    <a:pt x="1574406" y="206578"/>
                  </a:lnTo>
                  <a:lnTo>
                    <a:pt x="1577441" y="205359"/>
                  </a:lnTo>
                  <a:lnTo>
                    <a:pt x="1581467" y="200304"/>
                  </a:lnTo>
                  <a:lnTo>
                    <a:pt x="1581670" y="200075"/>
                  </a:lnTo>
                  <a:lnTo>
                    <a:pt x="1583715" y="197777"/>
                  </a:lnTo>
                  <a:lnTo>
                    <a:pt x="1588147" y="193065"/>
                  </a:lnTo>
                  <a:lnTo>
                    <a:pt x="1588922" y="189865"/>
                  </a:lnTo>
                  <a:lnTo>
                    <a:pt x="1588427" y="188188"/>
                  </a:lnTo>
                  <a:lnTo>
                    <a:pt x="1576031" y="146075"/>
                  </a:lnTo>
                  <a:lnTo>
                    <a:pt x="1582000" y="141655"/>
                  </a:lnTo>
                  <a:lnTo>
                    <a:pt x="1588338" y="137591"/>
                  </a:lnTo>
                  <a:lnTo>
                    <a:pt x="1594993" y="133934"/>
                  </a:lnTo>
                  <a:lnTo>
                    <a:pt x="1629410" y="163791"/>
                  </a:lnTo>
                  <a:lnTo>
                    <a:pt x="1632648" y="164414"/>
                  </a:lnTo>
                  <a:lnTo>
                    <a:pt x="1638757" y="162356"/>
                  </a:lnTo>
                  <a:lnTo>
                    <a:pt x="1641995" y="161429"/>
                  </a:lnTo>
                  <a:lnTo>
                    <a:pt x="1648294" y="159867"/>
                  </a:lnTo>
                  <a:lnTo>
                    <a:pt x="1650682" y="157581"/>
                  </a:lnTo>
                  <a:lnTo>
                    <a:pt x="1654238" y="145402"/>
                  </a:lnTo>
                  <a:lnTo>
                    <a:pt x="1663534" y="113677"/>
                  </a:lnTo>
                  <a:lnTo>
                    <a:pt x="1671015" y="113169"/>
                  </a:lnTo>
                  <a:lnTo>
                    <a:pt x="1678495" y="113169"/>
                  </a:lnTo>
                  <a:lnTo>
                    <a:pt x="1685975" y="113677"/>
                  </a:lnTo>
                  <a:lnTo>
                    <a:pt x="1698840" y="157581"/>
                  </a:lnTo>
                  <a:lnTo>
                    <a:pt x="1701228" y="159867"/>
                  </a:lnTo>
                  <a:lnTo>
                    <a:pt x="1707515" y="161429"/>
                  </a:lnTo>
                  <a:lnTo>
                    <a:pt x="1710753" y="162356"/>
                  </a:lnTo>
                  <a:lnTo>
                    <a:pt x="1716874" y="164414"/>
                  </a:lnTo>
                  <a:lnTo>
                    <a:pt x="1720113" y="163791"/>
                  </a:lnTo>
                  <a:lnTo>
                    <a:pt x="1741309" y="145402"/>
                  </a:lnTo>
                  <a:lnTo>
                    <a:pt x="1754530" y="133934"/>
                  </a:lnTo>
                  <a:lnTo>
                    <a:pt x="1761172" y="137591"/>
                  </a:lnTo>
                  <a:lnTo>
                    <a:pt x="1767522" y="141655"/>
                  </a:lnTo>
                  <a:lnTo>
                    <a:pt x="1773478" y="146075"/>
                  </a:lnTo>
                  <a:lnTo>
                    <a:pt x="1760601" y="189865"/>
                  </a:lnTo>
                  <a:lnTo>
                    <a:pt x="1761363" y="193065"/>
                  </a:lnTo>
                  <a:lnTo>
                    <a:pt x="1765808" y="197777"/>
                  </a:lnTo>
                  <a:lnTo>
                    <a:pt x="1768043" y="200304"/>
                  </a:lnTo>
                  <a:lnTo>
                    <a:pt x="1772081" y="205359"/>
                  </a:lnTo>
                  <a:lnTo>
                    <a:pt x="1775155" y="206578"/>
                  </a:lnTo>
                  <a:lnTo>
                    <a:pt x="1820214" y="200075"/>
                  </a:lnTo>
                  <a:lnTo>
                    <a:pt x="1823821" y="206705"/>
                  </a:lnTo>
                  <a:lnTo>
                    <a:pt x="1826971" y="213550"/>
                  </a:lnTo>
                  <a:lnTo>
                    <a:pt x="1829600" y="220535"/>
                  </a:lnTo>
                  <a:lnTo>
                    <a:pt x="1795157" y="250355"/>
                  </a:lnTo>
                  <a:lnTo>
                    <a:pt x="1794065" y="253466"/>
                  </a:lnTo>
                  <a:lnTo>
                    <a:pt x="1795233" y="259829"/>
                  </a:lnTo>
                  <a:lnTo>
                    <a:pt x="1795805" y="263182"/>
                  </a:lnTo>
                  <a:lnTo>
                    <a:pt x="1796453" y="269684"/>
                  </a:lnTo>
                  <a:lnTo>
                    <a:pt x="1798383" y="272364"/>
                  </a:lnTo>
                  <a:lnTo>
                    <a:pt x="1839683" y="291198"/>
                  </a:lnTo>
                  <a:lnTo>
                    <a:pt x="1839683" y="272046"/>
                  </a:lnTo>
                  <a:lnTo>
                    <a:pt x="1812861" y="259816"/>
                  </a:lnTo>
                  <a:lnTo>
                    <a:pt x="1812620" y="258292"/>
                  </a:lnTo>
                  <a:lnTo>
                    <a:pt x="1848192" y="227495"/>
                  </a:lnTo>
                  <a:lnTo>
                    <a:pt x="1849208" y="223799"/>
                  </a:lnTo>
                  <a:lnTo>
                    <a:pt x="1848078" y="220446"/>
                  </a:lnTo>
                  <a:lnTo>
                    <a:pt x="1833486" y="188188"/>
                  </a:lnTo>
                  <a:lnTo>
                    <a:pt x="1832368" y="186169"/>
                  </a:lnTo>
                  <a:lnTo>
                    <a:pt x="1830565" y="183121"/>
                  </a:lnTo>
                  <a:lnTo>
                    <a:pt x="1827060" y="181457"/>
                  </a:lnTo>
                  <a:lnTo>
                    <a:pt x="1780540" y="188188"/>
                  </a:lnTo>
                  <a:lnTo>
                    <a:pt x="1779587" y="187096"/>
                  </a:lnTo>
                  <a:lnTo>
                    <a:pt x="1792884" y="141884"/>
                  </a:lnTo>
                  <a:lnTo>
                    <a:pt x="1791741" y="138214"/>
                  </a:lnTo>
                  <a:lnTo>
                    <a:pt x="1788972" y="136004"/>
                  </a:lnTo>
                  <a:lnTo>
                    <a:pt x="1786229" y="133934"/>
                  </a:lnTo>
                  <a:lnTo>
                    <a:pt x="1781543" y="130378"/>
                  </a:lnTo>
                  <a:lnTo>
                    <a:pt x="1773758" y="125107"/>
                  </a:lnTo>
                  <a:lnTo>
                    <a:pt x="1765655" y="120192"/>
                  </a:lnTo>
                  <a:lnTo>
                    <a:pt x="1757260" y="115671"/>
                  </a:lnTo>
                  <a:lnTo>
                    <a:pt x="1754111" y="114084"/>
                  </a:lnTo>
                  <a:lnTo>
                    <a:pt x="1750301" y="114541"/>
                  </a:lnTo>
                  <a:lnTo>
                    <a:pt x="1714715" y="145402"/>
                  </a:lnTo>
                  <a:lnTo>
                    <a:pt x="1713318" y="144995"/>
                  </a:lnTo>
                  <a:lnTo>
                    <a:pt x="1703984" y="113169"/>
                  </a:lnTo>
                  <a:lnTo>
                    <a:pt x="1700034" y="99644"/>
                  </a:lnTo>
                  <a:lnTo>
                    <a:pt x="1697075" y="97180"/>
                  </a:lnTo>
                  <a:lnTo>
                    <a:pt x="1693545" y="96824"/>
                  </a:lnTo>
                  <a:lnTo>
                    <a:pt x="1684172" y="96113"/>
                  </a:lnTo>
                  <a:lnTo>
                    <a:pt x="1674749" y="95872"/>
                  </a:lnTo>
                  <a:lnTo>
                    <a:pt x="1665338" y="96113"/>
                  </a:lnTo>
                  <a:lnTo>
                    <a:pt x="1655965" y="96824"/>
                  </a:lnTo>
                  <a:lnTo>
                    <a:pt x="1652447" y="97180"/>
                  </a:lnTo>
                  <a:lnTo>
                    <a:pt x="1649488" y="99644"/>
                  </a:lnTo>
                  <a:lnTo>
                    <a:pt x="1636204" y="144995"/>
                  </a:lnTo>
                  <a:lnTo>
                    <a:pt x="1634807" y="145402"/>
                  </a:lnTo>
                  <a:lnTo>
                    <a:pt x="1621574" y="133934"/>
                  </a:lnTo>
                  <a:lnTo>
                    <a:pt x="1599222" y="114541"/>
                  </a:lnTo>
                  <a:lnTo>
                    <a:pt x="1595399" y="114071"/>
                  </a:lnTo>
                  <a:lnTo>
                    <a:pt x="1560537" y="136004"/>
                  </a:lnTo>
                  <a:lnTo>
                    <a:pt x="1556639" y="141884"/>
                  </a:lnTo>
                  <a:lnTo>
                    <a:pt x="1569935" y="187096"/>
                  </a:lnTo>
                  <a:lnTo>
                    <a:pt x="1568983" y="188188"/>
                  </a:lnTo>
                  <a:lnTo>
                    <a:pt x="1522450" y="181457"/>
                  </a:lnTo>
                  <a:lnTo>
                    <a:pt x="1518958" y="183121"/>
                  </a:lnTo>
                  <a:lnTo>
                    <a:pt x="1517154" y="186169"/>
                  </a:lnTo>
                  <a:lnTo>
                    <a:pt x="1500314" y="223799"/>
                  </a:lnTo>
                  <a:lnTo>
                    <a:pt x="1501317" y="227495"/>
                  </a:lnTo>
                  <a:lnTo>
                    <a:pt x="1536890" y="258292"/>
                  </a:lnTo>
                  <a:lnTo>
                    <a:pt x="1536661" y="259816"/>
                  </a:lnTo>
                  <a:lnTo>
                    <a:pt x="1493964" y="279273"/>
                  </a:lnTo>
                  <a:lnTo>
                    <a:pt x="1491945" y="282549"/>
                  </a:lnTo>
                  <a:lnTo>
                    <a:pt x="1492084" y="286080"/>
                  </a:lnTo>
                  <a:lnTo>
                    <a:pt x="1498269" y="326872"/>
                  </a:lnTo>
                  <a:lnTo>
                    <a:pt x="1547672" y="336092"/>
                  </a:lnTo>
                  <a:lnTo>
                    <a:pt x="1548295" y="337451"/>
                  </a:lnTo>
                  <a:lnTo>
                    <a:pt x="1522945" y="376847"/>
                  </a:lnTo>
                  <a:lnTo>
                    <a:pt x="1522895" y="380898"/>
                  </a:lnTo>
                  <a:lnTo>
                    <a:pt x="1524927" y="383794"/>
                  </a:lnTo>
                  <a:lnTo>
                    <a:pt x="1552244" y="414667"/>
                  </a:lnTo>
                  <a:lnTo>
                    <a:pt x="1556042" y="415277"/>
                  </a:lnTo>
                  <a:lnTo>
                    <a:pt x="1598815" y="395706"/>
                  </a:lnTo>
                  <a:lnTo>
                    <a:pt x="1600047" y="396494"/>
                  </a:lnTo>
                  <a:lnTo>
                    <a:pt x="1600009" y="443687"/>
                  </a:lnTo>
                  <a:lnTo>
                    <a:pt x="1641589" y="458762"/>
                  </a:lnTo>
                  <a:lnTo>
                    <a:pt x="1645031" y="459397"/>
                  </a:lnTo>
                  <a:lnTo>
                    <a:pt x="1648574" y="457885"/>
                  </a:lnTo>
                  <a:lnTo>
                    <a:pt x="1659750" y="440461"/>
                  </a:lnTo>
                  <a:lnTo>
                    <a:pt x="1673974" y="418325"/>
                  </a:lnTo>
                  <a:lnTo>
                    <a:pt x="1675549" y="418325"/>
                  </a:lnTo>
                  <a:lnTo>
                    <a:pt x="1700644" y="457415"/>
                  </a:lnTo>
                  <a:lnTo>
                    <a:pt x="1703425" y="458901"/>
                  </a:lnTo>
                  <a:lnTo>
                    <a:pt x="1706880" y="458901"/>
                  </a:lnTo>
                  <a:lnTo>
                    <a:pt x="1707413" y="458851"/>
                  </a:lnTo>
                  <a:lnTo>
                    <a:pt x="1744091" y="448233"/>
                  </a:lnTo>
                  <a:lnTo>
                    <a:pt x="1749501" y="443687"/>
                  </a:lnTo>
                  <a:lnTo>
                    <a:pt x="1749501" y="440537"/>
                  </a:lnTo>
                  <a:lnTo>
                    <a:pt x="1749475" y="396494"/>
                  </a:lnTo>
                  <a:lnTo>
                    <a:pt x="1750707" y="395706"/>
                  </a:lnTo>
                  <a:lnTo>
                    <a:pt x="1793481" y="415277"/>
                  </a:lnTo>
                  <a:lnTo>
                    <a:pt x="1797278" y="414667"/>
                  </a:lnTo>
                  <a:lnTo>
                    <a:pt x="1799856" y="412242"/>
                  </a:lnTo>
                  <a:lnTo>
                    <a:pt x="1806651" y="405523"/>
                  </a:lnTo>
                  <a:lnTo>
                    <a:pt x="1813052" y="398538"/>
                  </a:lnTo>
                  <a:lnTo>
                    <a:pt x="1815388" y="395706"/>
                  </a:lnTo>
                  <a:lnTo>
                    <a:pt x="1815566" y="395478"/>
                  </a:lnTo>
                  <a:lnTo>
                    <a:pt x="1819033" y="391274"/>
                  </a:lnTo>
                  <a:lnTo>
                    <a:pt x="1824583" y="383794"/>
                  </a:lnTo>
                  <a:lnTo>
                    <a:pt x="1826615" y="380898"/>
                  </a:lnTo>
                  <a:lnTo>
                    <a:pt x="1826691" y="377063"/>
                  </a:lnTo>
                  <a:lnTo>
                    <a:pt x="1801215" y="337451"/>
                  </a:lnTo>
                  <a:lnTo>
                    <a:pt x="1801850" y="336092"/>
                  </a:lnTo>
                  <a:lnTo>
                    <a:pt x="1848383" y="329438"/>
                  </a:lnTo>
                  <a:lnTo>
                    <a:pt x="1857425" y="286080"/>
                  </a:lnTo>
                  <a:lnTo>
                    <a:pt x="1857565" y="282549"/>
                  </a:lnTo>
                  <a:close/>
                </a:path>
                <a:path w="1953895" h="558164">
                  <a:moveTo>
                    <a:pt x="1883918" y="540334"/>
                  </a:moveTo>
                  <a:lnTo>
                    <a:pt x="1866493" y="540334"/>
                  </a:lnTo>
                  <a:lnTo>
                    <a:pt x="1866493" y="557758"/>
                  </a:lnTo>
                  <a:lnTo>
                    <a:pt x="1883918" y="557758"/>
                  </a:lnTo>
                  <a:lnTo>
                    <a:pt x="1883918" y="540334"/>
                  </a:lnTo>
                  <a:close/>
                </a:path>
                <a:path w="1953895" h="558164">
                  <a:moveTo>
                    <a:pt x="1918779" y="540334"/>
                  </a:moveTo>
                  <a:lnTo>
                    <a:pt x="1901355" y="540334"/>
                  </a:lnTo>
                  <a:lnTo>
                    <a:pt x="1901355" y="557758"/>
                  </a:lnTo>
                  <a:lnTo>
                    <a:pt x="1918779" y="557758"/>
                  </a:lnTo>
                  <a:lnTo>
                    <a:pt x="1918779" y="540334"/>
                  </a:lnTo>
                  <a:close/>
                </a:path>
                <a:path w="1953895" h="558164">
                  <a:moveTo>
                    <a:pt x="1918779" y="461886"/>
                  </a:moveTo>
                  <a:lnTo>
                    <a:pt x="1901355" y="461886"/>
                  </a:lnTo>
                  <a:lnTo>
                    <a:pt x="1901355" y="479323"/>
                  </a:lnTo>
                  <a:lnTo>
                    <a:pt x="1899285" y="489496"/>
                  </a:lnTo>
                  <a:lnTo>
                    <a:pt x="1893684" y="497814"/>
                  </a:lnTo>
                  <a:lnTo>
                    <a:pt x="1885365" y="503415"/>
                  </a:lnTo>
                  <a:lnTo>
                    <a:pt x="1875205" y="505472"/>
                  </a:lnTo>
                  <a:lnTo>
                    <a:pt x="1538909" y="505472"/>
                  </a:lnTo>
                  <a:lnTo>
                    <a:pt x="1558899" y="485482"/>
                  </a:lnTo>
                  <a:lnTo>
                    <a:pt x="1546580" y="473163"/>
                  </a:lnTo>
                  <a:lnTo>
                    <a:pt x="1508315" y="511429"/>
                  </a:lnTo>
                  <a:lnTo>
                    <a:pt x="1508315" y="516940"/>
                  </a:lnTo>
                  <a:lnTo>
                    <a:pt x="1546580" y="555205"/>
                  </a:lnTo>
                  <a:lnTo>
                    <a:pt x="1558899" y="542886"/>
                  </a:lnTo>
                  <a:lnTo>
                    <a:pt x="1538909" y="522897"/>
                  </a:lnTo>
                  <a:lnTo>
                    <a:pt x="1875205" y="522897"/>
                  </a:lnTo>
                  <a:lnTo>
                    <a:pt x="1892147" y="519468"/>
                  </a:lnTo>
                  <a:lnTo>
                    <a:pt x="1906003" y="510120"/>
                  </a:lnTo>
                  <a:lnTo>
                    <a:pt x="1915337" y="496277"/>
                  </a:lnTo>
                  <a:lnTo>
                    <a:pt x="1918779" y="479323"/>
                  </a:lnTo>
                  <a:lnTo>
                    <a:pt x="1918779" y="461886"/>
                  </a:lnTo>
                  <a:close/>
                </a:path>
                <a:path w="1953895" h="558164">
                  <a:moveTo>
                    <a:pt x="1951075" y="407047"/>
                  </a:moveTo>
                  <a:lnTo>
                    <a:pt x="1938756" y="394728"/>
                  </a:lnTo>
                  <a:lnTo>
                    <a:pt x="1918779" y="414705"/>
                  </a:lnTo>
                  <a:lnTo>
                    <a:pt x="1918779" y="78435"/>
                  </a:lnTo>
                  <a:lnTo>
                    <a:pt x="1915350" y="61493"/>
                  </a:lnTo>
                  <a:lnTo>
                    <a:pt x="1906003" y="47637"/>
                  </a:lnTo>
                  <a:lnTo>
                    <a:pt x="1892147" y="38290"/>
                  </a:lnTo>
                  <a:lnTo>
                    <a:pt x="1875205" y="34861"/>
                  </a:lnTo>
                  <a:lnTo>
                    <a:pt x="1857768" y="34861"/>
                  </a:lnTo>
                  <a:lnTo>
                    <a:pt x="1857768" y="52285"/>
                  </a:lnTo>
                  <a:lnTo>
                    <a:pt x="1875205" y="52285"/>
                  </a:lnTo>
                  <a:lnTo>
                    <a:pt x="1885365" y="54343"/>
                  </a:lnTo>
                  <a:lnTo>
                    <a:pt x="1893684" y="59956"/>
                  </a:lnTo>
                  <a:lnTo>
                    <a:pt x="1899285" y="68275"/>
                  </a:lnTo>
                  <a:lnTo>
                    <a:pt x="1901355" y="78435"/>
                  </a:lnTo>
                  <a:lnTo>
                    <a:pt x="1901355" y="414731"/>
                  </a:lnTo>
                  <a:lnTo>
                    <a:pt x="1881352" y="394728"/>
                  </a:lnTo>
                  <a:lnTo>
                    <a:pt x="1869033" y="407047"/>
                  </a:lnTo>
                  <a:lnTo>
                    <a:pt x="1905596" y="443611"/>
                  </a:lnTo>
                  <a:lnTo>
                    <a:pt x="1907819" y="444461"/>
                  </a:lnTo>
                  <a:lnTo>
                    <a:pt x="1910054" y="444461"/>
                  </a:lnTo>
                  <a:lnTo>
                    <a:pt x="1912289" y="444461"/>
                  </a:lnTo>
                  <a:lnTo>
                    <a:pt x="1914512" y="443611"/>
                  </a:lnTo>
                  <a:lnTo>
                    <a:pt x="1951075" y="407047"/>
                  </a:lnTo>
                  <a:close/>
                </a:path>
                <a:path w="1953895" h="558164">
                  <a:moveTo>
                    <a:pt x="1953653" y="139433"/>
                  </a:moveTo>
                  <a:lnTo>
                    <a:pt x="1936216" y="139433"/>
                  </a:lnTo>
                  <a:lnTo>
                    <a:pt x="1936216" y="374738"/>
                  </a:lnTo>
                  <a:lnTo>
                    <a:pt x="1953653" y="374738"/>
                  </a:lnTo>
                  <a:lnTo>
                    <a:pt x="1953653" y="139433"/>
                  </a:lnTo>
                  <a:close/>
                </a:path>
                <a:path w="1953895" h="558164">
                  <a:moveTo>
                    <a:pt x="1953653" y="104571"/>
                  </a:moveTo>
                  <a:lnTo>
                    <a:pt x="1936216" y="104571"/>
                  </a:lnTo>
                  <a:lnTo>
                    <a:pt x="1936216" y="121996"/>
                  </a:lnTo>
                  <a:lnTo>
                    <a:pt x="1953653" y="121996"/>
                  </a:lnTo>
                  <a:lnTo>
                    <a:pt x="1953653" y="104571"/>
                  </a:lnTo>
                  <a:close/>
                </a:path>
                <a:path w="1953895" h="558164">
                  <a:moveTo>
                    <a:pt x="1953653" y="69723"/>
                  </a:moveTo>
                  <a:lnTo>
                    <a:pt x="1936216" y="69723"/>
                  </a:lnTo>
                  <a:lnTo>
                    <a:pt x="1936216" y="87147"/>
                  </a:lnTo>
                  <a:lnTo>
                    <a:pt x="1953653" y="87147"/>
                  </a:lnTo>
                  <a:lnTo>
                    <a:pt x="1953653" y="69723"/>
                  </a:lnTo>
                  <a:close/>
                </a:path>
                <a:path w="1953895" h="558164">
                  <a:moveTo>
                    <a:pt x="1953653" y="34848"/>
                  </a:moveTo>
                  <a:lnTo>
                    <a:pt x="1936216" y="34848"/>
                  </a:lnTo>
                  <a:lnTo>
                    <a:pt x="1936216" y="52285"/>
                  </a:lnTo>
                  <a:lnTo>
                    <a:pt x="1953653" y="52285"/>
                  </a:lnTo>
                  <a:lnTo>
                    <a:pt x="1953653" y="34848"/>
                  </a:lnTo>
                  <a:close/>
                </a:path>
              </a:pathLst>
            </a:custGeom>
            <a:solidFill>
              <a:srgbClr val="4F0093"/>
            </a:solidFill>
          </p:spPr>
          <p:txBody>
            <a:bodyPr wrap="square" lIns="0" tIns="0" rIns="0" bIns="0" rtlCol="0"/>
            <a:lstStyle/>
            <a:p>
              <a:endParaRPr/>
            </a:p>
          </p:txBody>
        </p:sp>
        <p:pic>
          <p:nvPicPr>
            <p:cNvPr id="24" name="object 24"/>
            <p:cNvPicPr/>
            <p:nvPr/>
          </p:nvPicPr>
          <p:blipFill>
            <a:blip r:embed="rId5" cstate="print"/>
            <a:stretch>
              <a:fillRect/>
            </a:stretch>
          </p:blipFill>
          <p:spPr>
            <a:xfrm>
              <a:off x="7435885" y="2373516"/>
              <a:ext cx="191731" cy="191731"/>
            </a:xfrm>
            <a:prstGeom prst="rect">
              <a:avLst/>
            </a:prstGeom>
          </p:spPr>
        </p:pic>
        <p:pic>
          <p:nvPicPr>
            <p:cNvPr id="25" name="object 25"/>
            <p:cNvPicPr/>
            <p:nvPr/>
          </p:nvPicPr>
          <p:blipFill>
            <a:blip r:embed="rId6" cstate="print"/>
            <a:stretch>
              <a:fillRect/>
            </a:stretch>
          </p:blipFill>
          <p:spPr>
            <a:xfrm>
              <a:off x="2510336" y="2399926"/>
              <a:ext cx="154878" cy="231381"/>
            </a:xfrm>
            <a:prstGeom prst="rect">
              <a:avLst/>
            </a:prstGeom>
          </p:spPr>
        </p:pic>
        <p:sp>
          <p:nvSpPr>
            <p:cNvPr id="26" name="object 26"/>
            <p:cNvSpPr/>
            <p:nvPr/>
          </p:nvSpPr>
          <p:spPr>
            <a:xfrm>
              <a:off x="2276776" y="2307101"/>
              <a:ext cx="558165" cy="288290"/>
            </a:xfrm>
            <a:custGeom>
              <a:avLst/>
              <a:gdLst/>
              <a:ahLst/>
              <a:cxnLst/>
              <a:rect l="l" t="t" r="r" b="b"/>
              <a:pathLst>
                <a:path w="558164" h="288289">
                  <a:moveTo>
                    <a:pt x="278879" y="0"/>
                  </a:moveTo>
                  <a:lnTo>
                    <a:pt x="233704" y="3656"/>
                  </a:lnTo>
                  <a:lnTo>
                    <a:pt x="190827" y="14241"/>
                  </a:lnTo>
                  <a:lnTo>
                    <a:pt x="150828" y="31175"/>
                  </a:lnTo>
                  <a:lnTo>
                    <a:pt x="114284" y="53879"/>
                  </a:lnTo>
                  <a:lnTo>
                    <a:pt x="81775" y="81775"/>
                  </a:lnTo>
                  <a:lnTo>
                    <a:pt x="53879" y="114284"/>
                  </a:lnTo>
                  <a:lnTo>
                    <a:pt x="31175" y="150828"/>
                  </a:lnTo>
                  <a:lnTo>
                    <a:pt x="14241" y="190827"/>
                  </a:lnTo>
                  <a:lnTo>
                    <a:pt x="3656" y="233704"/>
                  </a:lnTo>
                  <a:lnTo>
                    <a:pt x="0" y="278879"/>
                  </a:lnTo>
                  <a:lnTo>
                    <a:pt x="165" y="287909"/>
                  </a:lnTo>
                  <a:lnTo>
                    <a:pt x="57302" y="287909"/>
                  </a:lnTo>
                  <a:lnTo>
                    <a:pt x="57302" y="269849"/>
                  </a:lnTo>
                  <a:lnTo>
                    <a:pt x="23101" y="269849"/>
                  </a:lnTo>
                  <a:lnTo>
                    <a:pt x="25838" y="240311"/>
                  </a:lnTo>
                  <a:lnTo>
                    <a:pt x="31843" y="211832"/>
                  </a:lnTo>
                  <a:lnTo>
                    <a:pt x="40923" y="184606"/>
                  </a:lnTo>
                  <a:lnTo>
                    <a:pt x="52882" y="158826"/>
                  </a:lnTo>
                  <a:lnTo>
                    <a:pt x="82473" y="175907"/>
                  </a:lnTo>
                  <a:lnTo>
                    <a:pt x="91503" y="160274"/>
                  </a:lnTo>
                  <a:lnTo>
                    <a:pt x="61937" y="143205"/>
                  </a:lnTo>
                  <a:lnTo>
                    <a:pt x="78709" y="119554"/>
                  </a:lnTo>
                  <a:lnTo>
                    <a:pt x="97985" y="97985"/>
                  </a:lnTo>
                  <a:lnTo>
                    <a:pt x="119554" y="78709"/>
                  </a:lnTo>
                  <a:lnTo>
                    <a:pt x="143205" y="61937"/>
                  </a:lnTo>
                  <a:lnTo>
                    <a:pt x="160274" y="91503"/>
                  </a:lnTo>
                  <a:lnTo>
                    <a:pt x="175907" y="82473"/>
                  </a:lnTo>
                  <a:lnTo>
                    <a:pt x="184606" y="40924"/>
                  </a:lnTo>
                  <a:lnTo>
                    <a:pt x="240311" y="25843"/>
                  </a:lnTo>
                  <a:lnTo>
                    <a:pt x="269849" y="23101"/>
                  </a:lnTo>
                  <a:lnTo>
                    <a:pt x="269849" y="57302"/>
                  </a:lnTo>
                  <a:lnTo>
                    <a:pt x="287909" y="57302"/>
                  </a:lnTo>
                  <a:lnTo>
                    <a:pt x="287909" y="23101"/>
                  </a:lnTo>
                  <a:lnTo>
                    <a:pt x="317447" y="25843"/>
                  </a:lnTo>
                  <a:lnTo>
                    <a:pt x="345925" y="31848"/>
                  </a:lnTo>
                  <a:lnTo>
                    <a:pt x="373151" y="40924"/>
                  </a:lnTo>
                  <a:lnTo>
                    <a:pt x="398932" y="52882"/>
                  </a:lnTo>
                  <a:lnTo>
                    <a:pt x="381850" y="82473"/>
                  </a:lnTo>
                  <a:lnTo>
                    <a:pt x="397484" y="91503"/>
                  </a:lnTo>
                  <a:lnTo>
                    <a:pt x="414553" y="61937"/>
                  </a:lnTo>
                  <a:lnTo>
                    <a:pt x="438204" y="78709"/>
                  </a:lnTo>
                  <a:lnTo>
                    <a:pt x="459773" y="97985"/>
                  </a:lnTo>
                  <a:lnTo>
                    <a:pt x="479048" y="119554"/>
                  </a:lnTo>
                  <a:lnTo>
                    <a:pt x="495820" y="143205"/>
                  </a:lnTo>
                  <a:lnTo>
                    <a:pt x="466255" y="160274"/>
                  </a:lnTo>
                  <a:lnTo>
                    <a:pt x="475284" y="175907"/>
                  </a:lnTo>
                  <a:lnTo>
                    <a:pt x="516835" y="184606"/>
                  </a:lnTo>
                  <a:lnTo>
                    <a:pt x="531920" y="240311"/>
                  </a:lnTo>
                  <a:lnTo>
                    <a:pt x="534657" y="269849"/>
                  </a:lnTo>
                  <a:lnTo>
                    <a:pt x="500456" y="269849"/>
                  </a:lnTo>
                  <a:lnTo>
                    <a:pt x="500456" y="287909"/>
                  </a:lnTo>
                  <a:lnTo>
                    <a:pt x="557593" y="287909"/>
                  </a:lnTo>
                  <a:lnTo>
                    <a:pt x="557758" y="278879"/>
                  </a:lnTo>
                  <a:lnTo>
                    <a:pt x="554101" y="233704"/>
                  </a:lnTo>
                  <a:lnTo>
                    <a:pt x="543517" y="190827"/>
                  </a:lnTo>
                  <a:lnTo>
                    <a:pt x="526583" y="150828"/>
                  </a:lnTo>
                  <a:lnTo>
                    <a:pt x="503879" y="114284"/>
                  </a:lnTo>
                  <a:lnTo>
                    <a:pt x="475983" y="81775"/>
                  </a:lnTo>
                  <a:lnTo>
                    <a:pt x="443474" y="53879"/>
                  </a:lnTo>
                  <a:lnTo>
                    <a:pt x="406930" y="31175"/>
                  </a:lnTo>
                  <a:lnTo>
                    <a:pt x="366931" y="14241"/>
                  </a:lnTo>
                  <a:lnTo>
                    <a:pt x="324054" y="3656"/>
                  </a:lnTo>
                  <a:lnTo>
                    <a:pt x="278879" y="0"/>
                  </a:lnTo>
                  <a:close/>
                </a:path>
              </a:pathLst>
            </a:custGeom>
            <a:solidFill>
              <a:srgbClr val="4F0093"/>
            </a:solidFill>
          </p:spPr>
          <p:txBody>
            <a:bodyPr wrap="square" lIns="0" tIns="0" rIns="0" bIns="0" rtlCol="0"/>
            <a:lstStyle/>
            <a:p>
              <a:endParaRPr/>
            </a:p>
          </p:txBody>
        </p:sp>
      </p:grpSp>
      <p:sp>
        <p:nvSpPr>
          <p:cNvPr id="27" name="object 27"/>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34</a:t>
            </a:r>
            <a:endParaRPr spc="35" dirty="0"/>
          </a:p>
        </p:txBody>
      </p:sp>
      <p:sp>
        <p:nvSpPr>
          <p:cNvPr id="28" name="object 28"/>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Agile Methodology</a:t>
            </a: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Kanban view kanban board">
            <a:extLst>
              <a:ext uri="{FF2B5EF4-FFF2-40B4-BE49-F238E27FC236}">
                <a16:creationId xmlns:a16="http://schemas.microsoft.com/office/drawing/2014/main" id="{52E99F9D-37A9-4FBA-B0BD-8AD8E713C7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0000" y="520975"/>
            <a:ext cx="7284000" cy="4695608"/>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D67806FE-BF15-65F6-647B-76788EB1AEC8}"/>
              </a:ext>
            </a:extLst>
          </p:cNvPr>
          <p:cNvSpPr>
            <a:spLocks noGrp="1"/>
          </p:cNvSpPr>
          <p:nvPr>
            <p:ph type="ftr" sz="quarter" idx="5"/>
          </p:nvPr>
        </p:nvSpPr>
        <p:spPr>
          <a:xfrm>
            <a:off x="6634705" y="5571421"/>
            <a:ext cx="1627504" cy="153888"/>
          </a:xfrm>
        </p:spPr>
        <p:txBody>
          <a:bodyPr/>
          <a:lstStyle/>
          <a:p>
            <a:pPr marL="12700" algn="r">
              <a:lnSpc>
                <a:spcPct val="100000"/>
              </a:lnSpc>
              <a:spcBef>
                <a:spcPts val="25"/>
              </a:spcBef>
            </a:pPr>
            <a:r>
              <a:rPr lang="en-MY" spc="-25" dirty="0"/>
              <a:t>Agile Methodology</a:t>
            </a:r>
            <a:endParaRPr lang="en-MY" dirty="0"/>
          </a:p>
        </p:txBody>
      </p:sp>
      <p:sp>
        <p:nvSpPr>
          <p:cNvPr id="5" name="Slide Number Placeholder 4">
            <a:extLst>
              <a:ext uri="{FF2B5EF4-FFF2-40B4-BE49-F238E27FC236}">
                <a16:creationId xmlns:a16="http://schemas.microsoft.com/office/drawing/2014/main" id="{FB8E972E-C03F-4ECF-2C91-0B6FC48B5232}"/>
              </a:ext>
            </a:extLst>
          </p:cNvPr>
          <p:cNvSpPr>
            <a:spLocks noGrp="1"/>
          </p:cNvSpPr>
          <p:nvPr>
            <p:ph type="sldNum" sz="quarter" idx="7"/>
          </p:nvPr>
        </p:nvSpPr>
        <p:spPr/>
        <p:txBody>
          <a:bodyPr/>
          <a:lstStyle/>
          <a:p>
            <a:pPr marL="38100">
              <a:lnSpc>
                <a:spcPct val="100000"/>
              </a:lnSpc>
              <a:spcBef>
                <a:spcPts val="190"/>
              </a:spcBef>
            </a:pPr>
            <a:fld id="{81D60167-4931-47E6-BA6A-407CBD079E47}" type="slidenum">
              <a:rPr lang="en-MY" spc="35" smtClean="0"/>
              <a:t>35</a:t>
            </a:fld>
            <a:endParaRPr lang="en-MY" spc="35" dirty="0"/>
          </a:p>
        </p:txBody>
      </p:sp>
    </p:spTree>
    <p:extLst>
      <p:ext uri="{BB962C8B-B14F-4D97-AF65-F5344CB8AC3E}">
        <p14:creationId xmlns:p14="http://schemas.microsoft.com/office/powerpoint/2010/main" val="10445044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1988820"/>
          </a:xfrm>
          <a:custGeom>
            <a:avLst/>
            <a:gdLst/>
            <a:ahLst/>
            <a:cxnLst/>
            <a:rect l="l" t="t" r="r" b="b"/>
            <a:pathLst>
              <a:path w="9144000" h="1988820">
                <a:moveTo>
                  <a:pt x="9144000" y="0"/>
                </a:moveTo>
                <a:lnTo>
                  <a:pt x="0" y="0"/>
                </a:lnTo>
                <a:lnTo>
                  <a:pt x="0" y="1988312"/>
                </a:lnTo>
                <a:lnTo>
                  <a:pt x="9144000" y="1988312"/>
                </a:lnTo>
                <a:lnTo>
                  <a:pt x="9144000" y="0"/>
                </a:lnTo>
                <a:close/>
              </a:path>
            </a:pathLst>
          </a:custGeom>
          <a:solidFill>
            <a:srgbClr val="4F0093"/>
          </a:solidFill>
        </p:spPr>
        <p:txBody>
          <a:bodyPr wrap="square" lIns="0" tIns="0" rIns="0" bIns="0" rtlCol="0"/>
          <a:lstStyle/>
          <a:p>
            <a:endParaRPr/>
          </a:p>
        </p:txBody>
      </p:sp>
      <p:sp>
        <p:nvSpPr>
          <p:cNvPr id="3" name="object 3"/>
          <p:cNvSpPr txBox="1">
            <a:spLocks noGrp="1"/>
          </p:cNvSpPr>
          <p:nvPr>
            <p:ph type="title"/>
          </p:nvPr>
        </p:nvSpPr>
        <p:spPr>
          <a:xfrm>
            <a:off x="526368" y="38203"/>
            <a:ext cx="7952740" cy="1607185"/>
          </a:xfrm>
          <a:prstGeom prst="rect">
            <a:avLst/>
          </a:prstGeom>
        </p:spPr>
        <p:txBody>
          <a:bodyPr vert="horz" wrap="square" lIns="0" tIns="386080" rIns="0" bIns="0" rtlCol="0">
            <a:spAutoFit/>
          </a:bodyPr>
          <a:lstStyle/>
          <a:p>
            <a:pPr marL="12700">
              <a:lnSpc>
                <a:spcPct val="100000"/>
              </a:lnSpc>
              <a:spcBef>
                <a:spcPts val="3040"/>
              </a:spcBef>
            </a:pPr>
            <a:r>
              <a:rPr spc="-260" dirty="0"/>
              <a:t>A</a:t>
            </a:r>
            <a:r>
              <a:rPr spc="-85" dirty="0"/>
              <a:t>d</a:t>
            </a:r>
            <a:r>
              <a:rPr spc="-70" dirty="0"/>
              <a:t>v</a:t>
            </a:r>
            <a:r>
              <a:rPr spc="10" dirty="0"/>
              <a:t>a</a:t>
            </a:r>
            <a:r>
              <a:rPr dirty="0"/>
              <a:t>n</a:t>
            </a:r>
            <a:r>
              <a:rPr spc="335" dirty="0"/>
              <a:t>t</a:t>
            </a:r>
            <a:r>
              <a:rPr spc="5" dirty="0"/>
              <a:t>a</a:t>
            </a:r>
            <a:r>
              <a:rPr spc="-330" dirty="0"/>
              <a:t>g</a:t>
            </a:r>
            <a:r>
              <a:rPr spc="-5" dirty="0"/>
              <a:t>e</a:t>
            </a:r>
            <a:r>
              <a:rPr spc="-105" dirty="0"/>
              <a:t>s</a:t>
            </a:r>
            <a:r>
              <a:rPr spc="-535" dirty="0"/>
              <a:t> </a:t>
            </a:r>
            <a:r>
              <a:rPr spc="-160" dirty="0"/>
              <a:t>o</a:t>
            </a:r>
            <a:r>
              <a:rPr spc="360" dirty="0"/>
              <a:t>f</a:t>
            </a:r>
            <a:r>
              <a:rPr spc="-535" dirty="0"/>
              <a:t> </a:t>
            </a:r>
            <a:r>
              <a:rPr spc="-125" dirty="0"/>
              <a:t>Kan</a:t>
            </a:r>
            <a:r>
              <a:rPr spc="-130" dirty="0"/>
              <a:t>b</a:t>
            </a:r>
            <a:r>
              <a:rPr spc="20" dirty="0"/>
              <a:t>an</a:t>
            </a:r>
          </a:p>
          <a:p>
            <a:pPr marL="12700" marR="5080">
              <a:lnSpc>
                <a:spcPct val="109000"/>
              </a:lnSpc>
              <a:spcBef>
                <a:spcPts val="710"/>
              </a:spcBef>
            </a:pPr>
            <a:r>
              <a:rPr sz="1300" b="0" spc="-45" dirty="0">
                <a:latin typeface="Roboto Lt"/>
                <a:cs typeface="Roboto Lt"/>
              </a:rPr>
              <a:t>Kanban’s</a:t>
            </a:r>
            <a:r>
              <a:rPr sz="1300" b="0" spc="-25" dirty="0">
                <a:latin typeface="Roboto Lt"/>
                <a:cs typeface="Roboto Lt"/>
              </a:rPr>
              <a:t> </a:t>
            </a:r>
            <a:r>
              <a:rPr sz="1300" b="0" spc="-35" dirty="0">
                <a:latin typeface="Roboto Lt"/>
                <a:cs typeface="Roboto Lt"/>
              </a:rPr>
              <a:t>visual</a:t>
            </a:r>
            <a:r>
              <a:rPr sz="1300" b="0" spc="-25" dirty="0">
                <a:latin typeface="Roboto Lt"/>
                <a:cs typeface="Roboto Lt"/>
              </a:rPr>
              <a:t> </a:t>
            </a:r>
            <a:r>
              <a:rPr sz="1300" b="0" spc="-35" dirty="0">
                <a:latin typeface="Roboto Lt"/>
                <a:cs typeface="Roboto Lt"/>
              </a:rPr>
              <a:t>nature</a:t>
            </a:r>
            <a:r>
              <a:rPr sz="1300" b="0" spc="-25" dirty="0">
                <a:latin typeface="Roboto Lt"/>
                <a:cs typeface="Roboto Lt"/>
              </a:rPr>
              <a:t> </a:t>
            </a:r>
            <a:r>
              <a:rPr sz="1300" b="0" spc="-20" dirty="0">
                <a:latin typeface="Roboto Lt"/>
                <a:cs typeface="Roboto Lt"/>
              </a:rPr>
              <a:t>offers</a:t>
            </a:r>
            <a:r>
              <a:rPr sz="1300" b="0" spc="-25" dirty="0">
                <a:latin typeface="Roboto Lt"/>
                <a:cs typeface="Roboto Lt"/>
              </a:rPr>
              <a:t> </a:t>
            </a:r>
            <a:r>
              <a:rPr sz="1300" b="0" spc="-5" dirty="0">
                <a:latin typeface="Roboto Lt"/>
                <a:cs typeface="Roboto Lt"/>
              </a:rPr>
              <a:t>a</a:t>
            </a:r>
            <a:r>
              <a:rPr sz="1300" b="0" spc="-25" dirty="0">
                <a:latin typeface="Roboto Lt"/>
                <a:cs typeface="Roboto Lt"/>
              </a:rPr>
              <a:t> </a:t>
            </a:r>
            <a:r>
              <a:rPr sz="1300" b="0" spc="-30" dirty="0">
                <a:latin typeface="Roboto Lt"/>
                <a:cs typeface="Roboto Lt"/>
              </a:rPr>
              <a:t>unique</a:t>
            </a:r>
            <a:r>
              <a:rPr sz="1300" b="0" spc="-25" dirty="0">
                <a:latin typeface="Roboto Lt"/>
                <a:cs typeface="Roboto Lt"/>
              </a:rPr>
              <a:t> </a:t>
            </a:r>
            <a:r>
              <a:rPr sz="1300" b="0" spc="-30" dirty="0">
                <a:latin typeface="Roboto Lt"/>
                <a:cs typeface="Roboto Lt"/>
              </a:rPr>
              <a:t>advantage</a:t>
            </a:r>
            <a:r>
              <a:rPr sz="1300" b="0" spc="-20" dirty="0">
                <a:latin typeface="Roboto Lt"/>
                <a:cs typeface="Roboto Lt"/>
              </a:rPr>
              <a:t> </a:t>
            </a:r>
            <a:r>
              <a:rPr sz="1300" b="0" spc="-25" dirty="0">
                <a:latin typeface="Roboto Lt"/>
                <a:cs typeface="Roboto Lt"/>
              </a:rPr>
              <a:t>when </a:t>
            </a:r>
            <a:r>
              <a:rPr sz="1300" b="0" spc="-30" dirty="0">
                <a:latin typeface="Roboto Lt"/>
                <a:cs typeface="Roboto Lt"/>
              </a:rPr>
              <a:t>implementing</a:t>
            </a:r>
            <a:r>
              <a:rPr sz="1300" b="0" spc="-25" dirty="0">
                <a:latin typeface="Roboto Lt"/>
                <a:cs typeface="Roboto Lt"/>
              </a:rPr>
              <a:t> Agile. </a:t>
            </a:r>
            <a:r>
              <a:rPr sz="1300" b="0" spc="-20" dirty="0">
                <a:latin typeface="Roboto Lt"/>
                <a:cs typeface="Roboto Lt"/>
              </a:rPr>
              <a:t>The</a:t>
            </a:r>
            <a:r>
              <a:rPr sz="1300" b="0" spc="-25" dirty="0">
                <a:latin typeface="Roboto Lt"/>
                <a:cs typeface="Roboto Lt"/>
              </a:rPr>
              <a:t> Kanban board</a:t>
            </a:r>
            <a:r>
              <a:rPr sz="1300" b="0" spc="-20" dirty="0">
                <a:latin typeface="Roboto Lt"/>
                <a:cs typeface="Roboto Lt"/>
              </a:rPr>
              <a:t> </a:t>
            </a:r>
            <a:r>
              <a:rPr sz="1300" b="0" spc="-25" dirty="0">
                <a:latin typeface="Roboto Lt"/>
                <a:cs typeface="Roboto Lt"/>
              </a:rPr>
              <a:t>is </a:t>
            </a:r>
            <a:r>
              <a:rPr sz="1300" b="0" spc="-30" dirty="0">
                <a:latin typeface="Roboto Lt"/>
                <a:cs typeface="Roboto Lt"/>
              </a:rPr>
              <a:t>easy</a:t>
            </a:r>
            <a:r>
              <a:rPr sz="1300" b="0" spc="-25" dirty="0">
                <a:latin typeface="Roboto Lt"/>
                <a:cs typeface="Roboto Lt"/>
              </a:rPr>
              <a:t> </a:t>
            </a:r>
            <a:r>
              <a:rPr sz="1300" b="0" spc="-30" dirty="0">
                <a:latin typeface="Roboto Lt"/>
                <a:cs typeface="Roboto Lt"/>
              </a:rPr>
              <a:t>to</a:t>
            </a:r>
            <a:r>
              <a:rPr sz="1300" b="0" spc="-25" dirty="0">
                <a:latin typeface="Roboto Lt"/>
                <a:cs typeface="Roboto Lt"/>
              </a:rPr>
              <a:t> learn and </a:t>
            </a:r>
            <a:r>
              <a:rPr sz="1300" b="0" spc="-300" dirty="0">
                <a:latin typeface="Roboto Lt"/>
                <a:cs typeface="Roboto Lt"/>
              </a:rPr>
              <a:t> </a:t>
            </a:r>
            <a:r>
              <a:rPr sz="1300" b="0" spc="-30" dirty="0">
                <a:latin typeface="Roboto Lt"/>
                <a:cs typeface="Roboto Lt"/>
              </a:rPr>
              <a:t>understand, </a:t>
            </a:r>
            <a:r>
              <a:rPr sz="1300" b="0" spc="-15" dirty="0">
                <a:latin typeface="Roboto Lt"/>
                <a:cs typeface="Roboto Lt"/>
              </a:rPr>
              <a:t>it</a:t>
            </a:r>
            <a:r>
              <a:rPr sz="1300" b="0" spc="-30" dirty="0">
                <a:latin typeface="Roboto Lt"/>
                <a:cs typeface="Roboto Lt"/>
              </a:rPr>
              <a:t> </a:t>
            </a:r>
            <a:r>
              <a:rPr sz="1300" b="0" spc="-35" dirty="0">
                <a:latin typeface="Roboto Lt"/>
                <a:cs typeface="Roboto Lt"/>
              </a:rPr>
              <a:t>improves</a:t>
            </a:r>
            <a:r>
              <a:rPr sz="1300" b="0" spc="-30" dirty="0">
                <a:latin typeface="Roboto Lt"/>
                <a:cs typeface="Roboto Lt"/>
              </a:rPr>
              <a:t> </a:t>
            </a:r>
            <a:r>
              <a:rPr sz="1300" b="0" spc="-20" dirty="0">
                <a:latin typeface="Roboto Lt"/>
                <a:cs typeface="Roboto Lt"/>
              </a:rPr>
              <a:t>flow</a:t>
            </a:r>
            <a:r>
              <a:rPr sz="1300" b="0" spc="-30" dirty="0">
                <a:latin typeface="Roboto Lt"/>
                <a:cs typeface="Roboto Lt"/>
              </a:rPr>
              <a:t> </a:t>
            </a:r>
            <a:r>
              <a:rPr sz="1300" b="0" spc="-15" dirty="0">
                <a:latin typeface="Roboto Lt"/>
                <a:cs typeface="Roboto Lt"/>
              </a:rPr>
              <a:t>of</a:t>
            </a:r>
            <a:r>
              <a:rPr sz="1300" b="0" spc="-30" dirty="0">
                <a:latin typeface="Roboto Lt"/>
                <a:cs typeface="Roboto Lt"/>
              </a:rPr>
              <a:t> </a:t>
            </a:r>
            <a:r>
              <a:rPr sz="1300" b="0" spc="-20" dirty="0">
                <a:latin typeface="Roboto Lt"/>
                <a:cs typeface="Roboto Lt"/>
              </a:rPr>
              <a:t>work,</a:t>
            </a:r>
            <a:r>
              <a:rPr sz="1300" b="0" spc="-30" dirty="0">
                <a:latin typeface="Roboto Lt"/>
                <a:cs typeface="Roboto Lt"/>
              </a:rPr>
              <a:t> </a:t>
            </a:r>
            <a:r>
              <a:rPr sz="1300" b="0" spc="-25" dirty="0">
                <a:latin typeface="Roboto Lt"/>
                <a:cs typeface="Roboto Lt"/>
              </a:rPr>
              <a:t>and</a:t>
            </a:r>
            <a:r>
              <a:rPr sz="1300" b="0" spc="-30" dirty="0">
                <a:latin typeface="Roboto Lt"/>
                <a:cs typeface="Roboto Lt"/>
              </a:rPr>
              <a:t> </a:t>
            </a:r>
            <a:r>
              <a:rPr sz="1300" b="0" spc="-35" dirty="0">
                <a:latin typeface="Roboto Lt"/>
                <a:cs typeface="Roboto Lt"/>
              </a:rPr>
              <a:t>minimizes</a:t>
            </a:r>
            <a:r>
              <a:rPr sz="1300" b="0" spc="-30" dirty="0">
                <a:latin typeface="Roboto Lt"/>
                <a:cs typeface="Roboto Lt"/>
              </a:rPr>
              <a:t> cycle </a:t>
            </a:r>
            <a:r>
              <a:rPr sz="1300" b="0" spc="-25" dirty="0">
                <a:latin typeface="Roboto Lt"/>
                <a:cs typeface="Roboto Lt"/>
              </a:rPr>
              <a:t>time:</a:t>
            </a:r>
            <a:endParaRPr sz="1300">
              <a:latin typeface="Roboto Lt"/>
              <a:cs typeface="Roboto Lt"/>
            </a:endParaRPr>
          </a:p>
        </p:txBody>
      </p:sp>
      <p:sp>
        <p:nvSpPr>
          <p:cNvPr id="6" name="object 6"/>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36</a:t>
            </a:r>
            <a:endParaRPr spc="35" dirty="0"/>
          </a:p>
        </p:txBody>
      </p:sp>
      <p:sp>
        <p:nvSpPr>
          <p:cNvPr id="7" name="object 7"/>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a:t>Agile Methodology</a:t>
            </a:r>
            <a:endParaRPr dirty="0"/>
          </a:p>
        </p:txBody>
      </p:sp>
      <p:sp>
        <p:nvSpPr>
          <p:cNvPr id="4" name="object 4"/>
          <p:cNvSpPr txBox="1"/>
          <p:nvPr/>
        </p:nvSpPr>
        <p:spPr>
          <a:xfrm>
            <a:off x="526368" y="2197036"/>
            <a:ext cx="3726815" cy="2808605"/>
          </a:xfrm>
          <a:prstGeom prst="rect">
            <a:avLst/>
          </a:prstGeom>
        </p:spPr>
        <p:txBody>
          <a:bodyPr vert="horz" wrap="square" lIns="0" tIns="47625" rIns="0" bIns="0" rtlCol="0">
            <a:spAutoFit/>
          </a:bodyPr>
          <a:lstStyle/>
          <a:p>
            <a:pPr marL="12700">
              <a:lnSpc>
                <a:spcPct val="100000"/>
              </a:lnSpc>
              <a:spcBef>
                <a:spcPts val="375"/>
              </a:spcBef>
              <a:tabLst>
                <a:tab pos="266065" algn="l"/>
              </a:tabLst>
            </a:pPr>
            <a:r>
              <a:rPr sz="1700" b="1" spc="-35" dirty="0">
                <a:solidFill>
                  <a:srgbClr val="4F0093"/>
                </a:solidFill>
                <a:latin typeface="Arial"/>
                <a:cs typeface="Arial"/>
              </a:rPr>
              <a:t>+	</a:t>
            </a:r>
            <a:r>
              <a:rPr sz="1700" b="1" spc="30" dirty="0">
                <a:solidFill>
                  <a:srgbClr val="4F0093"/>
                </a:solidFill>
                <a:latin typeface="Arial"/>
                <a:cs typeface="Arial"/>
              </a:rPr>
              <a:t>I</a:t>
            </a:r>
            <a:r>
              <a:rPr sz="1700" b="1" spc="10" dirty="0">
                <a:solidFill>
                  <a:srgbClr val="4F0093"/>
                </a:solidFill>
                <a:latin typeface="Arial"/>
                <a:cs typeface="Arial"/>
              </a:rPr>
              <a:t>n</a:t>
            </a:r>
            <a:r>
              <a:rPr sz="1700" b="1" spc="-110" dirty="0">
                <a:solidFill>
                  <a:srgbClr val="4F0093"/>
                </a:solidFill>
                <a:latin typeface="Arial"/>
                <a:cs typeface="Arial"/>
              </a:rPr>
              <a:t>c</a:t>
            </a:r>
            <a:r>
              <a:rPr sz="1700" b="1" spc="50" dirty="0">
                <a:solidFill>
                  <a:srgbClr val="4F0093"/>
                </a:solidFill>
                <a:latin typeface="Arial"/>
                <a:cs typeface="Arial"/>
              </a:rPr>
              <a:t>r</a:t>
            </a:r>
            <a:r>
              <a:rPr sz="1700" b="1" spc="15" dirty="0">
                <a:solidFill>
                  <a:srgbClr val="4F0093"/>
                </a:solidFill>
                <a:latin typeface="Arial"/>
                <a:cs typeface="Arial"/>
              </a:rPr>
              <a:t>ea</a:t>
            </a:r>
            <a:r>
              <a:rPr sz="1700" b="1" spc="-130" dirty="0">
                <a:solidFill>
                  <a:srgbClr val="4F0093"/>
                </a:solidFill>
                <a:latin typeface="Arial"/>
                <a:cs typeface="Arial"/>
              </a:rPr>
              <a:t>s</a:t>
            </a:r>
            <a:r>
              <a:rPr sz="1700" b="1" spc="10" dirty="0">
                <a:solidFill>
                  <a:srgbClr val="4F0093"/>
                </a:solidFill>
                <a:latin typeface="Arial"/>
                <a:cs typeface="Arial"/>
              </a:rPr>
              <a:t>e</a:t>
            </a:r>
            <a:r>
              <a:rPr sz="1700" b="1" spc="-40" dirty="0">
                <a:solidFill>
                  <a:srgbClr val="4F0093"/>
                </a:solidFill>
                <a:latin typeface="Arial"/>
                <a:cs typeface="Arial"/>
              </a:rPr>
              <a:t>s</a:t>
            </a:r>
            <a:r>
              <a:rPr sz="1700" b="1" spc="-204" dirty="0">
                <a:solidFill>
                  <a:srgbClr val="4F0093"/>
                </a:solidFill>
                <a:latin typeface="Arial"/>
                <a:cs typeface="Arial"/>
              </a:rPr>
              <a:t> </a:t>
            </a:r>
            <a:r>
              <a:rPr sz="1700" b="1" spc="114" dirty="0">
                <a:solidFill>
                  <a:srgbClr val="4F0093"/>
                </a:solidFill>
                <a:latin typeface="Arial"/>
                <a:cs typeface="Arial"/>
              </a:rPr>
              <a:t>f</a:t>
            </a:r>
            <a:r>
              <a:rPr sz="1700" b="1" spc="15" dirty="0">
                <a:solidFill>
                  <a:srgbClr val="4F0093"/>
                </a:solidFill>
                <a:latin typeface="Arial"/>
                <a:cs typeface="Arial"/>
              </a:rPr>
              <a:t>l</a:t>
            </a:r>
            <a:r>
              <a:rPr sz="1700" b="1" spc="10" dirty="0">
                <a:solidFill>
                  <a:srgbClr val="4F0093"/>
                </a:solidFill>
                <a:latin typeface="Arial"/>
                <a:cs typeface="Arial"/>
              </a:rPr>
              <a:t>e</a:t>
            </a:r>
            <a:r>
              <a:rPr sz="1700" b="1" spc="45" dirty="0">
                <a:solidFill>
                  <a:srgbClr val="4F0093"/>
                </a:solidFill>
                <a:latin typeface="Arial"/>
                <a:cs typeface="Arial"/>
              </a:rPr>
              <a:t>x</a:t>
            </a:r>
            <a:r>
              <a:rPr sz="1700" b="1" spc="-50" dirty="0">
                <a:solidFill>
                  <a:srgbClr val="4F0093"/>
                </a:solidFill>
                <a:latin typeface="Arial"/>
                <a:cs typeface="Arial"/>
              </a:rPr>
              <a:t>i</a:t>
            </a:r>
            <a:r>
              <a:rPr sz="1700" b="1" spc="5" dirty="0">
                <a:solidFill>
                  <a:srgbClr val="4F0093"/>
                </a:solidFill>
                <a:latin typeface="Arial"/>
                <a:cs typeface="Arial"/>
              </a:rPr>
              <a:t>b</a:t>
            </a:r>
            <a:r>
              <a:rPr sz="1700" b="1" spc="-5" dirty="0">
                <a:solidFill>
                  <a:srgbClr val="4F0093"/>
                </a:solidFill>
                <a:latin typeface="Arial"/>
                <a:cs typeface="Arial"/>
              </a:rPr>
              <a:t>i</a:t>
            </a:r>
            <a:r>
              <a:rPr sz="1700" b="1" spc="-10" dirty="0">
                <a:solidFill>
                  <a:srgbClr val="4F0093"/>
                </a:solidFill>
                <a:latin typeface="Arial"/>
                <a:cs typeface="Arial"/>
              </a:rPr>
              <a:t>l</a:t>
            </a:r>
            <a:r>
              <a:rPr sz="1700" b="1" spc="-15" dirty="0">
                <a:solidFill>
                  <a:srgbClr val="4F0093"/>
                </a:solidFill>
                <a:latin typeface="Arial"/>
                <a:cs typeface="Arial"/>
              </a:rPr>
              <a:t>i</a:t>
            </a:r>
            <a:r>
              <a:rPr sz="1700" b="1" spc="165" dirty="0">
                <a:solidFill>
                  <a:srgbClr val="4F0093"/>
                </a:solidFill>
                <a:latin typeface="Arial"/>
                <a:cs typeface="Arial"/>
              </a:rPr>
              <a:t>t</a:t>
            </a:r>
            <a:r>
              <a:rPr sz="1700" b="1" spc="90" dirty="0">
                <a:solidFill>
                  <a:srgbClr val="4F0093"/>
                </a:solidFill>
                <a:latin typeface="Arial"/>
                <a:cs typeface="Arial"/>
              </a:rPr>
              <a:t>y</a:t>
            </a:r>
            <a:endParaRPr sz="1700">
              <a:latin typeface="Arial"/>
              <a:cs typeface="Arial"/>
            </a:endParaRPr>
          </a:p>
          <a:p>
            <a:pPr marL="266700" marR="5080" indent="-635">
              <a:lnSpc>
                <a:spcPts val="1700"/>
              </a:lnSpc>
            </a:pPr>
            <a:r>
              <a:rPr sz="1150" spc="-10" dirty="0">
                <a:solidFill>
                  <a:srgbClr val="333333"/>
                </a:solidFill>
                <a:latin typeface="Roboto Lt"/>
                <a:cs typeface="Roboto Lt"/>
              </a:rPr>
              <a:t>Kanban </a:t>
            </a:r>
            <a:r>
              <a:rPr sz="1150" spc="-15" dirty="0">
                <a:solidFill>
                  <a:srgbClr val="333333"/>
                </a:solidFill>
                <a:latin typeface="Roboto Lt"/>
                <a:cs typeface="Roboto Lt"/>
              </a:rPr>
              <a:t>is </a:t>
            </a:r>
            <a:r>
              <a:rPr sz="1150" spc="-10" dirty="0">
                <a:solidFill>
                  <a:srgbClr val="333333"/>
                </a:solidFill>
                <a:latin typeface="Roboto Lt"/>
                <a:cs typeface="Roboto Lt"/>
              </a:rPr>
              <a:t>an </a:t>
            </a:r>
            <a:r>
              <a:rPr sz="1150" spc="-15" dirty="0">
                <a:solidFill>
                  <a:srgbClr val="333333"/>
                </a:solidFill>
                <a:latin typeface="Roboto Lt"/>
                <a:cs typeface="Roboto Lt"/>
              </a:rPr>
              <a:t>evolving, </a:t>
            </a:r>
            <a:r>
              <a:rPr sz="1150" spc="-10" dirty="0">
                <a:solidFill>
                  <a:srgbClr val="333333"/>
                </a:solidFill>
                <a:latin typeface="Roboto Lt"/>
                <a:cs typeface="Roboto Lt"/>
              </a:rPr>
              <a:t>fluid </a:t>
            </a:r>
            <a:r>
              <a:rPr sz="1150" spc="-5" dirty="0">
                <a:solidFill>
                  <a:srgbClr val="333333"/>
                </a:solidFill>
                <a:latin typeface="Roboto Lt"/>
                <a:cs typeface="Roboto Lt"/>
              </a:rPr>
              <a:t>model. </a:t>
            </a:r>
            <a:r>
              <a:rPr sz="1150" spc="-10" dirty="0">
                <a:solidFill>
                  <a:srgbClr val="333333"/>
                </a:solidFill>
                <a:latin typeface="Roboto Lt"/>
                <a:cs typeface="Roboto Lt"/>
              </a:rPr>
              <a:t>There </a:t>
            </a:r>
            <a:r>
              <a:rPr sz="1150" spc="-15" dirty="0">
                <a:solidFill>
                  <a:srgbClr val="333333"/>
                </a:solidFill>
                <a:latin typeface="Roboto Lt"/>
                <a:cs typeface="Roboto Lt"/>
              </a:rPr>
              <a:t>are </a:t>
            </a:r>
            <a:r>
              <a:rPr sz="1150" spc="-5" dirty="0">
                <a:solidFill>
                  <a:srgbClr val="333333"/>
                </a:solidFill>
                <a:latin typeface="Roboto Lt"/>
                <a:cs typeface="Roboto Lt"/>
              </a:rPr>
              <a:t>no </a:t>
            </a:r>
            <a:r>
              <a:rPr sz="1150" spc="-10" dirty="0">
                <a:solidFill>
                  <a:srgbClr val="333333"/>
                </a:solidFill>
                <a:latin typeface="Roboto Lt"/>
                <a:cs typeface="Roboto Lt"/>
              </a:rPr>
              <a:t>set </a:t>
            </a:r>
            <a:r>
              <a:rPr sz="1150" spc="-5" dirty="0">
                <a:solidFill>
                  <a:srgbClr val="333333"/>
                </a:solidFill>
                <a:latin typeface="Roboto Lt"/>
                <a:cs typeface="Roboto Lt"/>
              </a:rPr>
              <a:t> </a:t>
            </a:r>
            <a:r>
              <a:rPr sz="1150" spc="-15" dirty="0">
                <a:solidFill>
                  <a:srgbClr val="333333"/>
                </a:solidFill>
                <a:latin typeface="Roboto Lt"/>
                <a:cs typeface="Roboto Lt"/>
              </a:rPr>
              <a:t>phase </a:t>
            </a:r>
            <a:r>
              <a:rPr sz="1150" spc="-20" dirty="0">
                <a:solidFill>
                  <a:srgbClr val="333333"/>
                </a:solidFill>
                <a:latin typeface="Roboto Lt"/>
                <a:cs typeface="Roboto Lt"/>
              </a:rPr>
              <a:t>durations </a:t>
            </a:r>
            <a:r>
              <a:rPr sz="1150" spc="-10" dirty="0">
                <a:solidFill>
                  <a:srgbClr val="333333"/>
                </a:solidFill>
                <a:latin typeface="Roboto Lt"/>
                <a:cs typeface="Roboto Lt"/>
              </a:rPr>
              <a:t>and </a:t>
            </a:r>
            <a:r>
              <a:rPr sz="1150" spc="-15" dirty="0">
                <a:solidFill>
                  <a:srgbClr val="333333"/>
                </a:solidFill>
                <a:latin typeface="Roboto Lt"/>
                <a:cs typeface="Roboto Lt"/>
              </a:rPr>
              <a:t>priorities are </a:t>
            </a:r>
            <a:r>
              <a:rPr sz="1150" spc="-20" dirty="0">
                <a:solidFill>
                  <a:srgbClr val="333333"/>
                </a:solidFill>
                <a:latin typeface="Roboto Lt"/>
                <a:cs typeface="Roboto Lt"/>
              </a:rPr>
              <a:t>reevaluated </a:t>
            </a:r>
            <a:r>
              <a:rPr sz="1150" spc="-15" dirty="0">
                <a:solidFill>
                  <a:srgbClr val="333333"/>
                </a:solidFill>
                <a:latin typeface="Roboto Lt"/>
                <a:cs typeface="Roboto Lt"/>
              </a:rPr>
              <a:t>with </a:t>
            </a:r>
            <a:r>
              <a:rPr sz="1150" spc="-10" dirty="0">
                <a:solidFill>
                  <a:srgbClr val="333333"/>
                </a:solidFill>
                <a:latin typeface="Roboto Lt"/>
                <a:cs typeface="Roboto Lt"/>
              </a:rPr>
              <a:t>new </a:t>
            </a:r>
            <a:r>
              <a:rPr sz="1150" spc="-265" dirty="0">
                <a:solidFill>
                  <a:srgbClr val="333333"/>
                </a:solidFill>
                <a:latin typeface="Roboto Lt"/>
                <a:cs typeface="Roboto Lt"/>
              </a:rPr>
              <a:t> </a:t>
            </a:r>
            <a:r>
              <a:rPr sz="1150" spc="-20" dirty="0">
                <a:solidFill>
                  <a:srgbClr val="333333"/>
                </a:solidFill>
                <a:latin typeface="Roboto Lt"/>
                <a:cs typeface="Roboto Lt"/>
              </a:rPr>
              <a:t>information.</a:t>
            </a:r>
            <a:endParaRPr sz="1150">
              <a:latin typeface="Roboto Lt"/>
              <a:cs typeface="Roboto Lt"/>
            </a:endParaRPr>
          </a:p>
          <a:p>
            <a:pPr marL="12700">
              <a:lnSpc>
                <a:spcPct val="100000"/>
              </a:lnSpc>
              <a:spcBef>
                <a:spcPts val="1010"/>
              </a:spcBef>
              <a:tabLst>
                <a:tab pos="266065" algn="l"/>
              </a:tabLst>
            </a:pPr>
            <a:r>
              <a:rPr sz="1700" b="1" spc="-35" dirty="0">
                <a:solidFill>
                  <a:srgbClr val="4F0093"/>
                </a:solidFill>
                <a:latin typeface="Arial"/>
                <a:cs typeface="Arial"/>
              </a:rPr>
              <a:t>+	</a:t>
            </a:r>
            <a:r>
              <a:rPr sz="1700" b="1" spc="-185" dirty="0">
                <a:solidFill>
                  <a:srgbClr val="4F0093"/>
                </a:solidFill>
                <a:latin typeface="Arial"/>
                <a:cs typeface="Arial"/>
              </a:rPr>
              <a:t>R</a:t>
            </a:r>
            <a:r>
              <a:rPr sz="1700" b="1" spc="25" dirty="0">
                <a:solidFill>
                  <a:srgbClr val="4F0093"/>
                </a:solidFill>
                <a:latin typeface="Arial"/>
                <a:cs typeface="Arial"/>
              </a:rPr>
              <a:t>e</a:t>
            </a:r>
            <a:r>
              <a:rPr sz="1700" b="1" spc="-35" dirty="0">
                <a:solidFill>
                  <a:srgbClr val="4F0093"/>
                </a:solidFill>
                <a:latin typeface="Arial"/>
                <a:cs typeface="Arial"/>
              </a:rPr>
              <a:t>d</a:t>
            </a:r>
            <a:r>
              <a:rPr sz="1700" b="1" spc="15" dirty="0">
                <a:solidFill>
                  <a:srgbClr val="4F0093"/>
                </a:solidFill>
                <a:latin typeface="Arial"/>
                <a:cs typeface="Arial"/>
              </a:rPr>
              <a:t>u</a:t>
            </a:r>
            <a:r>
              <a:rPr sz="1700" b="1" spc="-120" dirty="0">
                <a:solidFill>
                  <a:srgbClr val="4F0093"/>
                </a:solidFill>
                <a:latin typeface="Arial"/>
                <a:cs typeface="Arial"/>
              </a:rPr>
              <a:t>c</a:t>
            </a:r>
            <a:r>
              <a:rPr sz="1700" b="1" spc="10" dirty="0">
                <a:solidFill>
                  <a:srgbClr val="4F0093"/>
                </a:solidFill>
                <a:latin typeface="Arial"/>
                <a:cs typeface="Arial"/>
              </a:rPr>
              <a:t>e</a:t>
            </a:r>
            <a:r>
              <a:rPr sz="1700" b="1" spc="-40" dirty="0">
                <a:solidFill>
                  <a:srgbClr val="4F0093"/>
                </a:solidFill>
                <a:latin typeface="Arial"/>
                <a:cs typeface="Arial"/>
              </a:rPr>
              <a:t>s</a:t>
            </a:r>
            <a:r>
              <a:rPr sz="1700" b="1" spc="-204" dirty="0">
                <a:solidFill>
                  <a:srgbClr val="4F0093"/>
                </a:solidFill>
                <a:latin typeface="Arial"/>
                <a:cs typeface="Arial"/>
              </a:rPr>
              <a:t> </a:t>
            </a:r>
            <a:r>
              <a:rPr sz="1700" b="1" spc="114" dirty="0">
                <a:solidFill>
                  <a:srgbClr val="4F0093"/>
                </a:solidFill>
                <a:latin typeface="Arial"/>
                <a:cs typeface="Arial"/>
              </a:rPr>
              <a:t>w</a:t>
            </a:r>
            <a:r>
              <a:rPr sz="1700" b="1" spc="20" dirty="0">
                <a:solidFill>
                  <a:srgbClr val="4F0093"/>
                </a:solidFill>
                <a:latin typeface="Arial"/>
                <a:cs typeface="Arial"/>
              </a:rPr>
              <a:t>a</a:t>
            </a:r>
            <a:r>
              <a:rPr sz="1700" b="1" spc="-125" dirty="0">
                <a:solidFill>
                  <a:srgbClr val="4F0093"/>
                </a:solidFill>
                <a:latin typeface="Arial"/>
                <a:cs typeface="Arial"/>
              </a:rPr>
              <a:t>s</a:t>
            </a:r>
            <a:r>
              <a:rPr sz="1700" b="1" spc="75" dirty="0">
                <a:solidFill>
                  <a:srgbClr val="4F0093"/>
                </a:solidFill>
                <a:latin typeface="Arial"/>
                <a:cs typeface="Arial"/>
              </a:rPr>
              <a:t>te</a:t>
            </a:r>
            <a:endParaRPr sz="1700">
              <a:latin typeface="Arial"/>
              <a:cs typeface="Arial"/>
            </a:endParaRPr>
          </a:p>
          <a:p>
            <a:pPr marL="266700" marR="8255" indent="-635">
              <a:lnSpc>
                <a:spcPts val="1700"/>
              </a:lnSpc>
            </a:pPr>
            <a:r>
              <a:rPr sz="1150" spc="-10" dirty="0">
                <a:solidFill>
                  <a:srgbClr val="333333"/>
                </a:solidFill>
                <a:latin typeface="Roboto Lt"/>
                <a:cs typeface="Roboto Lt"/>
              </a:rPr>
              <a:t>Kanban </a:t>
            </a:r>
            <a:r>
              <a:rPr sz="1150" spc="-20" dirty="0">
                <a:solidFill>
                  <a:srgbClr val="333333"/>
                </a:solidFill>
                <a:latin typeface="Roboto Lt"/>
                <a:cs typeface="Roboto Lt"/>
              </a:rPr>
              <a:t>revolves </a:t>
            </a:r>
            <a:r>
              <a:rPr sz="1150" spc="-15" dirty="0">
                <a:solidFill>
                  <a:srgbClr val="333333"/>
                </a:solidFill>
                <a:latin typeface="Roboto Lt"/>
                <a:cs typeface="Roboto Lt"/>
              </a:rPr>
              <a:t>around reducing </a:t>
            </a:r>
            <a:r>
              <a:rPr sz="1150" spc="-20" dirty="0">
                <a:solidFill>
                  <a:srgbClr val="333333"/>
                </a:solidFill>
                <a:latin typeface="Roboto Lt"/>
                <a:cs typeface="Roboto Lt"/>
              </a:rPr>
              <a:t>waste, </a:t>
            </a:r>
            <a:r>
              <a:rPr sz="1150" spc="-15" dirty="0">
                <a:solidFill>
                  <a:srgbClr val="333333"/>
                </a:solidFill>
                <a:latin typeface="Roboto Lt"/>
                <a:cs typeface="Roboto Lt"/>
              </a:rPr>
              <a:t>ensuring that </a:t>
            </a:r>
            <a:r>
              <a:rPr sz="1150" spc="-10" dirty="0">
                <a:solidFill>
                  <a:srgbClr val="333333"/>
                </a:solidFill>
                <a:latin typeface="Roboto Lt"/>
                <a:cs typeface="Roboto Lt"/>
              </a:rPr>
              <a:t> </a:t>
            </a:r>
            <a:r>
              <a:rPr sz="1150" spc="-15" dirty="0">
                <a:solidFill>
                  <a:srgbClr val="333333"/>
                </a:solidFill>
                <a:latin typeface="Roboto Lt"/>
                <a:cs typeface="Roboto Lt"/>
              </a:rPr>
              <a:t>teams </a:t>
            </a:r>
            <a:r>
              <a:rPr sz="1150" spc="-25" dirty="0">
                <a:solidFill>
                  <a:srgbClr val="333333"/>
                </a:solidFill>
                <a:latin typeface="Roboto Lt"/>
                <a:cs typeface="Roboto Lt"/>
              </a:rPr>
              <a:t>don’t </a:t>
            </a:r>
            <a:r>
              <a:rPr sz="1150" spc="-10" dirty="0">
                <a:solidFill>
                  <a:srgbClr val="333333"/>
                </a:solidFill>
                <a:latin typeface="Roboto Lt"/>
                <a:cs typeface="Roboto Lt"/>
              </a:rPr>
              <a:t>spend time </a:t>
            </a:r>
            <a:r>
              <a:rPr sz="1150" spc="-15" dirty="0">
                <a:solidFill>
                  <a:srgbClr val="333333"/>
                </a:solidFill>
                <a:latin typeface="Roboto Lt"/>
                <a:cs typeface="Roboto Lt"/>
              </a:rPr>
              <a:t>doing </a:t>
            </a:r>
            <a:r>
              <a:rPr sz="1150" spc="-10" dirty="0">
                <a:solidFill>
                  <a:srgbClr val="333333"/>
                </a:solidFill>
                <a:latin typeface="Roboto Lt"/>
                <a:cs typeface="Roboto Lt"/>
              </a:rPr>
              <a:t>work </a:t>
            </a:r>
            <a:r>
              <a:rPr sz="1150" spc="-15" dirty="0">
                <a:solidFill>
                  <a:srgbClr val="333333"/>
                </a:solidFill>
                <a:latin typeface="Roboto Lt"/>
                <a:cs typeface="Roboto Lt"/>
              </a:rPr>
              <a:t>that </a:t>
            </a:r>
            <a:r>
              <a:rPr sz="1150" spc="-30" dirty="0">
                <a:solidFill>
                  <a:srgbClr val="333333"/>
                </a:solidFill>
                <a:latin typeface="Roboto Lt"/>
                <a:cs typeface="Roboto Lt"/>
              </a:rPr>
              <a:t>isn’t </a:t>
            </a:r>
            <a:r>
              <a:rPr sz="1150" spc="-5" dirty="0">
                <a:solidFill>
                  <a:srgbClr val="333333"/>
                </a:solidFill>
                <a:latin typeface="Roboto Lt"/>
                <a:cs typeface="Roboto Lt"/>
              </a:rPr>
              <a:t>needed </a:t>
            </a:r>
            <a:r>
              <a:rPr sz="1150" dirty="0">
                <a:solidFill>
                  <a:srgbClr val="333333"/>
                </a:solidFill>
                <a:latin typeface="Roboto Lt"/>
                <a:cs typeface="Roboto Lt"/>
              </a:rPr>
              <a:t>or </a:t>
            </a:r>
            <a:r>
              <a:rPr sz="1150" spc="-265" dirty="0">
                <a:solidFill>
                  <a:srgbClr val="333333"/>
                </a:solidFill>
                <a:latin typeface="Roboto Lt"/>
                <a:cs typeface="Roboto Lt"/>
              </a:rPr>
              <a:t> </a:t>
            </a:r>
            <a:r>
              <a:rPr sz="1150" spc="-15" dirty="0">
                <a:solidFill>
                  <a:srgbClr val="333333"/>
                </a:solidFill>
                <a:latin typeface="Roboto Lt"/>
                <a:cs typeface="Roboto Lt"/>
              </a:rPr>
              <a:t>doing</a:t>
            </a:r>
            <a:r>
              <a:rPr sz="1150" spc="-25" dirty="0">
                <a:solidFill>
                  <a:srgbClr val="333333"/>
                </a:solidFill>
                <a:latin typeface="Roboto Lt"/>
                <a:cs typeface="Roboto Lt"/>
              </a:rPr>
              <a:t> </a:t>
            </a:r>
            <a:r>
              <a:rPr sz="1150" spc="-10" dirty="0">
                <a:solidFill>
                  <a:srgbClr val="333333"/>
                </a:solidFill>
                <a:latin typeface="Roboto Lt"/>
                <a:cs typeface="Roboto Lt"/>
              </a:rPr>
              <a:t>the</a:t>
            </a:r>
            <a:r>
              <a:rPr sz="1150" spc="-20" dirty="0">
                <a:solidFill>
                  <a:srgbClr val="333333"/>
                </a:solidFill>
                <a:latin typeface="Roboto Lt"/>
                <a:cs typeface="Roboto Lt"/>
              </a:rPr>
              <a:t> </a:t>
            </a:r>
            <a:r>
              <a:rPr sz="1150" spc="-15" dirty="0">
                <a:solidFill>
                  <a:srgbClr val="333333"/>
                </a:solidFill>
                <a:latin typeface="Roboto Lt"/>
                <a:cs typeface="Roboto Lt"/>
              </a:rPr>
              <a:t>wrong</a:t>
            </a:r>
            <a:r>
              <a:rPr sz="1150" spc="-20" dirty="0">
                <a:solidFill>
                  <a:srgbClr val="333333"/>
                </a:solidFill>
                <a:latin typeface="Roboto Lt"/>
                <a:cs typeface="Roboto Lt"/>
              </a:rPr>
              <a:t> </a:t>
            </a:r>
            <a:r>
              <a:rPr sz="1150" spc="-10" dirty="0">
                <a:solidFill>
                  <a:srgbClr val="333333"/>
                </a:solidFill>
                <a:latin typeface="Roboto Lt"/>
                <a:cs typeface="Roboto Lt"/>
              </a:rPr>
              <a:t>kind</a:t>
            </a:r>
            <a:r>
              <a:rPr sz="1150" spc="-20" dirty="0">
                <a:solidFill>
                  <a:srgbClr val="333333"/>
                </a:solidFill>
                <a:latin typeface="Roboto Lt"/>
                <a:cs typeface="Roboto Lt"/>
              </a:rPr>
              <a:t> </a:t>
            </a:r>
            <a:r>
              <a:rPr sz="1150" spc="-5" dirty="0">
                <a:solidFill>
                  <a:srgbClr val="333333"/>
                </a:solidFill>
                <a:latin typeface="Roboto Lt"/>
                <a:cs typeface="Roboto Lt"/>
              </a:rPr>
              <a:t>of</a:t>
            </a:r>
            <a:r>
              <a:rPr sz="1150" spc="-20" dirty="0">
                <a:solidFill>
                  <a:srgbClr val="333333"/>
                </a:solidFill>
                <a:latin typeface="Roboto Lt"/>
                <a:cs typeface="Roboto Lt"/>
              </a:rPr>
              <a:t> </a:t>
            </a:r>
            <a:r>
              <a:rPr sz="1150" spc="-5" dirty="0">
                <a:solidFill>
                  <a:srgbClr val="333333"/>
                </a:solidFill>
                <a:latin typeface="Roboto Lt"/>
                <a:cs typeface="Roboto Lt"/>
              </a:rPr>
              <a:t>work.</a:t>
            </a:r>
            <a:endParaRPr sz="1150">
              <a:latin typeface="Roboto Lt"/>
              <a:cs typeface="Roboto Lt"/>
            </a:endParaRPr>
          </a:p>
          <a:p>
            <a:pPr marL="12700">
              <a:lnSpc>
                <a:spcPct val="100000"/>
              </a:lnSpc>
              <a:spcBef>
                <a:spcPts val="1010"/>
              </a:spcBef>
              <a:tabLst>
                <a:tab pos="266065" algn="l"/>
              </a:tabLst>
            </a:pPr>
            <a:r>
              <a:rPr sz="1700" b="1" spc="-35" dirty="0">
                <a:solidFill>
                  <a:srgbClr val="4F0093"/>
                </a:solidFill>
                <a:latin typeface="Arial"/>
                <a:cs typeface="Arial"/>
              </a:rPr>
              <a:t>+	</a:t>
            </a:r>
            <a:r>
              <a:rPr sz="1700" b="1" spc="-290" dirty="0">
                <a:solidFill>
                  <a:srgbClr val="4F0093"/>
                </a:solidFill>
                <a:latin typeface="Arial"/>
                <a:cs typeface="Arial"/>
              </a:rPr>
              <a:t>E</a:t>
            </a:r>
            <a:r>
              <a:rPr sz="1700" b="1" spc="20" dirty="0">
                <a:solidFill>
                  <a:srgbClr val="4F0093"/>
                </a:solidFill>
                <a:latin typeface="Arial"/>
                <a:cs typeface="Arial"/>
              </a:rPr>
              <a:t>a</a:t>
            </a:r>
            <a:r>
              <a:rPr sz="1700" b="1" spc="-105" dirty="0">
                <a:solidFill>
                  <a:srgbClr val="4F0093"/>
                </a:solidFill>
                <a:latin typeface="Arial"/>
                <a:cs typeface="Arial"/>
              </a:rPr>
              <a:t>s</a:t>
            </a:r>
            <a:r>
              <a:rPr sz="1700" b="1" spc="90" dirty="0">
                <a:solidFill>
                  <a:srgbClr val="4F0093"/>
                </a:solidFill>
                <a:latin typeface="Arial"/>
                <a:cs typeface="Arial"/>
              </a:rPr>
              <a:t>y</a:t>
            </a:r>
            <a:r>
              <a:rPr sz="1700" b="1" spc="-200" dirty="0">
                <a:solidFill>
                  <a:srgbClr val="4F0093"/>
                </a:solidFill>
                <a:latin typeface="Arial"/>
                <a:cs typeface="Arial"/>
              </a:rPr>
              <a:t> </a:t>
            </a:r>
            <a:r>
              <a:rPr sz="1700" b="1" spc="5" dirty="0">
                <a:solidFill>
                  <a:srgbClr val="4F0093"/>
                </a:solidFill>
                <a:latin typeface="Arial"/>
                <a:cs typeface="Arial"/>
              </a:rPr>
              <a:t>t</a:t>
            </a:r>
            <a:r>
              <a:rPr sz="1700" b="1" spc="165" dirty="0">
                <a:solidFill>
                  <a:srgbClr val="4F0093"/>
                </a:solidFill>
                <a:latin typeface="Arial"/>
                <a:cs typeface="Arial"/>
              </a:rPr>
              <a:t>o</a:t>
            </a:r>
            <a:r>
              <a:rPr sz="1700" b="1" spc="-204" dirty="0">
                <a:solidFill>
                  <a:srgbClr val="4F0093"/>
                </a:solidFill>
                <a:latin typeface="Arial"/>
                <a:cs typeface="Arial"/>
              </a:rPr>
              <a:t> </a:t>
            </a:r>
            <a:r>
              <a:rPr sz="1700" b="1" spc="15" dirty="0">
                <a:solidFill>
                  <a:srgbClr val="4F0093"/>
                </a:solidFill>
                <a:latin typeface="Arial"/>
                <a:cs typeface="Arial"/>
              </a:rPr>
              <a:t>un</a:t>
            </a:r>
            <a:r>
              <a:rPr sz="1700" b="1" spc="-35" dirty="0">
                <a:solidFill>
                  <a:srgbClr val="4F0093"/>
                </a:solidFill>
                <a:latin typeface="Arial"/>
                <a:cs typeface="Arial"/>
              </a:rPr>
              <a:t>d</a:t>
            </a:r>
            <a:r>
              <a:rPr sz="1700" b="1" spc="25" dirty="0">
                <a:solidFill>
                  <a:srgbClr val="4F0093"/>
                </a:solidFill>
                <a:latin typeface="Arial"/>
                <a:cs typeface="Arial"/>
              </a:rPr>
              <a:t>e</a:t>
            </a:r>
            <a:r>
              <a:rPr sz="1700" b="1" spc="45" dirty="0">
                <a:solidFill>
                  <a:srgbClr val="4F0093"/>
                </a:solidFill>
                <a:latin typeface="Arial"/>
                <a:cs typeface="Arial"/>
              </a:rPr>
              <a:t>r</a:t>
            </a:r>
            <a:r>
              <a:rPr sz="1700" b="1" spc="-125" dirty="0">
                <a:solidFill>
                  <a:srgbClr val="4F0093"/>
                </a:solidFill>
                <a:latin typeface="Arial"/>
                <a:cs typeface="Arial"/>
              </a:rPr>
              <a:t>s</a:t>
            </a:r>
            <a:r>
              <a:rPr sz="1700" b="1" spc="140" dirty="0">
                <a:solidFill>
                  <a:srgbClr val="4F0093"/>
                </a:solidFill>
                <a:latin typeface="Arial"/>
                <a:cs typeface="Arial"/>
              </a:rPr>
              <a:t>t</a:t>
            </a:r>
            <a:r>
              <a:rPr sz="1700" b="1" spc="25" dirty="0">
                <a:solidFill>
                  <a:srgbClr val="4F0093"/>
                </a:solidFill>
                <a:latin typeface="Arial"/>
                <a:cs typeface="Arial"/>
              </a:rPr>
              <a:t>a</a:t>
            </a:r>
            <a:r>
              <a:rPr sz="1700" b="1" spc="15" dirty="0">
                <a:solidFill>
                  <a:srgbClr val="4F0093"/>
                </a:solidFill>
                <a:latin typeface="Arial"/>
                <a:cs typeface="Arial"/>
              </a:rPr>
              <a:t>n</a:t>
            </a:r>
            <a:r>
              <a:rPr sz="1700" b="1" spc="50" dirty="0">
                <a:solidFill>
                  <a:srgbClr val="4F0093"/>
                </a:solidFill>
                <a:latin typeface="Arial"/>
                <a:cs typeface="Arial"/>
              </a:rPr>
              <a:t>d</a:t>
            </a:r>
            <a:endParaRPr sz="1700">
              <a:latin typeface="Arial"/>
              <a:cs typeface="Arial"/>
            </a:endParaRPr>
          </a:p>
          <a:p>
            <a:pPr marL="266700" marR="160655" indent="-635">
              <a:lnSpc>
                <a:spcPts val="1700"/>
              </a:lnSpc>
            </a:pPr>
            <a:r>
              <a:rPr sz="1150" spc="-5" dirty="0">
                <a:solidFill>
                  <a:srgbClr val="333333"/>
                </a:solidFill>
                <a:latin typeface="Roboto Lt"/>
                <a:cs typeface="Roboto Lt"/>
              </a:rPr>
              <a:t>The </a:t>
            </a:r>
            <a:r>
              <a:rPr sz="1150" spc="-20" dirty="0">
                <a:solidFill>
                  <a:srgbClr val="333333"/>
                </a:solidFill>
                <a:latin typeface="Roboto Lt"/>
                <a:cs typeface="Roboto Lt"/>
              </a:rPr>
              <a:t>visual nature </a:t>
            </a:r>
            <a:r>
              <a:rPr sz="1150" spc="-5" dirty="0">
                <a:solidFill>
                  <a:srgbClr val="333333"/>
                </a:solidFill>
                <a:latin typeface="Roboto Lt"/>
                <a:cs typeface="Roboto Lt"/>
              </a:rPr>
              <a:t>of </a:t>
            </a:r>
            <a:r>
              <a:rPr sz="1150" spc="-10" dirty="0">
                <a:solidFill>
                  <a:srgbClr val="333333"/>
                </a:solidFill>
                <a:latin typeface="Roboto Lt"/>
                <a:cs typeface="Roboto Lt"/>
              </a:rPr>
              <a:t>Kanban </a:t>
            </a:r>
            <a:r>
              <a:rPr sz="1150" spc="-15" dirty="0">
                <a:solidFill>
                  <a:srgbClr val="333333"/>
                </a:solidFill>
                <a:latin typeface="Roboto Lt"/>
                <a:cs typeface="Roboto Lt"/>
              </a:rPr>
              <a:t>helps to make </a:t>
            </a:r>
            <a:r>
              <a:rPr sz="1150" spc="-5" dirty="0">
                <a:solidFill>
                  <a:srgbClr val="333333"/>
                </a:solidFill>
                <a:latin typeface="Roboto Lt"/>
                <a:cs typeface="Roboto Lt"/>
              </a:rPr>
              <a:t>it </a:t>
            </a:r>
            <a:r>
              <a:rPr sz="1150" spc="-20" dirty="0">
                <a:solidFill>
                  <a:srgbClr val="333333"/>
                </a:solidFill>
                <a:latin typeface="Roboto Lt"/>
                <a:cs typeface="Roboto Lt"/>
              </a:rPr>
              <a:t>intuitive </a:t>
            </a:r>
            <a:r>
              <a:rPr sz="1150" spc="-265" dirty="0">
                <a:solidFill>
                  <a:srgbClr val="333333"/>
                </a:solidFill>
                <a:latin typeface="Roboto Lt"/>
                <a:cs typeface="Roboto Lt"/>
              </a:rPr>
              <a:t> </a:t>
            </a:r>
            <a:r>
              <a:rPr sz="1150" spc="-10" dirty="0">
                <a:solidFill>
                  <a:srgbClr val="333333"/>
                </a:solidFill>
                <a:latin typeface="Roboto Lt"/>
                <a:cs typeface="Roboto Lt"/>
              </a:rPr>
              <a:t>and</a:t>
            </a:r>
            <a:r>
              <a:rPr sz="1150" spc="-25" dirty="0">
                <a:solidFill>
                  <a:srgbClr val="333333"/>
                </a:solidFill>
                <a:latin typeface="Roboto Lt"/>
                <a:cs typeface="Roboto Lt"/>
              </a:rPr>
              <a:t> </a:t>
            </a:r>
            <a:r>
              <a:rPr sz="1150" spc="-15" dirty="0">
                <a:solidFill>
                  <a:srgbClr val="333333"/>
                </a:solidFill>
                <a:latin typeface="Roboto Lt"/>
                <a:cs typeface="Roboto Lt"/>
              </a:rPr>
              <a:t>easy</a:t>
            </a:r>
            <a:r>
              <a:rPr sz="1150" spc="-20" dirty="0">
                <a:solidFill>
                  <a:srgbClr val="333333"/>
                </a:solidFill>
                <a:latin typeface="Roboto Lt"/>
                <a:cs typeface="Roboto Lt"/>
              </a:rPr>
              <a:t> </a:t>
            </a:r>
            <a:r>
              <a:rPr sz="1150" spc="-15" dirty="0">
                <a:solidFill>
                  <a:srgbClr val="333333"/>
                </a:solidFill>
                <a:latin typeface="Roboto Lt"/>
                <a:cs typeface="Roboto Lt"/>
              </a:rPr>
              <a:t>to</a:t>
            </a:r>
            <a:r>
              <a:rPr sz="1150" spc="-20" dirty="0">
                <a:solidFill>
                  <a:srgbClr val="333333"/>
                </a:solidFill>
                <a:latin typeface="Roboto Lt"/>
                <a:cs typeface="Roboto Lt"/>
              </a:rPr>
              <a:t> </a:t>
            </a:r>
            <a:r>
              <a:rPr sz="1150" spc="-15" dirty="0">
                <a:solidFill>
                  <a:srgbClr val="333333"/>
                </a:solidFill>
                <a:latin typeface="Roboto Lt"/>
                <a:cs typeface="Roboto Lt"/>
              </a:rPr>
              <a:t>learn.</a:t>
            </a:r>
            <a:endParaRPr sz="1150">
              <a:latin typeface="Roboto Lt"/>
              <a:cs typeface="Roboto Lt"/>
            </a:endParaRPr>
          </a:p>
        </p:txBody>
      </p:sp>
      <p:sp>
        <p:nvSpPr>
          <p:cNvPr id="5" name="object 5"/>
          <p:cNvSpPr txBox="1"/>
          <p:nvPr/>
        </p:nvSpPr>
        <p:spPr>
          <a:xfrm>
            <a:off x="4711700" y="2197036"/>
            <a:ext cx="3721100" cy="2205355"/>
          </a:xfrm>
          <a:prstGeom prst="rect">
            <a:avLst/>
          </a:prstGeom>
        </p:spPr>
        <p:txBody>
          <a:bodyPr vert="horz" wrap="square" lIns="0" tIns="47625" rIns="0" bIns="0" rtlCol="0">
            <a:spAutoFit/>
          </a:bodyPr>
          <a:lstStyle/>
          <a:p>
            <a:pPr marL="12700">
              <a:lnSpc>
                <a:spcPct val="100000"/>
              </a:lnSpc>
              <a:spcBef>
                <a:spcPts val="375"/>
              </a:spcBef>
              <a:tabLst>
                <a:tab pos="266065" algn="l"/>
              </a:tabLst>
            </a:pPr>
            <a:r>
              <a:rPr sz="1700" b="1" spc="-35" dirty="0">
                <a:solidFill>
                  <a:srgbClr val="4F0093"/>
                </a:solidFill>
                <a:latin typeface="Arial"/>
                <a:cs typeface="Arial"/>
              </a:rPr>
              <a:t>+	</a:t>
            </a:r>
            <a:r>
              <a:rPr sz="1700" b="1" spc="30" dirty="0">
                <a:solidFill>
                  <a:srgbClr val="4F0093"/>
                </a:solidFill>
                <a:latin typeface="Arial"/>
                <a:cs typeface="Arial"/>
              </a:rPr>
              <a:t>I</a:t>
            </a:r>
            <a:r>
              <a:rPr sz="1700" b="1" spc="100" dirty="0">
                <a:solidFill>
                  <a:srgbClr val="4F0093"/>
                </a:solidFill>
                <a:latin typeface="Arial"/>
                <a:cs typeface="Arial"/>
              </a:rPr>
              <a:t>m</a:t>
            </a:r>
            <a:r>
              <a:rPr sz="1700" b="1" spc="-30" dirty="0">
                <a:solidFill>
                  <a:srgbClr val="4F0093"/>
                </a:solidFill>
                <a:latin typeface="Arial"/>
                <a:cs typeface="Arial"/>
              </a:rPr>
              <a:t>p</a:t>
            </a:r>
            <a:r>
              <a:rPr sz="1700" b="1" spc="50" dirty="0">
                <a:solidFill>
                  <a:srgbClr val="4F0093"/>
                </a:solidFill>
                <a:latin typeface="Arial"/>
                <a:cs typeface="Arial"/>
              </a:rPr>
              <a:t>r</a:t>
            </a:r>
            <a:r>
              <a:rPr sz="1700" b="1" spc="-75" dirty="0">
                <a:solidFill>
                  <a:srgbClr val="4F0093"/>
                </a:solidFill>
                <a:latin typeface="Arial"/>
                <a:cs typeface="Arial"/>
              </a:rPr>
              <a:t>o</a:t>
            </a:r>
            <a:r>
              <a:rPr sz="1700" b="1" spc="-25" dirty="0">
                <a:solidFill>
                  <a:srgbClr val="4F0093"/>
                </a:solidFill>
                <a:latin typeface="Arial"/>
                <a:cs typeface="Arial"/>
              </a:rPr>
              <a:t>v</a:t>
            </a:r>
            <a:r>
              <a:rPr sz="1700" b="1" spc="10" dirty="0">
                <a:solidFill>
                  <a:srgbClr val="4F0093"/>
                </a:solidFill>
                <a:latin typeface="Arial"/>
                <a:cs typeface="Arial"/>
              </a:rPr>
              <a:t>e</a:t>
            </a:r>
            <a:r>
              <a:rPr sz="1700" b="1" spc="-40" dirty="0">
                <a:solidFill>
                  <a:srgbClr val="4F0093"/>
                </a:solidFill>
                <a:latin typeface="Arial"/>
                <a:cs typeface="Arial"/>
              </a:rPr>
              <a:t>s</a:t>
            </a:r>
            <a:r>
              <a:rPr sz="1700" b="1" spc="-204" dirty="0">
                <a:solidFill>
                  <a:srgbClr val="4F0093"/>
                </a:solidFill>
                <a:latin typeface="Arial"/>
                <a:cs typeface="Arial"/>
              </a:rPr>
              <a:t> </a:t>
            </a:r>
            <a:r>
              <a:rPr sz="1700" b="1" spc="-35" dirty="0">
                <a:solidFill>
                  <a:srgbClr val="4F0093"/>
                </a:solidFill>
                <a:latin typeface="Arial"/>
                <a:cs typeface="Arial"/>
              </a:rPr>
              <a:t>d</a:t>
            </a:r>
            <a:r>
              <a:rPr sz="1700" b="1" spc="25" dirty="0">
                <a:solidFill>
                  <a:srgbClr val="4F0093"/>
                </a:solidFill>
                <a:latin typeface="Arial"/>
                <a:cs typeface="Arial"/>
              </a:rPr>
              <a:t>e</a:t>
            </a:r>
            <a:r>
              <a:rPr sz="1700" b="1" spc="-10" dirty="0">
                <a:solidFill>
                  <a:srgbClr val="4F0093"/>
                </a:solidFill>
                <a:latin typeface="Arial"/>
                <a:cs typeface="Arial"/>
              </a:rPr>
              <a:t>l</a:t>
            </a:r>
            <a:r>
              <a:rPr sz="1700" b="1" spc="5" dirty="0">
                <a:solidFill>
                  <a:srgbClr val="4F0093"/>
                </a:solidFill>
                <a:latin typeface="Arial"/>
                <a:cs typeface="Arial"/>
              </a:rPr>
              <a:t>i</a:t>
            </a:r>
            <a:r>
              <a:rPr sz="1700" b="1" spc="-25" dirty="0">
                <a:solidFill>
                  <a:srgbClr val="4F0093"/>
                </a:solidFill>
                <a:latin typeface="Arial"/>
                <a:cs typeface="Arial"/>
              </a:rPr>
              <a:t>v</a:t>
            </a:r>
            <a:r>
              <a:rPr sz="1700" b="1" spc="25" dirty="0">
                <a:solidFill>
                  <a:srgbClr val="4F0093"/>
                </a:solidFill>
                <a:latin typeface="Arial"/>
                <a:cs typeface="Arial"/>
              </a:rPr>
              <a:t>e</a:t>
            </a:r>
            <a:r>
              <a:rPr sz="1700" b="1" spc="110" dirty="0">
                <a:solidFill>
                  <a:srgbClr val="4F0093"/>
                </a:solidFill>
                <a:latin typeface="Arial"/>
                <a:cs typeface="Arial"/>
              </a:rPr>
              <a:t>r</a:t>
            </a:r>
            <a:r>
              <a:rPr sz="1700" b="1" spc="90" dirty="0">
                <a:solidFill>
                  <a:srgbClr val="4F0093"/>
                </a:solidFill>
                <a:latin typeface="Arial"/>
                <a:cs typeface="Arial"/>
              </a:rPr>
              <a:t>y</a:t>
            </a:r>
            <a:r>
              <a:rPr sz="1700" b="1" spc="-200" dirty="0">
                <a:solidFill>
                  <a:srgbClr val="4F0093"/>
                </a:solidFill>
                <a:latin typeface="Arial"/>
                <a:cs typeface="Arial"/>
              </a:rPr>
              <a:t> </a:t>
            </a:r>
            <a:r>
              <a:rPr sz="1700" b="1" spc="114" dirty="0">
                <a:solidFill>
                  <a:srgbClr val="4F0093"/>
                </a:solidFill>
                <a:latin typeface="Arial"/>
                <a:cs typeface="Arial"/>
              </a:rPr>
              <a:t>f</a:t>
            </a:r>
            <a:r>
              <a:rPr sz="1700" b="1" spc="15" dirty="0">
                <a:solidFill>
                  <a:srgbClr val="4F0093"/>
                </a:solidFill>
                <a:latin typeface="Arial"/>
                <a:cs typeface="Arial"/>
              </a:rPr>
              <a:t>l</a:t>
            </a:r>
            <a:r>
              <a:rPr sz="1700" b="1" spc="-70" dirty="0">
                <a:solidFill>
                  <a:srgbClr val="4F0093"/>
                </a:solidFill>
                <a:latin typeface="Arial"/>
                <a:cs typeface="Arial"/>
              </a:rPr>
              <a:t>o</a:t>
            </a:r>
            <a:r>
              <a:rPr sz="1700" b="1" spc="225" dirty="0">
                <a:solidFill>
                  <a:srgbClr val="4F0093"/>
                </a:solidFill>
                <a:latin typeface="Arial"/>
                <a:cs typeface="Arial"/>
              </a:rPr>
              <a:t>w</a:t>
            </a:r>
            <a:endParaRPr sz="1700">
              <a:latin typeface="Arial"/>
              <a:cs typeface="Arial"/>
            </a:endParaRPr>
          </a:p>
          <a:p>
            <a:pPr marL="266700" marR="219075" indent="-635">
              <a:lnSpc>
                <a:spcPts val="1700"/>
              </a:lnSpc>
            </a:pPr>
            <a:r>
              <a:rPr sz="1150" spc="-10" dirty="0">
                <a:solidFill>
                  <a:srgbClr val="333333"/>
                </a:solidFill>
                <a:latin typeface="Roboto Lt"/>
                <a:cs typeface="Roboto Lt"/>
              </a:rPr>
              <a:t>Kanban </a:t>
            </a:r>
            <a:r>
              <a:rPr sz="1150" spc="-15" dirty="0">
                <a:solidFill>
                  <a:srgbClr val="333333"/>
                </a:solidFill>
                <a:latin typeface="Roboto Lt"/>
                <a:cs typeface="Roboto Lt"/>
              </a:rPr>
              <a:t>focuses </a:t>
            </a:r>
            <a:r>
              <a:rPr sz="1150" dirty="0">
                <a:solidFill>
                  <a:srgbClr val="333333"/>
                </a:solidFill>
                <a:latin typeface="Roboto Lt"/>
                <a:cs typeface="Roboto Lt"/>
              </a:rPr>
              <a:t>on </a:t>
            </a:r>
            <a:r>
              <a:rPr sz="1150" spc="-10" dirty="0">
                <a:solidFill>
                  <a:srgbClr val="333333"/>
                </a:solidFill>
                <a:latin typeface="Roboto Lt"/>
                <a:cs typeface="Roboto Lt"/>
              </a:rPr>
              <a:t>the </a:t>
            </a:r>
            <a:r>
              <a:rPr sz="1150" spc="-40" dirty="0">
                <a:solidFill>
                  <a:srgbClr val="333333"/>
                </a:solidFill>
                <a:latin typeface="Roboto Lt"/>
                <a:cs typeface="Roboto Lt"/>
              </a:rPr>
              <a:t>just-in-time </a:t>
            </a:r>
            <a:r>
              <a:rPr sz="1150" spc="-15" dirty="0">
                <a:solidFill>
                  <a:srgbClr val="333333"/>
                </a:solidFill>
                <a:latin typeface="Roboto Lt"/>
                <a:cs typeface="Roboto Lt"/>
              </a:rPr>
              <a:t>delivery </a:t>
            </a:r>
            <a:r>
              <a:rPr sz="1150" spc="-5" dirty="0">
                <a:solidFill>
                  <a:srgbClr val="333333"/>
                </a:solidFill>
                <a:latin typeface="Roboto Lt"/>
                <a:cs typeface="Roboto Lt"/>
              </a:rPr>
              <a:t>of </a:t>
            </a:r>
            <a:r>
              <a:rPr sz="1150" spc="-20" dirty="0">
                <a:solidFill>
                  <a:srgbClr val="333333"/>
                </a:solidFill>
                <a:latin typeface="Roboto Lt"/>
                <a:cs typeface="Roboto Lt"/>
              </a:rPr>
              <a:t>value </a:t>
            </a:r>
            <a:r>
              <a:rPr sz="1150" spc="-265" dirty="0">
                <a:solidFill>
                  <a:srgbClr val="333333"/>
                </a:solidFill>
                <a:latin typeface="Roboto Lt"/>
                <a:cs typeface="Roboto Lt"/>
              </a:rPr>
              <a:t> </a:t>
            </a:r>
            <a:r>
              <a:rPr sz="1150" spc="-10" dirty="0">
                <a:solidFill>
                  <a:srgbClr val="333333"/>
                </a:solidFill>
                <a:latin typeface="Roboto Lt"/>
                <a:cs typeface="Roboto Lt"/>
              </a:rPr>
              <a:t>and </a:t>
            </a:r>
            <a:r>
              <a:rPr sz="1150" spc="-20" dirty="0">
                <a:solidFill>
                  <a:srgbClr val="333333"/>
                </a:solidFill>
                <a:latin typeface="Roboto Lt"/>
                <a:cs typeface="Roboto Lt"/>
              </a:rPr>
              <a:t>delivering </a:t>
            </a:r>
            <a:r>
              <a:rPr sz="1150" spc="-10" dirty="0">
                <a:solidFill>
                  <a:srgbClr val="333333"/>
                </a:solidFill>
                <a:latin typeface="Roboto Lt"/>
                <a:cs typeface="Roboto Lt"/>
              </a:rPr>
              <a:t>work </a:t>
            </a:r>
            <a:r>
              <a:rPr sz="1150" spc="-15" dirty="0">
                <a:solidFill>
                  <a:srgbClr val="333333"/>
                </a:solidFill>
                <a:latin typeface="Roboto Lt"/>
                <a:cs typeface="Roboto Lt"/>
              </a:rPr>
              <a:t>to customers </a:t>
            </a:r>
            <a:r>
              <a:rPr sz="1150" dirty="0">
                <a:solidFill>
                  <a:srgbClr val="333333"/>
                </a:solidFill>
                <a:latin typeface="Roboto Lt"/>
                <a:cs typeface="Roboto Lt"/>
              </a:rPr>
              <a:t>on </a:t>
            </a:r>
            <a:r>
              <a:rPr sz="1150" spc="5" dirty="0">
                <a:solidFill>
                  <a:srgbClr val="333333"/>
                </a:solidFill>
                <a:latin typeface="Roboto Lt"/>
                <a:cs typeface="Roboto Lt"/>
              </a:rPr>
              <a:t>a </a:t>
            </a:r>
            <a:r>
              <a:rPr sz="1150" spc="-20" dirty="0">
                <a:solidFill>
                  <a:srgbClr val="333333"/>
                </a:solidFill>
                <a:latin typeface="Roboto Lt"/>
                <a:cs typeface="Roboto Lt"/>
              </a:rPr>
              <a:t>regular </a:t>
            </a:r>
            <a:r>
              <a:rPr sz="1150" spc="-15" dirty="0">
                <a:solidFill>
                  <a:srgbClr val="333333"/>
                </a:solidFill>
                <a:latin typeface="Roboto Lt"/>
                <a:cs typeface="Roboto Lt"/>
              </a:rPr>
              <a:t> </a:t>
            </a:r>
            <a:r>
              <a:rPr sz="1150" spc="-10" dirty="0">
                <a:solidFill>
                  <a:srgbClr val="333333"/>
                </a:solidFill>
                <a:latin typeface="Roboto Lt"/>
                <a:cs typeface="Roboto Lt"/>
              </a:rPr>
              <a:t>cadence.</a:t>
            </a:r>
            <a:endParaRPr sz="1150">
              <a:latin typeface="Roboto Lt"/>
              <a:cs typeface="Roboto Lt"/>
            </a:endParaRPr>
          </a:p>
          <a:p>
            <a:pPr marL="12700">
              <a:lnSpc>
                <a:spcPct val="100000"/>
              </a:lnSpc>
              <a:spcBef>
                <a:spcPts val="1010"/>
              </a:spcBef>
              <a:tabLst>
                <a:tab pos="266065" algn="l"/>
              </a:tabLst>
            </a:pPr>
            <a:r>
              <a:rPr sz="1700" b="1" spc="-35" dirty="0">
                <a:solidFill>
                  <a:srgbClr val="4F0093"/>
                </a:solidFill>
                <a:latin typeface="Arial"/>
                <a:cs typeface="Arial"/>
              </a:rPr>
              <a:t>+	</a:t>
            </a:r>
            <a:r>
              <a:rPr sz="1700" b="1" spc="140" dirty="0">
                <a:solidFill>
                  <a:srgbClr val="4F0093"/>
                </a:solidFill>
                <a:latin typeface="Arial"/>
                <a:cs typeface="Arial"/>
              </a:rPr>
              <a:t>M</a:t>
            </a:r>
            <a:r>
              <a:rPr sz="1700" b="1" dirty="0">
                <a:solidFill>
                  <a:srgbClr val="4F0093"/>
                </a:solidFill>
                <a:latin typeface="Arial"/>
                <a:cs typeface="Arial"/>
              </a:rPr>
              <a:t>in</a:t>
            </a:r>
            <a:r>
              <a:rPr sz="1700" b="1" spc="50" dirty="0">
                <a:solidFill>
                  <a:srgbClr val="4F0093"/>
                </a:solidFill>
                <a:latin typeface="Arial"/>
                <a:cs typeface="Arial"/>
              </a:rPr>
              <a:t>im</a:t>
            </a:r>
            <a:r>
              <a:rPr sz="1700" b="1" spc="-10" dirty="0">
                <a:solidFill>
                  <a:srgbClr val="4F0093"/>
                </a:solidFill>
                <a:latin typeface="Arial"/>
                <a:cs typeface="Arial"/>
              </a:rPr>
              <a:t>i</a:t>
            </a:r>
            <a:r>
              <a:rPr sz="1700" b="1" spc="-80" dirty="0">
                <a:solidFill>
                  <a:srgbClr val="4F0093"/>
                </a:solidFill>
                <a:latin typeface="Arial"/>
                <a:cs typeface="Arial"/>
              </a:rPr>
              <a:t>z</a:t>
            </a:r>
            <a:r>
              <a:rPr sz="1700" b="1" spc="10" dirty="0">
                <a:solidFill>
                  <a:srgbClr val="4F0093"/>
                </a:solidFill>
                <a:latin typeface="Arial"/>
                <a:cs typeface="Arial"/>
              </a:rPr>
              <a:t>e</a:t>
            </a:r>
            <a:r>
              <a:rPr sz="1700" b="1" spc="-40" dirty="0">
                <a:solidFill>
                  <a:srgbClr val="4F0093"/>
                </a:solidFill>
                <a:latin typeface="Arial"/>
                <a:cs typeface="Arial"/>
              </a:rPr>
              <a:t>s</a:t>
            </a:r>
            <a:r>
              <a:rPr sz="1700" b="1" spc="-204" dirty="0">
                <a:solidFill>
                  <a:srgbClr val="4F0093"/>
                </a:solidFill>
                <a:latin typeface="Arial"/>
                <a:cs typeface="Arial"/>
              </a:rPr>
              <a:t> </a:t>
            </a:r>
            <a:r>
              <a:rPr sz="1700" b="1" spc="-75" dirty="0">
                <a:solidFill>
                  <a:srgbClr val="4F0093"/>
                </a:solidFill>
                <a:latin typeface="Arial"/>
                <a:cs typeface="Arial"/>
              </a:rPr>
              <a:t>c</a:t>
            </a:r>
            <a:r>
              <a:rPr sz="1700" b="1" spc="-25" dirty="0">
                <a:solidFill>
                  <a:srgbClr val="4F0093"/>
                </a:solidFill>
                <a:latin typeface="Arial"/>
                <a:cs typeface="Arial"/>
              </a:rPr>
              <a:t>y</a:t>
            </a:r>
            <a:r>
              <a:rPr sz="1700" b="1" spc="-110" dirty="0">
                <a:solidFill>
                  <a:srgbClr val="4F0093"/>
                </a:solidFill>
                <a:latin typeface="Arial"/>
                <a:cs typeface="Arial"/>
              </a:rPr>
              <a:t>c</a:t>
            </a:r>
            <a:r>
              <a:rPr sz="1700" b="1" spc="-30" dirty="0">
                <a:solidFill>
                  <a:srgbClr val="4F0093"/>
                </a:solidFill>
                <a:latin typeface="Arial"/>
                <a:cs typeface="Arial"/>
              </a:rPr>
              <a:t>l</a:t>
            </a:r>
            <a:r>
              <a:rPr sz="1700" b="1" spc="120" dirty="0">
                <a:solidFill>
                  <a:srgbClr val="4F0093"/>
                </a:solidFill>
                <a:latin typeface="Arial"/>
                <a:cs typeface="Arial"/>
              </a:rPr>
              <a:t>e</a:t>
            </a:r>
            <a:r>
              <a:rPr sz="1700" b="1" spc="-204" dirty="0">
                <a:solidFill>
                  <a:srgbClr val="4F0093"/>
                </a:solidFill>
                <a:latin typeface="Arial"/>
                <a:cs typeface="Arial"/>
              </a:rPr>
              <a:t> </a:t>
            </a:r>
            <a:r>
              <a:rPr sz="1700" b="1" spc="145" dirty="0">
                <a:solidFill>
                  <a:srgbClr val="4F0093"/>
                </a:solidFill>
                <a:latin typeface="Arial"/>
                <a:cs typeface="Arial"/>
              </a:rPr>
              <a:t>t</a:t>
            </a:r>
            <a:r>
              <a:rPr sz="1700" b="1" spc="40" dirty="0">
                <a:solidFill>
                  <a:srgbClr val="4F0093"/>
                </a:solidFill>
                <a:latin typeface="Arial"/>
                <a:cs typeface="Arial"/>
              </a:rPr>
              <a:t>im</a:t>
            </a:r>
            <a:r>
              <a:rPr sz="1700" b="1" spc="105" dirty="0">
                <a:solidFill>
                  <a:srgbClr val="4F0093"/>
                </a:solidFill>
                <a:latin typeface="Arial"/>
                <a:cs typeface="Arial"/>
              </a:rPr>
              <a:t>e</a:t>
            </a:r>
            <a:endParaRPr sz="1700">
              <a:latin typeface="Arial"/>
              <a:cs typeface="Arial"/>
            </a:endParaRPr>
          </a:p>
          <a:p>
            <a:pPr marL="266700" marR="5080" indent="-635">
              <a:lnSpc>
                <a:spcPts val="1700"/>
              </a:lnSpc>
            </a:pPr>
            <a:r>
              <a:rPr sz="1150" spc="-5" dirty="0">
                <a:solidFill>
                  <a:srgbClr val="333333"/>
                </a:solidFill>
                <a:latin typeface="Roboto Lt"/>
                <a:cs typeface="Roboto Lt"/>
              </a:rPr>
              <a:t>Cycle </a:t>
            </a:r>
            <a:r>
              <a:rPr sz="1150" spc="-10" dirty="0">
                <a:solidFill>
                  <a:srgbClr val="333333"/>
                </a:solidFill>
                <a:latin typeface="Roboto Lt"/>
                <a:cs typeface="Roboto Lt"/>
              </a:rPr>
              <a:t>time </a:t>
            </a:r>
            <a:r>
              <a:rPr sz="1150" spc="-15" dirty="0">
                <a:solidFill>
                  <a:srgbClr val="333333"/>
                </a:solidFill>
                <a:latin typeface="Roboto Lt"/>
                <a:cs typeface="Roboto Lt"/>
              </a:rPr>
              <a:t>is </a:t>
            </a:r>
            <a:r>
              <a:rPr sz="1150" spc="-10" dirty="0">
                <a:solidFill>
                  <a:srgbClr val="333333"/>
                </a:solidFill>
                <a:latin typeface="Roboto Lt"/>
                <a:cs typeface="Roboto Lt"/>
              </a:rPr>
              <a:t>the amount </a:t>
            </a:r>
            <a:r>
              <a:rPr sz="1150" spc="-5" dirty="0">
                <a:solidFill>
                  <a:srgbClr val="333333"/>
                </a:solidFill>
                <a:latin typeface="Roboto Lt"/>
                <a:cs typeface="Roboto Lt"/>
              </a:rPr>
              <a:t>of </a:t>
            </a:r>
            <a:r>
              <a:rPr sz="1150" spc="-10" dirty="0">
                <a:solidFill>
                  <a:srgbClr val="333333"/>
                </a:solidFill>
                <a:latin typeface="Roboto Lt"/>
                <a:cs typeface="Roboto Lt"/>
              </a:rPr>
              <a:t>time </a:t>
            </a:r>
            <a:r>
              <a:rPr sz="1150" spc="-5" dirty="0">
                <a:solidFill>
                  <a:srgbClr val="333333"/>
                </a:solidFill>
                <a:latin typeface="Roboto Lt"/>
                <a:cs typeface="Roboto Lt"/>
              </a:rPr>
              <a:t>it </a:t>
            </a:r>
            <a:r>
              <a:rPr sz="1150" spc="-20" dirty="0">
                <a:solidFill>
                  <a:srgbClr val="333333"/>
                </a:solidFill>
                <a:latin typeface="Roboto Lt"/>
                <a:cs typeface="Roboto Lt"/>
              </a:rPr>
              <a:t>takes </a:t>
            </a:r>
            <a:r>
              <a:rPr sz="1150" spc="-10" dirty="0">
                <a:solidFill>
                  <a:srgbClr val="333333"/>
                </a:solidFill>
                <a:latin typeface="Roboto Lt"/>
                <a:cs typeface="Roboto Lt"/>
              </a:rPr>
              <a:t>for work </a:t>
            </a:r>
            <a:r>
              <a:rPr sz="1150" spc="-15" dirty="0">
                <a:solidFill>
                  <a:srgbClr val="333333"/>
                </a:solidFill>
                <a:latin typeface="Roboto Lt"/>
                <a:cs typeface="Roboto Lt"/>
              </a:rPr>
              <a:t>to </a:t>
            </a:r>
            <a:r>
              <a:rPr sz="1150" spc="-10" dirty="0">
                <a:solidFill>
                  <a:srgbClr val="333333"/>
                </a:solidFill>
                <a:latin typeface="Roboto Lt"/>
                <a:cs typeface="Roboto Lt"/>
              </a:rPr>
              <a:t> move </a:t>
            </a:r>
            <a:r>
              <a:rPr sz="1150" spc="-15" dirty="0">
                <a:solidFill>
                  <a:srgbClr val="333333"/>
                </a:solidFill>
                <a:latin typeface="Roboto Lt"/>
                <a:cs typeface="Roboto Lt"/>
              </a:rPr>
              <a:t>through </a:t>
            </a:r>
            <a:r>
              <a:rPr sz="1150" spc="-10" dirty="0">
                <a:solidFill>
                  <a:srgbClr val="333333"/>
                </a:solidFill>
                <a:latin typeface="Roboto Lt"/>
                <a:cs typeface="Roboto Lt"/>
              </a:rPr>
              <a:t>the </a:t>
            </a:r>
            <a:r>
              <a:rPr sz="1150" spc="-35" dirty="0">
                <a:solidFill>
                  <a:srgbClr val="333333"/>
                </a:solidFill>
                <a:latin typeface="Roboto Lt"/>
                <a:cs typeface="Roboto Lt"/>
              </a:rPr>
              <a:t>team’s </a:t>
            </a:r>
            <a:r>
              <a:rPr sz="1150" spc="-15" dirty="0">
                <a:solidFill>
                  <a:srgbClr val="333333"/>
                </a:solidFill>
                <a:latin typeface="Roboto Lt"/>
                <a:cs typeface="Roboto Lt"/>
              </a:rPr>
              <a:t>workflow. In </a:t>
            </a:r>
            <a:r>
              <a:rPr sz="1150" spc="-10" dirty="0">
                <a:solidFill>
                  <a:srgbClr val="333333"/>
                </a:solidFill>
                <a:latin typeface="Roboto Lt"/>
                <a:cs typeface="Roboto Lt"/>
              </a:rPr>
              <a:t>Kanban </a:t>
            </a:r>
            <a:r>
              <a:rPr sz="1150" spc="-15" dirty="0">
                <a:solidFill>
                  <a:srgbClr val="333333"/>
                </a:solidFill>
                <a:latin typeface="Roboto Lt"/>
                <a:cs typeface="Roboto Lt"/>
              </a:rPr>
              <a:t>projects, </a:t>
            </a:r>
            <a:r>
              <a:rPr sz="1150" spc="-265" dirty="0">
                <a:solidFill>
                  <a:srgbClr val="333333"/>
                </a:solidFill>
                <a:latin typeface="Roboto Lt"/>
                <a:cs typeface="Roboto Lt"/>
              </a:rPr>
              <a:t> </a:t>
            </a:r>
            <a:r>
              <a:rPr sz="1150" spc="-10" dirty="0">
                <a:solidFill>
                  <a:srgbClr val="333333"/>
                </a:solidFill>
                <a:latin typeface="Roboto Lt"/>
                <a:cs typeface="Roboto Lt"/>
              </a:rPr>
              <a:t>the </a:t>
            </a:r>
            <a:r>
              <a:rPr sz="1150" spc="-20" dirty="0">
                <a:solidFill>
                  <a:srgbClr val="333333"/>
                </a:solidFill>
                <a:latin typeface="Roboto Lt"/>
                <a:cs typeface="Roboto Lt"/>
              </a:rPr>
              <a:t>entire </a:t>
            </a:r>
            <a:r>
              <a:rPr sz="1150" spc="-15" dirty="0">
                <a:solidFill>
                  <a:srgbClr val="333333"/>
                </a:solidFill>
                <a:latin typeface="Roboto Lt"/>
                <a:cs typeface="Roboto Lt"/>
              </a:rPr>
              <a:t>team helps to ensure </a:t>
            </a:r>
            <a:r>
              <a:rPr sz="1150" spc="-10" dirty="0">
                <a:solidFill>
                  <a:srgbClr val="333333"/>
                </a:solidFill>
                <a:latin typeface="Roboto Lt"/>
                <a:cs typeface="Roboto Lt"/>
              </a:rPr>
              <a:t>the work </a:t>
            </a:r>
            <a:r>
              <a:rPr sz="1150" spc="-15" dirty="0">
                <a:solidFill>
                  <a:srgbClr val="333333"/>
                </a:solidFill>
                <a:latin typeface="Roboto Lt"/>
                <a:cs typeface="Roboto Lt"/>
              </a:rPr>
              <a:t>is moving </a:t>
            </a:r>
            <a:r>
              <a:rPr sz="1150" spc="-10" dirty="0">
                <a:solidFill>
                  <a:srgbClr val="333333"/>
                </a:solidFill>
                <a:latin typeface="Roboto Lt"/>
                <a:cs typeface="Roboto Lt"/>
              </a:rPr>
              <a:t> </a:t>
            </a:r>
            <a:r>
              <a:rPr sz="1150" spc="-15" dirty="0">
                <a:solidFill>
                  <a:srgbClr val="333333"/>
                </a:solidFill>
                <a:latin typeface="Roboto Lt"/>
                <a:cs typeface="Roboto Lt"/>
              </a:rPr>
              <a:t>quickly</a:t>
            </a:r>
            <a:r>
              <a:rPr sz="1150" spc="-25" dirty="0">
                <a:solidFill>
                  <a:srgbClr val="333333"/>
                </a:solidFill>
                <a:latin typeface="Roboto Lt"/>
                <a:cs typeface="Roboto Lt"/>
              </a:rPr>
              <a:t> </a:t>
            </a:r>
            <a:r>
              <a:rPr sz="1150" spc="-10" dirty="0">
                <a:solidFill>
                  <a:srgbClr val="333333"/>
                </a:solidFill>
                <a:latin typeface="Roboto Lt"/>
                <a:cs typeface="Roboto Lt"/>
              </a:rPr>
              <a:t>and</a:t>
            </a:r>
            <a:r>
              <a:rPr sz="1150" spc="-20" dirty="0">
                <a:solidFill>
                  <a:srgbClr val="333333"/>
                </a:solidFill>
                <a:latin typeface="Roboto Lt"/>
                <a:cs typeface="Roboto Lt"/>
              </a:rPr>
              <a:t> </a:t>
            </a:r>
            <a:r>
              <a:rPr sz="1150" spc="-15" dirty="0">
                <a:solidFill>
                  <a:srgbClr val="333333"/>
                </a:solidFill>
                <a:latin typeface="Roboto Lt"/>
                <a:cs typeface="Roboto Lt"/>
              </a:rPr>
              <a:t>successfully</a:t>
            </a:r>
            <a:r>
              <a:rPr sz="1150" spc="-25" dirty="0">
                <a:solidFill>
                  <a:srgbClr val="333333"/>
                </a:solidFill>
                <a:latin typeface="Roboto Lt"/>
                <a:cs typeface="Roboto Lt"/>
              </a:rPr>
              <a:t> </a:t>
            </a:r>
            <a:r>
              <a:rPr sz="1150" spc="-15" dirty="0">
                <a:solidFill>
                  <a:srgbClr val="333333"/>
                </a:solidFill>
                <a:latin typeface="Roboto Lt"/>
                <a:cs typeface="Roboto Lt"/>
              </a:rPr>
              <a:t>through</a:t>
            </a:r>
            <a:r>
              <a:rPr sz="1150" spc="-20" dirty="0">
                <a:solidFill>
                  <a:srgbClr val="333333"/>
                </a:solidFill>
                <a:latin typeface="Roboto Lt"/>
                <a:cs typeface="Roboto Lt"/>
              </a:rPr>
              <a:t> </a:t>
            </a:r>
            <a:r>
              <a:rPr sz="1150" spc="-10" dirty="0">
                <a:solidFill>
                  <a:srgbClr val="333333"/>
                </a:solidFill>
                <a:latin typeface="Roboto Lt"/>
                <a:cs typeface="Roboto Lt"/>
              </a:rPr>
              <a:t>the</a:t>
            </a:r>
            <a:r>
              <a:rPr sz="1150" spc="-25" dirty="0">
                <a:solidFill>
                  <a:srgbClr val="333333"/>
                </a:solidFill>
                <a:latin typeface="Roboto Lt"/>
                <a:cs typeface="Roboto Lt"/>
              </a:rPr>
              <a:t> </a:t>
            </a:r>
            <a:r>
              <a:rPr sz="1150" spc="-10" dirty="0">
                <a:solidFill>
                  <a:srgbClr val="333333"/>
                </a:solidFill>
                <a:latin typeface="Roboto Lt"/>
                <a:cs typeface="Roboto Lt"/>
              </a:rPr>
              <a:t>process.</a:t>
            </a:r>
            <a:endParaRPr sz="1150">
              <a:latin typeface="Roboto Lt"/>
              <a:cs typeface="Roboto L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1988820"/>
          </a:xfrm>
          <a:custGeom>
            <a:avLst/>
            <a:gdLst/>
            <a:ahLst/>
            <a:cxnLst/>
            <a:rect l="l" t="t" r="r" b="b"/>
            <a:pathLst>
              <a:path w="9144000" h="1988820">
                <a:moveTo>
                  <a:pt x="9144000" y="0"/>
                </a:moveTo>
                <a:lnTo>
                  <a:pt x="0" y="0"/>
                </a:lnTo>
                <a:lnTo>
                  <a:pt x="0" y="1988312"/>
                </a:lnTo>
                <a:lnTo>
                  <a:pt x="9144000" y="1988312"/>
                </a:lnTo>
                <a:lnTo>
                  <a:pt x="9144000" y="0"/>
                </a:lnTo>
                <a:close/>
              </a:path>
            </a:pathLst>
          </a:custGeom>
          <a:solidFill>
            <a:srgbClr val="4F0093"/>
          </a:solidFill>
        </p:spPr>
        <p:txBody>
          <a:bodyPr wrap="square" lIns="0" tIns="0" rIns="0" bIns="0" rtlCol="0"/>
          <a:lstStyle/>
          <a:p>
            <a:endParaRPr/>
          </a:p>
        </p:txBody>
      </p:sp>
      <p:sp>
        <p:nvSpPr>
          <p:cNvPr id="3" name="object 3"/>
          <p:cNvSpPr txBox="1">
            <a:spLocks noGrp="1"/>
          </p:cNvSpPr>
          <p:nvPr>
            <p:ph type="title"/>
          </p:nvPr>
        </p:nvSpPr>
        <p:spPr>
          <a:xfrm>
            <a:off x="526366" y="38203"/>
            <a:ext cx="7480300" cy="1607185"/>
          </a:xfrm>
          <a:prstGeom prst="rect">
            <a:avLst/>
          </a:prstGeom>
        </p:spPr>
        <p:txBody>
          <a:bodyPr vert="horz" wrap="square" lIns="0" tIns="386080" rIns="0" bIns="0" rtlCol="0">
            <a:spAutoFit/>
          </a:bodyPr>
          <a:lstStyle/>
          <a:p>
            <a:pPr marL="12700">
              <a:lnSpc>
                <a:spcPct val="100000"/>
              </a:lnSpc>
              <a:spcBef>
                <a:spcPts val="3040"/>
              </a:spcBef>
            </a:pPr>
            <a:r>
              <a:rPr spc="-215" dirty="0"/>
              <a:t>D</a:t>
            </a:r>
            <a:r>
              <a:rPr spc="-65" dirty="0"/>
              <a:t>i</a:t>
            </a:r>
            <a:r>
              <a:rPr spc="-360" dirty="0"/>
              <a:t>s</a:t>
            </a:r>
            <a:r>
              <a:rPr spc="-50" dirty="0"/>
              <a:t>a</a:t>
            </a:r>
            <a:r>
              <a:rPr dirty="0"/>
              <a:t>d</a:t>
            </a:r>
            <a:r>
              <a:rPr spc="-70" dirty="0"/>
              <a:t>v</a:t>
            </a:r>
            <a:r>
              <a:rPr spc="10" dirty="0"/>
              <a:t>a</a:t>
            </a:r>
            <a:r>
              <a:rPr dirty="0"/>
              <a:t>n</a:t>
            </a:r>
            <a:r>
              <a:rPr spc="335" dirty="0"/>
              <a:t>t</a:t>
            </a:r>
            <a:r>
              <a:rPr spc="5" dirty="0"/>
              <a:t>a</a:t>
            </a:r>
            <a:r>
              <a:rPr spc="-330" dirty="0"/>
              <a:t>g</a:t>
            </a:r>
            <a:r>
              <a:rPr spc="-5" dirty="0"/>
              <a:t>e</a:t>
            </a:r>
            <a:r>
              <a:rPr spc="-105" dirty="0"/>
              <a:t>s</a:t>
            </a:r>
            <a:r>
              <a:rPr spc="-535" dirty="0"/>
              <a:t> </a:t>
            </a:r>
            <a:r>
              <a:rPr spc="-160" dirty="0"/>
              <a:t>o</a:t>
            </a:r>
            <a:r>
              <a:rPr spc="360" dirty="0"/>
              <a:t>f</a:t>
            </a:r>
            <a:r>
              <a:rPr spc="-535" dirty="0"/>
              <a:t> </a:t>
            </a:r>
            <a:r>
              <a:rPr spc="-125" dirty="0"/>
              <a:t>Kan</a:t>
            </a:r>
            <a:r>
              <a:rPr spc="-140" dirty="0"/>
              <a:t>b</a:t>
            </a:r>
            <a:r>
              <a:rPr spc="20" dirty="0"/>
              <a:t>an</a:t>
            </a:r>
          </a:p>
          <a:p>
            <a:pPr marL="12700" marR="5080">
              <a:lnSpc>
                <a:spcPct val="109000"/>
              </a:lnSpc>
              <a:spcBef>
                <a:spcPts val="710"/>
              </a:spcBef>
            </a:pPr>
            <a:r>
              <a:rPr sz="1300" b="0" spc="-35" dirty="0">
                <a:latin typeface="Roboto Lt"/>
                <a:cs typeface="Roboto Lt"/>
              </a:rPr>
              <a:t>Many</a:t>
            </a:r>
            <a:r>
              <a:rPr sz="1300" b="0" spc="-25" dirty="0">
                <a:latin typeface="Roboto Lt"/>
                <a:cs typeface="Roboto Lt"/>
              </a:rPr>
              <a:t> </a:t>
            </a:r>
            <a:r>
              <a:rPr sz="1300" b="0" spc="-15" dirty="0">
                <a:latin typeface="Roboto Lt"/>
                <a:cs typeface="Roboto Lt"/>
              </a:rPr>
              <a:t>of</a:t>
            </a:r>
            <a:r>
              <a:rPr sz="1300" b="0" spc="-20" dirty="0">
                <a:latin typeface="Roboto Lt"/>
                <a:cs typeface="Roboto Lt"/>
              </a:rPr>
              <a:t> </a:t>
            </a:r>
            <a:r>
              <a:rPr sz="1300" b="0" spc="-25" dirty="0">
                <a:latin typeface="Roboto Lt"/>
                <a:cs typeface="Roboto Lt"/>
              </a:rPr>
              <a:t>the</a:t>
            </a:r>
            <a:r>
              <a:rPr sz="1300" b="0" spc="-20" dirty="0">
                <a:latin typeface="Roboto Lt"/>
                <a:cs typeface="Roboto Lt"/>
              </a:rPr>
              <a:t> </a:t>
            </a:r>
            <a:r>
              <a:rPr sz="1300" b="0" spc="-35" dirty="0">
                <a:latin typeface="Roboto Lt"/>
                <a:cs typeface="Roboto Lt"/>
              </a:rPr>
              <a:t>disadvantages</a:t>
            </a:r>
            <a:r>
              <a:rPr sz="1300" b="0" spc="-25" dirty="0">
                <a:latin typeface="Roboto Lt"/>
                <a:cs typeface="Roboto Lt"/>
              </a:rPr>
              <a:t> </a:t>
            </a:r>
            <a:r>
              <a:rPr sz="1300" b="0" spc="-30" dirty="0">
                <a:latin typeface="Roboto Lt"/>
                <a:cs typeface="Roboto Lt"/>
              </a:rPr>
              <a:t>associated</a:t>
            </a:r>
            <a:r>
              <a:rPr sz="1300" b="0" spc="-20" dirty="0">
                <a:latin typeface="Roboto Lt"/>
                <a:cs typeface="Roboto Lt"/>
              </a:rPr>
              <a:t> </a:t>
            </a:r>
            <a:r>
              <a:rPr sz="1300" b="0" spc="-30" dirty="0">
                <a:latin typeface="Roboto Lt"/>
                <a:cs typeface="Roboto Lt"/>
              </a:rPr>
              <a:t>with</a:t>
            </a:r>
            <a:r>
              <a:rPr sz="1300" b="0" spc="-20" dirty="0">
                <a:latin typeface="Roboto Lt"/>
                <a:cs typeface="Roboto Lt"/>
              </a:rPr>
              <a:t> </a:t>
            </a:r>
            <a:r>
              <a:rPr sz="1300" b="0" spc="-25" dirty="0">
                <a:latin typeface="Roboto Lt"/>
                <a:cs typeface="Roboto Lt"/>
              </a:rPr>
              <a:t>Kanban </a:t>
            </a:r>
            <a:r>
              <a:rPr sz="1300" b="0" spc="-15" dirty="0">
                <a:latin typeface="Roboto Lt"/>
                <a:cs typeface="Roboto Lt"/>
              </a:rPr>
              <a:t>come</a:t>
            </a:r>
            <a:r>
              <a:rPr sz="1300" b="0" spc="-20" dirty="0">
                <a:latin typeface="Roboto Lt"/>
                <a:cs typeface="Roboto Lt"/>
              </a:rPr>
              <a:t> </a:t>
            </a:r>
            <a:r>
              <a:rPr sz="1300" b="0" spc="-30" dirty="0">
                <a:latin typeface="Roboto Lt"/>
                <a:cs typeface="Roboto Lt"/>
              </a:rPr>
              <a:t>with</a:t>
            </a:r>
            <a:r>
              <a:rPr sz="1300" b="0" spc="-20" dirty="0">
                <a:latin typeface="Roboto Lt"/>
                <a:cs typeface="Roboto Lt"/>
              </a:rPr>
              <a:t> </a:t>
            </a:r>
            <a:r>
              <a:rPr sz="1300" b="0" spc="-30" dirty="0">
                <a:latin typeface="Roboto Lt"/>
                <a:cs typeface="Roboto Lt"/>
              </a:rPr>
              <a:t>misuse</a:t>
            </a:r>
            <a:r>
              <a:rPr sz="1300" b="0" spc="-25" dirty="0">
                <a:latin typeface="Roboto Lt"/>
                <a:cs typeface="Roboto Lt"/>
              </a:rPr>
              <a:t> </a:t>
            </a:r>
            <a:r>
              <a:rPr sz="1300" b="0" spc="-15" dirty="0">
                <a:latin typeface="Roboto Lt"/>
                <a:cs typeface="Roboto Lt"/>
              </a:rPr>
              <a:t>or</a:t>
            </a:r>
            <a:r>
              <a:rPr sz="1300" b="0" spc="-20" dirty="0">
                <a:latin typeface="Roboto Lt"/>
                <a:cs typeface="Roboto Lt"/>
              </a:rPr>
              <a:t> </a:t>
            </a:r>
            <a:r>
              <a:rPr sz="1300" b="0" spc="-35" dirty="0">
                <a:latin typeface="Roboto Lt"/>
                <a:cs typeface="Roboto Lt"/>
              </a:rPr>
              <a:t>mishandling</a:t>
            </a:r>
            <a:r>
              <a:rPr sz="1300" b="0" spc="-20" dirty="0">
                <a:latin typeface="Roboto Lt"/>
                <a:cs typeface="Roboto Lt"/>
              </a:rPr>
              <a:t> </a:t>
            </a:r>
            <a:r>
              <a:rPr sz="1300" b="0" spc="-15" dirty="0">
                <a:latin typeface="Roboto Lt"/>
                <a:cs typeface="Roboto Lt"/>
              </a:rPr>
              <a:t>of</a:t>
            </a:r>
            <a:r>
              <a:rPr sz="1300" b="0" spc="-25" dirty="0">
                <a:latin typeface="Roboto Lt"/>
                <a:cs typeface="Roboto Lt"/>
              </a:rPr>
              <a:t> the</a:t>
            </a:r>
            <a:r>
              <a:rPr sz="1300" b="0" spc="-20" dirty="0">
                <a:latin typeface="Roboto Lt"/>
                <a:cs typeface="Roboto Lt"/>
              </a:rPr>
              <a:t> </a:t>
            </a:r>
            <a:r>
              <a:rPr sz="1300" b="0" spc="-25" dirty="0">
                <a:latin typeface="Roboto Lt"/>
                <a:cs typeface="Roboto Lt"/>
              </a:rPr>
              <a:t>Kanban</a:t>
            </a:r>
            <a:r>
              <a:rPr sz="1300" b="0" spc="-20" dirty="0">
                <a:latin typeface="Roboto Lt"/>
                <a:cs typeface="Roboto Lt"/>
              </a:rPr>
              <a:t> </a:t>
            </a:r>
            <a:r>
              <a:rPr sz="1300" b="0" spc="-25" dirty="0">
                <a:latin typeface="Roboto Lt"/>
                <a:cs typeface="Roboto Lt"/>
              </a:rPr>
              <a:t>board. </a:t>
            </a:r>
            <a:r>
              <a:rPr sz="1300" b="0" spc="-300" dirty="0">
                <a:latin typeface="Roboto Lt"/>
                <a:cs typeface="Roboto Lt"/>
              </a:rPr>
              <a:t> </a:t>
            </a:r>
            <a:r>
              <a:rPr sz="1300" b="0" dirty="0">
                <a:latin typeface="Roboto Lt"/>
                <a:cs typeface="Roboto Lt"/>
              </a:rPr>
              <a:t>An</a:t>
            </a:r>
            <a:r>
              <a:rPr sz="1300" b="0" spc="-30" dirty="0">
                <a:latin typeface="Roboto Lt"/>
                <a:cs typeface="Roboto Lt"/>
              </a:rPr>
              <a:t> outdated</a:t>
            </a:r>
            <a:r>
              <a:rPr sz="1300" b="0" spc="-25" dirty="0">
                <a:latin typeface="Roboto Lt"/>
                <a:cs typeface="Roboto Lt"/>
              </a:rPr>
              <a:t> </a:t>
            </a:r>
            <a:r>
              <a:rPr sz="1300" b="0" spc="-15" dirty="0">
                <a:latin typeface="Roboto Lt"/>
                <a:cs typeface="Roboto Lt"/>
              </a:rPr>
              <a:t>or</a:t>
            </a:r>
            <a:r>
              <a:rPr sz="1300" b="0" spc="-30" dirty="0">
                <a:latin typeface="Roboto Lt"/>
                <a:cs typeface="Roboto Lt"/>
              </a:rPr>
              <a:t> overcomplicated</a:t>
            </a:r>
            <a:r>
              <a:rPr sz="1300" b="0" spc="-25" dirty="0">
                <a:latin typeface="Roboto Lt"/>
                <a:cs typeface="Roboto Lt"/>
              </a:rPr>
              <a:t> board</a:t>
            </a:r>
            <a:r>
              <a:rPr sz="1300" b="0" spc="-30" dirty="0">
                <a:latin typeface="Roboto Lt"/>
                <a:cs typeface="Roboto Lt"/>
              </a:rPr>
              <a:t> </a:t>
            </a:r>
            <a:r>
              <a:rPr sz="1300" b="0" spc="-20" dirty="0">
                <a:latin typeface="Roboto Lt"/>
                <a:cs typeface="Roboto Lt"/>
              </a:rPr>
              <a:t>can</a:t>
            </a:r>
            <a:r>
              <a:rPr sz="1300" b="0" spc="-25" dirty="0">
                <a:latin typeface="Roboto Lt"/>
                <a:cs typeface="Roboto Lt"/>
              </a:rPr>
              <a:t> lead </a:t>
            </a:r>
            <a:r>
              <a:rPr sz="1300" b="0" spc="-30" dirty="0">
                <a:latin typeface="Roboto Lt"/>
                <a:cs typeface="Roboto Lt"/>
              </a:rPr>
              <a:t>to confusion,</a:t>
            </a:r>
            <a:r>
              <a:rPr sz="1300" b="0" spc="-25" dirty="0">
                <a:latin typeface="Roboto Lt"/>
                <a:cs typeface="Roboto Lt"/>
              </a:rPr>
              <a:t> </a:t>
            </a:r>
            <a:r>
              <a:rPr sz="1300" b="0" spc="-30" dirty="0">
                <a:latin typeface="Roboto Lt"/>
                <a:cs typeface="Roboto Lt"/>
              </a:rPr>
              <a:t>inaccuracies, </a:t>
            </a:r>
            <a:r>
              <a:rPr sz="1300" b="0" spc="-15" dirty="0">
                <a:latin typeface="Roboto Lt"/>
                <a:cs typeface="Roboto Lt"/>
              </a:rPr>
              <a:t>or</a:t>
            </a:r>
            <a:r>
              <a:rPr sz="1300" b="0" spc="-25" dirty="0">
                <a:latin typeface="Roboto Lt"/>
                <a:cs typeface="Roboto Lt"/>
              </a:rPr>
              <a:t> </a:t>
            </a:r>
            <a:r>
              <a:rPr sz="1300" b="0" spc="-30" dirty="0">
                <a:latin typeface="Roboto Lt"/>
                <a:cs typeface="Roboto Lt"/>
              </a:rPr>
              <a:t>miscommunication:</a:t>
            </a:r>
            <a:endParaRPr sz="1300">
              <a:latin typeface="Roboto Lt"/>
              <a:cs typeface="Roboto Lt"/>
            </a:endParaRPr>
          </a:p>
        </p:txBody>
      </p:sp>
      <p:sp>
        <p:nvSpPr>
          <p:cNvPr id="4" name="object 4"/>
          <p:cNvSpPr txBox="1"/>
          <p:nvPr/>
        </p:nvSpPr>
        <p:spPr>
          <a:xfrm>
            <a:off x="526368" y="2197036"/>
            <a:ext cx="3825875" cy="3024505"/>
          </a:xfrm>
          <a:prstGeom prst="rect">
            <a:avLst/>
          </a:prstGeom>
        </p:spPr>
        <p:txBody>
          <a:bodyPr vert="horz" wrap="square" lIns="0" tIns="47625" rIns="0" bIns="0" rtlCol="0">
            <a:spAutoFit/>
          </a:bodyPr>
          <a:lstStyle/>
          <a:p>
            <a:pPr marL="266065" indent="-254000">
              <a:lnSpc>
                <a:spcPct val="100000"/>
              </a:lnSpc>
              <a:spcBef>
                <a:spcPts val="375"/>
              </a:spcBef>
              <a:buChar char="–"/>
              <a:tabLst>
                <a:tab pos="266065" algn="l"/>
                <a:tab pos="266700" algn="l"/>
              </a:tabLst>
            </a:pPr>
            <a:r>
              <a:rPr sz="1700" b="1" spc="-50" dirty="0">
                <a:solidFill>
                  <a:srgbClr val="4F0093"/>
                </a:solidFill>
                <a:latin typeface="Arial"/>
                <a:cs typeface="Arial"/>
              </a:rPr>
              <a:t>O</a:t>
            </a:r>
            <a:r>
              <a:rPr sz="1700" b="1" spc="10" dirty="0">
                <a:solidFill>
                  <a:srgbClr val="4F0093"/>
                </a:solidFill>
                <a:latin typeface="Arial"/>
                <a:cs typeface="Arial"/>
              </a:rPr>
              <a:t>u</a:t>
            </a:r>
            <a:r>
              <a:rPr sz="1700" b="1" spc="135" dirty="0">
                <a:solidFill>
                  <a:srgbClr val="4F0093"/>
                </a:solidFill>
                <a:latin typeface="Arial"/>
                <a:cs typeface="Arial"/>
              </a:rPr>
              <a:t>t</a:t>
            </a:r>
            <a:r>
              <a:rPr sz="1700" b="1" spc="-40" dirty="0">
                <a:solidFill>
                  <a:srgbClr val="4F0093"/>
                </a:solidFill>
                <a:latin typeface="Arial"/>
                <a:cs typeface="Arial"/>
              </a:rPr>
              <a:t>d</a:t>
            </a:r>
            <a:r>
              <a:rPr sz="1700" b="1" spc="15" dirty="0">
                <a:solidFill>
                  <a:srgbClr val="4F0093"/>
                </a:solidFill>
                <a:latin typeface="Arial"/>
                <a:cs typeface="Arial"/>
              </a:rPr>
              <a:t>a</a:t>
            </a:r>
            <a:r>
              <a:rPr sz="1700" b="1" spc="35" dirty="0">
                <a:solidFill>
                  <a:srgbClr val="4F0093"/>
                </a:solidFill>
                <a:latin typeface="Arial"/>
                <a:cs typeface="Arial"/>
              </a:rPr>
              <a:t>t</a:t>
            </a:r>
            <a:r>
              <a:rPr sz="1700" b="1" spc="120" dirty="0">
                <a:solidFill>
                  <a:srgbClr val="4F0093"/>
                </a:solidFill>
                <a:latin typeface="Arial"/>
                <a:cs typeface="Arial"/>
              </a:rPr>
              <a:t>e</a:t>
            </a:r>
            <a:r>
              <a:rPr sz="1700" b="1" spc="50" dirty="0">
                <a:solidFill>
                  <a:srgbClr val="4F0093"/>
                </a:solidFill>
                <a:latin typeface="Arial"/>
                <a:cs typeface="Arial"/>
              </a:rPr>
              <a:t>d</a:t>
            </a:r>
            <a:r>
              <a:rPr sz="1700" b="1" spc="-204" dirty="0">
                <a:solidFill>
                  <a:srgbClr val="4F0093"/>
                </a:solidFill>
                <a:latin typeface="Arial"/>
                <a:cs typeface="Arial"/>
              </a:rPr>
              <a:t> </a:t>
            </a:r>
            <a:r>
              <a:rPr sz="1700" b="1" spc="-35" dirty="0">
                <a:solidFill>
                  <a:srgbClr val="4F0093"/>
                </a:solidFill>
                <a:latin typeface="Arial"/>
                <a:cs typeface="Arial"/>
              </a:rPr>
              <a:t>b</a:t>
            </a:r>
            <a:r>
              <a:rPr sz="1700" b="1" spc="-50" dirty="0">
                <a:solidFill>
                  <a:srgbClr val="4F0093"/>
                </a:solidFill>
                <a:latin typeface="Arial"/>
                <a:cs typeface="Arial"/>
              </a:rPr>
              <a:t>o</a:t>
            </a:r>
            <a:r>
              <a:rPr sz="1700" b="1" spc="25" dirty="0">
                <a:solidFill>
                  <a:srgbClr val="4F0093"/>
                </a:solidFill>
                <a:latin typeface="Arial"/>
                <a:cs typeface="Arial"/>
              </a:rPr>
              <a:t>a</a:t>
            </a:r>
            <a:r>
              <a:rPr sz="1700" b="1" spc="50" dirty="0">
                <a:solidFill>
                  <a:srgbClr val="4F0093"/>
                </a:solidFill>
                <a:latin typeface="Arial"/>
                <a:cs typeface="Arial"/>
              </a:rPr>
              <a:t>rd</a:t>
            </a:r>
            <a:r>
              <a:rPr sz="1700" b="1" spc="-204" dirty="0">
                <a:solidFill>
                  <a:srgbClr val="4F0093"/>
                </a:solidFill>
                <a:latin typeface="Arial"/>
                <a:cs typeface="Arial"/>
              </a:rPr>
              <a:t> </a:t>
            </a:r>
            <a:r>
              <a:rPr sz="1700" b="1" spc="-50" dirty="0">
                <a:solidFill>
                  <a:srgbClr val="4F0093"/>
                </a:solidFill>
                <a:latin typeface="Arial"/>
                <a:cs typeface="Arial"/>
              </a:rPr>
              <a:t>c</a:t>
            </a:r>
            <a:r>
              <a:rPr sz="1700" b="1" spc="-45" dirty="0">
                <a:solidFill>
                  <a:srgbClr val="4F0093"/>
                </a:solidFill>
                <a:latin typeface="Arial"/>
                <a:cs typeface="Arial"/>
              </a:rPr>
              <a:t>a</a:t>
            </a:r>
            <a:r>
              <a:rPr sz="1700" b="1" spc="100" dirty="0">
                <a:solidFill>
                  <a:srgbClr val="4F0093"/>
                </a:solidFill>
                <a:latin typeface="Arial"/>
                <a:cs typeface="Arial"/>
              </a:rPr>
              <a:t>n</a:t>
            </a:r>
            <a:r>
              <a:rPr sz="1700" b="1" spc="-200" dirty="0">
                <a:solidFill>
                  <a:srgbClr val="4F0093"/>
                </a:solidFill>
                <a:latin typeface="Arial"/>
                <a:cs typeface="Arial"/>
              </a:rPr>
              <a:t> </a:t>
            </a:r>
            <a:r>
              <a:rPr sz="1700" b="1" spc="-5" dirty="0">
                <a:solidFill>
                  <a:srgbClr val="4F0093"/>
                </a:solidFill>
                <a:latin typeface="Arial"/>
                <a:cs typeface="Arial"/>
              </a:rPr>
              <a:t>le</a:t>
            </a:r>
            <a:r>
              <a:rPr sz="1700" b="1" spc="30" dirty="0">
                <a:solidFill>
                  <a:srgbClr val="4F0093"/>
                </a:solidFill>
                <a:latin typeface="Arial"/>
                <a:cs typeface="Arial"/>
              </a:rPr>
              <a:t>a</a:t>
            </a:r>
            <a:r>
              <a:rPr sz="1700" b="1" spc="50" dirty="0">
                <a:solidFill>
                  <a:srgbClr val="4F0093"/>
                </a:solidFill>
                <a:latin typeface="Arial"/>
                <a:cs typeface="Arial"/>
              </a:rPr>
              <a:t>d</a:t>
            </a:r>
            <a:r>
              <a:rPr sz="1700" b="1" spc="-204" dirty="0">
                <a:solidFill>
                  <a:srgbClr val="4F0093"/>
                </a:solidFill>
                <a:latin typeface="Arial"/>
                <a:cs typeface="Arial"/>
              </a:rPr>
              <a:t> </a:t>
            </a:r>
            <a:r>
              <a:rPr sz="1700" b="1" spc="5" dirty="0">
                <a:solidFill>
                  <a:srgbClr val="4F0093"/>
                </a:solidFill>
                <a:latin typeface="Arial"/>
                <a:cs typeface="Arial"/>
              </a:rPr>
              <a:t>t</a:t>
            </a:r>
            <a:r>
              <a:rPr sz="1700" b="1" spc="165" dirty="0">
                <a:solidFill>
                  <a:srgbClr val="4F0093"/>
                </a:solidFill>
                <a:latin typeface="Arial"/>
                <a:cs typeface="Arial"/>
              </a:rPr>
              <a:t>o</a:t>
            </a:r>
            <a:r>
              <a:rPr sz="1700" b="1" spc="-204" dirty="0">
                <a:solidFill>
                  <a:srgbClr val="4F0093"/>
                </a:solidFill>
                <a:latin typeface="Arial"/>
                <a:cs typeface="Arial"/>
              </a:rPr>
              <a:t> </a:t>
            </a:r>
            <a:r>
              <a:rPr sz="1700" b="1" spc="-10" dirty="0">
                <a:solidFill>
                  <a:srgbClr val="4F0093"/>
                </a:solidFill>
                <a:latin typeface="Arial"/>
                <a:cs typeface="Arial"/>
              </a:rPr>
              <a:t>i</a:t>
            </a:r>
            <a:r>
              <a:rPr sz="1700" b="1" spc="-130" dirty="0">
                <a:solidFill>
                  <a:srgbClr val="4F0093"/>
                </a:solidFill>
                <a:latin typeface="Arial"/>
                <a:cs typeface="Arial"/>
              </a:rPr>
              <a:t>ss</a:t>
            </a:r>
            <a:r>
              <a:rPr sz="1700" b="1" spc="15" dirty="0">
                <a:solidFill>
                  <a:srgbClr val="4F0093"/>
                </a:solidFill>
                <a:latin typeface="Arial"/>
                <a:cs typeface="Arial"/>
              </a:rPr>
              <a:t>u</a:t>
            </a:r>
            <a:r>
              <a:rPr sz="1700" b="1" spc="10" dirty="0">
                <a:solidFill>
                  <a:srgbClr val="4F0093"/>
                </a:solidFill>
                <a:latin typeface="Arial"/>
                <a:cs typeface="Arial"/>
              </a:rPr>
              <a:t>e</a:t>
            </a:r>
            <a:r>
              <a:rPr sz="1700" b="1" spc="-40" dirty="0">
                <a:solidFill>
                  <a:srgbClr val="4F0093"/>
                </a:solidFill>
                <a:latin typeface="Arial"/>
                <a:cs typeface="Arial"/>
              </a:rPr>
              <a:t>s</a:t>
            </a:r>
            <a:endParaRPr sz="1700">
              <a:latin typeface="Arial"/>
              <a:cs typeface="Arial"/>
            </a:endParaRPr>
          </a:p>
          <a:p>
            <a:pPr marL="266700" marR="234315" indent="-635">
              <a:lnSpc>
                <a:spcPts val="1700"/>
              </a:lnSpc>
            </a:pPr>
            <a:r>
              <a:rPr sz="1150" spc="-5" dirty="0">
                <a:solidFill>
                  <a:srgbClr val="333333"/>
                </a:solidFill>
                <a:latin typeface="Roboto Lt"/>
                <a:cs typeface="Roboto Lt"/>
              </a:rPr>
              <a:t>The </a:t>
            </a:r>
            <a:r>
              <a:rPr sz="1150" spc="-15" dirty="0">
                <a:solidFill>
                  <a:srgbClr val="333333"/>
                </a:solidFill>
                <a:latin typeface="Roboto Lt"/>
                <a:cs typeface="Roboto Lt"/>
              </a:rPr>
              <a:t>team </a:t>
            </a:r>
            <a:r>
              <a:rPr sz="1150" spc="-10" dirty="0">
                <a:solidFill>
                  <a:srgbClr val="333333"/>
                </a:solidFill>
                <a:latin typeface="Roboto Lt"/>
                <a:cs typeface="Roboto Lt"/>
              </a:rPr>
              <a:t>must </a:t>
            </a:r>
            <a:r>
              <a:rPr sz="1150" dirty="0">
                <a:solidFill>
                  <a:srgbClr val="333333"/>
                </a:solidFill>
                <a:latin typeface="Roboto Lt"/>
                <a:cs typeface="Roboto Lt"/>
              </a:rPr>
              <a:t>be </a:t>
            </a:r>
            <a:r>
              <a:rPr sz="1150" spc="-10" dirty="0">
                <a:solidFill>
                  <a:srgbClr val="333333"/>
                </a:solidFill>
                <a:latin typeface="Roboto Lt"/>
                <a:cs typeface="Roboto Lt"/>
              </a:rPr>
              <a:t>committed </a:t>
            </a:r>
            <a:r>
              <a:rPr sz="1150" spc="-15" dirty="0">
                <a:solidFill>
                  <a:srgbClr val="333333"/>
                </a:solidFill>
                <a:latin typeface="Roboto Lt"/>
                <a:cs typeface="Roboto Lt"/>
              </a:rPr>
              <a:t>to keeping </a:t>
            </a:r>
            <a:r>
              <a:rPr sz="1150" spc="-10" dirty="0">
                <a:solidFill>
                  <a:srgbClr val="333333"/>
                </a:solidFill>
                <a:latin typeface="Roboto Lt"/>
                <a:cs typeface="Roboto Lt"/>
              </a:rPr>
              <a:t>the Kanban </a:t>
            </a:r>
            <a:r>
              <a:rPr sz="1150" spc="-265" dirty="0">
                <a:solidFill>
                  <a:srgbClr val="333333"/>
                </a:solidFill>
                <a:latin typeface="Roboto Lt"/>
                <a:cs typeface="Roboto Lt"/>
              </a:rPr>
              <a:t> </a:t>
            </a:r>
            <a:r>
              <a:rPr sz="1150" spc="-10" dirty="0">
                <a:solidFill>
                  <a:srgbClr val="333333"/>
                </a:solidFill>
                <a:latin typeface="Roboto Lt"/>
                <a:cs typeface="Roboto Lt"/>
              </a:rPr>
              <a:t>board </a:t>
            </a:r>
            <a:r>
              <a:rPr sz="1150" spc="-5" dirty="0">
                <a:solidFill>
                  <a:srgbClr val="333333"/>
                </a:solidFill>
                <a:latin typeface="Roboto Lt"/>
                <a:cs typeface="Roboto Lt"/>
              </a:rPr>
              <a:t>up </a:t>
            </a:r>
            <a:r>
              <a:rPr sz="1150" spc="-15" dirty="0">
                <a:solidFill>
                  <a:srgbClr val="333333"/>
                </a:solidFill>
                <a:latin typeface="Roboto Lt"/>
                <a:cs typeface="Roboto Lt"/>
              </a:rPr>
              <a:t>to </a:t>
            </a:r>
            <a:r>
              <a:rPr sz="1150" spc="-20" dirty="0">
                <a:solidFill>
                  <a:srgbClr val="333333"/>
                </a:solidFill>
                <a:latin typeface="Roboto Lt"/>
                <a:cs typeface="Roboto Lt"/>
              </a:rPr>
              <a:t>date, </a:t>
            </a:r>
            <a:r>
              <a:rPr sz="1150" spc="-15" dirty="0">
                <a:solidFill>
                  <a:srgbClr val="333333"/>
                </a:solidFill>
                <a:latin typeface="Roboto Lt"/>
                <a:cs typeface="Roboto Lt"/>
              </a:rPr>
              <a:t>otherwise </a:t>
            </a:r>
            <a:r>
              <a:rPr sz="1150" spc="-25" dirty="0">
                <a:solidFill>
                  <a:srgbClr val="333333"/>
                </a:solidFill>
                <a:latin typeface="Roboto Lt"/>
                <a:cs typeface="Roboto Lt"/>
              </a:rPr>
              <a:t>they’ll </a:t>
            </a:r>
            <a:r>
              <a:rPr sz="1150" dirty="0">
                <a:solidFill>
                  <a:srgbClr val="333333"/>
                </a:solidFill>
                <a:latin typeface="Roboto Lt"/>
                <a:cs typeface="Roboto Lt"/>
              </a:rPr>
              <a:t>be </a:t>
            </a:r>
            <a:r>
              <a:rPr sz="1150" spc="-15" dirty="0">
                <a:solidFill>
                  <a:srgbClr val="333333"/>
                </a:solidFill>
                <a:latin typeface="Roboto Lt"/>
                <a:cs typeface="Roboto Lt"/>
              </a:rPr>
              <a:t>working </a:t>
            </a:r>
            <a:r>
              <a:rPr sz="1150" spc="5" dirty="0">
                <a:solidFill>
                  <a:srgbClr val="333333"/>
                </a:solidFill>
                <a:latin typeface="Roboto Lt"/>
                <a:cs typeface="Roboto Lt"/>
              </a:rPr>
              <a:t>off </a:t>
            </a:r>
            <a:r>
              <a:rPr sz="1150" spc="10" dirty="0">
                <a:solidFill>
                  <a:srgbClr val="333333"/>
                </a:solidFill>
                <a:latin typeface="Roboto Lt"/>
                <a:cs typeface="Roboto Lt"/>
              </a:rPr>
              <a:t> </a:t>
            </a:r>
            <a:r>
              <a:rPr sz="1150" spc="-20" dirty="0">
                <a:solidFill>
                  <a:srgbClr val="333333"/>
                </a:solidFill>
                <a:latin typeface="Roboto Lt"/>
                <a:cs typeface="Roboto Lt"/>
              </a:rPr>
              <a:t>inaccurate</a:t>
            </a:r>
            <a:r>
              <a:rPr sz="1150" spc="-25" dirty="0">
                <a:solidFill>
                  <a:srgbClr val="333333"/>
                </a:solidFill>
                <a:latin typeface="Roboto Lt"/>
                <a:cs typeface="Roboto Lt"/>
              </a:rPr>
              <a:t> </a:t>
            </a:r>
            <a:r>
              <a:rPr sz="1150" spc="-20" dirty="0">
                <a:solidFill>
                  <a:srgbClr val="333333"/>
                </a:solidFill>
                <a:latin typeface="Roboto Lt"/>
                <a:cs typeface="Roboto Lt"/>
              </a:rPr>
              <a:t>information.</a:t>
            </a:r>
            <a:endParaRPr sz="1150">
              <a:latin typeface="Roboto Lt"/>
              <a:cs typeface="Roboto Lt"/>
            </a:endParaRPr>
          </a:p>
          <a:p>
            <a:pPr>
              <a:lnSpc>
                <a:spcPct val="100000"/>
              </a:lnSpc>
              <a:spcBef>
                <a:spcPts val="30"/>
              </a:spcBef>
            </a:pPr>
            <a:endParaRPr sz="1100">
              <a:latin typeface="Roboto Lt"/>
              <a:cs typeface="Roboto Lt"/>
            </a:endParaRPr>
          </a:p>
          <a:p>
            <a:pPr marL="266700" marR="855980" indent="-254000">
              <a:lnSpc>
                <a:spcPts val="1700"/>
              </a:lnSpc>
              <a:buChar char="–"/>
              <a:tabLst>
                <a:tab pos="266065" algn="l"/>
                <a:tab pos="266700" algn="l"/>
              </a:tabLst>
            </a:pPr>
            <a:r>
              <a:rPr sz="1700" b="1" spc="-204" dirty="0">
                <a:solidFill>
                  <a:srgbClr val="4F0093"/>
                </a:solidFill>
                <a:latin typeface="Arial"/>
                <a:cs typeface="Arial"/>
              </a:rPr>
              <a:t>T</a:t>
            </a:r>
            <a:r>
              <a:rPr sz="1700" b="1" spc="15" dirty="0">
                <a:solidFill>
                  <a:srgbClr val="4F0093"/>
                </a:solidFill>
                <a:latin typeface="Arial"/>
                <a:cs typeface="Arial"/>
              </a:rPr>
              <a:t>e</a:t>
            </a:r>
            <a:r>
              <a:rPr sz="1700" b="1" spc="20" dirty="0">
                <a:solidFill>
                  <a:srgbClr val="4F0093"/>
                </a:solidFill>
                <a:latin typeface="Arial"/>
                <a:cs typeface="Arial"/>
              </a:rPr>
              <a:t>a</a:t>
            </a:r>
            <a:r>
              <a:rPr sz="1700" b="1" spc="95" dirty="0">
                <a:solidFill>
                  <a:srgbClr val="4F0093"/>
                </a:solidFill>
                <a:latin typeface="Arial"/>
                <a:cs typeface="Arial"/>
              </a:rPr>
              <a:t>m</a:t>
            </a:r>
            <a:r>
              <a:rPr sz="1700" b="1" spc="-40" dirty="0">
                <a:solidFill>
                  <a:srgbClr val="4F0093"/>
                </a:solidFill>
                <a:latin typeface="Arial"/>
                <a:cs typeface="Arial"/>
              </a:rPr>
              <a:t>s</a:t>
            </a:r>
            <a:r>
              <a:rPr sz="1700" b="1" spc="-204" dirty="0">
                <a:solidFill>
                  <a:srgbClr val="4F0093"/>
                </a:solidFill>
                <a:latin typeface="Arial"/>
                <a:cs typeface="Arial"/>
              </a:rPr>
              <a:t> </a:t>
            </a:r>
            <a:r>
              <a:rPr sz="1700" b="1" spc="-114" dirty="0">
                <a:solidFill>
                  <a:srgbClr val="4F0093"/>
                </a:solidFill>
                <a:latin typeface="Arial"/>
                <a:cs typeface="Arial"/>
              </a:rPr>
              <a:t>c</a:t>
            </a:r>
            <a:r>
              <a:rPr sz="1700" b="1" spc="25" dirty="0">
                <a:solidFill>
                  <a:srgbClr val="4F0093"/>
                </a:solidFill>
                <a:latin typeface="Arial"/>
                <a:cs typeface="Arial"/>
              </a:rPr>
              <a:t>a</a:t>
            </a:r>
            <a:r>
              <a:rPr sz="1700" b="1" spc="100" dirty="0">
                <a:solidFill>
                  <a:srgbClr val="4F0093"/>
                </a:solidFill>
                <a:latin typeface="Arial"/>
                <a:cs typeface="Arial"/>
              </a:rPr>
              <a:t>n</a:t>
            </a:r>
            <a:r>
              <a:rPr sz="1700" b="1" spc="-200" dirty="0">
                <a:solidFill>
                  <a:srgbClr val="4F0093"/>
                </a:solidFill>
                <a:latin typeface="Arial"/>
                <a:cs typeface="Arial"/>
              </a:rPr>
              <a:t> </a:t>
            </a:r>
            <a:r>
              <a:rPr sz="1700" b="1" spc="-75" dirty="0">
                <a:solidFill>
                  <a:srgbClr val="4F0093"/>
                </a:solidFill>
                <a:latin typeface="Arial"/>
                <a:cs typeface="Arial"/>
              </a:rPr>
              <a:t>o</a:t>
            </a:r>
            <a:r>
              <a:rPr sz="1700" b="1" spc="-25" dirty="0">
                <a:solidFill>
                  <a:srgbClr val="4F0093"/>
                </a:solidFill>
                <a:latin typeface="Arial"/>
                <a:cs typeface="Arial"/>
              </a:rPr>
              <a:t>v</a:t>
            </a:r>
            <a:r>
              <a:rPr sz="1700" b="1" spc="25" dirty="0">
                <a:solidFill>
                  <a:srgbClr val="4F0093"/>
                </a:solidFill>
                <a:latin typeface="Arial"/>
                <a:cs typeface="Arial"/>
              </a:rPr>
              <a:t>e</a:t>
            </a:r>
            <a:r>
              <a:rPr sz="1700" b="1" spc="50" dirty="0">
                <a:solidFill>
                  <a:srgbClr val="4F0093"/>
                </a:solidFill>
                <a:latin typeface="Arial"/>
                <a:cs typeface="Arial"/>
              </a:rPr>
              <a:t>r</a:t>
            </a:r>
            <a:r>
              <a:rPr sz="1700" b="1" spc="-120" dirty="0">
                <a:solidFill>
                  <a:srgbClr val="4F0093"/>
                </a:solidFill>
                <a:latin typeface="Arial"/>
                <a:cs typeface="Arial"/>
              </a:rPr>
              <a:t>c</a:t>
            </a:r>
            <a:r>
              <a:rPr sz="1700" b="1" spc="5" dirty="0">
                <a:solidFill>
                  <a:srgbClr val="4F0093"/>
                </a:solidFill>
                <a:latin typeface="Arial"/>
                <a:cs typeface="Arial"/>
              </a:rPr>
              <a:t>o</a:t>
            </a:r>
            <a:r>
              <a:rPr sz="1700" b="1" spc="50" dirty="0">
                <a:solidFill>
                  <a:srgbClr val="4F0093"/>
                </a:solidFill>
                <a:latin typeface="Arial"/>
                <a:cs typeface="Arial"/>
              </a:rPr>
              <a:t>m</a:t>
            </a:r>
            <a:r>
              <a:rPr sz="1700" b="1" spc="-30" dirty="0">
                <a:solidFill>
                  <a:srgbClr val="4F0093"/>
                </a:solidFill>
                <a:latin typeface="Arial"/>
                <a:cs typeface="Arial"/>
              </a:rPr>
              <a:t>p</a:t>
            </a:r>
            <a:r>
              <a:rPr sz="1700" b="1" spc="-10" dirty="0">
                <a:solidFill>
                  <a:srgbClr val="4F0093"/>
                </a:solidFill>
                <a:latin typeface="Arial"/>
                <a:cs typeface="Arial"/>
              </a:rPr>
              <a:t>li</a:t>
            </a:r>
            <a:r>
              <a:rPr sz="1700" b="1" spc="-50" dirty="0">
                <a:solidFill>
                  <a:srgbClr val="4F0093"/>
                </a:solidFill>
                <a:latin typeface="Arial"/>
                <a:cs typeface="Arial"/>
              </a:rPr>
              <a:t>c</a:t>
            </a:r>
            <a:r>
              <a:rPr sz="1700" b="1" spc="-55" dirty="0">
                <a:solidFill>
                  <a:srgbClr val="4F0093"/>
                </a:solidFill>
                <a:latin typeface="Arial"/>
                <a:cs typeface="Arial"/>
              </a:rPr>
              <a:t>a</a:t>
            </a:r>
            <a:r>
              <a:rPr sz="1700" b="1" spc="45" dirty="0">
                <a:solidFill>
                  <a:srgbClr val="4F0093"/>
                </a:solidFill>
                <a:latin typeface="Arial"/>
                <a:cs typeface="Arial"/>
              </a:rPr>
              <a:t>te  </a:t>
            </a:r>
            <a:r>
              <a:rPr sz="1700" b="1" spc="145" dirty="0">
                <a:solidFill>
                  <a:srgbClr val="4F0093"/>
                </a:solidFill>
                <a:latin typeface="Arial"/>
                <a:cs typeface="Arial"/>
              </a:rPr>
              <a:t>t</a:t>
            </a:r>
            <a:r>
              <a:rPr sz="1700" b="1" spc="15" dirty="0">
                <a:solidFill>
                  <a:srgbClr val="4F0093"/>
                </a:solidFill>
                <a:latin typeface="Arial"/>
                <a:cs typeface="Arial"/>
              </a:rPr>
              <a:t>h</a:t>
            </a:r>
            <a:r>
              <a:rPr sz="1700" b="1" spc="95" dirty="0">
                <a:solidFill>
                  <a:srgbClr val="4F0093"/>
                </a:solidFill>
                <a:latin typeface="Arial"/>
                <a:cs typeface="Arial"/>
              </a:rPr>
              <a:t>e</a:t>
            </a:r>
            <a:r>
              <a:rPr sz="1700" b="1" spc="-204" dirty="0">
                <a:solidFill>
                  <a:srgbClr val="4F0093"/>
                </a:solidFill>
                <a:latin typeface="Arial"/>
                <a:cs typeface="Arial"/>
              </a:rPr>
              <a:t> </a:t>
            </a:r>
            <a:r>
              <a:rPr sz="1700" b="1" spc="-35" dirty="0">
                <a:solidFill>
                  <a:srgbClr val="4F0093"/>
                </a:solidFill>
                <a:latin typeface="Arial"/>
                <a:cs typeface="Arial"/>
              </a:rPr>
              <a:t>b</a:t>
            </a:r>
            <a:r>
              <a:rPr sz="1700" b="1" spc="-10" dirty="0">
                <a:solidFill>
                  <a:srgbClr val="4F0093"/>
                </a:solidFill>
                <a:latin typeface="Arial"/>
                <a:cs typeface="Arial"/>
              </a:rPr>
              <a:t>oa</a:t>
            </a:r>
            <a:r>
              <a:rPr sz="1700" b="1" spc="50" dirty="0">
                <a:solidFill>
                  <a:srgbClr val="4F0093"/>
                </a:solidFill>
                <a:latin typeface="Arial"/>
                <a:cs typeface="Arial"/>
              </a:rPr>
              <a:t>rd</a:t>
            </a:r>
            <a:endParaRPr sz="1700">
              <a:latin typeface="Arial"/>
              <a:cs typeface="Arial"/>
            </a:endParaRPr>
          </a:p>
          <a:p>
            <a:pPr marL="266700" marR="15240" indent="-635">
              <a:lnSpc>
                <a:spcPts val="1700"/>
              </a:lnSpc>
            </a:pPr>
            <a:r>
              <a:rPr sz="1150" spc="-5" dirty="0">
                <a:solidFill>
                  <a:srgbClr val="333333"/>
                </a:solidFill>
                <a:latin typeface="Roboto Lt"/>
                <a:cs typeface="Roboto Lt"/>
              </a:rPr>
              <a:t>The </a:t>
            </a:r>
            <a:r>
              <a:rPr sz="1150" spc="-10" dirty="0">
                <a:solidFill>
                  <a:srgbClr val="333333"/>
                </a:solidFill>
                <a:latin typeface="Roboto Lt"/>
                <a:cs typeface="Roboto Lt"/>
              </a:rPr>
              <a:t>Kanban board </a:t>
            </a:r>
            <a:r>
              <a:rPr sz="1150" spc="-15" dirty="0">
                <a:solidFill>
                  <a:srgbClr val="333333"/>
                </a:solidFill>
                <a:latin typeface="Roboto Lt"/>
                <a:cs typeface="Roboto Lt"/>
              </a:rPr>
              <a:t>should remain clear </a:t>
            </a:r>
            <a:r>
              <a:rPr sz="1150" spc="-10" dirty="0">
                <a:solidFill>
                  <a:srgbClr val="333333"/>
                </a:solidFill>
                <a:latin typeface="Roboto Lt"/>
                <a:cs typeface="Roboto Lt"/>
              </a:rPr>
              <a:t>and </a:t>
            </a:r>
            <a:r>
              <a:rPr sz="1150" spc="-15" dirty="0">
                <a:solidFill>
                  <a:srgbClr val="333333"/>
                </a:solidFill>
                <a:latin typeface="Roboto Lt"/>
                <a:cs typeface="Roboto Lt"/>
              </a:rPr>
              <a:t>easy to read. </a:t>
            </a:r>
            <a:r>
              <a:rPr sz="1150" spc="-265" dirty="0">
                <a:solidFill>
                  <a:srgbClr val="333333"/>
                </a:solidFill>
                <a:latin typeface="Roboto Lt"/>
                <a:cs typeface="Roboto Lt"/>
              </a:rPr>
              <a:t> </a:t>
            </a:r>
            <a:r>
              <a:rPr sz="1150" spc="-10" dirty="0">
                <a:solidFill>
                  <a:srgbClr val="333333"/>
                </a:solidFill>
                <a:latin typeface="Roboto Lt"/>
                <a:cs typeface="Roboto Lt"/>
              </a:rPr>
              <a:t>Adding</a:t>
            </a:r>
            <a:r>
              <a:rPr sz="1150" spc="-5" dirty="0">
                <a:solidFill>
                  <a:srgbClr val="333333"/>
                </a:solidFill>
                <a:latin typeface="Roboto Lt"/>
                <a:cs typeface="Roboto Lt"/>
              </a:rPr>
              <a:t> </a:t>
            </a:r>
            <a:r>
              <a:rPr sz="1150" spc="-15" dirty="0">
                <a:solidFill>
                  <a:srgbClr val="333333"/>
                </a:solidFill>
                <a:latin typeface="Roboto Lt"/>
                <a:cs typeface="Roboto Lt"/>
              </a:rPr>
              <a:t>bells</a:t>
            </a:r>
            <a:r>
              <a:rPr sz="1150" spc="-5" dirty="0">
                <a:solidFill>
                  <a:srgbClr val="333333"/>
                </a:solidFill>
                <a:latin typeface="Roboto Lt"/>
                <a:cs typeface="Roboto Lt"/>
              </a:rPr>
              <a:t> </a:t>
            </a:r>
            <a:r>
              <a:rPr sz="1150" spc="-10" dirty="0">
                <a:solidFill>
                  <a:srgbClr val="333333"/>
                </a:solidFill>
                <a:latin typeface="Roboto Lt"/>
                <a:cs typeface="Roboto Lt"/>
              </a:rPr>
              <a:t>and</a:t>
            </a:r>
            <a:r>
              <a:rPr sz="1150" spc="-5" dirty="0">
                <a:solidFill>
                  <a:srgbClr val="333333"/>
                </a:solidFill>
                <a:latin typeface="Roboto Lt"/>
                <a:cs typeface="Roboto Lt"/>
              </a:rPr>
              <a:t> </a:t>
            </a:r>
            <a:r>
              <a:rPr sz="1150" spc="-20" dirty="0">
                <a:solidFill>
                  <a:srgbClr val="333333"/>
                </a:solidFill>
                <a:latin typeface="Roboto Lt"/>
                <a:cs typeface="Roboto Lt"/>
              </a:rPr>
              <a:t>whistles</a:t>
            </a:r>
            <a:r>
              <a:rPr sz="1150" spc="-5" dirty="0">
                <a:solidFill>
                  <a:srgbClr val="333333"/>
                </a:solidFill>
                <a:latin typeface="Roboto Lt"/>
                <a:cs typeface="Roboto Lt"/>
              </a:rPr>
              <a:t> </a:t>
            </a:r>
            <a:r>
              <a:rPr sz="1150" spc="-15" dirty="0">
                <a:solidFill>
                  <a:srgbClr val="333333"/>
                </a:solidFill>
                <a:latin typeface="Roboto Lt"/>
                <a:cs typeface="Roboto Lt"/>
              </a:rPr>
              <a:t>to</a:t>
            </a:r>
            <a:r>
              <a:rPr sz="1150" spc="-5" dirty="0">
                <a:solidFill>
                  <a:srgbClr val="333333"/>
                </a:solidFill>
                <a:latin typeface="Roboto Lt"/>
                <a:cs typeface="Roboto Lt"/>
              </a:rPr>
              <a:t> </a:t>
            </a:r>
            <a:r>
              <a:rPr sz="1150" spc="-10" dirty="0">
                <a:solidFill>
                  <a:srgbClr val="333333"/>
                </a:solidFill>
                <a:latin typeface="Roboto Lt"/>
                <a:cs typeface="Roboto Lt"/>
              </a:rPr>
              <a:t>the</a:t>
            </a:r>
            <a:r>
              <a:rPr sz="1150" spc="-5" dirty="0">
                <a:solidFill>
                  <a:srgbClr val="333333"/>
                </a:solidFill>
                <a:latin typeface="Roboto Lt"/>
                <a:cs typeface="Roboto Lt"/>
              </a:rPr>
              <a:t> </a:t>
            </a:r>
            <a:r>
              <a:rPr sz="1150" spc="-10" dirty="0">
                <a:solidFill>
                  <a:srgbClr val="333333"/>
                </a:solidFill>
                <a:latin typeface="Roboto Lt"/>
                <a:cs typeface="Roboto Lt"/>
              </a:rPr>
              <a:t>Kanban</a:t>
            </a:r>
            <a:r>
              <a:rPr sz="1150" spc="-5" dirty="0">
                <a:solidFill>
                  <a:srgbClr val="333333"/>
                </a:solidFill>
                <a:latin typeface="Roboto Lt"/>
                <a:cs typeface="Roboto Lt"/>
              </a:rPr>
              <a:t> </a:t>
            </a:r>
            <a:r>
              <a:rPr sz="1150" spc="-10" dirty="0">
                <a:solidFill>
                  <a:srgbClr val="333333"/>
                </a:solidFill>
                <a:latin typeface="Roboto Lt"/>
                <a:cs typeface="Roboto Lt"/>
              </a:rPr>
              <a:t>board</a:t>
            </a:r>
            <a:r>
              <a:rPr sz="1150" spc="-5" dirty="0">
                <a:solidFill>
                  <a:srgbClr val="333333"/>
                </a:solidFill>
                <a:latin typeface="Roboto Lt"/>
                <a:cs typeface="Roboto Lt"/>
              </a:rPr>
              <a:t> </a:t>
            </a:r>
            <a:r>
              <a:rPr sz="1150" spc="-20" dirty="0">
                <a:solidFill>
                  <a:srgbClr val="333333"/>
                </a:solidFill>
                <a:latin typeface="Roboto Lt"/>
                <a:cs typeface="Roboto Lt"/>
              </a:rPr>
              <a:t>just </a:t>
            </a:r>
            <a:r>
              <a:rPr sz="1150" spc="-15" dirty="0">
                <a:solidFill>
                  <a:srgbClr val="333333"/>
                </a:solidFill>
                <a:latin typeface="Roboto Lt"/>
                <a:cs typeface="Roboto Lt"/>
              </a:rPr>
              <a:t> buries</a:t>
            </a:r>
            <a:r>
              <a:rPr sz="1150" spc="-20" dirty="0">
                <a:solidFill>
                  <a:srgbClr val="333333"/>
                </a:solidFill>
                <a:latin typeface="Roboto Lt"/>
                <a:cs typeface="Roboto Lt"/>
              </a:rPr>
              <a:t> </a:t>
            </a:r>
            <a:r>
              <a:rPr sz="1150" spc="-10" dirty="0">
                <a:solidFill>
                  <a:srgbClr val="333333"/>
                </a:solidFill>
                <a:latin typeface="Roboto Lt"/>
                <a:cs typeface="Roboto Lt"/>
              </a:rPr>
              <a:t>the</a:t>
            </a:r>
            <a:r>
              <a:rPr sz="1150" spc="-20" dirty="0">
                <a:solidFill>
                  <a:srgbClr val="333333"/>
                </a:solidFill>
                <a:latin typeface="Roboto Lt"/>
                <a:cs typeface="Roboto Lt"/>
              </a:rPr>
              <a:t> </a:t>
            </a:r>
            <a:r>
              <a:rPr sz="1150" spc="-10" dirty="0">
                <a:solidFill>
                  <a:srgbClr val="333333"/>
                </a:solidFill>
                <a:latin typeface="Roboto Lt"/>
                <a:cs typeface="Roboto Lt"/>
              </a:rPr>
              <a:t>important</a:t>
            </a:r>
            <a:r>
              <a:rPr sz="1150" spc="-20" dirty="0">
                <a:solidFill>
                  <a:srgbClr val="333333"/>
                </a:solidFill>
                <a:latin typeface="Roboto Lt"/>
                <a:cs typeface="Roboto Lt"/>
              </a:rPr>
              <a:t> information.</a:t>
            </a:r>
            <a:endParaRPr sz="1150">
              <a:latin typeface="Roboto Lt"/>
              <a:cs typeface="Roboto Lt"/>
            </a:endParaRPr>
          </a:p>
          <a:p>
            <a:pPr marL="266065" indent="-254000">
              <a:lnSpc>
                <a:spcPct val="100000"/>
              </a:lnSpc>
              <a:spcBef>
                <a:spcPts val="1010"/>
              </a:spcBef>
              <a:buChar char="–"/>
              <a:tabLst>
                <a:tab pos="266065" algn="l"/>
                <a:tab pos="266700" algn="l"/>
              </a:tabLst>
            </a:pPr>
            <a:r>
              <a:rPr sz="1700" b="1" spc="-125" dirty="0">
                <a:solidFill>
                  <a:srgbClr val="4F0093"/>
                </a:solidFill>
                <a:latin typeface="Arial"/>
                <a:cs typeface="Arial"/>
              </a:rPr>
              <a:t>L</a:t>
            </a:r>
            <a:r>
              <a:rPr sz="1700" b="1" spc="20" dirty="0">
                <a:solidFill>
                  <a:srgbClr val="4F0093"/>
                </a:solidFill>
                <a:latin typeface="Arial"/>
                <a:cs typeface="Arial"/>
              </a:rPr>
              <a:t>a</a:t>
            </a:r>
            <a:r>
              <a:rPr sz="1700" b="1" spc="-110" dirty="0">
                <a:solidFill>
                  <a:srgbClr val="4F0093"/>
                </a:solidFill>
                <a:latin typeface="Arial"/>
                <a:cs typeface="Arial"/>
              </a:rPr>
              <a:t>c</a:t>
            </a:r>
            <a:r>
              <a:rPr sz="1700" b="1" spc="175" dirty="0">
                <a:solidFill>
                  <a:srgbClr val="4F0093"/>
                </a:solidFill>
                <a:latin typeface="Arial"/>
                <a:cs typeface="Arial"/>
              </a:rPr>
              <a:t>k</a:t>
            </a:r>
            <a:r>
              <a:rPr sz="1700" b="1" spc="-204" dirty="0">
                <a:solidFill>
                  <a:srgbClr val="4F0093"/>
                </a:solidFill>
                <a:latin typeface="Arial"/>
                <a:cs typeface="Arial"/>
              </a:rPr>
              <a:t> </a:t>
            </a:r>
            <a:r>
              <a:rPr sz="1700" b="1" spc="-50" dirty="0">
                <a:solidFill>
                  <a:srgbClr val="4F0093"/>
                </a:solidFill>
                <a:latin typeface="Arial"/>
                <a:cs typeface="Arial"/>
              </a:rPr>
              <a:t>o</a:t>
            </a:r>
            <a:r>
              <a:rPr sz="1700" b="1" spc="135" dirty="0">
                <a:solidFill>
                  <a:srgbClr val="4F0093"/>
                </a:solidFill>
                <a:latin typeface="Arial"/>
                <a:cs typeface="Arial"/>
              </a:rPr>
              <a:t>f</a:t>
            </a:r>
            <a:r>
              <a:rPr sz="1700" b="1" spc="-204" dirty="0">
                <a:solidFill>
                  <a:srgbClr val="4F0093"/>
                </a:solidFill>
                <a:latin typeface="Arial"/>
                <a:cs typeface="Arial"/>
              </a:rPr>
              <a:t> </a:t>
            </a:r>
            <a:r>
              <a:rPr sz="1700" b="1" spc="145" dirty="0">
                <a:solidFill>
                  <a:srgbClr val="4F0093"/>
                </a:solidFill>
                <a:latin typeface="Arial"/>
                <a:cs typeface="Arial"/>
              </a:rPr>
              <a:t>t</a:t>
            </a:r>
            <a:r>
              <a:rPr sz="1700" b="1" spc="15" dirty="0">
                <a:solidFill>
                  <a:srgbClr val="4F0093"/>
                </a:solidFill>
                <a:latin typeface="Arial"/>
                <a:cs typeface="Arial"/>
              </a:rPr>
              <a:t>imi</a:t>
            </a:r>
            <a:r>
              <a:rPr sz="1700" b="1" spc="35" dirty="0">
                <a:solidFill>
                  <a:srgbClr val="4F0093"/>
                </a:solidFill>
                <a:latin typeface="Arial"/>
                <a:cs typeface="Arial"/>
              </a:rPr>
              <a:t>n</a:t>
            </a:r>
            <a:r>
              <a:rPr sz="1700" b="1" spc="-10" dirty="0">
                <a:solidFill>
                  <a:srgbClr val="4F0093"/>
                </a:solidFill>
                <a:latin typeface="Arial"/>
                <a:cs typeface="Arial"/>
              </a:rPr>
              <a:t>g</a:t>
            </a:r>
            <a:endParaRPr sz="1700">
              <a:latin typeface="Arial"/>
              <a:cs typeface="Arial"/>
            </a:endParaRPr>
          </a:p>
          <a:p>
            <a:pPr marL="266700" marR="5080" indent="-635">
              <a:lnSpc>
                <a:spcPts val="1700"/>
              </a:lnSpc>
            </a:pPr>
            <a:r>
              <a:rPr sz="1150" spc="-5" dirty="0">
                <a:solidFill>
                  <a:srgbClr val="333333"/>
                </a:solidFill>
                <a:latin typeface="Roboto Lt"/>
                <a:cs typeface="Roboto Lt"/>
              </a:rPr>
              <a:t>The</a:t>
            </a:r>
            <a:r>
              <a:rPr sz="1150" spc="-25" dirty="0">
                <a:solidFill>
                  <a:srgbClr val="333333"/>
                </a:solidFill>
                <a:latin typeface="Roboto Lt"/>
                <a:cs typeface="Roboto Lt"/>
              </a:rPr>
              <a:t> </a:t>
            </a:r>
            <a:r>
              <a:rPr sz="1150" spc="-10" dirty="0">
                <a:solidFill>
                  <a:srgbClr val="333333"/>
                </a:solidFill>
                <a:latin typeface="Roboto Lt"/>
                <a:cs typeface="Roboto Lt"/>
              </a:rPr>
              <a:t>columns</a:t>
            </a:r>
            <a:r>
              <a:rPr sz="1150" spc="-20" dirty="0">
                <a:solidFill>
                  <a:srgbClr val="333333"/>
                </a:solidFill>
                <a:latin typeface="Roboto Lt"/>
                <a:cs typeface="Roboto Lt"/>
              </a:rPr>
              <a:t> </a:t>
            </a:r>
            <a:r>
              <a:rPr sz="1150" dirty="0">
                <a:solidFill>
                  <a:srgbClr val="333333"/>
                </a:solidFill>
                <a:latin typeface="Roboto Lt"/>
                <a:cs typeface="Roboto Lt"/>
              </a:rPr>
              <a:t>on</a:t>
            </a:r>
            <a:r>
              <a:rPr sz="1150" spc="-25" dirty="0">
                <a:solidFill>
                  <a:srgbClr val="333333"/>
                </a:solidFill>
                <a:latin typeface="Roboto Lt"/>
                <a:cs typeface="Roboto Lt"/>
              </a:rPr>
              <a:t> </a:t>
            </a:r>
            <a:r>
              <a:rPr sz="1150" spc="-10" dirty="0">
                <a:solidFill>
                  <a:srgbClr val="333333"/>
                </a:solidFill>
                <a:latin typeface="Roboto Lt"/>
                <a:cs typeface="Roboto Lt"/>
              </a:rPr>
              <a:t>the</a:t>
            </a:r>
            <a:r>
              <a:rPr sz="1150" spc="-20" dirty="0">
                <a:solidFill>
                  <a:srgbClr val="333333"/>
                </a:solidFill>
                <a:latin typeface="Roboto Lt"/>
                <a:cs typeface="Roboto Lt"/>
              </a:rPr>
              <a:t> </a:t>
            </a:r>
            <a:r>
              <a:rPr sz="1150" spc="-10" dirty="0">
                <a:solidFill>
                  <a:srgbClr val="333333"/>
                </a:solidFill>
                <a:latin typeface="Roboto Lt"/>
                <a:cs typeface="Roboto Lt"/>
              </a:rPr>
              <a:t>Kanban</a:t>
            </a:r>
            <a:r>
              <a:rPr sz="1150" spc="-25" dirty="0">
                <a:solidFill>
                  <a:srgbClr val="333333"/>
                </a:solidFill>
                <a:latin typeface="Roboto Lt"/>
                <a:cs typeface="Roboto Lt"/>
              </a:rPr>
              <a:t> </a:t>
            </a:r>
            <a:r>
              <a:rPr sz="1150" spc="-10" dirty="0">
                <a:solidFill>
                  <a:srgbClr val="333333"/>
                </a:solidFill>
                <a:latin typeface="Roboto Lt"/>
                <a:cs typeface="Roboto Lt"/>
              </a:rPr>
              <a:t>board</a:t>
            </a:r>
            <a:r>
              <a:rPr sz="1150" spc="-20" dirty="0">
                <a:solidFill>
                  <a:srgbClr val="333333"/>
                </a:solidFill>
                <a:latin typeface="Roboto Lt"/>
                <a:cs typeface="Roboto Lt"/>
              </a:rPr>
              <a:t> </a:t>
            </a:r>
            <a:r>
              <a:rPr sz="1150" spc="-15" dirty="0">
                <a:solidFill>
                  <a:srgbClr val="333333"/>
                </a:solidFill>
                <a:latin typeface="Roboto Lt"/>
                <a:cs typeface="Roboto Lt"/>
              </a:rPr>
              <a:t>are</a:t>
            </a:r>
            <a:r>
              <a:rPr sz="1150" spc="-25" dirty="0">
                <a:solidFill>
                  <a:srgbClr val="333333"/>
                </a:solidFill>
                <a:latin typeface="Roboto Lt"/>
                <a:cs typeface="Roboto Lt"/>
              </a:rPr>
              <a:t> </a:t>
            </a:r>
            <a:r>
              <a:rPr sz="1150" spc="-15" dirty="0">
                <a:solidFill>
                  <a:srgbClr val="333333"/>
                </a:solidFill>
                <a:latin typeface="Roboto Lt"/>
                <a:cs typeface="Roboto Lt"/>
              </a:rPr>
              <a:t>marked</a:t>
            </a:r>
            <a:r>
              <a:rPr sz="1150" spc="-20" dirty="0">
                <a:solidFill>
                  <a:srgbClr val="333333"/>
                </a:solidFill>
                <a:latin typeface="Roboto Lt"/>
                <a:cs typeface="Roboto Lt"/>
              </a:rPr>
              <a:t> by</a:t>
            </a:r>
            <a:r>
              <a:rPr sz="1150" spc="-25" dirty="0">
                <a:solidFill>
                  <a:srgbClr val="333333"/>
                </a:solidFill>
                <a:latin typeface="Roboto Lt"/>
                <a:cs typeface="Roboto Lt"/>
              </a:rPr>
              <a:t> </a:t>
            </a:r>
            <a:r>
              <a:rPr sz="1150" spc="-15" dirty="0">
                <a:solidFill>
                  <a:srgbClr val="333333"/>
                </a:solidFill>
                <a:latin typeface="Roboto Lt"/>
                <a:cs typeface="Roboto Lt"/>
              </a:rPr>
              <a:t>phase, </a:t>
            </a:r>
            <a:r>
              <a:rPr sz="1150" spc="-265" dirty="0">
                <a:solidFill>
                  <a:srgbClr val="333333"/>
                </a:solidFill>
                <a:latin typeface="Roboto Lt"/>
                <a:cs typeface="Roboto Lt"/>
              </a:rPr>
              <a:t> </a:t>
            </a:r>
            <a:r>
              <a:rPr sz="1150" spc="-15" dirty="0">
                <a:solidFill>
                  <a:srgbClr val="333333"/>
                </a:solidFill>
                <a:latin typeface="Roboto Lt"/>
                <a:cs typeface="Roboto Lt"/>
              </a:rPr>
              <a:t>with</a:t>
            </a:r>
            <a:r>
              <a:rPr sz="1150" spc="-25" dirty="0">
                <a:solidFill>
                  <a:srgbClr val="333333"/>
                </a:solidFill>
                <a:latin typeface="Roboto Lt"/>
                <a:cs typeface="Roboto Lt"/>
              </a:rPr>
              <a:t> </a:t>
            </a:r>
            <a:r>
              <a:rPr sz="1150" spc="-5" dirty="0">
                <a:solidFill>
                  <a:srgbClr val="333333"/>
                </a:solidFill>
                <a:latin typeface="Roboto Lt"/>
                <a:cs typeface="Roboto Lt"/>
              </a:rPr>
              <a:t>no</a:t>
            </a:r>
            <a:r>
              <a:rPr sz="1150" spc="-20" dirty="0">
                <a:solidFill>
                  <a:srgbClr val="333333"/>
                </a:solidFill>
                <a:latin typeface="Roboto Lt"/>
                <a:cs typeface="Roboto Lt"/>
              </a:rPr>
              <a:t> </a:t>
            </a:r>
            <a:r>
              <a:rPr sz="1150" spc="-15" dirty="0">
                <a:solidFill>
                  <a:srgbClr val="333333"/>
                </a:solidFill>
                <a:latin typeface="Roboto Lt"/>
                <a:cs typeface="Roboto Lt"/>
              </a:rPr>
              <a:t>timeframes</a:t>
            </a:r>
            <a:r>
              <a:rPr sz="1150" spc="-20" dirty="0">
                <a:solidFill>
                  <a:srgbClr val="333333"/>
                </a:solidFill>
                <a:latin typeface="Roboto Lt"/>
                <a:cs typeface="Roboto Lt"/>
              </a:rPr>
              <a:t> </a:t>
            </a:r>
            <a:r>
              <a:rPr sz="1150" spc="-15" dirty="0">
                <a:solidFill>
                  <a:srgbClr val="333333"/>
                </a:solidFill>
                <a:latin typeface="Roboto Lt"/>
                <a:cs typeface="Roboto Lt"/>
              </a:rPr>
              <a:t>associated.</a:t>
            </a:r>
            <a:endParaRPr sz="1150">
              <a:latin typeface="Roboto Lt"/>
              <a:cs typeface="Roboto Lt"/>
            </a:endParaRPr>
          </a:p>
        </p:txBody>
      </p:sp>
      <p:pic>
        <p:nvPicPr>
          <p:cNvPr id="5" name="object 5"/>
          <p:cNvPicPr/>
          <p:nvPr/>
        </p:nvPicPr>
        <p:blipFill>
          <a:blip r:embed="rId2" cstate="print"/>
          <a:stretch>
            <a:fillRect/>
          </a:stretch>
        </p:blipFill>
        <p:spPr>
          <a:xfrm>
            <a:off x="4771059" y="1988311"/>
            <a:ext cx="4372940" cy="3955288"/>
          </a:xfrm>
          <a:prstGeom prst="rect">
            <a:avLst/>
          </a:prstGeom>
        </p:spPr>
      </p:pic>
      <p:sp>
        <p:nvSpPr>
          <p:cNvPr id="6" name="object 6"/>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37</a:t>
            </a:r>
            <a:endParaRPr spc="35" dirty="0"/>
          </a:p>
        </p:txBody>
      </p:sp>
      <p:sp>
        <p:nvSpPr>
          <p:cNvPr id="7" name="object 7"/>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Agile Methodology</a:t>
            </a:r>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12E9E-DC67-7FB8-242F-CC7D85DC4E5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01126C4-8FC0-89CE-25F1-D02EABFD03D1}"/>
              </a:ext>
            </a:extLst>
          </p:cNvPr>
          <p:cNvSpPr/>
          <p:nvPr/>
        </p:nvSpPr>
        <p:spPr>
          <a:xfrm>
            <a:off x="0" y="0"/>
            <a:ext cx="3168650" cy="5943600"/>
          </a:xfrm>
          <a:custGeom>
            <a:avLst/>
            <a:gdLst/>
            <a:ahLst/>
            <a:cxnLst/>
            <a:rect l="l" t="t" r="r" b="b"/>
            <a:pathLst>
              <a:path w="5029200" h="5943600">
                <a:moveTo>
                  <a:pt x="5029200" y="0"/>
                </a:moveTo>
                <a:lnTo>
                  <a:pt x="0" y="0"/>
                </a:lnTo>
                <a:lnTo>
                  <a:pt x="0" y="5943600"/>
                </a:lnTo>
                <a:lnTo>
                  <a:pt x="5029200" y="5943600"/>
                </a:lnTo>
                <a:lnTo>
                  <a:pt x="5029200" y="0"/>
                </a:lnTo>
                <a:close/>
              </a:path>
            </a:pathLst>
          </a:custGeom>
          <a:solidFill>
            <a:schemeClr val="accent2">
              <a:lumMod val="75000"/>
            </a:schemeClr>
          </a:solidFill>
        </p:spPr>
        <p:txBody>
          <a:bodyPr wrap="square" lIns="0" tIns="0" rIns="0" bIns="0" rtlCol="0"/>
          <a:lstStyle/>
          <a:p>
            <a:endParaRPr/>
          </a:p>
        </p:txBody>
      </p:sp>
      <p:sp>
        <p:nvSpPr>
          <p:cNvPr id="3" name="object 3">
            <a:extLst>
              <a:ext uri="{FF2B5EF4-FFF2-40B4-BE49-F238E27FC236}">
                <a16:creationId xmlns:a16="http://schemas.microsoft.com/office/drawing/2014/main" id="{C988F1E9-76FF-EB69-79F0-ABEA9C0828AA}"/>
              </a:ext>
            </a:extLst>
          </p:cNvPr>
          <p:cNvSpPr txBox="1">
            <a:spLocks noGrp="1"/>
          </p:cNvSpPr>
          <p:nvPr>
            <p:ph type="title"/>
          </p:nvPr>
        </p:nvSpPr>
        <p:spPr>
          <a:xfrm>
            <a:off x="526368" y="510301"/>
            <a:ext cx="2521632" cy="1313180"/>
          </a:xfrm>
          <a:prstGeom prst="rect">
            <a:avLst/>
          </a:prstGeom>
        </p:spPr>
        <p:txBody>
          <a:bodyPr vert="horz" wrap="square" lIns="0" tIns="106680" rIns="0" bIns="0" rtlCol="0">
            <a:spAutoFit/>
          </a:bodyPr>
          <a:lstStyle/>
          <a:p>
            <a:pPr marL="12700" marR="5080">
              <a:lnSpc>
                <a:spcPts val="4700"/>
              </a:lnSpc>
              <a:spcBef>
                <a:spcPts val="840"/>
              </a:spcBef>
            </a:pPr>
            <a:r>
              <a:rPr lang="en-US" spc="-80" dirty="0"/>
              <a:t>Lets discuss</a:t>
            </a:r>
            <a:endParaRPr spc="240" dirty="0"/>
          </a:p>
        </p:txBody>
      </p:sp>
      <p:sp>
        <p:nvSpPr>
          <p:cNvPr id="7" name="object 7">
            <a:extLst>
              <a:ext uri="{FF2B5EF4-FFF2-40B4-BE49-F238E27FC236}">
                <a16:creationId xmlns:a16="http://schemas.microsoft.com/office/drawing/2014/main" id="{BB75BDFD-4B84-8889-3EAD-76F4A2485C9C}"/>
              </a:ext>
            </a:extLst>
          </p:cNvPr>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38</a:t>
            </a:r>
            <a:endParaRPr spc="35" dirty="0"/>
          </a:p>
        </p:txBody>
      </p:sp>
      <p:sp>
        <p:nvSpPr>
          <p:cNvPr id="8" name="object 8">
            <a:extLst>
              <a:ext uri="{FF2B5EF4-FFF2-40B4-BE49-F238E27FC236}">
                <a16:creationId xmlns:a16="http://schemas.microsoft.com/office/drawing/2014/main" id="{AD7B7818-733E-E1C8-B963-C5986A2D6F36}"/>
              </a:ext>
            </a:extLst>
          </p:cNvPr>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Agile Methodology</a:t>
            </a:r>
            <a:endParaRPr dirty="0"/>
          </a:p>
        </p:txBody>
      </p:sp>
      <p:sp>
        <p:nvSpPr>
          <p:cNvPr id="4" name="object 4">
            <a:extLst>
              <a:ext uri="{FF2B5EF4-FFF2-40B4-BE49-F238E27FC236}">
                <a16:creationId xmlns:a16="http://schemas.microsoft.com/office/drawing/2014/main" id="{F0A4D5D9-1B99-03BF-E4E5-A8C2D2CA69B6}"/>
              </a:ext>
            </a:extLst>
          </p:cNvPr>
          <p:cNvSpPr txBox="1"/>
          <p:nvPr/>
        </p:nvSpPr>
        <p:spPr>
          <a:xfrm>
            <a:off x="526368" y="1973979"/>
            <a:ext cx="2197465" cy="1749710"/>
          </a:xfrm>
          <a:prstGeom prst="rect">
            <a:avLst/>
          </a:prstGeom>
        </p:spPr>
        <p:txBody>
          <a:bodyPr vert="horz" wrap="square" lIns="0" tIns="7620" rIns="0" bIns="0" rtlCol="0">
            <a:spAutoFit/>
          </a:bodyPr>
          <a:lstStyle/>
          <a:p>
            <a:pPr marL="12700" marR="5080">
              <a:lnSpc>
                <a:spcPct val="102099"/>
              </a:lnSpc>
              <a:spcBef>
                <a:spcPts val="60"/>
              </a:spcBef>
            </a:pPr>
            <a:r>
              <a:rPr lang="en-US" sz="1600" dirty="0">
                <a:solidFill>
                  <a:schemeClr val="bg1"/>
                </a:solidFill>
                <a:latin typeface="Arial"/>
                <a:cs typeface="Arial"/>
              </a:rPr>
              <a:t>Does imposing strict Work-In-Progress (WIP) limits in Kanban stifle creativity and productivity, or does it enhance team efficiency?</a:t>
            </a:r>
          </a:p>
        </p:txBody>
      </p:sp>
      <p:sp>
        <p:nvSpPr>
          <p:cNvPr id="5" name="object 5">
            <a:extLst>
              <a:ext uri="{FF2B5EF4-FFF2-40B4-BE49-F238E27FC236}">
                <a16:creationId xmlns:a16="http://schemas.microsoft.com/office/drawing/2014/main" id="{0C45AF3E-69D9-8026-86F0-9A9EAFFC567F}"/>
              </a:ext>
            </a:extLst>
          </p:cNvPr>
          <p:cNvSpPr txBox="1"/>
          <p:nvPr/>
        </p:nvSpPr>
        <p:spPr>
          <a:xfrm>
            <a:off x="3392106" y="594386"/>
            <a:ext cx="5240169" cy="4729180"/>
          </a:xfrm>
          <a:prstGeom prst="rect">
            <a:avLst/>
          </a:prstGeom>
        </p:spPr>
        <p:txBody>
          <a:bodyPr vert="horz" wrap="square" lIns="0" tIns="12700" rIns="0" bIns="0" rtlCol="0">
            <a:spAutoFit/>
          </a:bodyPr>
          <a:lstStyle/>
          <a:p>
            <a:pPr marL="298450" marR="5080" indent="-285750">
              <a:lnSpc>
                <a:spcPct val="121800"/>
              </a:lnSpc>
              <a:spcBef>
                <a:spcPts val="100"/>
              </a:spcBef>
              <a:buFont typeface="Arial" panose="020B0604020202020204" pitchFamily="34" charset="0"/>
              <a:buChar char="•"/>
            </a:pPr>
            <a:r>
              <a:rPr lang="en-US" sz="1300" dirty="0">
                <a:latin typeface="Roboto Lt"/>
                <a:cs typeface="Roboto Lt"/>
              </a:rPr>
              <a:t>Arguments for WIP Limits:</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Enhanced Focus: Teams concentrate on finishing work rather than juggling multiple items, reducing context-switching and errors.</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Improved Flow: Help identify bottlenecks in the workflow, enabling the team to address inefficiencies and deliver faster.</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Encourages Collaboration: When hit WIP limits, they are more likely to assist others, fostering teamwork.</a:t>
            </a:r>
          </a:p>
          <a:p>
            <a:pPr marL="298450" marR="5080" indent="-285750">
              <a:lnSpc>
                <a:spcPct val="121800"/>
              </a:lnSpc>
              <a:spcBef>
                <a:spcPts val="100"/>
              </a:spcBef>
              <a:buFont typeface="Arial" panose="020B0604020202020204" pitchFamily="34" charset="0"/>
              <a:buChar char="•"/>
            </a:pPr>
            <a:r>
              <a:rPr lang="en-US" sz="1300" dirty="0">
                <a:latin typeface="Roboto Lt"/>
                <a:cs typeface="Roboto Lt"/>
              </a:rPr>
              <a:t>Arguments Against WIP Limits:</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Perceived Restriction: Some team members may feel that WIP limits constrain their ability to multitask or explore creative solutions.</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Dynamic Work Environments: In fast-paced or innovative teams, strict WIP limits might hinder adaptability, especially when priorities shift rapidly.</a:t>
            </a:r>
          </a:p>
          <a:p>
            <a:pPr marL="755650" marR="5080" lvl="1" indent="-285750">
              <a:lnSpc>
                <a:spcPct val="121800"/>
              </a:lnSpc>
              <a:spcBef>
                <a:spcPts val="100"/>
              </a:spcBef>
              <a:buFont typeface="Arial" panose="020B0604020202020204" pitchFamily="34" charset="0"/>
              <a:buChar char="•"/>
            </a:pPr>
            <a:r>
              <a:rPr lang="en-US" sz="1300" dirty="0">
                <a:latin typeface="Roboto Lt"/>
                <a:cs typeface="Roboto Lt"/>
              </a:rPr>
              <a:t>Psychological Resistance: Teams unfamiliar with Kanban may resist WIP limits, perceiving them as artificial constraints imposed on their workflow.</a:t>
            </a:r>
          </a:p>
          <a:p>
            <a:pPr marL="298450" marR="5080" indent="-285750">
              <a:lnSpc>
                <a:spcPct val="121800"/>
              </a:lnSpc>
              <a:spcBef>
                <a:spcPts val="100"/>
              </a:spcBef>
              <a:buFont typeface="Arial" panose="020B0604020202020204" pitchFamily="34" charset="0"/>
              <a:buChar char="•"/>
            </a:pPr>
            <a:r>
              <a:rPr lang="en-MY" sz="1300" dirty="0">
                <a:latin typeface="Roboto Lt"/>
                <a:cs typeface="Roboto Lt"/>
              </a:rPr>
              <a:t>Middle ground: Flexible and regular review WIP Limits</a:t>
            </a:r>
            <a:endParaRPr sz="1300" dirty="0">
              <a:latin typeface="Roboto Lt"/>
              <a:cs typeface="Roboto Lt"/>
            </a:endParaRPr>
          </a:p>
        </p:txBody>
      </p:sp>
    </p:spTree>
    <p:extLst>
      <p:ext uri="{BB962C8B-B14F-4D97-AF65-F5344CB8AC3E}">
        <p14:creationId xmlns:p14="http://schemas.microsoft.com/office/powerpoint/2010/main" val="843223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1490980"/>
          </a:xfrm>
          <a:custGeom>
            <a:avLst/>
            <a:gdLst/>
            <a:ahLst/>
            <a:cxnLst/>
            <a:rect l="l" t="t" r="r" b="b"/>
            <a:pathLst>
              <a:path w="9144000" h="1490980">
                <a:moveTo>
                  <a:pt x="9144000" y="0"/>
                </a:moveTo>
                <a:lnTo>
                  <a:pt x="0" y="0"/>
                </a:lnTo>
                <a:lnTo>
                  <a:pt x="0" y="1490472"/>
                </a:lnTo>
                <a:lnTo>
                  <a:pt x="9144000" y="1490472"/>
                </a:lnTo>
                <a:lnTo>
                  <a:pt x="9144000" y="0"/>
                </a:lnTo>
                <a:close/>
              </a:path>
            </a:pathLst>
          </a:custGeom>
          <a:solidFill>
            <a:srgbClr val="002F59"/>
          </a:solidFill>
        </p:spPr>
        <p:txBody>
          <a:bodyPr wrap="square" lIns="0" tIns="0" rIns="0" bIns="0" rtlCol="0"/>
          <a:lstStyle/>
          <a:p>
            <a:endParaRPr/>
          </a:p>
        </p:txBody>
      </p:sp>
      <p:sp>
        <p:nvSpPr>
          <p:cNvPr id="3" name="object 3"/>
          <p:cNvSpPr txBox="1">
            <a:spLocks noGrp="1"/>
          </p:cNvSpPr>
          <p:nvPr>
            <p:ph type="title"/>
          </p:nvPr>
        </p:nvSpPr>
        <p:spPr>
          <a:xfrm>
            <a:off x="526368" y="424576"/>
            <a:ext cx="7156450" cy="711200"/>
          </a:xfrm>
          <a:prstGeom prst="rect">
            <a:avLst/>
          </a:prstGeom>
        </p:spPr>
        <p:txBody>
          <a:bodyPr vert="horz" wrap="square" lIns="0" tIns="12700" rIns="0" bIns="0" rtlCol="0">
            <a:spAutoFit/>
          </a:bodyPr>
          <a:lstStyle/>
          <a:p>
            <a:pPr marL="12700">
              <a:lnSpc>
                <a:spcPct val="100000"/>
              </a:lnSpc>
              <a:spcBef>
                <a:spcPts val="100"/>
              </a:spcBef>
            </a:pPr>
            <a:r>
              <a:rPr spc="-160" dirty="0"/>
              <a:t>O</a:t>
            </a:r>
            <a:r>
              <a:rPr spc="355" dirty="0"/>
              <a:t>t</a:t>
            </a:r>
            <a:r>
              <a:rPr spc="-10" dirty="0"/>
              <a:t>h</a:t>
            </a:r>
            <a:r>
              <a:rPr spc="25" dirty="0"/>
              <a:t>e</a:t>
            </a:r>
            <a:r>
              <a:rPr spc="360" dirty="0"/>
              <a:t>r</a:t>
            </a:r>
            <a:r>
              <a:rPr spc="-535" dirty="0"/>
              <a:t> </a:t>
            </a:r>
            <a:r>
              <a:rPr spc="-150" dirty="0"/>
              <a:t>A</a:t>
            </a:r>
            <a:r>
              <a:rPr spc="-280" dirty="0"/>
              <a:t>g</a:t>
            </a:r>
            <a:r>
              <a:rPr spc="-55" dirty="0"/>
              <a:t>i</a:t>
            </a:r>
            <a:r>
              <a:rPr spc="-70" dirty="0"/>
              <a:t>l</a:t>
            </a:r>
            <a:r>
              <a:rPr spc="275" dirty="0"/>
              <a:t>e</a:t>
            </a:r>
            <a:r>
              <a:rPr spc="-535" dirty="0"/>
              <a:t> </a:t>
            </a:r>
            <a:r>
              <a:rPr spc="340" dirty="0"/>
              <a:t>M</a:t>
            </a:r>
            <a:r>
              <a:rPr spc="15" dirty="0"/>
              <a:t>e</a:t>
            </a:r>
            <a:r>
              <a:rPr spc="355" dirty="0"/>
              <a:t>t</a:t>
            </a:r>
            <a:r>
              <a:rPr spc="-10" dirty="0"/>
              <a:t>h</a:t>
            </a:r>
            <a:r>
              <a:rPr spc="-150" dirty="0"/>
              <a:t>o</a:t>
            </a:r>
            <a:r>
              <a:rPr spc="-125" dirty="0"/>
              <a:t>d</a:t>
            </a:r>
            <a:r>
              <a:rPr spc="-155" dirty="0"/>
              <a:t>o</a:t>
            </a:r>
            <a:r>
              <a:rPr spc="-70" dirty="0"/>
              <a:t>l</a:t>
            </a:r>
            <a:r>
              <a:rPr spc="-185" dirty="0"/>
              <a:t>o</a:t>
            </a:r>
            <a:r>
              <a:rPr spc="-280" dirty="0"/>
              <a:t>g</a:t>
            </a:r>
            <a:r>
              <a:rPr spc="-65" dirty="0"/>
              <a:t>i</a:t>
            </a:r>
            <a:r>
              <a:rPr spc="-5" dirty="0"/>
              <a:t>e</a:t>
            </a:r>
            <a:r>
              <a:rPr spc="-105" dirty="0"/>
              <a:t>s</a:t>
            </a:r>
          </a:p>
        </p:txBody>
      </p:sp>
      <p:grpSp>
        <p:nvGrpSpPr>
          <p:cNvPr id="4" name="object 4"/>
          <p:cNvGrpSpPr/>
          <p:nvPr/>
        </p:nvGrpSpPr>
        <p:grpSpPr>
          <a:xfrm>
            <a:off x="419100" y="1490472"/>
            <a:ext cx="8305800" cy="1941195"/>
            <a:chOff x="419100" y="1490472"/>
            <a:chExt cx="8305800" cy="1941195"/>
          </a:xfrm>
        </p:grpSpPr>
        <p:sp>
          <p:nvSpPr>
            <p:cNvPr id="5" name="object 5"/>
            <p:cNvSpPr/>
            <p:nvPr/>
          </p:nvSpPr>
          <p:spPr>
            <a:xfrm>
              <a:off x="5956300" y="1490472"/>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D8DFE6"/>
            </a:solidFill>
          </p:spPr>
          <p:txBody>
            <a:bodyPr wrap="square" lIns="0" tIns="0" rIns="0" bIns="0" rtlCol="0"/>
            <a:lstStyle/>
            <a:p>
              <a:endParaRPr/>
            </a:p>
          </p:txBody>
        </p:sp>
        <p:sp>
          <p:nvSpPr>
            <p:cNvPr id="6" name="object 6"/>
            <p:cNvSpPr/>
            <p:nvPr/>
          </p:nvSpPr>
          <p:spPr>
            <a:xfrm>
              <a:off x="419100" y="1490472"/>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F2F4F6"/>
            </a:solidFill>
          </p:spPr>
          <p:txBody>
            <a:bodyPr wrap="square" lIns="0" tIns="0" rIns="0" bIns="0" rtlCol="0"/>
            <a:lstStyle/>
            <a:p>
              <a:endParaRPr/>
            </a:p>
          </p:txBody>
        </p:sp>
        <p:sp>
          <p:nvSpPr>
            <p:cNvPr id="7" name="object 7"/>
            <p:cNvSpPr/>
            <p:nvPr/>
          </p:nvSpPr>
          <p:spPr>
            <a:xfrm>
              <a:off x="3187700" y="1490472"/>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E5EAEE"/>
            </a:solidFill>
          </p:spPr>
          <p:txBody>
            <a:bodyPr wrap="square" lIns="0" tIns="0" rIns="0" bIns="0" rtlCol="0"/>
            <a:lstStyle/>
            <a:p>
              <a:endParaRPr/>
            </a:p>
          </p:txBody>
        </p:sp>
      </p:grpSp>
      <p:sp>
        <p:nvSpPr>
          <p:cNvPr id="8" name="object 8"/>
          <p:cNvSpPr txBox="1"/>
          <p:nvPr/>
        </p:nvSpPr>
        <p:spPr>
          <a:xfrm>
            <a:off x="698500" y="1709763"/>
            <a:ext cx="2007235" cy="1238885"/>
          </a:xfrm>
          <a:prstGeom prst="rect">
            <a:avLst/>
          </a:prstGeom>
        </p:spPr>
        <p:txBody>
          <a:bodyPr vert="horz" wrap="square" lIns="0" tIns="33020" rIns="0" bIns="0" rtlCol="0">
            <a:spAutoFit/>
          </a:bodyPr>
          <a:lstStyle/>
          <a:p>
            <a:pPr marL="12700" marR="206375">
              <a:lnSpc>
                <a:spcPts val="1800"/>
              </a:lnSpc>
              <a:spcBef>
                <a:spcPts val="260"/>
              </a:spcBef>
            </a:pPr>
            <a:r>
              <a:rPr sz="1600" b="1" spc="40" dirty="0">
                <a:solidFill>
                  <a:srgbClr val="333333"/>
                </a:solidFill>
                <a:latin typeface="Arial"/>
                <a:cs typeface="Arial"/>
              </a:rPr>
              <a:t>Extreme </a:t>
            </a:r>
            <a:r>
              <a:rPr sz="1600" b="1" spc="45" dirty="0">
                <a:solidFill>
                  <a:srgbClr val="333333"/>
                </a:solidFill>
                <a:latin typeface="Arial"/>
                <a:cs typeface="Arial"/>
              </a:rPr>
              <a:t> </a:t>
            </a:r>
            <a:r>
              <a:rPr sz="1600" b="1" spc="-135" dirty="0">
                <a:solidFill>
                  <a:srgbClr val="333333"/>
                </a:solidFill>
                <a:latin typeface="Arial"/>
                <a:cs typeface="Arial"/>
              </a:rPr>
              <a:t>P</a:t>
            </a:r>
            <a:r>
              <a:rPr sz="1600" b="1" spc="60" dirty="0">
                <a:solidFill>
                  <a:srgbClr val="333333"/>
                </a:solidFill>
                <a:latin typeface="Arial"/>
                <a:cs typeface="Arial"/>
              </a:rPr>
              <a:t>r</a:t>
            </a:r>
            <a:r>
              <a:rPr sz="1600" b="1" spc="-40" dirty="0">
                <a:solidFill>
                  <a:srgbClr val="333333"/>
                </a:solidFill>
                <a:latin typeface="Arial"/>
                <a:cs typeface="Arial"/>
              </a:rPr>
              <a:t>o</a:t>
            </a:r>
            <a:r>
              <a:rPr sz="1600" b="1" spc="-70" dirty="0">
                <a:solidFill>
                  <a:srgbClr val="333333"/>
                </a:solidFill>
                <a:latin typeface="Arial"/>
                <a:cs typeface="Arial"/>
              </a:rPr>
              <a:t>g</a:t>
            </a:r>
            <a:r>
              <a:rPr sz="1600" b="1" spc="40" dirty="0">
                <a:solidFill>
                  <a:srgbClr val="333333"/>
                </a:solidFill>
                <a:latin typeface="Arial"/>
                <a:cs typeface="Arial"/>
              </a:rPr>
              <a:t>ra</a:t>
            </a:r>
            <a:r>
              <a:rPr sz="1600" b="1" spc="110" dirty="0">
                <a:solidFill>
                  <a:srgbClr val="333333"/>
                </a:solidFill>
                <a:latin typeface="Arial"/>
                <a:cs typeface="Arial"/>
              </a:rPr>
              <a:t>m</a:t>
            </a:r>
            <a:r>
              <a:rPr sz="1600" b="1" spc="60" dirty="0">
                <a:solidFill>
                  <a:srgbClr val="333333"/>
                </a:solidFill>
                <a:latin typeface="Arial"/>
                <a:cs typeface="Arial"/>
              </a:rPr>
              <a:t>mi</a:t>
            </a:r>
            <a:r>
              <a:rPr sz="1600" b="1" spc="20" dirty="0">
                <a:solidFill>
                  <a:srgbClr val="333333"/>
                </a:solidFill>
                <a:latin typeface="Arial"/>
                <a:cs typeface="Arial"/>
              </a:rPr>
              <a:t>n</a:t>
            </a:r>
            <a:r>
              <a:rPr sz="1600" b="1" spc="-10" dirty="0">
                <a:solidFill>
                  <a:srgbClr val="333333"/>
                </a:solidFill>
                <a:latin typeface="Arial"/>
                <a:cs typeface="Arial"/>
              </a:rPr>
              <a:t>g</a:t>
            </a:r>
            <a:r>
              <a:rPr sz="1600" b="1" spc="-160" dirty="0">
                <a:solidFill>
                  <a:srgbClr val="333333"/>
                </a:solidFill>
                <a:latin typeface="Arial"/>
                <a:cs typeface="Arial"/>
              </a:rPr>
              <a:t> </a:t>
            </a:r>
            <a:r>
              <a:rPr sz="1600" b="1" spc="10" dirty="0">
                <a:solidFill>
                  <a:srgbClr val="333333"/>
                </a:solidFill>
                <a:latin typeface="Arial"/>
                <a:cs typeface="Arial"/>
              </a:rPr>
              <a:t>(</a:t>
            </a:r>
            <a:r>
              <a:rPr sz="1600" b="1" spc="35" dirty="0">
                <a:solidFill>
                  <a:srgbClr val="333333"/>
                </a:solidFill>
                <a:latin typeface="Arial"/>
                <a:cs typeface="Arial"/>
              </a:rPr>
              <a:t>X</a:t>
            </a:r>
            <a:r>
              <a:rPr sz="1600" b="1" spc="-170" dirty="0">
                <a:solidFill>
                  <a:srgbClr val="333333"/>
                </a:solidFill>
                <a:latin typeface="Arial"/>
                <a:cs typeface="Arial"/>
              </a:rPr>
              <a:t>P</a:t>
            </a:r>
            <a:r>
              <a:rPr sz="1600" b="1" spc="40" dirty="0">
                <a:solidFill>
                  <a:srgbClr val="333333"/>
                </a:solidFill>
                <a:latin typeface="Arial"/>
                <a:cs typeface="Arial"/>
              </a:rPr>
              <a:t>)</a:t>
            </a:r>
            <a:endParaRPr sz="1600">
              <a:latin typeface="Arial"/>
              <a:cs typeface="Arial"/>
            </a:endParaRPr>
          </a:p>
          <a:p>
            <a:pPr marL="12700" marR="5080">
              <a:lnSpc>
                <a:spcPct val="120700"/>
              </a:lnSpc>
              <a:spcBef>
                <a:spcPts val="280"/>
              </a:spcBef>
            </a:pPr>
            <a:r>
              <a:rPr sz="950" dirty="0">
                <a:solidFill>
                  <a:srgbClr val="333333"/>
                </a:solidFill>
                <a:latin typeface="Roboto Lt"/>
                <a:cs typeface="Roboto Lt"/>
              </a:rPr>
              <a:t>This</a:t>
            </a:r>
            <a:r>
              <a:rPr sz="950" spc="-20" dirty="0">
                <a:solidFill>
                  <a:srgbClr val="333333"/>
                </a:solidFill>
                <a:latin typeface="Roboto Lt"/>
                <a:cs typeface="Roboto Lt"/>
              </a:rPr>
              <a:t> </a:t>
            </a:r>
            <a:r>
              <a:rPr sz="950" spc="10" dirty="0">
                <a:solidFill>
                  <a:srgbClr val="333333"/>
                </a:solidFill>
                <a:latin typeface="Roboto Lt"/>
                <a:cs typeface="Roboto Lt"/>
              </a:rPr>
              <a:t>type</a:t>
            </a:r>
            <a:r>
              <a:rPr sz="950" spc="-20" dirty="0">
                <a:solidFill>
                  <a:srgbClr val="333333"/>
                </a:solidFill>
                <a:latin typeface="Roboto Lt"/>
                <a:cs typeface="Roboto Lt"/>
              </a:rPr>
              <a:t> </a:t>
            </a:r>
            <a:r>
              <a:rPr sz="950" spc="5" dirty="0">
                <a:solidFill>
                  <a:srgbClr val="333333"/>
                </a:solidFill>
                <a:latin typeface="Roboto Lt"/>
                <a:cs typeface="Roboto Lt"/>
              </a:rPr>
              <a:t>of</a:t>
            </a:r>
            <a:r>
              <a:rPr sz="950" spc="-20" dirty="0">
                <a:solidFill>
                  <a:srgbClr val="333333"/>
                </a:solidFill>
                <a:latin typeface="Roboto Lt"/>
                <a:cs typeface="Roboto Lt"/>
              </a:rPr>
              <a:t> </a:t>
            </a:r>
            <a:r>
              <a:rPr sz="950" spc="5" dirty="0">
                <a:solidFill>
                  <a:srgbClr val="333333"/>
                </a:solidFill>
                <a:latin typeface="Roboto Lt"/>
                <a:cs typeface="Roboto Lt"/>
              </a:rPr>
              <a:t>software</a:t>
            </a:r>
            <a:r>
              <a:rPr sz="950" spc="-20" dirty="0">
                <a:solidFill>
                  <a:srgbClr val="333333"/>
                </a:solidFill>
                <a:latin typeface="Roboto Lt"/>
                <a:cs typeface="Roboto Lt"/>
              </a:rPr>
              <a:t> </a:t>
            </a:r>
            <a:r>
              <a:rPr sz="950" spc="5" dirty="0">
                <a:solidFill>
                  <a:srgbClr val="333333"/>
                </a:solidFill>
                <a:latin typeface="Roboto Lt"/>
                <a:cs typeface="Roboto Lt"/>
              </a:rPr>
              <a:t>development</a:t>
            </a:r>
            <a:r>
              <a:rPr sz="950" spc="-20" dirty="0">
                <a:solidFill>
                  <a:srgbClr val="333333"/>
                </a:solidFill>
                <a:latin typeface="Roboto Lt"/>
                <a:cs typeface="Roboto Lt"/>
              </a:rPr>
              <a:t> </a:t>
            </a:r>
            <a:r>
              <a:rPr sz="950" spc="-5" dirty="0">
                <a:solidFill>
                  <a:srgbClr val="333333"/>
                </a:solidFill>
                <a:latin typeface="Roboto Lt"/>
                <a:cs typeface="Roboto Lt"/>
              </a:rPr>
              <a:t>is </a:t>
            </a:r>
            <a:r>
              <a:rPr sz="950" spc="-220" dirty="0">
                <a:solidFill>
                  <a:srgbClr val="333333"/>
                </a:solidFill>
                <a:latin typeface="Roboto Lt"/>
                <a:cs typeface="Roboto Lt"/>
              </a:rPr>
              <a:t> </a:t>
            </a:r>
            <a:r>
              <a:rPr sz="950" dirty="0">
                <a:solidFill>
                  <a:srgbClr val="333333"/>
                </a:solidFill>
                <a:latin typeface="Roboto Lt"/>
                <a:cs typeface="Roboto Lt"/>
              </a:rPr>
              <a:t>intended </a:t>
            </a:r>
            <a:r>
              <a:rPr sz="950" spc="-5" dirty="0">
                <a:solidFill>
                  <a:srgbClr val="333333"/>
                </a:solidFill>
                <a:latin typeface="Roboto Lt"/>
                <a:cs typeface="Roboto Lt"/>
              </a:rPr>
              <a:t>to </a:t>
            </a:r>
            <a:r>
              <a:rPr sz="950" dirty="0">
                <a:solidFill>
                  <a:srgbClr val="333333"/>
                </a:solidFill>
                <a:latin typeface="Roboto Lt"/>
                <a:cs typeface="Roboto Lt"/>
              </a:rPr>
              <a:t>improve quality </a:t>
            </a:r>
            <a:r>
              <a:rPr sz="950" spc="5" dirty="0">
                <a:solidFill>
                  <a:srgbClr val="333333"/>
                </a:solidFill>
                <a:latin typeface="Roboto Lt"/>
                <a:cs typeface="Roboto Lt"/>
              </a:rPr>
              <a:t>and </a:t>
            </a:r>
            <a:r>
              <a:rPr sz="950" spc="10" dirty="0">
                <a:solidFill>
                  <a:srgbClr val="333333"/>
                </a:solidFill>
                <a:latin typeface="Roboto Lt"/>
                <a:cs typeface="Roboto Lt"/>
              </a:rPr>
              <a:t> </a:t>
            </a:r>
            <a:r>
              <a:rPr sz="950" dirty="0">
                <a:solidFill>
                  <a:srgbClr val="333333"/>
                </a:solidFill>
                <a:latin typeface="Roboto Lt"/>
                <a:cs typeface="Roboto Lt"/>
              </a:rPr>
              <a:t>responsiveness </a:t>
            </a:r>
            <a:r>
              <a:rPr sz="950" spc="-5" dirty="0">
                <a:solidFill>
                  <a:srgbClr val="333333"/>
                </a:solidFill>
                <a:latin typeface="Roboto Lt"/>
                <a:cs typeface="Roboto Lt"/>
              </a:rPr>
              <a:t>to </a:t>
            </a:r>
            <a:r>
              <a:rPr sz="950" dirty="0">
                <a:solidFill>
                  <a:srgbClr val="333333"/>
                </a:solidFill>
                <a:latin typeface="Roboto Lt"/>
                <a:cs typeface="Roboto Lt"/>
              </a:rPr>
              <a:t>evolving </a:t>
            </a:r>
            <a:r>
              <a:rPr sz="950" spc="5" dirty="0">
                <a:solidFill>
                  <a:srgbClr val="333333"/>
                </a:solidFill>
                <a:latin typeface="Roboto Lt"/>
                <a:cs typeface="Roboto Lt"/>
              </a:rPr>
              <a:t>customer </a:t>
            </a:r>
            <a:r>
              <a:rPr sz="950" spc="-225" dirty="0">
                <a:solidFill>
                  <a:srgbClr val="333333"/>
                </a:solidFill>
                <a:latin typeface="Roboto Lt"/>
                <a:cs typeface="Roboto Lt"/>
              </a:rPr>
              <a:t> </a:t>
            </a:r>
            <a:r>
              <a:rPr sz="950" dirty="0">
                <a:solidFill>
                  <a:srgbClr val="333333"/>
                </a:solidFill>
                <a:latin typeface="Roboto Lt"/>
                <a:cs typeface="Roboto Lt"/>
              </a:rPr>
              <a:t>requirements.</a:t>
            </a:r>
            <a:endParaRPr sz="950">
              <a:latin typeface="Roboto Lt"/>
              <a:cs typeface="Roboto Lt"/>
            </a:endParaRPr>
          </a:p>
        </p:txBody>
      </p:sp>
      <p:sp>
        <p:nvSpPr>
          <p:cNvPr id="9" name="object 9"/>
          <p:cNvSpPr txBox="1"/>
          <p:nvPr/>
        </p:nvSpPr>
        <p:spPr>
          <a:xfrm>
            <a:off x="3448050" y="1709763"/>
            <a:ext cx="2109470" cy="1213485"/>
          </a:xfrm>
          <a:prstGeom prst="rect">
            <a:avLst/>
          </a:prstGeom>
        </p:spPr>
        <p:txBody>
          <a:bodyPr vert="horz" wrap="square" lIns="0" tIns="53340" rIns="0" bIns="0" rtlCol="0">
            <a:spAutoFit/>
          </a:bodyPr>
          <a:lstStyle/>
          <a:p>
            <a:pPr marL="12700" marR="233679">
              <a:lnSpc>
                <a:spcPts val="1600"/>
              </a:lnSpc>
              <a:spcBef>
                <a:spcPts val="420"/>
              </a:spcBef>
            </a:pPr>
            <a:r>
              <a:rPr sz="1600" b="1" spc="25" dirty="0">
                <a:solidFill>
                  <a:srgbClr val="333333"/>
                </a:solidFill>
                <a:latin typeface="Arial"/>
                <a:cs typeface="Arial"/>
              </a:rPr>
              <a:t>Feature-driven </a:t>
            </a:r>
            <a:r>
              <a:rPr sz="1600" b="1" spc="30" dirty="0">
                <a:solidFill>
                  <a:srgbClr val="333333"/>
                </a:solidFill>
                <a:latin typeface="Arial"/>
                <a:cs typeface="Arial"/>
              </a:rPr>
              <a:t> </a:t>
            </a:r>
            <a:r>
              <a:rPr sz="1600" b="1" spc="-15" dirty="0">
                <a:solidFill>
                  <a:srgbClr val="333333"/>
                </a:solidFill>
                <a:latin typeface="Arial"/>
                <a:cs typeface="Arial"/>
              </a:rPr>
              <a:t>d</a:t>
            </a:r>
            <a:r>
              <a:rPr sz="1600" b="1" spc="10" dirty="0">
                <a:solidFill>
                  <a:srgbClr val="333333"/>
                </a:solidFill>
                <a:latin typeface="Arial"/>
                <a:cs typeface="Arial"/>
              </a:rPr>
              <a:t>e</a:t>
            </a:r>
            <a:r>
              <a:rPr sz="1600" b="1" spc="-5" dirty="0">
                <a:solidFill>
                  <a:srgbClr val="333333"/>
                </a:solidFill>
                <a:latin typeface="Arial"/>
                <a:cs typeface="Arial"/>
              </a:rPr>
              <a:t>v</a:t>
            </a:r>
            <a:r>
              <a:rPr sz="1600" b="1" spc="35" dirty="0">
                <a:solidFill>
                  <a:srgbClr val="333333"/>
                </a:solidFill>
                <a:latin typeface="Arial"/>
                <a:cs typeface="Arial"/>
              </a:rPr>
              <a:t>e</a:t>
            </a:r>
            <a:r>
              <a:rPr sz="1600" b="1" spc="-20" dirty="0">
                <a:solidFill>
                  <a:srgbClr val="333333"/>
                </a:solidFill>
                <a:latin typeface="Arial"/>
                <a:cs typeface="Arial"/>
              </a:rPr>
              <a:t>lo</a:t>
            </a:r>
            <a:r>
              <a:rPr sz="1600" b="1" spc="5" dirty="0">
                <a:solidFill>
                  <a:srgbClr val="333333"/>
                </a:solidFill>
                <a:latin typeface="Arial"/>
                <a:cs typeface="Arial"/>
              </a:rPr>
              <a:t>p</a:t>
            </a:r>
            <a:r>
              <a:rPr sz="1600" b="1" spc="105" dirty="0">
                <a:solidFill>
                  <a:srgbClr val="333333"/>
                </a:solidFill>
                <a:latin typeface="Arial"/>
                <a:cs typeface="Arial"/>
              </a:rPr>
              <a:t>m</a:t>
            </a:r>
            <a:r>
              <a:rPr sz="1600" b="1" spc="35" dirty="0">
                <a:solidFill>
                  <a:srgbClr val="333333"/>
                </a:solidFill>
                <a:latin typeface="Arial"/>
                <a:cs typeface="Arial"/>
              </a:rPr>
              <a:t>e</a:t>
            </a:r>
            <a:r>
              <a:rPr sz="1600" b="1" spc="15" dirty="0">
                <a:solidFill>
                  <a:srgbClr val="333333"/>
                </a:solidFill>
                <a:latin typeface="Arial"/>
                <a:cs typeface="Arial"/>
              </a:rPr>
              <a:t>n</a:t>
            </a:r>
            <a:r>
              <a:rPr sz="1600" b="1" spc="200" dirty="0">
                <a:solidFill>
                  <a:srgbClr val="333333"/>
                </a:solidFill>
                <a:latin typeface="Arial"/>
                <a:cs typeface="Arial"/>
              </a:rPr>
              <a:t>t</a:t>
            </a:r>
            <a:r>
              <a:rPr sz="1600" b="1" spc="-160" dirty="0">
                <a:solidFill>
                  <a:srgbClr val="333333"/>
                </a:solidFill>
                <a:latin typeface="Arial"/>
                <a:cs typeface="Arial"/>
              </a:rPr>
              <a:t> </a:t>
            </a:r>
            <a:r>
              <a:rPr sz="1600" b="1" spc="-40" dirty="0">
                <a:solidFill>
                  <a:srgbClr val="333333"/>
                </a:solidFill>
                <a:latin typeface="Arial"/>
                <a:cs typeface="Arial"/>
              </a:rPr>
              <a:t>(</a:t>
            </a:r>
            <a:r>
              <a:rPr sz="1600" b="1" spc="-180" dirty="0">
                <a:solidFill>
                  <a:srgbClr val="333333"/>
                </a:solidFill>
                <a:latin typeface="Arial"/>
                <a:cs typeface="Arial"/>
              </a:rPr>
              <a:t>F</a:t>
            </a:r>
            <a:r>
              <a:rPr sz="1600" b="1" spc="-55" dirty="0">
                <a:solidFill>
                  <a:srgbClr val="333333"/>
                </a:solidFill>
                <a:latin typeface="Arial"/>
                <a:cs typeface="Arial"/>
              </a:rPr>
              <a:t>D</a:t>
            </a:r>
            <a:r>
              <a:rPr sz="1600" b="1" spc="-105" dirty="0">
                <a:solidFill>
                  <a:srgbClr val="333333"/>
                </a:solidFill>
                <a:latin typeface="Arial"/>
                <a:cs typeface="Arial"/>
              </a:rPr>
              <a:t>D</a:t>
            </a:r>
            <a:r>
              <a:rPr sz="1600" b="1" spc="40" dirty="0">
                <a:solidFill>
                  <a:srgbClr val="333333"/>
                </a:solidFill>
                <a:latin typeface="Arial"/>
                <a:cs typeface="Arial"/>
              </a:rPr>
              <a:t>)</a:t>
            </a:r>
            <a:endParaRPr sz="1600">
              <a:latin typeface="Arial"/>
              <a:cs typeface="Arial"/>
            </a:endParaRPr>
          </a:p>
          <a:p>
            <a:pPr marL="12700" marR="5080">
              <a:lnSpc>
                <a:spcPct val="120700"/>
              </a:lnSpc>
              <a:spcBef>
                <a:spcPts val="320"/>
              </a:spcBef>
            </a:pPr>
            <a:r>
              <a:rPr sz="950" spc="5" dirty="0">
                <a:solidFill>
                  <a:srgbClr val="333333"/>
                </a:solidFill>
                <a:latin typeface="Roboto Lt"/>
                <a:cs typeface="Roboto Lt"/>
              </a:rPr>
              <a:t>There </a:t>
            </a:r>
            <a:r>
              <a:rPr sz="950" dirty="0">
                <a:solidFill>
                  <a:srgbClr val="333333"/>
                </a:solidFill>
                <a:latin typeface="Roboto Lt"/>
                <a:cs typeface="Roboto Lt"/>
              </a:rPr>
              <a:t>are five basic activities in </a:t>
            </a:r>
            <a:r>
              <a:rPr sz="950" spc="5" dirty="0">
                <a:solidFill>
                  <a:srgbClr val="333333"/>
                </a:solidFill>
                <a:latin typeface="Roboto Lt"/>
                <a:cs typeface="Roboto Lt"/>
              </a:rPr>
              <a:t>FDD: </a:t>
            </a:r>
            <a:r>
              <a:rPr sz="950" spc="10" dirty="0">
                <a:solidFill>
                  <a:srgbClr val="333333"/>
                </a:solidFill>
                <a:latin typeface="Roboto Lt"/>
                <a:cs typeface="Roboto Lt"/>
              </a:rPr>
              <a:t> </a:t>
            </a:r>
            <a:r>
              <a:rPr sz="950" spc="5" dirty="0">
                <a:solidFill>
                  <a:srgbClr val="333333"/>
                </a:solidFill>
                <a:latin typeface="Roboto Lt"/>
                <a:cs typeface="Roboto Lt"/>
              </a:rPr>
              <a:t>develop</a:t>
            </a:r>
            <a:r>
              <a:rPr sz="950" spc="-20" dirty="0">
                <a:solidFill>
                  <a:srgbClr val="333333"/>
                </a:solidFill>
                <a:latin typeface="Roboto Lt"/>
                <a:cs typeface="Roboto Lt"/>
              </a:rPr>
              <a:t> </a:t>
            </a:r>
            <a:r>
              <a:rPr sz="950" spc="-5" dirty="0">
                <a:solidFill>
                  <a:srgbClr val="333333"/>
                </a:solidFill>
                <a:latin typeface="Roboto Lt"/>
                <a:cs typeface="Roboto Lt"/>
              </a:rPr>
              <a:t>overall</a:t>
            </a:r>
            <a:r>
              <a:rPr sz="950" spc="-20" dirty="0">
                <a:solidFill>
                  <a:srgbClr val="333333"/>
                </a:solidFill>
                <a:latin typeface="Roboto Lt"/>
                <a:cs typeface="Roboto Lt"/>
              </a:rPr>
              <a:t> </a:t>
            </a:r>
            <a:r>
              <a:rPr sz="950" spc="10" dirty="0">
                <a:solidFill>
                  <a:srgbClr val="333333"/>
                </a:solidFill>
                <a:latin typeface="Roboto Lt"/>
                <a:cs typeface="Roboto Lt"/>
              </a:rPr>
              <a:t>model,</a:t>
            </a:r>
            <a:r>
              <a:rPr sz="950" spc="-20" dirty="0">
                <a:solidFill>
                  <a:srgbClr val="333333"/>
                </a:solidFill>
                <a:latin typeface="Roboto Lt"/>
                <a:cs typeface="Roboto Lt"/>
              </a:rPr>
              <a:t> </a:t>
            </a:r>
            <a:r>
              <a:rPr sz="950" dirty="0">
                <a:solidFill>
                  <a:srgbClr val="333333"/>
                </a:solidFill>
                <a:latin typeface="Roboto Lt"/>
                <a:cs typeface="Roboto Lt"/>
              </a:rPr>
              <a:t>build</a:t>
            </a:r>
            <a:r>
              <a:rPr sz="950" spc="-15" dirty="0">
                <a:solidFill>
                  <a:srgbClr val="333333"/>
                </a:solidFill>
                <a:latin typeface="Roboto Lt"/>
                <a:cs typeface="Roboto Lt"/>
              </a:rPr>
              <a:t> </a:t>
            </a:r>
            <a:r>
              <a:rPr sz="950" spc="-5" dirty="0">
                <a:solidFill>
                  <a:srgbClr val="333333"/>
                </a:solidFill>
                <a:latin typeface="Roboto Lt"/>
                <a:cs typeface="Roboto Lt"/>
              </a:rPr>
              <a:t>feature</a:t>
            </a:r>
            <a:r>
              <a:rPr sz="950" spc="-20" dirty="0">
                <a:solidFill>
                  <a:srgbClr val="333333"/>
                </a:solidFill>
                <a:latin typeface="Roboto Lt"/>
                <a:cs typeface="Roboto Lt"/>
              </a:rPr>
              <a:t> </a:t>
            </a:r>
            <a:r>
              <a:rPr sz="950" spc="-5" dirty="0">
                <a:solidFill>
                  <a:srgbClr val="333333"/>
                </a:solidFill>
                <a:latin typeface="Roboto Lt"/>
                <a:cs typeface="Roboto Lt"/>
              </a:rPr>
              <a:t>list, </a:t>
            </a:r>
            <a:r>
              <a:rPr sz="950" spc="-215" dirty="0">
                <a:solidFill>
                  <a:srgbClr val="333333"/>
                </a:solidFill>
                <a:latin typeface="Roboto Lt"/>
                <a:cs typeface="Roboto Lt"/>
              </a:rPr>
              <a:t> </a:t>
            </a:r>
            <a:r>
              <a:rPr sz="950" dirty="0">
                <a:solidFill>
                  <a:srgbClr val="333333"/>
                </a:solidFill>
                <a:latin typeface="Roboto Lt"/>
                <a:cs typeface="Roboto Lt"/>
              </a:rPr>
              <a:t>plan </a:t>
            </a:r>
            <a:r>
              <a:rPr sz="950" spc="-5" dirty="0">
                <a:solidFill>
                  <a:srgbClr val="333333"/>
                </a:solidFill>
                <a:latin typeface="Roboto Lt"/>
                <a:cs typeface="Roboto Lt"/>
              </a:rPr>
              <a:t>by feature, </a:t>
            </a:r>
            <a:r>
              <a:rPr sz="950" dirty="0">
                <a:solidFill>
                  <a:srgbClr val="333333"/>
                </a:solidFill>
                <a:latin typeface="Roboto Lt"/>
                <a:cs typeface="Roboto Lt"/>
              </a:rPr>
              <a:t>design </a:t>
            </a:r>
            <a:r>
              <a:rPr sz="950" spc="-5" dirty="0">
                <a:solidFill>
                  <a:srgbClr val="333333"/>
                </a:solidFill>
                <a:latin typeface="Roboto Lt"/>
                <a:cs typeface="Roboto Lt"/>
              </a:rPr>
              <a:t>by feature, </a:t>
            </a:r>
            <a:r>
              <a:rPr sz="950" spc="5" dirty="0">
                <a:solidFill>
                  <a:srgbClr val="333333"/>
                </a:solidFill>
                <a:latin typeface="Roboto Lt"/>
                <a:cs typeface="Roboto Lt"/>
              </a:rPr>
              <a:t>and </a:t>
            </a:r>
            <a:r>
              <a:rPr sz="950" spc="10" dirty="0">
                <a:solidFill>
                  <a:srgbClr val="333333"/>
                </a:solidFill>
                <a:latin typeface="Roboto Lt"/>
                <a:cs typeface="Roboto Lt"/>
              </a:rPr>
              <a:t> </a:t>
            </a:r>
            <a:r>
              <a:rPr sz="950" dirty="0">
                <a:solidFill>
                  <a:srgbClr val="333333"/>
                </a:solidFill>
                <a:latin typeface="Roboto Lt"/>
                <a:cs typeface="Roboto Lt"/>
              </a:rPr>
              <a:t>build</a:t>
            </a:r>
            <a:r>
              <a:rPr sz="950" spc="-20" dirty="0">
                <a:solidFill>
                  <a:srgbClr val="333333"/>
                </a:solidFill>
                <a:latin typeface="Roboto Lt"/>
                <a:cs typeface="Roboto Lt"/>
              </a:rPr>
              <a:t> </a:t>
            </a:r>
            <a:r>
              <a:rPr sz="950" spc="-5" dirty="0">
                <a:solidFill>
                  <a:srgbClr val="333333"/>
                </a:solidFill>
                <a:latin typeface="Roboto Lt"/>
                <a:cs typeface="Roboto Lt"/>
              </a:rPr>
              <a:t>by</a:t>
            </a:r>
            <a:r>
              <a:rPr sz="950" spc="-15" dirty="0">
                <a:solidFill>
                  <a:srgbClr val="333333"/>
                </a:solidFill>
                <a:latin typeface="Roboto Lt"/>
                <a:cs typeface="Roboto Lt"/>
              </a:rPr>
              <a:t> </a:t>
            </a:r>
            <a:r>
              <a:rPr sz="950" spc="-5" dirty="0">
                <a:solidFill>
                  <a:srgbClr val="333333"/>
                </a:solidFill>
                <a:latin typeface="Roboto Lt"/>
                <a:cs typeface="Roboto Lt"/>
              </a:rPr>
              <a:t>feature.</a:t>
            </a:r>
            <a:endParaRPr sz="950">
              <a:latin typeface="Roboto Lt"/>
              <a:cs typeface="Roboto Lt"/>
            </a:endParaRPr>
          </a:p>
        </p:txBody>
      </p:sp>
      <p:sp>
        <p:nvSpPr>
          <p:cNvPr id="10" name="object 10"/>
          <p:cNvSpPr txBox="1"/>
          <p:nvPr/>
        </p:nvSpPr>
        <p:spPr>
          <a:xfrm>
            <a:off x="6197600" y="1709763"/>
            <a:ext cx="2221865" cy="1388110"/>
          </a:xfrm>
          <a:prstGeom prst="rect">
            <a:avLst/>
          </a:prstGeom>
        </p:spPr>
        <p:txBody>
          <a:bodyPr vert="horz" wrap="square" lIns="0" tIns="53340" rIns="0" bIns="0" rtlCol="0">
            <a:spAutoFit/>
          </a:bodyPr>
          <a:lstStyle/>
          <a:p>
            <a:pPr marL="12700" marR="332740">
              <a:lnSpc>
                <a:spcPts val="1600"/>
              </a:lnSpc>
              <a:spcBef>
                <a:spcPts val="420"/>
              </a:spcBef>
            </a:pPr>
            <a:r>
              <a:rPr sz="1600" b="1" spc="-65" dirty="0">
                <a:solidFill>
                  <a:srgbClr val="333333"/>
                </a:solidFill>
                <a:latin typeface="Arial"/>
                <a:cs typeface="Arial"/>
              </a:rPr>
              <a:t>A</a:t>
            </a:r>
            <a:r>
              <a:rPr sz="1600" b="1" spc="-20" dirty="0">
                <a:solidFill>
                  <a:srgbClr val="333333"/>
                </a:solidFill>
                <a:latin typeface="Arial"/>
                <a:cs typeface="Arial"/>
              </a:rPr>
              <a:t>d</a:t>
            </a:r>
            <a:r>
              <a:rPr sz="1600" b="1" spc="40" dirty="0">
                <a:solidFill>
                  <a:srgbClr val="333333"/>
                </a:solidFill>
                <a:latin typeface="Arial"/>
                <a:cs typeface="Arial"/>
              </a:rPr>
              <a:t>a</a:t>
            </a:r>
            <a:r>
              <a:rPr sz="1600" b="1" spc="95" dirty="0">
                <a:solidFill>
                  <a:srgbClr val="333333"/>
                </a:solidFill>
                <a:latin typeface="Arial"/>
                <a:cs typeface="Arial"/>
              </a:rPr>
              <a:t>p</a:t>
            </a:r>
            <a:r>
              <a:rPr sz="1600" b="1" spc="35" dirty="0">
                <a:solidFill>
                  <a:srgbClr val="333333"/>
                </a:solidFill>
                <a:latin typeface="Arial"/>
                <a:cs typeface="Arial"/>
              </a:rPr>
              <a:t>t</a:t>
            </a:r>
            <a:r>
              <a:rPr sz="1600" b="1" spc="20" dirty="0">
                <a:solidFill>
                  <a:srgbClr val="333333"/>
                </a:solidFill>
                <a:latin typeface="Arial"/>
                <a:cs typeface="Arial"/>
              </a:rPr>
              <a:t>i</a:t>
            </a:r>
            <a:r>
              <a:rPr sz="1600" b="1" spc="-5" dirty="0">
                <a:solidFill>
                  <a:srgbClr val="333333"/>
                </a:solidFill>
                <a:latin typeface="Arial"/>
                <a:cs typeface="Arial"/>
              </a:rPr>
              <a:t>v</a:t>
            </a:r>
            <a:r>
              <a:rPr sz="1600" b="1" spc="95" dirty="0">
                <a:solidFill>
                  <a:srgbClr val="333333"/>
                </a:solidFill>
                <a:latin typeface="Arial"/>
                <a:cs typeface="Arial"/>
              </a:rPr>
              <a:t>e</a:t>
            </a:r>
            <a:r>
              <a:rPr sz="1600" b="1" spc="-160" dirty="0">
                <a:solidFill>
                  <a:srgbClr val="333333"/>
                </a:solidFill>
                <a:latin typeface="Arial"/>
                <a:cs typeface="Arial"/>
              </a:rPr>
              <a:t> </a:t>
            </a:r>
            <a:r>
              <a:rPr sz="1600" b="1" spc="-85" dirty="0">
                <a:solidFill>
                  <a:srgbClr val="333333"/>
                </a:solidFill>
                <a:latin typeface="Arial"/>
                <a:cs typeface="Arial"/>
              </a:rPr>
              <a:t>s</a:t>
            </a:r>
            <a:r>
              <a:rPr sz="1600" b="1" spc="5" dirty="0">
                <a:solidFill>
                  <a:srgbClr val="333333"/>
                </a:solidFill>
                <a:latin typeface="Arial"/>
                <a:cs typeface="Arial"/>
              </a:rPr>
              <a:t>y</a:t>
            </a:r>
            <a:r>
              <a:rPr sz="1600" b="1" spc="-100" dirty="0">
                <a:solidFill>
                  <a:srgbClr val="333333"/>
                </a:solidFill>
                <a:latin typeface="Arial"/>
                <a:cs typeface="Arial"/>
              </a:rPr>
              <a:t>s</a:t>
            </a:r>
            <a:r>
              <a:rPr sz="1600" b="1" spc="45" dirty="0">
                <a:solidFill>
                  <a:srgbClr val="333333"/>
                </a:solidFill>
                <a:latin typeface="Arial"/>
                <a:cs typeface="Arial"/>
              </a:rPr>
              <a:t>t</a:t>
            </a:r>
            <a:r>
              <a:rPr sz="1600" b="1" spc="125" dirty="0">
                <a:solidFill>
                  <a:srgbClr val="333333"/>
                </a:solidFill>
                <a:latin typeface="Arial"/>
                <a:cs typeface="Arial"/>
              </a:rPr>
              <a:t>e</a:t>
            </a:r>
            <a:r>
              <a:rPr sz="1600" b="1" spc="95" dirty="0">
                <a:solidFill>
                  <a:srgbClr val="333333"/>
                </a:solidFill>
                <a:latin typeface="Arial"/>
                <a:cs typeface="Arial"/>
              </a:rPr>
              <a:t>m  </a:t>
            </a:r>
            <a:r>
              <a:rPr sz="1600" b="1" spc="-15" dirty="0">
                <a:solidFill>
                  <a:srgbClr val="333333"/>
                </a:solidFill>
                <a:latin typeface="Arial"/>
                <a:cs typeface="Arial"/>
              </a:rPr>
              <a:t>d</a:t>
            </a:r>
            <a:r>
              <a:rPr sz="1600" b="1" spc="10" dirty="0">
                <a:solidFill>
                  <a:srgbClr val="333333"/>
                </a:solidFill>
                <a:latin typeface="Arial"/>
                <a:cs typeface="Arial"/>
              </a:rPr>
              <a:t>e</a:t>
            </a:r>
            <a:r>
              <a:rPr sz="1600" b="1" spc="-5" dirty="0">
                <a:solidFill>
                  <a:srgbClr val="333333"/>
                </a:solidFill>
                <a:latin typeface="Arial"/>
                <a:cs typeface="Arial"/>
              </a:rPr>
              <a:t>v</a:t>
            </a:r>
            <a:r>
              <a:rPr sz="1600" b="1" spc="35" dirty="0">
                <a:solidFill>
                  <a:srgbClr val="333333"/>
                </a:solidFill>
                <a:latin typeface="Arial"/>
                <a:cs typeface="Arial"/>
              </a:rPr>
              <a:t>e</a:t>
            </a:r>
            <a:r>
              <a:rPr sz="1600" b="1" spc="-20" dirty="0">
                <a:solidFill>
                  <a:srgbClr val="333333"/>
                </a:solidFill>
                <a:latin typeface="Arial"/>
                <a:cs typeface="Arial"/>
              </a:rPr>
              <a:t>lo</a:t>
            </a:r>
            <a:r>
              <a:rPr sz="1600" b="1" spc="5" dirty="0">
                <a:solidFill>
                  <a:srgbClr val="333333"/>
                </a:solidFill>
                <a:latin typeface="Arial"/>
                <a:cs typeface="Arial"/>
              </a:rPr>
              <a:t>p</a:t>
            </a:r>
            <a:r>
              <a:rPr sz="1600" b="1" spc="105" dirty="0">
                <a:solidFill>
                  <a:srgbClr val="333333"/>
                </a:solidFill>
                <a:latin typeface="Arial"/>
                <a:cs typeface="Arial"/>
              </a:rPr>
              <a:t>m</a:t>
            </a:r>
            <a:r>
              <a:rPr sz="1600" b="1" spc="35" dirty="0">
                <a:solidFill>
                  <a:srgbClr val="333333"/>
                </a:solidFill>
                <a:latin typeface="Arial"/>
                <a:cs typeface="Arial"/>
              </a:rPr>
              <a:t>e</a:t>
            </a:r>
            <a:r>
              <a:rPr sz="1600" b="1" spc="15" dirty="0">
                <a:solidFill>
                  <a:srgbClr val="333333"/>
                </a:solidFill>
                <a:latin typeface="Arial"/>
                <a:cs typeface="Arial"/>
              </a:rPr>
              <a:t>n</a:t>
            </a:r>
            <a:r>
              <a:rPr sz="1600" b="1" spc="200" dirty="0">
                <a:solidFill>
                  <a:srgbClr val="333333"/>
                </a:solidFill>
                <a:latin typeface="Arial"/>
                <a:cs typeface="Arial"/>
              </a:rPr>
              <a:t>t</a:t>
            </a:r>
            <a:r>
              <a:rPr sz="1600" b="1" spc="-160" dirty="0">
                <a:solidFill>
                  <a:srgbClr val="333333"/>
                </a:solidFill>
                <a:latin typeface="Arial"/>
                <a:cs typeface="Arial"/>
              </a:rPr>
              <a:t> </a:t>
            </a:r>
            <a:r>
              <a:rPr sz="1600" b="1" spc="-30" dirty="0">
                <a:solidFill>
                  <a:srgbClr val="333333"/>
                </a:solidFill>
                <a:latin typeface="Arial"/>
                <a:cs typeface="Arial"/>
              </a:rPr>
              <a:t>(</a:t>
            </a:r>
            <a:r>
              <a:rPr sz="1600" b="1" spc="-20" dirty="0">
                <a:solidFill>
                  <a:srgbClr val="333333"/>
                </a:solidFill>
                <a:latin typeface="Arial"/>
                <a:cs typeface="Arial"/>
              </a:rPr>
              <a:t>A</a:t>
            </a:r>
            <a:r>
              <a:rPr sz="1600" b="1" spc="-195" dirty="0">
                <a:solidFill>
                  <a:srgbClr val="333333"/>
                </a:solidFill>
                <a:latin typeface="Arial"/>
                <a:cs typeface="Arial"/>
              </a:rPr>
              <a:t>S</a:t>
            </a:r>
            <a:r>
              <a:rPr sz="1600" b="1" spc="-105" dirty="0">
                <a:solidFill>
                  <a:srgbClr val="333333"/>
                </a:solidFill>
                <a:latin typeface="Arial"/>
                <a:cs typeface="Arial"/>
              </a:rPr>
              <a:t>D</a:t>
            </a:r>
            <a:r>
              <a:rPr sz="1600" b="1" spc="40" dirty="0">
                <a:solidFill>
                  <a:srgbClr val="333333"/>
                </a:solidFill>
                <a:latin typeface="Arial"/>
                <a:cs typeface="Arial"/>
              </a:rPr>
              <a:t>)</a:t>
            </a:r>
            <a:endParaRPr sz="1600">
              <a:latin typeface="Arial"/>
              <a:cs typeface="Arial"/>
            </a:endParaRPr>
          </a:p>
          <a:p>
            <a:pPr marL="12700" marR="5080">
              <a:lnSpc>
                <a:spcPct val="120700"/>
              </a:lnSpc>
              <a:spcBef>
                <a:spcPts val="320"/>
              </a:spcBef>
            </a:pPr>
            <a:r>
              <a:rPr sz="950" spc="15" dirty="0">
                <a:solidFill>
                  <a:srgbClr val="333333"/>
                </a:solidFill>
                <a:latin typeface="Roboto Lt"/>
                <a:cs typeface="Roboto Lt"/>
              </a:rPr>
              <a:t>ASD </a:t>
            </a:r>
            <a:r>
              <a:rPr sz="950" dirty="0">
                <a:solidFill>
                  <a:srgbClr val="333333"/>
                </a:solidFill>
                <a:latin typeface="Roboto Lt"/>
                <a:cs typeface="Roboto Lt"/>
              </a:rPr>
              <a:t>represents </a:t>
            </a:r>
            <a:r>
              <a:rPr sz="950" spc="5" dirty="0">
                <a:solidFill>
                  <a:srgbClr val="333333"/>
                </a:solidFill>
                <a:latin typeface="Roboto Lt"/>
                <a:cs typeface="Roboto Lt"/>
              </a:rPr>
              <a:t>the idea </a:t>
            </a:r>
            <a:r>
              <a:rPr sz="950" dirty="0">
                <a:solidFill>
                  <a:srgbClr val="333333"/>
                </a:solidFill>
                <a:latin typeface="Roboto Lt"/>
                <a:cs typeface="Roboto Lt"/>
              </a:rPr>
              <a:t>that projects </a:t>
            </a:r>
            <a:r>
              <a:rPr sz="950" spc="5" dirty="0">
                <a:solidFill>
                  <a:srgbClr val="333333"/>
                </a:solidFill>
                <a:latin typeface="Roboto Lt"/>
                <a:cs typeface="Roboto Lt"/>
              </a:rPr>
              <a:t> </a:t>
            </a:r>
            <a:r>
              <a:rPr sz="950" dirty="0">
                <a:solidFill>
                  <a:srgbClr val="333333"/>
                </a:solidFill>
                <a:latin typeface="Roboto Lt"/>
                <a:cs typeface="Roboto Lt"/>
              </a:rPr>
              <a:t>should</a:t>
            </a:r>
            <a:r>
              <a:rPr sz="950" spc="-20" dirty="0">
                <a:solidFill>
                  <a:srgbClr val="333333"/>
                </a:solidFill>
                <a:latin typeface="Roboto Lt"/>
                <a:cs typeface="Roboto Lt"/>
              </a:rPr>
              <a:t> </a:t>
            </a:r>
            <a:r>
              <a:rPr sz="950" spc="-5" dirty="0">
                <a:solidFill>
                  <a:srgbClr val="333333"/>
                </a:solidFill>
                <a:latin typeface="Roboto Lt"/>
                <a:cs typeface="Roboto Lt"/>
              </a:rPr>
              <a:t>always</a:t>
            </a:r>
            <a:r>
              <a:rPr sz="950" spc="-15" dirty="0">
                <a:solidFill>
                  <a:srgbClr val="333333"/>
                </a:solidFill>
                <a:latin typeface="Roboto Lt"/>
                <a:cs typeface="Roboto Lt"/>
              </a:rPr>
              <a:t> </a:t>
            </a:r>
            <a:r>
              <a:rPr sz="950" spc="15" dirty="0">
                <a:solidFill>
                  <a:srgbClr val="333333"/>
                </a:solidFill>
                <a:latin typeface="Roboto Lt"/>
                <a:cs typeface="Roboto Lt"/>
              </a:rPr>
              <a:t>be</a:t>
            </a:r>
            <a:r>
              <a:rPr sz="950" spc="-15" dirty="0">
                <a:solidFill>
                  <a:srgbClr val="333333"/>
                </a:solidFill>
                <a:latin typeface="Roboto Lt"/>
                <a:cs typeface="Roboto Lt"/>
              </a:rPr>
              <a:t> </a:t>
            </a:r>
            <a:r>
              <a:rPr sz="950" dirty="0">
                <a:solidFill>
                  <a:srgbClr val="333333"/>
                </a:solidFill>
                <a:latin typeface="Roboto Lt"/>
                <a:cs typeface="Roboto Lt"/>
              </a:rPr>
              <a:t>in</a:t>
            </a:r>
            <a:r>
              <a:rPr sz="950" spc="-15" dirty="0">
                <a:solidFill>
                  <a:srgbClr val="333333"/>
                </a:solidFill>
                <a:latin typeface="Roboto Lt"/>
                <a:cs typeface="Roboto Lt"/>
              </a:rPr>
              <a:t> </a:t>
            </a:r>
            <a:r>
              <a:rPr sz="950" spc="15" dirty="0">
                <a:solidFill>
                  <a:srgbClr val="333333"/>
                </a:solidFill>
                <a:latin typeface="Roboto Lt"/>
                <a:cs typeface="Roboto Lt"/>
              </a:rPr>
              <a:t>a</a:t>
            </a:r>
            <a:r>
              <a:rPr sz="950" spc="-15" dirty="0">
                <a:solidFill>
                  <a:srgbClr val="333333"/>
                </a:solidFill>
                <a:latin typeface="Roboto Lt"/>
                <a:cs typeface="Roboto Lt"/>
              </a:rPr>
              <a:t> </a:t>
            </a:r>
            <a:r>
              <a:rPr sz="950" spc="-5" dirty="0">
                <a:solidFill>
                  <a:srgbClr val="333333"/>
                </a:solidFill>
                <a:latin typeface="Roboto Lt"/>
                <a:cs typeface="Roboto Lt"/>
              </a:rPr>
              <a:t>state</a:t>
            </a:r>
            <a:r>
              <a:rPr sz="950" spc="-20" dirty="0">
                <a:solidFill>
                  <a:srgbClr val="333333"/>
                </a:solidFill>
                <a:latin typeface="Roboto Lt"/>
                <a:cs typeface="Roboto Lt"/>
              </a:rPr>
              <a:t> </a:t>
            </a:r>
            <a:r>
              <a:rPr sz="950" spc="5" dirty="0">
                <a:solidFill>
                  <a:srgbClr val="333333"/>
                </a:solidFill>
                <a:latin typeface="Roboto Lt"/>
                <a:cs typeface="Roboto Lt"/>
              </a:rPr>
              <a:t>of</a:t>
            </a:r>
            <a:r>
              <a:rPr sz="950" spc="-15" dirty="0">
                <a:solidFill>
                  <a:srgbClr val="333333"/>
                </a:solidFill>
                <a:latin typeface="Roboto Lt"/>
                <a:cs typeface="Roboto Lt"/>
              </a:rPr>
              <a:t> </a:t>
            </a:r>
            <a:r>
              <a:rPr sz="950" dirty="0">
                <a:solidFill>
                  <a:srgbClr val="333333"/>
                </a:solidFill>
                <a:latin typeface="Roboto Lt"/>
                <a:cs typeface="Roboto Lt"/>
              </a:rPr>
              <a:t>continuous </a:t>
            </a:r>
            <a:r>
              <a:rPr sz="950" spc="-215" dirty="0">
                <a:solidFill>
                  <a:srgbClr val="333333"/>
                </a:solidFill>
                <a:latin typeface="Roboto Lt"/>
                <a:cs typeface="Roboto Lt"/>
              </a:rPr>
              <a:t> </a:t>
            </a:r>
            <a:r>
              <a:rPr sz="950" dirty="0">
                <a:solidFill>
                  <a:srgbClr val="333333"/>
                </a:solidFill>
                <a:latin typeface="Roboto Lt"/>
                <a:cs typeface="Roboto Lt"/>
              </a:rPr>
              <a:t>adaptation, </a:t>
            </a:r>
            <a:r>
              <a:rPr sz="950" spc="5" dirty="0">
                <a:solidFill>
                  <a:srgbClr val="333333"/>
                </a:solidFill>
                <a:latin typeface="Roboto Lt"/>
                <a:cs typeface="Roboto Lt"/>
              </a:rPr>
              <a:t>and has </a:t>
            </a:r>
            <a:r>
              <a:rPr sz="950" spc="15" dirty="0">
                <a:solidFill>
                  <a:srgbClr val="333333"/>
                </a:solidFill>
                <a:latin typeface="Roboto Lt"/>
                <a:cs typeface="Roboto Lt"/>
              </a:rPr>
              <a:t>a </a:t>
            </a:r>
            <a:r>
              <a:rPr sz="950" dirty="0">
                <a:solidFill>
                  <a:srgbClr val="333333"/>
                </a:solidFill>
                <a:latin typeface="Roboto Lt"/>
                <a:cs typeface="Roboto Lt"/>
              </a:rPr>
              <a:t>cycle </a:t>
            </a:r>
            <a:r>
              <a:rPr sz="950" spc="5" dirty="0">
                <a:solidFill>
                  <a:srgbClr val="333333"/>
                </a:solidFill>
                <a:latin typeface="Roboto Lt"/>
                <a:cs typeface="Roboto Lt"/>
              </a:rPr>
              <a:t>of </a:t>
            </a:r>
            <a:r>
              <a:rPr sz="950" dirty="0">
                <a:solidFill>
                  <a:srgbClr val="333333"/>
                </a:solidFill>
                <a:latin typeface="Roboto Lt"/>
                <a:cs typeface="Roboto Lt"/>
              </a:rPr>
              <a:t>three </a:t>
            </a:r>
            <a:r>
              <a:rPr sz="950" spc="5" dirty="0">
                <a:solidFill>
                  <a:srgbClr val="333333"/>
                </a:solidFill>
                <a:latin typeface="Roboto Lt"/>
                <a:cs typeface="Roboto Lt"/>
              </a:rPr>
              <a:t> </a:t>
            </a:r>
            <a:r>
              <a:rPr sz="950" dirty="0">
                <a:solidFill>
                  <a:srgbClr val="333333"/>
                </a:solidFill>
                <a:latin typeface="Roboto Lt"/>
                <a:cs typeface="Roboto Lt"/>
              </a:rPr>
              <a:t>repeating series: speculate, collaborate, </a:t>
            </a:r>
            <a:r>
              <a:rPr sz="950" spc="5" dirty="0">
                <a:solidFill>
                  <a:srgbClr val="333333"/>
                </a:solidFill>
                <a:latin typeface="Roboto Lt"/>
                <a:cs typeface="Roboto Lt"/>
              </a:rPr>
              <a:t> and</a:t>
            </a:r>
            <a:r>
              <a:rPr sz="950" spc="-20" dirty="0">
                <a:solidFill>
                  <a:srgbClr val="333333"/>
                </a:solidFill>
                <a:latin typeface="Roboto Lt"/>
                <a:cs typeface="Roboto Lt"/>
              </a:rPr>
              <a:t> </a:t>
            </a:r>
            <a:r>
              <a:rPr sz="950" dirty="0">
                <a:solidFill>
                  <a:srgbClr val="333333"/>
                </a:solidFill>
                <a:latin typeface="Roboto Lt"/>
                <a:cs typeface="Roboto Lt"/>
              </a:rPr>
              <a:t>learn.</a:t>
            </a:r>
            <a:endParaRPr sz="950">
              <a:latin typeface="Roboto Lt"/>
              <a:cs typeface="Roboto Lt"/>
            </a:endParaRPr>
          </a:p>
        </p:txBody>
      </p:sp>
      <p:grpSp>
        <p:nvGrpSpPr>
          <p:cNvPr id="11" name="object 11"/>
          <p:cNvGrpSpPr/>
          <p:nvPr/>
        </p:nvGrpSpPr>
        <p:grpSpPr>
          <a:xfrm>
            <a:off x="419100" y="3431285"/>
            <a:ext cx="8305800" cy="1941195"/>
            <a:chOff x="419100" y="3431285"/>
            <a:chExt cx="8305800" cy="1941195"/>
          </a:xfrm>
        </p:grpSpPr>
        <p:sp>
          <p:nvSpPr>
            <p:cNvPr id="12" name="object 12"/>
            <p:cNvSpPr/>
            <p:nvPr/>
          </p:nvSpPr>
          <p:spPr>
            <a:xfrm>
              <a:off x="5956300" y="3431285"/>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B2C0CD"/>
            </a:solidFill>
          </p:spPr>
          <p:txBody>
            <a:bodyPr wrap="square" lIns="0" tIns="0" rIns="0" bIns="0" rtlCol="0"/>
            <a:lstStyle/>
            <a:p>
              <a:endParaRPr/>
            </a:p>
          </p:txBody>
        </p:sp>
        <p:sp>
          <p:nvSpPr>
            <p:cNvPr id="13" name="object 13"/>
            <p:cNvSpPr/>
            <p:nvPr/>
          </p:nvSpPr>
          <p:spPr>
            <a:xfrm>
              <a:off x="419100" y="3431285"/>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CCD5DD"/>
            </a:solidFill>
          </p:spPr>
          <p:txBody>
            <a:bodyPr wrap="square" lIns="0" tIns="0" rIns="0" bIns="0" rtlCol="0"/>
            <a:lstStyle/>
            <a:p>
              <a:endParaRPr/>
            </a:p>
          </p:txBody>
        </p:sp>
        <p:sp>
          <p:nvSpPr>
            <p:cNvPr id="14" name="object 14"/>
            <p:cNvSpPr/>
            <p:nvPr/>
          </p:nvSpPr>
          <p:spPr>
            <a:xfrm>
              <a:off x="3187700" y="3431285"/>
              <a:ext cx="2768600" cy="1941195"/>
            </a:xfrm>
            <a:custGeom>
              <a:avLst/>
              <a:gdLst/>
              <a:ahLst/>
              <a:cxnLst/>
              <a:rect l="l" t="t" r="r" b="b"/>
              <a:pathLst>
                <a:path w="2768600" h="1941195">
                  <a:moveTo>
                    <a:pt x="2768600" y="0"/>
                  </a:moveTo>
                  <a:lnTo>
                    <a:pt x="0" y="0"/>
                  </a:lnTo>
                  <a:lnTo>
                    <a:pt x="0" y="1940814"/>
                  </a:lnTo>
                  <a:lnTo>
                    <a:pt x="2768600" y="1940814"/>
                  </a:lnTo>
                  <a:lnTo>
                    <a:pt x="2768600" y="0"/>
                  </a:lnTo>
                  <a:close/>
                </a:path>
              </a:pathLst>
            </a:custGeom>
            <a:solidFill>
              <a:srgbClr val="BFCBD5"/>
            </a:solidFill>
          </p:spPr>
          <p:txBody>
            <a:bodyPr wrap="square" lIns="0" tIns="0" rIns="0" bIns="0" rtlCol="0"/>
            <a:lstStyle/>
            <a:p>
              <a:endParaRPr/>
            </a:p>
          </p:txBody>
        </p:sp>
      </p:grpSp>
      <p:sp>
        <p:nvSpPr>
          <p:cNvPr id="15" name="object 15"/>
          <p:cNvSpPr txBox="1"/>
          <p:nvPr/>
        </p:nvSpPr>
        <p:spPr>
          <a:xfrm>
            <a:off x="698500" y="3622418"/>
            <a:ext cx="2232025" cy="1502410"/>
          </a:xfrm>
          <a:prstGeom prst="rect">
            <a:avLst/>
          </a:prstGeom>
        </p:spPr>
        <p:txBody>
          <a:bodyPr vert="horz" wrap="square" lIns="0" tIns="22860" rIns="0" bIns="0" rtlCol="0">
            <a:spAutoFit/>
          </a:bodyPr>
          <a:lstStyle/>
          <a:p>
            <a:pPr marL="12700" marR="42545">
              <a:lnSpc>
                <a:spcPts val="1400"/>
              </a:lnSpc>
              <a:spcBef>
                <a:spcPts val="180"/>
              </a:spcBef>
            </a:pPr>
            <a:r>
              <a:rPr sz="1200" b="1" spc="-30" dirty="0">
                <a:solidFill>
                  <a:srgbClr val="333333"/>
                </a:solidFill>
                <a:latin typeface="Arial"/>
                <a:cs typeface="Arial"/>
              </a:rPr>
              <a:t>D</a:t>
            </a:r>
            <a:r>
              <a:rPr sz="1200" b="1" spc="20" dirty="0">
                <a:solidFill>
                  <a:srgbClr val="333333"/>
                </a:solidFill>
                <a:latin typeface="Arial"/>
                <a:cs typeface="Arial"/>
              </a:rPr>
              <a:t>y</a:t>
            </a:r>
            <a:r>
              <a:rPr sz="1200" b="1" spc="15" dirty="0">
                <a:solidFill>
                  <a:srgbClr val="333333"/>
                </a:solidFill>
                <a:latin typeface="Arial"/>
                <a:cs typeface="Arial"/>
              </a:rPr>
              <a:t>n</a:t>
            </a:r>
            <a:r>
              <a:rPr sz="1200" b="1" spc="35" dirty="0">
                <a:solidFill>
                  <a:srgbClr val="333333"/>
                </a:solidFill>
                <a:latin typeface="Arial"/>
                <a:cs typeface="Arial"/>
              </a:rPr>
              <a:t>a</a:t>
            </a:r>
            <a:r>
              <a:rPr sz="1200" b="1" spc="80" dirty="0">
                <a:solidFill>
                  <a:srgbClr val="333333"/>
                </a:solidFill>
                <a:latin typeface="Arial"/>
                <a:cs typeface="Arial"/>
              </a:rPr>
              <a:t>m</a:t>
            </a:r>
            <a:r>
              <a:rPr sz="1200" b="1" spc="-40" dirty="0">
                <a:solidFill>
                  <a:srgbClr val="333333"/>
                </a:solidFill>
                <a:latin typeface="Arial"/>
                <a:cs typeface="Arial"/>
              </a:rPr>
              <a:t>i</a:t>
            </a:r>
            <a:r>
              <a:rPr sz="1200" b="1" spc="20" dirty="0">
                <a:solidFill>
                  <a:srgbClr val="333333"/>
                </a:solidFill>
                <a:latin typeface="Arial"/>
                <a:cs typeface="Arial"/>
              </a:rPr>
              <a:t>c</a:t>
            </a:r>
            <a:r>
              <a:rPr sz="1200" b="1" spc="-120" dirty="0">
                <a:solidFill>
                  <a:srgbClr val="333333"/>
                </a:solidFill>
                <a:latin typeface="Arial"/>
                <a:cs typeface="Arial"/>
              </a:rPr>
              <a:t> </a:t>
            </a:r>
            <a:r>
              <a:rPr sz="1200" b="1" spc="-150" dirty="0">
                <a:solidFill>
                  <a:srgbClr val="333333"/>
                </a:solidFill>
                <a:latin typeface="Arial"/>
                <a:cs typeface="Arial"/>
              </a:rPr>
              <a:t>S</a:t>
            </a:r>
            <a:r>
              <a:rPr sz="1200" b="1" dirty="0">
                <a:solidFill>
                  <a:srgbClr val="333333"/>
                </a:solidFill>
                <a:latin typeface="Arial"/>
                <a:cs typeface="Arial"/>
              </a:rPr>
              <a:t>y</a:t>
            </a:r>
            <a:r>
              <a:rPr sz="1200" b="1" spc="-75" dirty="0">
                <a:solidFill>
                  <a:srgbClr val="333333"/>
                </a:solidFill>
                <a:latin typeface="Arial"/>
                <a:cs typeface="Arial"/>
              </a:rPr>
              <a:t>s</a:t>
            </a:r>
            <a:r>
              <a:rPr sz="1200" b="1" spc="100" dirty="0">
                <a:solidFill>
                  <a:srgbClr val="333333"/>
                </a:solidFill>
                <a:latin typeface="Arial"/>
                <a:cs typeface="Arial"/>
              </a:rPr>
              <a:t>t</a:t>
            </a:r>
            <a:r>
              <a:rPr sz="1200" b="1" spc="25" dirty="0">
                <a:solidFill>
                  <a:srgbClr val="333333"/>
                </a:solidFill>
                <a:latin typeface="Arial"/>
                <a:cs typeface="Arial"/>
              </a:rPr>
              <a:t>e</a:t>
            </a:r>
            <a:r>
              <a:rPr sz="1200" b="1" spc="-15" dirty="0">
                <a:solidFill>
                  <a:srgbClr val="333333"/>
                </a:solidFill>
                <a:latin typeface="Arial"/>
                <a:cs typeface="Arial"/>
              </a:rPr>
              <a:t>ms  </a:t>
            </a:r>
            <a:r>
              <a:rPr sz="1200" b="1" dirty="0">
                <a:solidFill>
                  <a:srgbClr val="333333"/>
                </a:solidFill>
                <a:latin typeface="Arial"/>
                <a:cs typeface="Arial"/>
              </a:rPr>
              <a:t>D</a:t>
            </a:r>
            <a:r>
              <a:rPr sz="1200" b="1" spc="-25" dirty="0">
                <a:solidFill>
                  <a:srgbClr val="333333"/>
                </a:solidFill>
                <a:latin typeface="Arial"/>
                <a:cs typeface="Arial"/>
              </a:rPr>
              <a:t>e</a:t>
            </a:r>
            <a:r>
              <a:rPr sz="1200" b="1" dirty="0">
                <a:solidFill>
                  <a:srgbClr val="333333"/>
                </a:solidFill>
                <a:latin typeface="Arial"/>
                <a:cs typeface="Arial"/>
              </a:rPr>
              <a:t>v</a:t>
            </a:r>
            <a:r>
              <a:rPr sz="1200" b="1" spc="25" dirty="0">
                <a:solidFill>
                  <a:srgbClr val="333333"/>
                </a:solidFill>
                <a:latin typeface="Arial"/>
                <a:cs typeface="Arial"/>
              </a:rPr>
              <a:t>e</a:t>
            </a:r>
            <a:r>
              <a:rPr sz="1200" b="1" dirty="0">
                <a:solidFill>
                  <a:srgbClr val="333333"/>
                </a:solidFill>
                <a:latin typeface="Arial"/>
                <a:cs typeface="Arial"/>
              </a:rPr>
              <a:t>l</a:t>
            </a:r>
            <a:r>
              <a:rPr sz="1200" b="1" spc="-20" dirty="0">
                <a:solidFill>
                  <a:srgbClr val="333333"/>
                </a:solidFill>
                <a:latin typeface="Arial"/>
                <a:cs typeface="Arial"/>
              </a:rPr>
              <a:t>o</a:t>
            </a:r>
            <a:r>
              <a:rPr sz="1200" b="1" spc="-10" dirty="0">
                <a:solidFill>
                  <a:srgbClr val="333333"/>
                </a:solidFill>
                <a:latin typeface="Arial"/>
                <a:cs typeface="Arial"/>
              </a:rPr>
              <a:t>p</a:t>
            </a:r>
            <a:r>
              <a:rPr sz="1200" b="1" spc="75" dirty="0">
                <a:solidFill>
                  <a:srgbClr val="333333"/>
                </a:solidFill>
                <a:latin typeface="Arial"/>
                <a:cs typeface="Arial"/>
              </a:rPr>
              <a:t>m</a:t>
            </a:r>
            <a:r>
              <a:rPr sz="1200" b="1" spc="30" dirty="0">
                <a:solidFill>
                  <a:srgbClr val="333333"/>
                </a:solidFill>
                <a:latin typeface="Arial"/>
                <a:cs typeface="Arial"/>
              </a:rPr>
              <a:t>e</a:t>
            </a:r>
            <a:r>
              <a:rPr sz="1200" b="1" spc="15" dirty="0">
                <a:solidFill>
                  <a:srgbClr val="333333"/>
                </a:solidFill>
                <a:latin typeface="Arial"/>
                <a:cs typeface="Arial"/>
              </a:rPr>
              <a:t>n</a:t>
            </a:r>
            <a:r>
              <a:rPr sz="1200" b="1" spc="150" dirty="0">
                <a:solidFill>
                  <a:srgbClr val="333333"/>
                </a:solidFill>
                <a:latin typeface="Arial"/>
                <a:cs typeface="Arial"/>
              </a:rPr>
              <a:t>t</a:t>
            </a:r>
            <a:r>
              <a:rPr sz="1200" b="1" spc="-120" dirty="0">
                <a:solidFill>
                  <a:srgbClr val="333333"/>
                </a:solidFill>
                <a:latin typeface="Arial"/>
                <a:cs typeface="Arial"/>
              </a:rPr>
              <a:t> </a:t>
            </a:r>
            <a:r>
              <a:rPr sz="1200" b="1" spc="114" dirty="0">
                <a:solidFill>
                  <a:srgbClr val="333333"/>
                </a:solidFill>
                <a:latin typeface="Arial"/>
                <a:cs typeface="Arial"/>
              </a:rPr>
              <a:t>M</a:t>
            </a:r>
            <a:r>
              <a:rPr sz="1200" b="1" spc="25" dirty="0">
                <a:solidFill>
                  <a:srgbClr val="333333"/>
                </a:solidFill>
                <a:latin typeface="Arial"/>
                <a:cs typeface="Arial"/>
              </a:rPr>
              <a:t>e</a:t>
            </a:r>
            <a:r>
              <a:rPr sz="1200" b="1" spc="114" dirty="0">
                <a:solidFill>
                  <a:srgbClr val="333333"/>
                </a:solidFill>
                <a:latin typeface="Arial"/>
                <a:cs typeface="Arial"/>
              </a:rPr>
              <a:t>t</a:t>
            </a:r>
            <a:r>
              <a:rPr sz="1200" b="1" spc="20" dirty="0">
                <a:solidFill>
                  <a:srgbClr val="333333"/>
                </a:solidFill>
                <a:latin typeface="Arial"/>
                <a:cs typeface="Arial"/>
              </a:rPr>
              <a:t>h</a:t>
            </a:r>
            <a:r>
              <a:rPr sz="1200" b="1" spc="-20" dirty="0">
                <a:solidFill>
                  <a:srgbClr val="333333"/>
                </a:solidFill>
                <a:latin typeface="Arial"/>
                <a:cs typeface="Arial"/>
              </a:rPr>
              <a:t>o</a:t>
            </a:r>
            <a:r>
              <a:rPr sz="1200" b="1" spc="35" dirty="0">
                <a:solidFill>
                  <a:srgbClr val="333333"/>
                </a:solidFill>
                <a:latin typeface="Arial"/>
                <a:cs typeface="Arial"/>
              </a:rPr>
              <a:t>d</a:t>
            </a:r>
            <a:r>
              <a:rPr sz="1200" b="1" spc="-120" dirty="0">
                <a:solidFill>
                  <a:srgbClr val="333333"/>
                </a:solidFill>
                <a:latin typeface="Arial"/>
                <a:cs typeface="Arial"/>
              </a:rPr>
              <a:t> </a:t>
            </a:r>
            <a:r>
              <a:rPr sz="1200" b="1" spc="-30" dirty="0">
                <a:solidFill>
                  <a:srgbClr val="333333"/>
                </a:solidFill>
                <a:latin typeface="Arial"/>
                <a:cs typeface="Arial"/>
              </a:rPr>
              <a:t>(</a:t>
            </a:r>
            <a:r>
              <a:rPr sz="1200" b="1" spc="-40" dirty="0">
                <a:solidFill>
                  <a:srgbClr val="333333"/>
                </a:solidFill>
                <a:latin typeface="Arial"/>
                <a:cs typeface="Arial"/>
              </a:rPr>
              <a:t>D</a:t>
            </a:r>
            <a:r>
              <a:rPr sz="1200" b="1" spc="-145" dirty="0">
                <a:solidFill>
                  <a:srgbClr val="333333"/>
                </a:solidFill>
                <a:latin typeface="Arial"/>
                <a:cs typeface="Arial"/>
              </a:rPr>
              <a:t>S</a:t>
            </a:r>
            <a:r>
              <a:rPr sz="1200" b="1" spc="30" dirty="0">
                <a:solidFill>
                  <a:srgbClr val="333333"/>
                </a:solidFill>
                <a:latin typeface="Arial"/>
                <a:cs typeface="Arial"/>
              </a:rPr>
              <a:t>D</a:t>
            </a:r>
            <a:r>
              <a:rPr sz="1200" b="1" spc="35" dirty="0">
                <a:solidFill>
                  <a:srgbClr val="333333"/>
                </a:solidFill>
                <a:latin typeface="Arial"/>
                <a:cs typeface="Arial"/>
              </a:rPr>
              <a:t>M</a:t>
            </a:r>
            <a:r>
              <a:rPr sz="1200" b="1" spc="30" dirty="0">
                <a:solidFill>
                  <a:srgbClr val="333333"/>
                </a:solidFill>
                <a:latin typeface="Arial"/>
                <a:cs typeface="Arial"/>
              </a:rPr>
              <a:t>)</a:t>
            </a:r>
            <a:endParaRPr sz="1200">
              <a:latin typeface="Arial"/>
              <a:cs typeface="Arial"/>
            </a:endParaRPr>
          </a:p>
          <a:p>
            <a:pPr marL="12700" marR="5080">
              <a:lnSpc>
                <a:spcPct val="111100"/>
              </a:lnSpc>
              <a:spcBef>
                <a:spcPts val="350"/>
              </a:spcBef>
            </a:pPr>
            <a:r>
              <a:rPr sz="900" spc="-10" dirty="0">
                <a:solidFill>
                  <a:srgbClr val="333333"/>
                </a:solidFill>
                <a:latin typeface="Roboto Lt"/>
                <a:cs typeface="Roboto Lt"/>
              </a:rPr>
              <a:t>DSDM addresses the </a:t>
            </a:r>
            <a:r>
              <a:rPr sz="900" spc="-5" dirty="0">
                <a:solidFill>
                  <a:srgbClr val="333333"/>
                </a:solidFill>
                <a:latin typeface="Roboto Lt"/>
                <a:cs typeface="Roboto Lt"/>
              </a:rPr>
              <a:t>common </a:t>
            </a:r>
            <a:r>
              <a:rPr sz="900" spc="-10" dirty="0">
                <a:solidFill>
                  <a:srgbClr val="333333"/>
                </a:solidFill>
                <a:latin typeface="Roboto Lt"/>
                <a:cs typeface="Roboto Lt"/>
              </a:rPr>
              <a:t>failures </a:t>
            </a:r>
            <a:r>
              <a:rPr sz="900" spc="-5" dirty="0">
                <a:solidFill>
                  <a:srgbClr val="333333"/>
                </a:solidFill>
                <a:latin typeface="Roboto Lt"/>
                <a:cs typeface="Roboto Lt"/>
              </a:rPr>
              <a:t>of IT </a:t>
            </a:r>
            <a:r>
              <a:rPr sz="900" dirty="0">
                <a:solidFill>
                  <a:srgbClr val="333333"/>
                </a:solidFill>
                <a:latin typeface="Roboto Lt"/>
                <a:cs typeface="Roboto Lt"/>
              </a:rPr>
              <a:t> </a:t>
            </a:r>
            <a:r>
              <a:rPr sz="900" spc="-10" dirty="0">
                <a:solidFill>
                  <a:srgbClr val="333333"/>
                </a:solidFill>
                <a:latin typeface="Roboto Lt"/>
                <a:cs typeface="Roboto Lt"/>
              </a:rPr>
              <a:t>projects. </a:t>
            </a:r>
            <a:r>
              <a:rPr sz="900" spc="-5" dirty="0">
                <a:solidFill>
                  <a:srgbClr val="333333"/>
                </a:solidFill>
                <a:latin typeface="Roboto Lt"/>
                <a:cs typeface="Roboto Lt"/>
              </a:rPr>
              <a:t>The </a:t>
            </a:r>
            <a:r>
              <a:rPr sz="900" spc="-10" dirty="0">
                <a:solidFill>
                  <a:srgbClr val="333333"/>
                </a:solidFill>
                <a:latin typeface="Roboto Lt"/>
                <a:cs typeface="Roboto Lt"/>
              </a:rPr>
              <a:t>eight principles </a:t>
            </a:r>
            <a:r>
              <a:rPr sz="900" spc="-5" dirty="0">
                <a:solidFill>
                  <a:srgbClr val="333333"/>
                </a:solidFill>
                <a:latin typeface="Roboto Lt"/>
                <a:cs typeface="Roboto Lt"/>
              </a:rPr>
              <a:t>of </a:t>
            </a:r>
            <a:r>
              <a:rPr sz="900" spc="-10" dirty="0">
                <a:solidFill>
                  <a:srgbClr val="333333"/>
                </a:solidFill>
                <a:latin typeface="Roboto Lt"/>
                <a:cs typeface="Roboto Lt"/>
              </a:rPr>
              <a:t>DSDM are: </a:t>
            </a:r>
            <a:r>
              <a:rPr sz="900" spc="-5" dirty="0">
                <a:solidFill>
                  <a:srgbClr val="333333"/>
                </a:solidFill>
                <a:latin typeface="Roboto Lt"/>
                <a:cs typeface="Roboto Lt"/>
              </a:rPr>
              <a:t> </a:t>
            </a:r>
            <a:r>
              <a:rPr sz="900" spc="-10" dirty="0">
                <a:solidFill>
                  <a:srgbClr val="333333"/>
                </a:solidFill>
                <a:latin typeface="Roboto Lt"/>
                <a:cs typeface="Roboto Lt"/>
              </a:rPr>
              <a:t>focus </a:t>
            </a:r>
            <a:r>
              <a:rPr sz="900" spc="-5" dirty="0">
                <a:solidFill>
                  <a:srgbClr val="333333"/>
                </a:solidFill>
                <a:latin typeface="Roboto Lt"/>
                <a:cs typeface="Roboto Lt"/>
              </a:rPr>
              <a:t>on </a:t>
            </a:r>
            <a:r>
              <a:rPr sz="900" spc="-10" dirty="0">
                <a:solidFill>
                  <a:srgbClr val="333333"/>
                </a:solidFill>
                <a:latin typeface="Roboto Lt"/>
                <a:cs typeface="Roboto Lt"/>
              </a:rPr>
              <a:t>the business </a:t>
            </a:r>
            <a:r>
              <a:rPr sz="900" spc="-5" dirty="0">
                <a:solidFill>
                  <a:srgbClr val="333333"/>
                </a:solidFill>
                <a:latin typeface="Roboto Lt"/>
                <a:cs typeface="Roboto Lt"/>
              </a:rPr>
              <a:t>need, </a:t>
            </a:r>
            <a:r>
              <a:rPr sz="900" spc="-10" dirty="0">
                <a:solidFill>
                  <a:srgbClr val="333333"/>
                </a:solidFill>
                <a:latin typeface="Roboto Lt"/>
                <a:cs typeface="Roboto Lt"/>
              </a:rPr>
              <a:t>deliver </a:t>
            </a:r>
            <a:r>
              <a:rPr sz="900" spc="-5" dirty="0">
                <a:solidFill>
                  <a:srgbClr val="333333"/>
                </a:solidFill>
                <a:latin typeface="Roboto Lt"/>
                <a:cs typeface="Roboto Lt"/>
              </a:rPr>
              <a:t>on </a:t>
            </a:r>
            <a:r>
              <a:rPr sz="900" spc="-10" dirty="0">
                <a:solidFill>
                  <a:srgbClr val="333333"/>
                </a:solidFill>
                <a:latin typeface="Roboto Lt"/>
                <a:cs typeface="Roboto Lt"/>
              </a:rPr>
              <a:t>time, </a:t>
            </a:r>
            <a:r>
              <a:rPr sz="900" spc="-5" dirty="0">
                <a:solidFill>
                  <a:srgbClr val="333333"/>
                </a:solidFill>
                <a:latin typeface="Roboto Lt"/>
                <a:cs typeface="Roboto Lt"/>
              </a:rPr>
              <a:t> </a:t>
            </a:r>
            <a:r>
              <a:rPr sz="900" spc="-10" dirty="0">
                <a:solidFill>
                  <a:srgbClr val="333333"/>
                </a:solidFill>
                <a:latin typeface="Roboto Lt"/>
                <a:cs typeface="Roboto Lt"/>
              </a:rPr>
              <a:t>collaborate, never compromise </a:t>
            </a:r>
            <a:r>
              <a:rPr sz="900" spc="-15" dirty="0">
                <a:solidFill>
                  <a:srgbClr val="333333"/>
                </a:solidFill>
                <a:latin typeface="Roboto Lt"/>
                <a:cs typeface="Roboto Lt"/>
              </a:rPr>
              <a:t>quality, </a:t>
            </a:r>
            <a:r>
              <a:rPr sz="900" spc="-10" dirty="0">
                <a:solidFill>
                  <a:srgbClr val="333333"/>
                </a:solidFill>
                <a:latin typeface="Roboto Lt"/>
                <a:cs typeface="Roboto Lt"/>
              </a:rPr>
              <a:t>build </a:t>
            </a:r>
            <a:r>
              <a:rPr sz="900" spc="-5" dirty="0">
                <a:solidFill>
                  <a:srgbClr val="333333"/>
                </a:solidFill>
                <a:latin typeface="Roboto Lt"/>
                <a:cs typeface="Roboto Lt"/>
              </a:rPr>
              <a:t> </a:t>
            </a:r>
            <a:r>
              <a:rPr sz="900" spc="-10" dirty="0">
                <a:solidFill>
                  <a:srgbClr val="333333"/>
                </a:solidFill>
                <a:latin typeface="Roboto Lt"/>
                <a:cs typeface="Roboto Lt"/>
              </a:rPr>
              <a:t>incrementally</a:t>
            </a:r>
            <a:r>
              <a:rPr sz="900" spc="-30" dirty="0">
                <a:solidFill>
                  <a:srgbClr val="333333"/>
                </a:solidFill>
                <a:latin typeface="Roboto Lt"/>
                <a:cs typeface="Roboto Lt"/>
              </a:rPr>
              <a:t> </a:t>
            </a:r>
            <a:r>
              <a:rPr sz="900" spc="-5" dirty="0">
                <a:solidFill>
                  <a:srgbClr val="333333"/>
                </a:solidFill>
                <a:latin typeface="Roboto Lt"/>
                <a:cs typeface="Roboto Lt"/>
              </a:rPr>
              <a:t>from</a:t>
            </a:r>
            <a:r>
              <a:rPr sz="900" spc="-30" dirty="0">
                <a:solidFill>
                  <a:srgbClr val="333333"/>
                </a:solidFill>
                <a:latin typeface="Roboto Lt"/>
                <a:cs typeface="Roboto Lt"/>
              </a:rPr>
              <a:t> </a:t>
            </a:r>
            <a:r>
              <a:rPr sz="900" spc="-5" dirty="0">
                <a:solidFill>
                  <a:srgbClr val="333333"/>
                </a:solidFill>
                <a:latin typeface="Roboto Lt"/>
                <a:cs typeface="Roboto Lt"/>
              </a:rPr>
              <a:t>firm</a:t>
            </a:r>
            <a:r>
              <a:rPr sz="900" spc="-30" dirty="0">
                <a:solidFill>
                  <a:srgbClr val="333333"/>
                </a:solidFill>
                <a:latin typeface="Roboto Lt"/>
                <a:cs typeface="Roboto Lt"/>
              </a:rPr>
              <a:t> </a:t>
            </a:r>
            <a:r>
              <a:rPr sz="900" spc="-10" dirty="0">
                <a:solidFill>
                  <a:srgbClr val="333333"/>
                </a:solidFill>
                <a:latin typeface="Roboto Lt"/>
                <a:cs typeface="Roboto Lt"/>
              </a:rPr>
              <a:t>foundations,</a:t>
            </a:r>
            <a:r>
              <a:rPr sz="900" spc="-30" dirty="0">
                <a:solidFill>
                  <a:srgbClr val="333333"/>
                </a:solidFill>
                <a:latin typeface="Roboto Lt"/>
                <a:cs typeface="Roboto Lt"/>
              </a:rPr>
              <a:t> </a:t>
            </a:r>
            <a:r>
              <a:rPr sz="900" spc="-10" dirty="0">
                <a:solidFill>
                  <a:srgbClr val="333333"/>
                </a:solidFill>
                <a:latin typeface="Roboto Lt"/>
                <a:cs typeface="Roboto Lt"/>
              </a:rPr>
              <a:t>develop </a:t>
            </a:r>
            <a:r>
              <a:rPr sz="900" spc="-204" dirty="0">
                <a:solidFill>
                  <a:srgbClr val="333333"/>
                </a:solidFill>
                <a:latin typeface="Roboto Lt"/>
                <a:cs typeface="Roboto Lt"/>
              </a:rPr>
              <a:t> </a:t>
            </a:r>
            <a:r>
              <a:rPr sz="900" spc="-15" dirty="0">
                <a:solidFill>
                  <a:srgbClr val="333333"/>
                </a:solidFill>
                <a:latin typeface="Roboto Lt"/>
                <a:cs typeface="Roboto Lt"/>
              </a:rPr>
              <a:t>iteratively, </a:t>
            </a:r>
            <a:r>
              <a:rPr sz="900" spc="-10" dirty="0">
                <a:solidFill>
                  <a:srgbClr val="333333"/>
                </a:solidFill>
                <a:latin typeface="Roboto Lt"/>
                <a:cs typeface="Roboto Lt"/>
              </a:rPr>
              <a:t>communicate </a:t>
            </a:r>
            <a:r>
              <a:rPr sz="900" spc="-15" dirty="0">
                <a:solidFill>
                  <a:srgbClr val="333333"/>
                </a:solidFill>
                <a:latin typeface="Roboto Lt"/>
                <a:cs typeface="Roboto Lt"/>
              </a:rPr>
              <a:t>continuously </a:t>
            </a:r>
            <a:r>
              <a:rPr sz="900" spc="-10" dirty="0">
                <a:solidFill>
                  <a:srgbClr val="333333"/>
                </a:solidFill>
                <a:latin typeface="Roboto Lt"/>
                <a:cs typeface="Roboto Lt"/>
              </a:rPr>
              <a:t>and </a:t>
            </a:r>
            <a:r>
              <a:rPr sz="900" spc="-5" dirty="0">
                <a:solidFill>
                  <a:srgbClr val="333333"/>
                </a:solidFill>
                <a:latin typeface="Roboto Lt"/>
                <a:cs typeface="Roboto Lt"/>
              </a:rPr>
              <a:t> </a:t>
            </a:r>
            <a:r>
              <a:rPr sz="900" spc="-15" dirty="0">
                <a:solidFill>
                  <a:srgbClr val="333333"/>
                </a:solidFill>
                <a:latin typeface="Roboto Lt"/>
                <a:cs typeface="Roboto Lt"/>
              </a:rPr>
              <a:t>clearly,</a:t>
            </a:r>
            <a:r>
              <a:rPr sz="900" spc="-25" dirty="0">
                <a:solidFill>
                  <a:srgbClr val="333333"/>
                </a:solidFill>
                <a:latin typeface="Roboto Lt"/>
                <a:cs typeface="Roboto Lt"/>
              </a:rPr>
              <a:t> </a:t>
            </a:r>
            <a:r>
              <a:rPr sz="900" spc="-10" dirty="0">
                <a:solidFill>
                  <a:srgbClr val="333333"/>
                </a:solidFill>
                <a:latin typeface="Roboto Lt"/>
                <a:cs typeface="Roboto Lt"/>
              </a:rPr>
              <a:t>and</a:t>
            </a:r>
            <a:r>
              <a:rPr sz="900" spc="-20" dirty="0">
                <a:solidFill>
                  <a:srgbClr val="333333"/>
                </a:solidFill>
                <a:latin typeface="Roboto Lt"/>
                <a:cs typeface="Roboto Lt"/>
              </a:rPr>
              <a:t> </a:t>
            </a:r>
            <a:r>
              <a:rPr sz="900" spc="-10" dirty="0">
                <a:solidFill>
                  <a:srgbClr val="333333"/>
                </a:solidFill>
                <a:latin typeface="Roboto Lt"/>
                <a:cs typeface="Roboto Lt"/>
              </a:rPr>
              <a:t>demonstrate</a:t>
            </a:r>
            <a:r>
              <a:rPr sz="900" spc="-20" dirty="0">
                <a:solidFill>
                  <a:srgbClr val="333333"/>
                </a:solidFill>
                <a:latin typeface="Roboto Lt"/>
                <a:cs typeface="Roboto Lt"/>
              </a:rPr>
              <a:t> </a:t>
            </a:r>
            <a:r>
              <a:rPr sz="900" spc="-10" dirty="0">
                <a:solidFill>
                  <a:srgbClr val="333333"/>
                </a:solidFill>
                <a:latin typeface="Roboto Lt"/>
                <a:cs typeface="Roboto Lt"/>
              </a:rPr>
              <a:t>control.</a:t>
            </a:r>
            <a:endParaRPr sz="900">
              <a:latin typeface="Roboto Lt"/>
              <a:cs typeface="Roboto Lt"/>
            </a:endParaRPr>
          </a:p>
        </p:txBody>
      </p:sp>
      <p:sp>
        <p:nvSpPr>
          <p:cNvPr id="18" name="object 18"/>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39</a:t>
            </a:r>
            <a:endParaRPr spc="35" dirty="0"/>
          </a:p>
        </p:txBody>
      </p:sp>
      <p:sp>
        <p:nvSpPr>
          <p:cNvPr id="19" name="object 19"/>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a:t>Agile Methodology</a:t>
            </a:r>
            <a:endParaRPr dirty="0"/>
          </a:p>
        </p:txBody>
      </p:sp>
      <p:sp>
        <p:nvSpPr>
          <p:cNvPr id="16" name="object 16"/>
          <p:cNvSpPr txBox="1"/>
          <p:nvPr/>
        </p:nvSpPr>
        <p:spPr>
          <a:xfrm>
            <a:off x="3448050" y="3610488"/>
            <a:ext cx="2245360" cy="1388110"/>
          </a:xfrm>
          <a:prstGeom prst="rect">
            <a:avLst/>
          </a:prstGeom>
        </p:spPr>
        <p:txBody>
          <a:bodyPr vert="horz" wrap="square" lIns="0" tIns="53340" rIns="0" bIns="0" rtlCol="0">
            <a:spAutoFit/>
          </a:bodyPr>
          <a:lstStyle/>
          <a:p>
            <a:pPr marL="12700" marR="371475">
              <a:lnSpc>
                <a:spcPts val="1600"/>
              </a:lnSpc>
              <a:spcBef>
                <a:spcPts val="420"/>
              </a:spcBef>
            </a:pPr>
            <a:r>
              <a:rPr sz="1600" b="1" spc="-120" dirty="0">
                <a:solidFill>
                  <a:srgbClr val="333333"/>
                </a:solidFill>
                <a:latin typeface="Arial"/>
                <a:cs typeface="Arial"/>
              </a:rPr>
              <a:t>L</a:t>
            </a:r>
            <a:r>
              <a:rPr sz="1600" b="1" spc="30" dirty="0">
                <a:solidFill>
                  <a:srgbClr val="333333"/>
                </a:solidFill>
                <a:latin typeface="Arial"/>
                <a:cs typeface="Arial"/>
              </a:rPr>
              <a:t>ea</a:t>
            </a:r>
            <a:r>
              <a:rPr sz="1600" b="1" spc="105" dirty="0">
                <a:solidFill>
                  <a:srgbClr val="333333"/>
                </a:solidFill>
                <a:latin typeface="Arial"/>
                <a:cs typeface="Arial"/>
              </a:rPr>
              <a:t>n</a:t>
            </a:r>
            <a:r>
              <a:rPr sz="1600" b="1" spc="-160" dirty="0">
                <a:solidFill>
                  <a:srgbClr val="333333"/>
                </a:solidFill>
                <a:latin typeface="Arial"/>
                <a:cs typeface="Arial"/>
              </a:rPr>
              <a:t> </a:t>
            </a:r>
            <a:r>
              <a:rPr sz="1600" b="1" spc="-200" dirty="0">
                <a:solidFill>
                  <a:srgbClr val="333333"/>
                </a:solidFill>
                <a:latin typeface="Arial"/>
                <a:cs typeface="Arial"/>
              </a:rPr>
              <a:t>S</a:t>
            </a:r>
            <a:r>
              <a:rPr sz="1600" b="1" spc="-30" dirty="0">
                <a:solidFill>
                  <a:srgbClr val="333333"/>
                </a:solidFill>
                <a:latin typeface="Arial"/>
                <a:cs typeface="Arial"/>
              </a:rPr>
              <a:t>o</a:t>
            </a:r>
            <a:r>
              <a:rPr sz="1600" b="1" spc="95" dirty="0">
                <a:solidFill>
                  <a:srgbClr val="333333"/>
                </a:solidFill>
                <a:latin typeface="Arial"/>
                <a:cs typeface="Arial"/>
              </a:rPr>
              <a:t>f</a:t>
            </a:r>
            <a:r>
              <a:rPr sz="1600" b="1" spc="155" dirty="0">
                <a:solidFill>
                  <a:srgbClr val="333333"/>
                </a:solidFill>
                <a:latin typeface="Arial"/>
                <a:cs typeface="Arial"/>
              </a:rPr>
              <a:t>t</a:t>
            </a:r>
            <a:r>
              <a:rPr sz="1600" b="1" spc="120" dirty="0">
                <a:solidFill>
                  <a:srgbClr val="333333"/>
                </a:solidFill>
                <a:latin typeface="Arial"/>
                <a:cs typeface="Arial"/>
              </a:rPr>
              <a:t>w</a:t>
            </a:r>
            <a:r>
              <a:rPr sz="1600" b="1" spc="25" dirty="0">
                <a:solidFill>
                  <a:srgbClr val="333333"/>
                </a:solidFill>
                <a:latin typeface="Arial"/>
                <a:cs typeface="Arial"/>
              </a:rPr>
              <a:t>are  </a:t>
            </a:r>
            <a:r>
              <a:rPr sz="1600" b="1" spc="-55" dirty="0">
                <a:solidFill>
                  <a:srgbClr val="333333"/>
                </a:solidFill>
                <a:latin typeface="Arial"/>
                <a:cs typeface="Arial"/>
              </a:rPr>
              <a:t>D</a:t>
            </a:r>
            <a:r>
              <a:rPr sz="1600" b="1" spc="10" dirty="0">
                <a:solidFill>
                  <a:srgbClr val="333333"/>
                </a:solidFill>
                <a:latin typeface="Arial"/>
                <a:cs typeface="Arial"/>
              </a:rPr>
              <a:t>e</a:t>
            </a:r>
            <a:r>
              <a:rPr sz="1600" b="1" spc="-5" dirty="0">
                <a:solidFill>
                  <a:srgbClr val="333333"/>
                </a:solidFill>
                <a:latin typeface="Arial"/>
                <a:cs typeface="Arial"/>
              </a:rPr>
              <a:t>v</a:t>
            </a:r>
            <a:r>
              <a:rPr sz="1600" b="1" spc="35" dirty="0">
                <a:solidFill>
                  <a:srgbClr val="333333"/>
                </a:solidFill>
                <a:latin typeface="Arial"/>
                <a:cs typeface="Arial"/>
              </a:rPr>
              <a:t>e</a:t>
            </a:r>
            <a:r>
              <a:rPr sz="1600" b="1" spc="-20" dirty="0">
                <a:solidFill>
                  <a:srgbClr val="333333"/>
                </a:solidFill>
                <a:latin typeface="Arial"/>
                <a:cs typeface="Arial"/>
              </a:rPr>
              <a:t>lo</a:t>
            </a:r>
            <a:r>
              <a:rPr sz="1600" b="1" spc="5" dirty="0">
                <a:solidFill>
                  <a:srgbClr val="333333"/>
                </a:solidFill>
                <a:latin typeface="Arial"/>
                <a:cs typeface="Arial"/>
              </a:rPr>
              <a:t>p</a:t>
            </a:r>
            <a:r>
              <a:rPr sz="1600" b="1" spc="105" dirty="0">
                <a:solidFill>
                  <a:srgbClr val="333333"/>
                </a:solidFill>
                <a:latin typeface="Arial"/>
                <a:cs typeface="Arial"/>
              </a:rPr>
              <a:t>m</a:t>
            </a:r>
            <a:r>
              <a:rPr sz="1600" b="1" spc="35" dirty="0">
                <a:solidFill>
                  <a:srgbClr val="333333"/>
                </a:solidFill>
                <a:latin typeface="Arial"/>
                <a:cs typeface="Arial"/>
              </a:rPr>
              <a:t>e</a:t>
            </a:r>
            <a:r>
              <a:rPr sz="1600" b="1" spc="15" dirty="0">
                <a:solidFill>
                  <a:srgbClr val="333333"/>
                </a:solidFill>
                <a:latin typeface="Arial"/>
                <a:cs typeface="Arial"/>
              </a:rPr>
              <a:t>n</a:t>
            </a:r>
            <a:r>
              <a:rPr sz="1600" b="1" spc="200" dirty="0">
                <a:solidFill>
                  <a:srgbClr val="333333"/>
                </a:solidFill>
                <a:latin typeface="Arial"/>
                <a:cs typeface="Arial"/>
              </a:rPr>
              <a:t>t</a:t>
            </a:r>
            <a:r>
              <a:rPr sz="1600" b="1" spc="-160" dirty="0">
                <a:solidFill>
                  <a:srgbClr val="333333"/>
                </a:solidFill>
                <a:latin typeface="Arial"/>
                <a:cs typeface="Arial"/>
              </a:rPr>
              <a:t> </a:t>
            </a:r>
            <a:r>
              <a:rPr sz="1600" b="1" spc="-40" dirty="0">
                <a:solidFill>
                  <a:srgbClr val="333333"/>
                </a:solidFill>
                <a:latin typeface="Arial"/>
                <a:cs typeface="Arial"/>
              </a:rPr>
              <a:t>(</a:t>
            </a:r>
            <a:r>
              <a:rPr sz="1600" b="1" spc="-100" dirty="0">
                <a:solidFill>
                  <a:srgbClr val="333333"/>
                </a:solidFill>
                <a:latin typeface="Arial"/>
                <a:cs typeface="Arial"/>
              </a:rPr>
              <a:t>L</a:t>
            </a:r>
            <a:r>
              <a:rPr sz="1600" b="1" spc="-195" dirty="0">
                <a:solidFill>
                  <a:srgbClr val="333333"/>
                </a:solidFill>
                <a:latin typeface="Arial"/>
                <a:cs typeface="Arial"/>
              </a:rPr>
              <a:t>S</a:t>
            </a:r>
            <a:r>
              <a:rPr sz="1600" b="1" spc="-105" dirty="0">
                <a:solidFill>
                  <a:srgbClr val="333333"/>
                </a:solidFill>
                <a:latin typeface="Arial"/>
                <a:cs typeface="Arial"/>
              </a:rPr>
              <a:t>D</a:t>
            </a:r>
            <a:r>
              <a:rPr sz="1600" b="1" spc="40" dirty="0">
                <a:solidFill>
                  <a:srgbClr val="333333"/>
                </a:solidFill>
                <a:latin typeface="Arial"/>
                <a:cs typeface="Arial"/>
              </a:rPr>
              <a:t>)</a:t>
            </a:r>
            <a:endParaRPr sz="1600">
              <a:latin typeface="Arial"/>
              <a:cs typeface="Arial"/>
            </a:endParaRPr>
          </a:p>
          <a:p>
            <a:pPr marL="12700" marR="5080">
              <a:lnSpc>
                <a:spcPct val="120700"/>
              </a:lnSpc>
              <a:spcBef>
                <a:spcPts val="320"/>
              </a:spcBef>
            </a:pPr>
            <a:r>
              <a:rPr sz="950" dirty="0">
                <a:solidFill>
                  <a:srgbClr val="333333"/>
                </a:solidFill>
                <a:latin typeface="Roboto Lt"/>
                <a:cs typeface="Roboto Lt"/>
              </a:rPr>
              <a:t>LSD </a:t>
            </a:r>
            <a:r>
              <a:rPr sz="950" spc="5" dirty="0">
                <a:solidFill>
                  <a:srgbClr val="333333"/>
                </a:solidFill>
                <a:latin typeface="Roboto Lt"/>
                <a:cs typeface="Roboto Lt"/>
              </a:rPr>
              <a:t>can </a:t>
            </a:r>
            <a:r>
              <a:rPr sz="950" spc="15" dirty="0">
                <a:solidFill>
                  <a:srgbClr val="333333"/>
                </a:solidFill>
                <a:latin typeface="Roboto Lt"/>
                <a:cs typeface="Roboto Lt"/>
              </a:rPr>
              <a:t>be </a:t>
            </a:r>
            <a:r>
              <a:rPr sz="950" dirty="0">
                <a:solidFill>
                  <a:srgbClr val="333333"/>
                </a:solidFill>
                <a:latin typeface="Roboto Lt"/>
                <a:cs typeface="Roboto Lt"/>
              </a:rPr>
              <a:t>characterized </a:t>
            </a:r>
            <a:r>
              <a:rPr sz="950" spc="-5" dirty="0">
                <a:solidFill>
                  <a:srgbClr val="333333"/>
                </a:solidFill>
                <a:latin typeface="Roboto Lt"/>
                <a:cs typeface="Roboto Lt"/>
              </a:rPr>
              <a:t>by </a:t>
            </a:r>
            <a:r>
              <a:rPr sz="950" dirty="0">
                <a:solidFill>
                  <a:srgbClr val="333333"/>
                </a:solidFill>
                <a:latin typeface="Roboto Lt"/>
                <a:cs typeface="Roboto Lt"/>
              </a:rPr>
              <a:t>seven </a:t>
            </a:r>
            <a:r>
              <a:rPr sz="950" spc="5" dirty="0">
                <a:solidFill>
                  <a:srgbClr val="333333"/>
                </a:solidFill>
                <a:latin typeface="Roboto Lt"/>
                <a:cs typeface="Roboto Lt"/>
              </a:rPr>
              <a:t> </a:t>
            </a:r>
            <a:r>
              <a:rPr sz="950" dirty="0">
                <a:solidFill>
                  <a:srgbClr val="333333"/>
                </a:solidFill>
                <a:latin typeface="Roboto Lt"/>
                <a:cs typeface="Roboto Lt"/>
              </a:rPr>
              <a:t>principles: </a:t>
            </a:r>
            <a:r>
              <a:rPr sz="950" spc="-5" dirty="0">
                <a:solidFill>
                  <a:srgbClr val="333333"/>
                </a:solidFill>
                <a:latin typeface="Roboto Lt"/>
                <a:cs typeface="Roboto Lt"/>
              </a:rPr>
              <a:t>eliminate </a:t>
            </a:r>
            <a:r>
              <a:rPr sz="950" dirty="0">
                <a:solidFill>
                  <a:srgbClr val="333333"/>
                </a:solidFill>
                <a:latin typeface="Roboto Lt"/>
                <a:cs typeface="Roboto Lt"/>
              </a:rPr>
              <a:t>waste, </a:t>
            </a:r>
            <a:r>
              <a:rPr sz="950" spc="5" dirty="0">
                <a:solidFill>
                  <a:srgbClr val="333333"/>
                </a:solidFill>
                <a:latin typeface="Roboto Lt"/>
                <a:cs typeface="Roboto Lt"/>
              </a:rPr>
              <a:t>amplify </a:t>
            </a:r>
            <a:r>
              <a:rPr sz="950" spc="10" dirty="0">
                <a:solidFill>
                  <a:srgbClr val="333333"/>
                </a:solidFill>
                <a:latin typeface="Roboto Lt"/>
                <a:cs typeface="Roboto Lt"/>
              </a:rPr>
              <a:t> </a:t>
            </a:r>
            <a:r>
              <a:rPr sz="950" dirty="0">
                <a:solidFill>
                  <a:srgbClr val="333333"/>
                </a:solidFill>
                <a:latin typeface="Roboto Lt"/>
                <a:cs typeface="Roboto Lt"/>
              </a:rPr>
              <a:t>learning,</a:t>
            </a:r>
            <a:r>
              <a:rPr sz="950" spc="30" dirty="0">
                <a:solidFill>
                  <a:srgbClr val="333333"/>
                </a:solidFill>
                <a:latin typeface="Roboto Lt"/>
                <a:cs typeface="Roboto Lt"/>
              </a:rPr>
              <a:t> </a:t>
            </a:r>
            <a:r>
              <a:rPr sz="950" spc="5" dirty="0">
                <a:solidFill>
                  <a:srgbClr val="333333"/>
                </a:solidFill>
                <a:latin typeface="Roboto Lt"/>
                <a:cs typeface="Roboto Lt"/>
              </a:rPr>
              <a:t>decide</a:t>
            </a:r>
            <a:r>
              <a:rPr sz="950" spc="35" dirty="0">
                <a:solidFill>
                  <a:srgbClr val="333333"/>
                </a:solidFill>
                <a:latin typeface="Roboto Lt"/>
                <a:cs typeface="Roboto Lt"/>
              </a:rPr>
              <a:t> </a:t>
            </a:r>
            <a:r>
              <a:rPr sz="950" spc="5" dirty="0">
                <a:solidFill>
                  <a:srgbClr val="333333"/>
                </a:solidFill>
                <a:latin typeface="Roboto Lt"/>
                <a:cs typeface="Roboto Lt"/>
              </a:rPr>
              <a:t>as</a:t>
            </a:r>
            <a:r>
              <a:rPr sz="950" spc="30" dirty="0">
                <a:solidFill>
                  <a:srgbClr val="333333"/>
                </a:solidFill>
                <a:latin typeface="Roboto Lt"/>
                <a:cs typeface="Roboto Lt"/>
              </a:rPr>
              <a:t> </a:t>
            </a:r>
            <a:r>
              <a:rPr sz="950" spc="-10" dirty="0">
                <a:solidFill>
                  <a:srgbClr val="333333"/>
                </a:solidFill>
                <a:latin typeface="Roboto Lt"/>
                <a:cs typeface="Roboto Lt"/>
              </a:rPr>
              <a:t>late</a:t>
            </a:r>
            <a:r>
              <a:rPr sz="950" spc="35" dirty="0">
                <a:solidFill>
                  <a:srgbClr val="333333"/>
                </a:solidFill>
                <a:latin typeface="Roboto Lt"/>
                <a:cs typeface="Roboto Lt"/>
              </a:rPr>
              <a:t> </a:t>
            </a:r>
            <a:r>
              <a:rPr sz="950" spc="5" dirty="0">
                <a:solidFill>
                  <a:srgbClr val="333333"/>
                </a:solidFill>
                <a:latin typeface="Roboto Lt"/>
                <a:cs typeface="Roboto Lt"/>
              </a:rPr>
              <a:t>as</a:t>
            </a:r>
            <a:r>
              <a:rPr sz="950" spc="30" dirty="0">
                <a:solidFill>
                  <a:srgbClr val="333333"/>
                </a:solidFill>
                <a:latin typeface="Roboto Lt"/>
                <a:cs typeface="Roboto Lt"/>
              </a:rPr>
              <a:t> </a:t>
            </a:r>
            <a:r>
              <a:rPr sz="950" dirty="0">
                <a:solidFill>
                  <a:srgbClr val="333333"/>
                </a:solidFill>
                <a:latin typeface="Roboto Lt"/>
                <a:cs typeface="Roboto Lt"/>
              </a:rPr>
              <a:t>possible, </a:t>
            </a:r>
            <a:r>
              <a:rPr sz="950" spc="5" dirty="0">
                <a:solidFill>
                  <a:srgbClr val="333333"/>
                </a:solidFill>
                <a:latin typeface="Roboto Lt"/>
                <a:cs typeface="Roboto Lt"/>
              </a:rPr>
              <a:t> </a:t>
            </a:r>
            <a:r>
              <a:rPr sz="950" dirty="0">
                <a:solidFill>
                  <a:srgbClr val="333333"/>
                </a:solidFill>
                <a:latin typeface="Roboto Lt"/>
                <a:cs typeface="Roboto Lt"/>
              </a:rPr>
              <a:t>deliver </a:t>
            </a:r>
            <a:r>
              <a:rPr sz="950" spc="5" dirty="0">
                <a:solidFill>
                  <a:srgbClr val="333333"/>
                </a:solidFill>
                <a:latin typeface="Roboto Lt"/>
                <a:cs typeface="Roboto Lt"/>
              </a:rPr>
              <a:t>as </a:t>
            </a:r>
            <a:r>
              <a:rPr sz="950" dirty="0">
                <a:solidFill>
                  <a:srgbClr val="333333"/>
                </a:solidFill>
                <a:latin typeface="Roboto Lt"/>
                <a:cs typeface="Roboto Lt"/>
              </a:rPr>
              <a:t>fast </a:t>
            </a:r>
            <a:r>
              <a:rPr sz="950" spc="5" dirty="0">
                <a:solidFill>
                  <a:srgbClr val="333333"/>
                </a:solidFill>
                <a:latin typeface="Roboto Lt"/>
                <a:cs typeface="Roboto Lt"/>
              </a:rPr>
              <a:t>as </a:t>
            </a:r>
            <a:r>
              <a:rPr sz="950" dirty="0">
                <a:solidFill>
                  <a:srgbClr val="333333"/>
                </a:solidFill>
                <a:latin typeface="Roboto Lt"/>
                <a:cs typeface="Roboto Lt"/>
              </a:rPr>
              <a:t>possible, </a:t>
            </a:r>
            <a:r>
              <a:rPr sz="950" spc="5" dirty="0">
                <a:solidFill>
                  <a:srgbClr val="333333"/>
                </a:solidFill>
                <a:latin typeface="Roboto Lt"/>
                <a:cs typeface="Roboto Lt"/>
              </a:rPr>
              <a:t>empower the </a:t>
            </a:r>
            <a:r>
              <a:rPr sz="950" spc="10" dirty="0">
                <a:solidFill>
                  <a:srgbClr val="333333"/>
                </a:solidFill>
                <a:latin typeface="Roboto Lt"/>
                <a:cs typeface="Roboto Lt"/>
              </a:rPr>
              <a:t> </a:t>
            </a:r>
            <a:r>
              <a:rPr sz="950" spc="5" dirty="0">
                <a:solidFill>
                  <a:srgbClr val="333333"/>
                </a:solidFill>
                <a:latin typeface="Roboto Lt"/>
                <a:cs typeface="Roboto Lt"/>
              </a:rPr>
              <a:t>team,</a:t>
            </a:r>
            <a:r>
              <a:rPr sz="950" spc="-25" dirty="0">
                <a:solidFill>
                  <a:srgbClr val="333333"/>
                </a:solidFill>
                <a:latin typeface="Roboto Lt"/>
                <a:cs typeface="Roboto Lt"/>
              </a:rPr>
              <a:t> </a:t>
            </a:r>
            <a:r>
              <a:rPr sz="950" dirty="0">
                <a:solidFill>
                  <a:srgbClr val="333333"/>
                </a:solidFill>
                <a:latin typeface="Roboto Lt"/>
                <a:cs typeface="Roboto Lt"/>
              </a:rPr>
              <a:t>build</a:t>
            </a:r>
            <a:r>
              <a:rPr sz="950" spc="-25" dirty="0">
                <a:solidFill>
                  <a:srgbClr val="333333"/>
                </a:solidFill>
                <a:latin typeface="Roboto Lt"/>
                <a:cs typeface="Roboto Lt"/>
              </a:rPr>
              <a:t> </a:t>
            </a:r>
            <a:r>
              <a:rPr sz="950" dirty="0">
                <a:solidFill>
                  <a:srgbClr val="333333"/>
                </a:solidFill>
                <a:latin typeface="Roboto Lt"/>
                <a:cs typeface="Roboto Lt"/>
              </a:rPr>
              <a:t>integrity</a:t>
            </a:r>
            <a:r>
              <a:rPr sz="950" spc="-25" dirty="0">
                <a:solidFill>
                  <a:srgbClr val="333333"/>
                </a:solidFill>
                <a:latin typeface="Roboto Lt"/>
                <a:cs typeface="Roboto Lt"/>
              </a:rPr>
              <a:t> </a:t>
            </a:r>
            <a:r>
              <a:rPr sz="950" dirty="0">
                <a:solidFill>
                  <a:srgbClr val="333333"/>
                </a:solidFill>
                <a:latin typeface="Roboto Lt"/>
                <a:cs typeface="Roboto Lt"/>
              </a:rPr>
              <a:t>in,</a:t>
            </a:r>
            <a:r>
              <a:rPr sz="950" spc="-25" dirty="0">
                <a:solidFill>
                  <a:srgbClr val="333333"/>
                </a:solidFill>
                <a:latin typeface="Roboto Lt"/>
                <a:cs typeface="Roboto Lt"/>
              </a:rPr>
              <a:t> </a:t>
            </a:r>
            <a:r>
              <a:rPr sz="950" spc="5" dirty="0">
                <a:solidFill>
                  <a:srgbClr val="333333"/>
                </a:solidFill>
                <a:latin typeface="Roboto Lt"/>
                <a:cs typeface="Roboto Lt"/>
              </a:rPr>
              <a:t>and</a:t>
            </a:r>
            <a:r>
              <a:rPr sz="950" spc="-25" dirty="0">
                <a:solidFill>
                  <a:srgbClr val="333333"/>
                </a:solidFill>
                <a:latin typeface="Roboto Lt"/>
                <a:cs typeface="Roboto Lt"/>
              </a:rPr>
              <a:t> </a:t>
            </a:r>
            <a:r>
              <a:rPr sz="950" spc="10" dirty="0">
                <a:solidFill>
                  <a:srgbClr val="333333"/>
                </a:solidFill>
                <a:latin typeface="Roboto Lt"/>
                <a:cs typeface="Roboto Lt"/>
              </a:rPr>
              <a:t>see</a:t>
            </a:r>
            <a:r>
              <a:rPr sz="950" spc="-25" dirty="0">
                <a:solidFill>
                  <a:srgbClr val="333333"/>
                </a:solidFill>
                <a:latin typeface="Roboto Lt"/>
                <a:cs typeface="Roboto Lt"/>
              </a:rPr>
              <a:t> </a:t>
            </a:r>
            <a:r>
              <a:rPr sz="950" spc="5" dirty="0">
                <a:solidFill>
                  <a:srgbClr val="333333"/>
                </a:solidFill>
                <a:latin typeface="Roboto Lt"/>
                <a:cs typeface="Roboto Lt"/>
              </a:rPr>
              <a:t>the</a:t>
            </a:r>
            <a:r>
              <a:rPr sz="950" spc="-25" dirty="0">
                <a:solidFill>
                  <a:srgbClr val="333333"/>
                </a:solidFill>
                <a:latin typeface="Roboto Lt"/>
                <a:cs typeface="Roboto Lt"/>
              </a:rPr>
              <a:t> </a:t>
            </a:r>
            <a:r>
              <a:rPr sz="950" spc="5" dirty="0">
                <a:solidFill>
                  <a:srgbClr val="333333"/>
                </a:solidFill>
                <a:latin typeface="Roboto Lt"/>
                <a:cs typeface="Roboto Lt"/>
              </a:rPr>
              <a:t>whole.</a:t>
            </a:r>
            <a:endParaRPr sz="950">
              <a:latin typeface="Roboto Lt"/>
              <a:cs typeface="Roboto Lt"/>
            </a:endParaRPr>
          </a:p>
        </p:txBody>
      </p:sp>
      <p:sp>
        <p:nvSpPr>
          <p:cNvPr id="17" name="object 17"/>
          <p:cNvSpPr txBox="1"/>
          <p:nvPr/>
        </p:nvSpPr>
        <p:spPr>
          <a:xfrm>
            <a:off x="6197600" y="3513403"/>
            <a:ext cx="2240280" cy="1472565"/>
          </a:xfrm>
          <a:prstGeom prst="rect">
            <a:avLst/>
          </a:prstGeom>
        </p:spPr>
        <p:txBody>
          <a:bodyPr vert="horz" wrap="square" lIns="0" tIns="109855" rIns="0" bIns="0" rtlCol="0">
            <a:spAutoFit/>
          </a:bodyPr>
          <a:lstStyle/>
          <a:p>
            <a:pPr marL="12700">
              <a:lnSpc>
                <a:spcPct val="100000"/>
              </a:lnSpc>
              <a:spcBef>
                <a:spcPts val="865"/>
              </a:spcBef>
            </a:pPr>
            <a:r>
              <a:rPr sz="1600" b="1" spc="-204" dirty="0">
                <a:solidFill>
                  <a:srgbClr val="333333"/>
                </a:solidFill>
                <a:latin typeface="Arial"/>
                <a:cs typeface="Arial"/>
              </a:rPr>
              <a:t>C</a:t>
            </a:r>
            <a:r>
              <a:rPr sz="1600" b="1" spc="114" dirty="0">
                <a:solidFill>
                  <a:srgbClr val="333333"/>
                </a:solidFill>
                <a:latin typeface="Arial"/>
                <a:cs typeface="Arial"/>
              </a:rPr>
              <a:t>r</a:t>
            </a:r>
            <a:r>
              <a:rPr sz="1600" b="1" spc="5" dirty="0">
                <a:solidFill>
                  <a:srgbClr val="333333"/>
                </a:solidFill>
                <a:latin typeface="Arial"/>
                <a:cs typeface="Arial"/>
              </a:rPr>
              <a:t>y</a:t>
            </a:r>
            <a:r>
              <a:rPr sz="1600" b="1" spc="-100" dirty="0">
                <a:solidFill>
                  <a:srgbClr val="333333"/>
                </a:solidFill>
                <a:latin typeface="Arial"/>
                <a:cs typeface="Arial"/>
              </a:rPr>
              <a:t>s</a:t>
            </a:r>
            <a:r>
              <a:rPr sz="1600" b="1" spc="145" dirty="0">
                <a:solidFill>
                  <a:srgbClr val="333333"/>
                </a:solidFill>
                <a:latin typeface="Arial"/>
                <a:cs typeface="Arial"/>
              </a:rPr>
              <a:t>t</a:t>
            </a:r>
            <a:r>
              <a:rPr sz="1600" b="1" spc="40" dirty="0">
                <a:solidFill>
                  <a:srgbClr val="333333"/>
                </a:solidFill>
                <a:latin typeface="Arial"/>
                <a:cs typeface="Arial"/>
              </a:rPr>
              <a:t>a</a:t>
            </a:r>
            <a:r>
              <a:rPr sz="1600" b="1" spc="70" dirty="0">
                <a:solidFill>
                  <a:srgbClr val="333333"/>
                </a:solidFill>
                <a:latin typeface="Arial"/>
                <a:cs typeface="Arial"/>
              </a:rPr>
              <a:t>l</a:t>
            </a:r>
            <a:r>
              <a:rPr sz="1600" b="1" spc="-160" dirty="0">
                <a:solidFill>
                  <a:srgbClr val="333333"/>
                </a:solidFill>
                <a:latin typeface="Arial"/>
                <a:cs typeface="Arial"/>
              </a:rPr>
              <a:t> </a:t>
            </a:r>
            <a:r>
              <a:rPr sz="1600" b="1" spc="-190" dirty="0">
                <a:solidFill>
                  <a:srgbClr val="333333"/>
                </a:solidFill>
                <a:latin typeface="Arial"/>
                <a:cs typeface="Arial"/>
              </a:rPr>
              <a:t>C</a:t>
            </a:r>
            <a:r>
              <a:rPr sz="1600" b="1" spc="25" dirty="0">
                <a:solidFill>
                  <a:srgbClr val="333333"/>
                </a:solidFill>
                <a:latin typeface="Arial"/>
                <a:cs typeface="Arial"/>
              </a:rPr>
              <a:t>lea</a:t>
            </a:r>
            <a:r>
              <a:rPr sz="1600" b="1" spc="125" dirty="0">
                <a:solidFill>
                  <a:srgbClr val="333333"/>
                </a:solidFill>
                <a:latin typeface="Arial"/>
                <a:cs typeface="Arial"/>
              </a:rPr>
              <a:t>r</a:t>
            </a:r>
            <a:endParaRPr sz="1600">
              <a:latin typeface="Arial"/>
              <a:cs typeface="Arial"/>
            </a:endParaRPr>
          </a:p>
          <a:p>
            <a:pPr marL="12700" marR="5080">
              <a:lnSpc>
                <a:spcPct val="111100"/>
              </a:lnSpc>
              <a:spcBef>
                <a:spcPts val="309"/>
              </a:spcBef>
            </a:pPr>
            <a:r>
              <a:rPr sz="900" spc="-10" dirty="0">
                <a:solidFill>
                  <a:srgbClr val="333333"/>
                </a:solidFill>
                <a:latin typeface="Roboto Lt"/>
                <a:cs typeface="Roboto Lt"/>
              </a:rPr>
              <a:t>This</a:t>
            </a:r>
            <a:r>
              <a:rPr sz="900" spc="-30" dirty="0">
                <a:solidFill>
                  <a:srgbClr val="333333"/>
                </a:solidFill>
                <a:latin typeface="Roboto Lt"/>
                <a:cs typeface="Roboto Lt"/>
              </a:rPr>
              <a:t> </a:t>
            </a:r>
            <a:r>
              <a:rPr sz="900" spc="-5" dirty="0">
                <a:solidFill>
                  <a:srgbClr val="333333"/>
                </a:solidFill>
                <a:latin typeface="Roboto Lt"/>
                <a:cs typeface="Roboto Lt"/>
              </a:rPr>
              <a:t>methodology</a:t>
            </a:r>
            <a:r>
              <a:rPr sz="900" spc="-25" dirty="0">
                <a:solidFill>
                  <a:srgbClr val="333333"/>
                </a:solidFill>
                <a:latin typeface="Roboto Lt"/>
                <a:cs typeface="Roboto Lt"/>
              </a:rPr>
              <a:t> </a:t>
            </a:r>
            <a:r>
              <a:rPr sz="900" spc="-10" dirty="0">
                <a:solidFill>
                  <a:srgbClr val="333333"/>
                </a:solidFill>
                <a:latin typeface="Roboto Lt"/>
                <a:cs typeface="Roboto Lt"/>
              </a:rPr>
              <a:t>can</a:t>
            </a:r>
            <a:r>
              <a:rPr sz="900" spc="-25" dirty="0">
                <a:solidFill>
                  <a:srgbClr val="333333"/>
                </a:solidFill>
                <a:latin typeface="Roboto Lt"/>
                <a:cs typeface="Roboto Lt"/>
              </a:rPr>
              <a:t> </a:t>
            </a:r>
            <a:r>
              <a:rPr sz="900" spc="-5" dirty="0">
                <a:solidFill>
                  <a:srgbClr val="333333"/>
                </a:solidFill>
                <a:latin typeface="Roboto Lt"/>
                <a:cs typeface="Roboto Lt"/>
              </a:rPr>
              <a:t>be</a:t>
            </a:r>
            <a:r>
              <a:rPr sz="900" spc="-30" dirty="0">
                <a:solidFill>
                  <a:srgbClr val="333333"/>
                </a:solidFill>
                <a:latin typeface="Roboto Lt"/>
                <a:cs typeface="Roboto Lt"/>
              </a:rPr>
              <a:t> </a:t>
            </a:r>
            <a:r>
              <a:rPr sz="900" spc="-10" dirty="0">
                <a:solidFill>
                  <a:srgbClr val="333333"/>
                </a:solidFill>
                <a:latin typeface="Roboto Lt"/>
                <a:cs typeface="Roboto Lt"/>
              </a:rPr>
              <a:t>used</a:t>
            </a:r>
            <a:r>
              <a:rPr sz="900" spc="-25" dirty="0">
                <a:solidFill>
                  <a:srgbClr val="333333"/>
                </a:solidFill>
                <a:latin typeface="Roboto Lt"/>
                <a:cs typeface="Roboto Lt"/>
              </a:rPr>
              <a:t> </a:t>
            </a:r>
            <a:r>
              <a:rPr sz="900" spc="-10" dirty="0">
                <a:solidFill>
                  <a:srgbClr val="333333"/>
                </a:solidFill>
                <a:latin typeface="Roboto Lt"/>
                <a:cs typeface="Roboto Lt"/>
              </a:rPr>
              <a:t>with</a:t>
            </a:r>
            <a:r>
              <a:rPr sz="900" spc="-25" dirty="0">
                <a:solidFill>
                  <a:srgbClr val="333333"/>
                </a:solidFill>
                <a:latin typeface="Roboto Lt"/>
                <a:cs typeface="Roboto Lt"/>
              </a:rPr>
              <a:t> </a:t>
            </a:r>
            <a:r>
              <a:rPr sz="900" spc="-10" dirty="0">
                <a:solidFill>
                  <a:srgbClr val="333333"/>
                </a:solidFill>
                <a:latin typeface="Roboto Lt"/>
                <a:cs typeface="Roboto Lt"/>
              </a:rPr>
              <a:t>teams</a:t>
            </a:r>
            <a:r>
              <a:rPr sz="900" spc="-30" dirty="0">
                <a:solidFill>
                  <a:srgbClr val="333333"/>
                </a:solidFill>
                <a:latin typeface="Roboto Lt"/>
                <a:cs typeface="Roboto Lt"/>
              </a:rPr>
              <a:t> </a:t>
            </a:r>
            <a:r>
              <a:rPr sz="900" spc="-5" dirty="0">
                <a:solidFill>
                  <a:srgbClr val="333333"/>
                </a:solidFill>
                <a:latin typeface="Roboto Lt"/>
                <a:cs typeface="Roboto Lt"/>
              </a:rPr>
              <a:t>of </a:t>
            </a:r>
            <a:r>
              <a:rPr sz="900" spc="-200" dirty="0">
                <a:solidFill>
                  <a:srgbClr val="333333"/>
                </a:solidFill>
                <a:latin typeface="Roboto Lt"/>
                <a:cs typeface="Roboto Lt"/>
              </a:rPr>
              <a:t> </a:t>
            </a:r>
            <a:r>
              <a:rPr sz="900" spc="-10" dirty="0">
                <a:solidFill>
                  <a:srgbClr val="333333"/>
                </a:solidFill>
                <a:latin typeface="Roboto Lt"/>
                <a:cs typeface="Roboto Lt"/>
              </a:rPr>
              <a:t>six </a:t>
            </a:r>
            <a:r>
              <a:rPr sz="900" spc="-15" dirty="0">
                <a:solidFill>
                  <a:srgbClr val="333333"/>
                </a:solidFill>
                <a:latin typeface="Roboto Lt"/>
                <a:cs typeface="Roboto Lt"/>
              </a:rPr>
              <a:t>to </a:t>
            </a:r>
            <a:r>
              <a:rPr sz="900" spc="-10" dirty="0">
                <a:solidFill>
                  <a:srgbClr val="333333"/>
                </a:solidFill>
                <a:latin typeface="Roboto Lt"/>
                <a:cs typeface="Roboto Lt"/>
              </a:rPr>
              <a:t>eight developers and </a:t>
            </a:r>
            <a:r>
              <a:rPr sz="900" spc="-5" dirty="0">
                <a:solidFill>
                  <a:srgbClr val="333333"/>
                </a:solidFill>
                <a:latin typeface="Roboto Lt"/>
                <a:cs typeface="Roboto Lt"/>
              </a:rPr>
              <a:t>it </a:t>
            </a:r>
            <a:r>
              <a:rPr sz="900" spc="-10" dirty="0">
                <a:solidFill>
                  <a:srgbClr val="333333"/>
                </a:solidFill>
                <a:latin typeface="Roboto Lt"/>
                <a:cs typeface="Roboto Lt"/>
              </a:rPr>
              <a:t>focuses </a:t>
            </a:r>
            <a:r>
              <a:rPr sz="900" spc="-5" dirty="0">
                <a:solidFill>
                  <a:srgbClr val="333333"/>
                </a:solidFill>
                <a:latin typeface="Roboto Lt"/>
                <a:cs typeface="Roboto Lt"/>
              </a:rPr>
              <a:t>on </a:t>
            </a:r>
            <a:r>
              <a:rPr sz="900" spc="-10" dirty="0">
                <a:solidFill>
                  <a:srgbClr val="333333"/>
                </a:solidFill>
                <a:latin typeface="Roboto Lt"/>
                <a:cs typeface="Roboto Lt"/>
              </a:rPr>
              <a:t>the </a:t>
            </a:r>
            <a:r>
              <a:rPr sz="900" spc="-5" dirty="0">
                <a:solidFill>
                  <a:srgbClr val="333333"/>
                </a:solidFill>
                <a:latin typeface="Roboto Lt"/>
                <a:cs typeface="Roboto Lt"/>
              </a:rPr>
              <a:t> people, </a:t>
            </a:r>
            <a:r>
              <a:rPr sz="900" spc="-10" dirty="0">
                <a:solidFill>
                  <a:srgbClr val="333333"/>
                </a:solidFill>
                <a:latin typeface="Roboto Lt"/>
                <a:cs typeface="Roboto Lt"/>
              </a:rPr>
              <a:t>not processes </a:t>
            </a:r>
            <a:r>
              <a:rPr sz="900" spc="-5" dirty="0">
                <a:solidFill>
                  <a:srgbClr val="333333"/>
                </a:solidFill>
                <a:latin typeface="Roboto Lt"/>
                <a:cs typeface="Roboto Lt"/>
              </a:rPr>
              <a:t>or </a:t>
            </a:r>
            <a:r>
              <a:rPr sz="900" spc="-10" dirty="0">
                <a:solidFill>
                  <a:srgbClr val="333333"/>
                </a:solidFill>
                <a:latin typeface="Roboto Lt"/>
                <a:cs typeface="Roboto Lt"/>
              </a:rPr>
              <a:t>artifacts. </a:t>
            </a:r>
            <a:r>
              <a:rPr sz="900" spc="-5" dirty="0">
                <a:solidFill>
                  <a:srgbClr val="333333"/>
                </a:solidFill>
                <a:latin typeface="Roboto Lt"/>
                <a:cs typeface="Roboto Lt"/>
              </a:rPr>
              <a:t>Crystal </a:t>
            </a:r>
            <a:r>
              <a:rPr sz="900" dirty="0">
                <a:solidFill>
                  <a:srgbClr val="333333"/>
                </a:solidFill>
                <a:latin typeface="Roboto Lt"/>
                <a:cs typeface="Roboto Lt"/>
              </a:rPr>
              <a:t> </a:t>
            </a:r>
            <a:r>
              <a:rPr sz="900" spc="-5" dirty="0">
                <a:solidFill>
                  <a:srgbClr val="333333"/>
                </a:solidFill>
                <a:latin typeface="Roboto Lt"/>
                <a:cs typeface="Roboto Lt"/>
              </a:rPr>
              <a:t>Clear</a:t>
            </a:r>
            <a:r>
              <a:rPr sz="900" spc="-10" dirty="0">
                <a:solidFill>
                  <a:srgbClr val="333333"/>
                </a:solidFill>
                <a:latin typeface="Roboto Lt"/>
                <a:cs typeface="Roboto Lt"/>
              </a:rPr>
              <a:t> </a:t>
            </a:r>
            <a:r>
              <a:rPr sz="900" spc="-15" dirty="0">
                <a:solidFill>
                  <a:srgbClr val="333333"/>
                </a:solidFill>
                <a:latin typeface="Roboto Lt"/>
                <a:cs typeface="Roboto Lt"/>
              </a:rPr>
              <a:t>requires</a:t>
            </a:r>
            <a:r>
              <a:rPr sz="900" spc="-10" dirty="0">
                <a:solidFill>
                  <a:srgbClr val="333333"/>
                </a:solidFill>
                <a:latin typeface="Roboto Lt"/>
                <a:cs typeface="Roboto Lt"/>
              </a:rPr>
              <a:t> the </a:t>
            </a:r>
            <a:r>
              <a:rPr sz="900" spc="-15" dirty="0">
                <a:solidFill>
                  <a:srgbClr val="333333"/>
                </a:solidFill>
                <a:latin typeface="Roboto Lt"/>
                <a:cs typeface="Roboto Lt"/>
              </a:rPr>
              <a:t>following:</a:t>
            </a:r>
            <a:r>
              <a:rPr sz="900" spc="-10" dirty="0">
                <a:solidFill>
                  <a:srgbClr val="333333"/>
                </a:solidFill>
                <a:latin typeface="Roboto Lt"/>
                <a:cs typeface="Roboto Lt"/>
              </a:rPr>
              <a:t> frequent delivery </a:t>
            </a:r>
            <a:r>
              <a:rPr sz="900" spc="-204" dirty="0">
                <a:solidFill>
                  <a:srgbClr val="333333"/>
                </a:solidFill>
                <a:latin typeface="Roboto Lt"/>
                <a:cs typeface="Roboto Lt"/>
              </a:rPr>
              <a:t> </a:t>
            </a:r>
            <a:r>
              <a:rPr sz="900" spc="-5" dirty="0">
                <a:solidFill>
                  <a:srgbClr val="333333"/>
                </a:solidFill>
                <a:latin typeface="Roboto Lt"/>
                <a:cs typeface="Roboto Lt"/>
              </a:rPr>
              <a:t>of </a:t>
            </a:r>
            <a:r>
              <a:rPr sz="900" spc="-10" dirty="0">
                <a:solidFill>
                  <a:srgbClr val="333333"/>
                </a:solidFill>
                <a:latin typeface="Roboto Lt"/>
                <a:cs typeface="Roboto Lt"/>
              </a:rPr>
              <a:t>usable </a:t>
            </a:r>
            <a:r>
              <a:rPr sz="900" spc="-5" dirty="0">
                <a:solidFill>
                  <a:srgbClr val="333333"/>
                </a:solidFill>
                <a:latin typeface="Roboto Lt"/>
                <a:cs typeface="Roboto Lt"/>
              </a:rPr>
              <a:t>code </a:t>
            </a:r>
            <a:r>
              <a:rPr sz="900" spc="-15" dirty="0">
                <a:solidFill>
                  <a:srgbClr val="333333"/>
                </a:solidFill>
                <a:latin typeface="Roboto Lt"/>
                <a:cs typeface="Roboto Lt"/>
              </a:rPr>
              <a:t>to </a:t>
            </a:r>
            <a:r>
              <a:rPr sz="900" spc="-10" dirty="0">
                <a:solidFill>
                  <a:srgbClr val="333333"/>
                </a:solidFill>
                <a:latin typeface="Roboto Lt"/>
                <a:cs typeface="Roboto Lt"/>
              </a:rPr>
              <a:t>users, reflective </a:t>
            </a:r>
            <a:r>
              <a:rPr sz="900" spc="-5" dirty="0">
                <a:solidFill>
                  <a:srgbClr val="333333"/>
                </a:solidFill>
                <a:latin typeface="Roboto Lt"/>
                <a:cs typeface="Roboto Lt"/>
              </a:rPr>
              <a:t> </a:t>
            </a:r>
            <a:r>
              <a:rPr sz="900" spc="-10" dirty="0">
                <a:solidFill>
                  <a:srgbClr val="333333"/>
                </a:solidFill>
                <a:latin typeface="Roboto Lt"/>
                <a:cs typeface="Roboto Lt"/>
              </a:rPr>
              <a:t>improvement, and osmotic communication </a:t>
            </a:r>
            <a:r>
              <a:rPr sz="900" spc="-5" dirty="0">
                <a:solidFill>
                  <a:srgbClr val="333333"/>
                </a:solidFill>
                <a:latin typeface="Roboto Lt"/>
                <a:cs typeface="Roboto Lt"/>
              </a:rPr>
              <a:t> </a:t>
            </a:r>
            <a:r>
              <a:rPr sz="900" spc="-15" dirty="0">
                <a:solidFill>
                  <a:srgbClr val="333333"/>
                </a:solidFill>
                <a:latin typeface="Roboto Lt"/>
                <a:cs typeface="Roboto Lt"/>
              </a:rPr>
              <a:t>preferably</a:t>
            </a:r>
            <a:r>
              <a:rPr sz="900" spc="-20" dirty="0">
                <a:solidFill>
                  <a:srgbClr val="333333"/>
                </a:solidFill>
                <a:latin typeface="Roboto Lt"/>
                <a:cs typeface="Roboto Lt"/>
              </a:rPr>
              <a:t> </a:t>
            </a:r>
            <a:r>
              <a:rPr sz="900" spc="-15" dirty="0">
                <a:solidFill>
                  <a:srgbClr val="333333"/>
                </a:solidFill>
                <a:latin typeface="Roboto Lt"/>
                <a:cs typeface="Roboto Lt"/>
              </a:rPr>
              <a:t>by</a:t>
            </a:r>
            <a:r>
              <a:rPr sz="900" spc="-20" dirty="0">
                <a:solidFill>
                  <a:srgbClr val="333333"/>
                </a:solidFill>
                <a:latin typeface="Roboto Lt"/>
                <a:cs typeface="Roboto Lt"/>
              </a:rPr>
              <a:t> </a:t>
            </a:r>
            <a:r>
              <a:rPr sz="900" spc="-10" dirty="0">
                <a:solidFill>
                  <a:srgbClr val="333333"/>
                </a:solidFill>
                <a:latin typeface="Roboto Lt"/>
                <a:cs typeface="Roboto Lt"/>
              </a:rPr>
              <a:t>being</a:t>
            </a:r>
            <a:r>
              <a:rPr sz="900" spc="-20" dirty="0">
                <a:solidFill>
                  <a:srgbClr val="333333"/>
                </a:solidFill>
                <a:latin typeface="Roboto Lt"/>
                <a:cs typeface="Roboto Lt"/>
              </a:rPr>
              <a:t> </a:t>
            </a:r>
            <a:r>
              <a:rPr sz="900" spc="-15" dirty="0">
                <a:solidFill>
                  <a:srgbClr val="333333"/>
                </a:solidFill>
                <a:latin typeface="Roboto Lt"/>
                <a:cs typeface="Roboto Lt"/>
              </a:rPr>
              <a:t>co-located.</a:t>
            </a:r>
            <a:endParaRPr sz="900">
              <a:latin typeface="Roboto Lt"/>
              <a:cs typeface="Roboto L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5943600"/>
            <a:chOff x="0" y="0"/>
            <a:chExt cx="9144000" cy="5943600"/>
          </a:xfrm>
        </p:grpSpPr>
        <p:sp>
          <p:nvSpPr>
            <p:cNvPr id="3" name="object 3"/>
            <p:cNvSpPr/>
            <p:nvPr/>
          </p:nvSpPr>
          <p:spPr>
            <a:xfrm>
              <a:off x="0" y="0"/>
              <a:ext cx="4406900" cy="5943600"/>
            </a:xfrm>
            <a:custGeom>
              <a:avLst/>
              <a:gdLst/>
              <a:ahLst/>
              <a:cxnLst/>
              <a:rect l="l" t="t" r="r" b="b"/>
              <a:pathLst>
                <a:path w="4406900" h="5943600">
                  <a:moveTo>
                    <a:pt x="4406900" y="0"/>
                  </a:moveTo>
                  <a:lnTo>
                    <a:pt x="0" y="0"/>
                  </a:lnTo>
                  <a:lnTo>
                    <a:pt x="0" y="5943600"/>
                  </a:lnTo>
                  <a:lnTo>
                    <a:pt x="4406900" y="5943600"/>
                  </a:lnTo>
                  <a:lnTo>
                    <a:pt x="4406900" y="0"/>
                  </a:lnTo>
                  <a:close/>
                </a:path>
              </a:pathLst>
            </a:custGeom>
            <a:solidFill>
              <a:srgbClr val="00BC31"/>
            </a:solidFill>
          </p:spPr>
          <p:txBody>
            <a:bodyPr wrap="square" lIns="0" tIns="0" rIns="0" bIns="0" rtlCol="0"/>
            <a:lstStyle/>
            <a:p>
              <a:endParaRPr/>
            </a:p>
          </p:txBody>
        </p:sp>
        <p:pic>
          <p:nvPicPr>
            <p:cNvPr id="4" name="object 4"/>
            <p:cNvPicPr/>
            <p:nvPr/>
          </p:nvPicPr>
          <p:blipFill>
            <a:blip r:embed="rId2" cstate="print"/>
            <a:stretch>
              <a:fillRect/>
            </a:stretch>
          </p:blipFill>
          <p:spPr>
            <a:xfrm>
              <a:off x="4406900" y="0"/>
              <a:ext cx="4737100" cy="5943600"/>
            </a:xfrm>
            <a:prstGeom prst="rect">
              <a:avLst/>
            </a:prstGeom>
          </p:spPr>
        </p:pic>
      </p:grpSp>
      <p:sp>
        <p:nvSpPr>
          <p:cNvPr id="5" name="object 5"/>
          <p:cNvSpPr txBox="1">
            <a:spLocks noGrp="1"/>
          </p:cNvSpPr>
          <p:nvPr>
            <p:ph type="title"/>
          </p:nvPr>
        </p:nvSpPr>
        <p:spPr>
          <a:xfrm>
            <a:off x="526368" y="510301"/>
            <a:ext cx="3283632" cy="1923604"/>
          </a:xfrm>
          <a:prstGeom prst="rect">
            <a:avLst/>
          </a:prstGeom>
        </p:spPr>
        <p:txBody>
          <a:bodyPr vert="horz" wrap="square" lIns="0" tIns="12700" rIns="0" bIns="0" rtlCol="0">
            <a:spAutoFit/>
          </a:bodyPr>
          <a:lstStyle/>
          <a:p>
            <a:pPr marL="12700">
              <a:lnSpc>
                <a:spcPts val="5050"/>
              </a:lnSpc>
              <a:spcBef>
                <a:spcPts val="100"/>
              </a:spcBef>
            </a:pPr>
            <a:r>
              <a:rPr spc="-100" dirty="0"/>
              <a:t>H</a:t>
            </a:r>
            <a:r>
              <a:rPr spc="-190" dirty="0"/>
              <a:t>o</a:t>
            </a:r>
            <a:r>
              <a:rPr spc="595" dirty="0"/>
              <a:t>w</a:t>
            </a:r>
            <a:r>
              <a:rPr spc="-530" dirty="0"/>
              <a:t> </a:t>
            </a:r>
            <a:r>
              <a:rPr spc="75" dirty="0"/>
              <a:t>to</a:t>
            </a:r>
          </a:p>
          <a:p>
            <a:pPr marL="12700" marR="5080">
              <a:lnSpc>
                <a:spcPts val="4700"/>
              </a:lnSpc>
              <a:spcBef>
                <a:spcPts val="390"/>
              </a:spcBef>
            </a:pPr>
            <a:r>
              <a:rPr spc="10" dirty="0"/>
              <a:t>Ge</a:t>
            </a:r>
            <a:r>
              <a:rPr spc="135" dirty="0"/>
              <a:t>t</a:t>
            </a:r>
            <a:r>
              <a:rPr spc="-535" dirty="0"/>
              <a:t> </a:t>
            </a:r>
            <a:r>
              <a:rPr lang="en-US" spc="335" dirty="0"/>
              <a:t>St</a:t>
            </a:r>
            <a:r>
              <a:rPr spc="125" dirty="0"/>
              <a:t>a</a:t>
            </a:r>
            <a:r>
              <a:rPr spc="95" dirty="0"/>
              <a:t>r</a:t>
            </a:r>
            <a:r>
              <a:rPr spc="300" dirty="0"/>
              <a:t>t</a:t>
            </a:r>
            <a:r>
              <a:rPr spc="35" dirty="0"/>
              <a:t>e</a:t>
            </a:r>
            <a:r>
              <a:rPr spc="90" dirty="0"/>
              <a:t>d  </a:t>
            </a:r>
            <a:r>
              <a:rPr spc="330" dirty="0"/>
              <a:t>w</a:t>
            </a:r>
            <a:r>
              <a:rPr spc="-75" dirty="0"/>
              <a:t>i</a:t>
            </a:r>
            <a:r>
              <a:rPr spc="355" dirty="0"/>
              <a:t>t</a:t>
            </a:r>
            <a:r>
              <a:rPr spc="265" dirty="0"/>
              <a:t>h</a:t>
            </a:r>
            <a:r>
              <a:rPr spc="-535" dirty="0"/>
              <a:t> </a:t>
            </a:r>
            <a:r>
              <a:rPr spc="-150" dirty="0"/>
              <a:t>A</a:t>
            </a:r>
            <a:r>
              <a:rPr spc="-280" dirty="0"/>
              <a:t>g</a:t>
            </a:r>
            <a:r>
              <a:rPr spc="-60" dirty="0"/>
              <a:t>i</a:t>
            </a:r>
            <a:r>
              <a:rPr spc="-65" dirty="0"/>
              <a:t>l</a:t>
            </a:r>
            <a:r>
              <a:rPr spc="275" dirty="0"/>
              <a:t>e</a:t>
            </a:r>
          </a:p>
        </p:txBody>
      </p:sp>
      <p:sp>
        <p:nvSpPr>
          <p:cNvPr id="7" name="object 7"/>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40</a:t>
            </a:r>
            <a:endParaRPr spc="35" dirty="0"/>
          </a:p>
        </p:txBody>
      </p:sp>
      <p:sp>
        <p:nvSpPr>
          <p:cNvPr id="8" name="object 8"/>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Agile Methodology</a:t>
            </a:r>
            <a:endParaRPr dirty="0"/>
          </a:p>
        </p:txBody>
      </p:sp>
      <p:sp>
        <p:nvSpPr>
          <p:cNvPr id="6" name="object 6"/>
          <p:cNvSpPr txBox="1"/>
          <p:nvPr/>
        </p:nvSpPr>
        <p:spPr>
          <a:xfrm>
            <a:off x="526368" y="2549921"/>
            <a:ext cx="3182620" cy="1264920"/>
          </a:xfrm>
          <a:prstGeom prst="rect">
            <a:avLst/>
          </a:prstGeom>
        </p:spPr>
        <p:txBody>
          <a:bodyPr vert="horz" wrap="square" lIns="0" tIns="7620" rIns="0" bIns="0" rtlCol="0">
            <a:spAutoFit/>
          </a:bodyPr>
          <a:lstStyle/>
          <a:p>
            <a:pPr marL="12700" marR="5080">
              <a:lnSpc>
                <a:spcPct val="102099"/>
              </a:lnSpc>
              <a:spcBef>
                <a:spcPts val="60"/>
              </a:spcBef>
            </a:pPr>
            <a:r>
              <a:rPr sz="1600" b="1" spc="-145" dirty="0">
                <a:solidFill>
                  <a:srgbClr val="FFFFFF"/>
                </a:solidFill>
                <a:latin typeface="Arial"/>
                <a:cs typeface="Arial"/>
              </a:rPr>
              <a:t>G</a:t>
            </a:r>
            <a:r>
              <a:rPr sz="1600" b="1" spc="15" dirty="0">
                <a:solidFill>
                  <a:srgbClr val="FFFFFF"/>
                </a:solidFill>
                <a:latin typeface="Arial"/>
                <a:cs typeface="Arial"/>
              </a:rPr>
              <a:t>e</a:t>
            </a:r>
            <a:r>
              <a:rPr sz="1600" b="1" spc="130" dirty="0">
                <a:solidFill>
                  <a:srgbClr val="FFFFFF"/>
                </a:solidFill>
                <a:latin typeface="Arial"/>
                <a:cs typeface="Arial"/>
              </a:rPr>
              <a:t>t</a:t>
            </a:r>
            <a:r>
              <a:rPr sz="1600" b="1" spc="135" dirty="0">
                <a:solidFill>
                  <a:srgbClr val="FFFFFF"/>
                </a:solidFill>
                <a:latin typeface="Arial"/>
                <a:cs typeface="Arial"/>
              </a:rPr>
              <a:t>t</a:t>
            </a:r>
            <a:r>
              <a:rPr sz="1600" b="1" spc="-5" dirty="0">
                <a:solidFill>
                  <a:srgbClr val="FFFFFF"/>
                </a:solidFill>
                <a:latin typeface="Arial"/>
                <a:cs typeface="Arial"/>
              </a:rPr>
              <a:t>i</a:t>
            </a:r>
            <a:r>
              <a:rPr sz="1600" b="1" dirty="0">
                <a:solidFill>
                  <a:srgbClr val="FFFFFF"/>
                </a:solidFill>
                <a:latin typeface="Arial"/>
                <a:cs typeface="Arial"/>
              </a:rPr>
              <a:t>n</a:t>
            </a:r>
            <a:r>
              <a:rPr sz="1600" b="1" spc="-10" dirty="0">
                <a:solidFill>
                  <a:srgbClr val="FFFFFF"/>
                </a:solidFill>
                <a:latin typeface="Arial"/>
                <a:cs typeface="Arial"/>
              </a:rPr>
              <a:t>g</a:t>
            </a:r>
            <a:r>
              <a:rPr sz="1600" b="1" spc="-190" dirty="0">
                <a:solidFill>
                  <a:srgbClr val="FFFFFF"/>
                </a:solidFill>
                <a:latin typeface="Arial"/>
                <a:cs typeface="Arial"/>
              </a:rPr>
              <a:t> </a:t>
            </a:r>
            <a:r>
              <a:rPr sz="1600" b="1" spc="-114" dirty="0">
                <a:solidFill>
                  <a:srgbClr val="FFFFFF"/>
                </a:solidFill>
                <a:latin typeface="Arial"/>
                <a:cs typeface="Arial"/>
              </a:rPr>
              <a:t>s</a:t>
            </a:r>
            <a:r>
              <a:rPr sz="1600" b="1" spc="130" dirty="0">
                <a:solidFill>
                  <a:srgbClr val="FFFFFF"/>
                </a:solidFill>
                <a:latin typeface="Arial"/>
                <a:cs typeface="Arial"/>
              </a:rPr>
              <a:t>t</a:t>
            </a:r>
            <a:r>
              <a:rPr sz="1600" b="1" spc="25" dirty="0">
                <a:solidFill>
                  <a:srgbClr val="FFFFFF"/>
                </a:solidFill>
                <a:latin typeface="Arial"/>
                <a:cs typeface="Arial"/>
              </a:rPr>
              <a:t>a</a:t>
            </a:r>
            <a:r>
              <a:rPr sz="1600" b="1" spc="75" dirty="0">
                <a:solidFill>
                  <a:srgbClr val="FFFFFF"/>
                </a:solidFill>
                <a:latin typeface="Arial"/>
                <a:cs typeface="Arial"/>
              </a:rPr>
              <a:t>r</a:t>
            </a:r>
            <a:r>
              <a:rPr sz="1600" b="1" spc="30" dirty="0">
                <a:solidFill>
                  <a:srgbClr val="FFFFFF"/>
                </a:solidFill>
                <a:latin typeface="Arial"/>
                <a:cs typeface="Arial"/>
              </a:rPr>
              <a:t>t</a:t>
            </a:r>
            <a:r>
              <a:rPr sz="1600" b="1" spc="110" dirty="0">
                <a:solidFill>
                  <a:srgbClr val="FFFFFF"/>
                </a:solidFill>
                <a:latin typeface="Arial"/>
                <a:cs typeface="Arial"/>
              </a:rPr>
              <a:t>e</a:t>
            </a:r>
            <a:r>
              <a:rPr sz="1600" b="1" spc="50" dirty="0">
                <a:solidFill>
                  <a:srgbClr val="FFFFFF"/>
                </a:solidFill>
                <a:latin typeface="Arial"/>
                <a:cs typeface="Arial"/>
              </a:rPr>
              <a:t>d</a:t>
            </a:r>
            <a:r>
              <a:rPr sz="1600" b="1" spc="-190" dirty="0">
                <a:solidFill>
                  <a:srgbClr val="FFFFFF"/>
                </a:solidFill>
                <a:latin typeface="Arial"/>
                <a:cs typeface="Arial"/>
              </a:rPr>
              <a:t> </a:t>
            </a:r>
            <a:r>
              <a:rPr sz="1600" b="1" spc="130" dirty="0">
                <a:solidFill>
                  <a:srgbClr val="FFFFFF"/>
                </a:solidFill>
                <a:latin typeface="Arial"/>
                <a:cs typeface="Arial"/>
              </a:rPr>
              <a:t>w</a:t>
            </a:r>
            <a:r>
              <a:rPr sz="1600" b="1" spc="-15" dirty="0">
                <a:solidFill>
                  <a:srgbClr val="FFFFFF"/>
                </a:solidFill>
                <a:latin typeface="Arial"/>
                <a:cs typeface="Arial"/>
              </a:rPr>
              <a:t>i</a:t>
            </a:r>
            <a:r>
              <a:rPr sz="1600" b="1" spc="135" dirty="0">
                <a:solidFill>
                  <a:srgbClr val="FFFFFF"/>
                </a:solidFill>
                <a:latin typeface="Arial"/>
                <a:cs typeface="Arial"/>
              </a:rPr>
              <a:t>t</a:t>
            </a:r>
            <a:r>
              <a:rPr sz="1600" b="1" spc="90" dirty="0">
                <a:solidFill>
                  <a:srgbClr val="FFFFFF"/>
                </a:solidFill>
                <a:latin typeface="Arial"/>
                <a:cs typeface="Arial"/>
              </a:rPr>
              <a:t>h</a:t>
            </a:r>
            <a:r>
              <a:rPr sz="1600" b="1" spc="-190" dirty="0">
                <a:solidFill>
                  <a:srgbClr val="FFFFFF"/>
                </a:solidFill>
                <a:latin typeface="Arial"/>
                <a:cs typeface="Arial"/>
              </a:rPr>
              <a:t> </a:t>
            </a:r>
            <a:r>
              <a:rPr sz="1600" b="1" spc="-40" dirty="0">
                <a:solidFill>
                  <a:srgbClr val="FFFFFF"/>
                </a:solidFill>
                <a:latin typeface="Arial"/>
                <a:cs typeface="Arial"/>
              </a:rPr>
              <a:t>A</a:t>
            </a:r>
            <a:r>
              <a:rPr sz="1600" b="1" spc="-90" dirty="0">
                <a:solidFill>
                  <a:srgbClr val="FFFFFF"/>
                </a:solidFill>
                <a:latin typeface="Arial"/>
                <a:cs typeface="Arial"/>
              </a:rPr>
              <a:t>g</a:t>
            </a:r>
            <a:r>
              <a:rPr sz="1600" b="1" spc="-5" dirty="0">
                <a:solidFill>
                  <a:srgbClr val="FFFFFF"/>
                </a:solidFill>
                <a:latin typeface="Arial"/>
                <a:cs typeface="Arial"/>
              </a:rPr>
              <a:t>i</a:t>
            </a:r>
            <a:r>
              <a:rPr sz="1600" b="1" spc="-30" dirty="0">
                <a:solidFill>
                  <a:srgbClr val="FFFFFF"/>
                </a:solidFill>
                <a:latin typeface="Arial"/>
                <a:cs typeface="Arial"/>
              </a:rPr>
              <a:t>l</a:t>
            </a:r>
            <a:r>
              <a:rPr sz="1600" b="1" spc="110" dirty="0">
                <a:solidFill>
                  <a:srgbClr val="FFFFFF"/>
                </a:solidFill>
                <a:latin typeface="Arial"/>
                <a:cs typeface="Arial"/>
              </a:rPr>
              <a:t>e</a:t>
            </a:r>
            <a:r>
              <a:rPr sz="1600" b="1" spc="-190" dirty="0">
                <a:solidFill>
                  <a:srgbClr val="FFFFFF"/>
                </a:solidFill>
                <a:latin typeface="Arial"/>
                <a:cs typeface="Arial"/>
              </a:rPr>
              <a:t> </a:t>
            </a:r>
            <a:r>
              <a:rPr sz="1600" b="1" spc="-110" dirty="0">
                <a:solidFill>
                  <a:srgbClr val="FFFFFF"/>
                </a:solidFill>
                <a:latin typeface="Arial"/>
                <a:cs typeface="Arial"/>
              </a:rPr>
              <a:t>c</a:t>
            </a:r>
            <a:r>
              <a:rPr sz="1600" b="1" spc="25" dirty="0">
                <a:solidFill>
                  <a:srgbClr val="FFFFFF"/>
                </a:solidFill>
                <a:latin typeface="Arial"/>
                <a:cs typeface="Arial"/>
              </a:rPr>
              <a:t>a</a:t>
            </a:r>
            <a:r>
              <a:rPr sz="1600" b="1" spc="90" dirty="0">
                <a:solidFill>
                  <a:srgbClr val="FFFFFF"/>
                </a:solidFill>
                <a:latin typeface="Arial"/>
                <a:cs typeface="Arial"/>
              </a:rPr>
              <a:t>n</a:t>
            </a:r>
            <a:r>
              <a:rPr sz="1600" b="1" spc="-190" dirty="0">
                <a:solidFill>
                  <a:srgbClr val="FFFFFF"/>
                </a:solidFill>
                <a:latin typeface="Arial"/>
                <a:cs typeface="Arial"/>
              </a:rPr>
              <a:t> </a:t>
            </a:r>
            <a:r>
              <a:rPr sz="1600" b="1" spc="-30" dirty="0">
                <a:solidFill>
                  <a:srgbClr val="FFFFFF"/>
                </a:solidFill>
                <a:latin typeface="Arial"/>
                <a:cs typeface="Arial"/>
              </a:rPr>
              <a:t>b</a:t>
            </a:r>
            <a:r>
              <a:rPr sz="1600" b="1" spc="65" dirty="0">
                <a:solidFill>
                  <a:srgbClr val="FFFFFF"/>
                </a:solidFill>
                <a:latin typeface="Arial"/>
                <a:cs typeface="Arial"/>
              </a:rPr>
              <a:t>e  </a:t>
            </a:r>
            <a:r>
              <a:rPr sz="1600" b="1" spc="15" dirty="0">
                <a:solidFill>
                  <a:srgbClr val="FFFFFF"/>
                </a:solidFill>
                <a:latin typeface="Arial"/>
                <a:cs typeface="Arial"/>
              </a:rPr>
              <a:t>ea</a:t>
            </a:r>
            <a:r>
              <a:rPr sz="1600" b="1" spc="-100" dirty="0">
                <a:solidFill>
                  <a:srgbClr val="FFFFFF"/>
                </a:solidFill>
                <a:latin typeface="Arial"/>
                <a:cs typeface="Arial"/>
              </a:rPr>
              <a:t>s</a:t>
            </a:r>
            <a:r>
              <a:rPr sz="1600" b="1" spc="-65" dirty="0">
                <a:solidFill>
                  <a:srgbClr val="FFFFFF"/>
                </a:solidFill>
                <a:latin typeface="Arial"/>
                <a:cs typeface="Arial"/>
              </a:rPr>
              <a:t>y</a:t>
            </a:r>
            <a:r>
              <a:rPr sz="1600" b="1" spc="15" dirty="0">
                <a:solidFill>
                  <a:srgbClr val="FFFFFF"/>
                </a:solidFill>
                <a:latin typeface="Arial"/>
                <a:cs typeface="Arial"/>
              </a:rPr>
              <a:t>.</a:t>
            </a:r>
            <a:r>
              <a:rPr sz="1600" b="1" spc="-190" dirty="0">
                <a:solidFill>
                  <a:srgbClr val="FFFFFF"/>
                </a:solidFill>
                <a:latin typeface="Arial"/>
                <a:cs typeface="Arial"/>
              </a:rPr>
              <a:t> </a:t>
            </a:r>
            <a:r>
              <a:rPr sz="1600" b="1" spc="30" dirty="0">
                <a:solidFill>
                  <a:srgbClr val="FFFFFF"/>
                </a:solidFill>
                <a:latin typeface="Arial"/>
                <a:cs typeface="Arial"/>
              </a:rPr>
              <a:t>W</a:t>
            </a:r>
            <a:r>
              <a:rPr sz="1600" b="1" spc="35" dirty="0">
                <a:solidFill>
                  <a:srgbClr val="FFFFFF"/>
                </a:solidFill>
                <a:latin typeface="Arial"/>
                <a:cs typeface="Arial"/>
              </a:rPr>
              <a:t>e</a:t>
            </a:r>
            <a:r>
              <a:rPr sz="1600" b="1" spc="-114" dirty="0">
                <a:solidFill>
                  <a:srgbClr val="FFFFFF"/>
                </a:solidFill>
                <a:latin typeface="Arial"/>
                <a:cs typeface="Arial"/>
              </a:rPr>
              <a:t>’</a:t>
            </a:r>
            <a:r>
              <a:rPr sz="1600" b="1" spc="-10" dirty="0">
                <a:solidFill>
                  <a:srgbClr val="FFFFFF"/>
                </a:solidFill>
                <a:latin typeface="Arial"/>
                <a:cs typeface="Arial"/>
              </a:rPr>
              <a:t>l</a:t>
            </a:r>
            <a:r>
              <a:rPr sz="1600" b="1" spc="70" dirty="0">
                <a:solidFill>
                  <a:srgbClr val="FFFFFF"/>
                </a:solidFill>
                <a:latin typeface="Arial"/>
                <a:cs typeface="Arial"/>
              </a:rPr>
              <a:t>l</a:t>
            </a:r>
            <a:r>
              <a:rPr sz="1600" b="1" spc="-190" dirty="0">
                <a:solidFill>
                  <a:srgbClr val="FFFFFF"/>
                </a:solidFill>
                <a:latin typeface="Arial"/>
                <a:cs typeface="Arial"/>
              </a:rPr>
              <a:t> </a:t>
            </a:r>
            <a:r>
              <a:rPr sz="1600" b="1" spc="130" dirty="0">
                <a:solidFill>
                  <a:srgbClr val="FFFFFF"/>
                </a:solidFill>
                <a:latin typeface="Arial"/>
                <a:cs typeface="Arial"/>
              </a:rPr>
              <a:t>t</a:t>
            </a:r>
            <a:r>
              <a:rPr sz="1600" b="1" spc="25" dirty="0">
                <a:solidFill>
                  <a:srgbClr val="FFFFFF"/>
                </a:solidFill>
                <a:latin typeface="Arial"/>
                <a:cs typeface="Arial"/>
              </a:rPr>
              <a:t>a</a:t>
            </a:r>
            <a:r>
              <a:rPr sz="1600" b="1" spc="40" dirty="0">
                <a:solidFill>
                  <a:srgbClr val="FFFFFF"/>
                </a:solidFill>
                <a:latin typeface="Arial"/>
                <a:cs typeface="Arial"/>
              </a:rPr>
              <a:t>k</a:t>
            </a:r>
            <a:r>
              <a:rPr sz="1600" b="1" spc="95" dirty="0">
                <a:solidFill>
                  <a:srgbClr val="FFFFFF"/>
                </a:solidFill>
                <a:latin typeface="Arial"/>
                <a:cs typeface="Arial"/>
              </a:rPr>
              <a:t>e</a:t>
            </a:r>
            <a:r>
              <a:rPr sz="1600" b="1" spc="-190" dirty="0">
                <a:solidFill>
                  <a:srgbClr val="FFFFFF"/>
                </a:solidFill>
                <a:latin typeface="Arial"/>
                <a:cs typeface="Arial"/>
              </a:rPr>
              <a:t> </a:t>
            </a:r>
            <a:r>
              <a:rPr sz="1600" b="1" spc="105" dirty="0">
                <a:solidFill>
                  <a:srgbClr val="FFFFFF"/>
                </a:solidFill>
                <a:latin typeface="Arial"/>
                <a:cs typeface="Arial"/>
              </a:rPr>
              <a:t>a</a:t>
            </a:r>
            <a:r>
              <a:rPr sz="1600" b="1" spc="-190" dirty="0">
                <a:solidFill>
                  <a:srgbClr val="FFFFFF"/>
                </a:solidFill>
                <a:latin typeface="Arial"/>
                <a:cs typeface="Arial"/>
              </a:rPr>
              <a:t> </a:t>
            </a:r>
            <a:r>
              <a:rPr sz="1600" b="1" spc="-30" dirty="0">
                <a:solidFill>
                  <a:srgbClr val="FFFFFF"/>
                </a:solidFill>
                <a:latin typeface="Arial"/>
                <a:cs typeface="Arial"/>
              </a:rPr>
              <a:t>lo</a:t>
            </a:r>
            <a:r>
              <a:rPr sz="1600" b="1" spc="20" dirty="0">
                <a:solidFill>
                  <a:srgbClr val="FFFFFF"/>
                </a:solidFill>
                <a:latin typeface="Arial"/>
                <a:cs typeface="Arial"/>
              </a:rPr>
              <a:t>o</a:t>
            </a:r>
            <a:r>
              <a:rPr sz="1600" b="1" spc="95" dirty="0">
                <a:solidFill>
                  <a:srgbClr val="FFFFFF"/>
                </a:solidFill>
                <a:latin typeface="Arial"/>
                <a:cs typeface="Arial"/>
              </a:rPr>
              <a:t>k</a:t>
            </a:r>
            <a:r>
              <a:rPr sz="1600" b="1" spc="-190" dirty="0">
                <a:solidFill>
                  <a:srgbClr val="FFFFFF"/>
                </a:solidFill>
                <a:latin typeface="Arial"/>
                <a:cs typeface="Arial"/>
              </a:rPr>
              <a:t> </a:t>
            </a:r>
            <a:r>
              <a:rPr sz="1600" b="1" spc="15" dirty="0">
                <a:solidFill>
                  <a:srgbClr val="FFFFFF"/>
                </a:solidFill>
                <a:latin typeface="Arial"/>
                <a:cs typeface="Arial"/>
              </a:rPr>
              <a:t>a</a:t>
            </a:r>
            <a:r>
              <a:rPr sz="1600" b="1" spc="200" dirty="0">
                <a:solidFill>
                  <a:srgbClr val="FFFFFF"/>
                </a:solidFill>
                <a:latin typeface="Arial"/>
                <a:cs typeface="Arial"/>
              </a:rPr>
              <a:t>t</a:t>
            </a:r>
            <a:r>
              <a:rPr sz="1600" b="1" spc="-190" dirty="0">
                <a:solidFill>
                  <a:srgbClr val="FFFFFF"/>
                </a:solidFill>
                <a:latin typeface="Arial"/>
                <a:cs typeface="Arial"/>
              </a:rPr>
              <a:t> </a:t>
            </a:r>
            <a:r>
              <a:rPr sz="1600" b="1" spc="105" dirty="0">
                <a:solidFill>
                  <a:srgbClr val="FFFFFF"/>
                </a:solidFill>
                <a:latin typeface="Arial"/>
                <a:cs typeface="Arial"/>
              </a:rPr>
              <a:t>a</a:t>
            </a:r>
            <a:r>
              <a:rPr sz="1600" b="1" spc="-190" dirty="0">
                <a:solidFill>
                  <a:srgbClr val="FFFFFF"/>
                </a:solidFill>
                <a:latin typeface="Arial"/>
                <a:cs typeface="Arial"/>
              </a:rPr>
              <a:t> </a:t>
            </a:r>
            <a:r>
              <a:rPr sz="1600" b="1" spc="50" dirty="0">
                <a:solidFill>
                  <a:srgbClr val="FFFFFF"/>
                </a:solidFill>
                <a:latin typeface="Arial"/>
                <a:cs typeface="Arial"/>
              </a:rPr>
              <a:t>f</a:t>
            </a:r>
            <a:r>
              <a:rPr sz="1600" b="1" dirty="0">
                <a:solidFill>
                  <a:srgbClr val="FFFFFF"/>
                </a:solidFill>
                <a:latin typeface="Arial"/>
                <a:cs typeface="Arial"/>
              </a:rPr>
              <a:t>e</a:t>
            </a:r>
            <a:r>
              <a:rPr sz="1600" b="1" spc="120" dirty="0">
                <a:solidFill>
                  <a:srgbClr val="FFFFFF"/>
                </a:solidFill>
                <a:latin typeface="Arial"/>
                <a:cs typeface="Arial"/>
              </a:rPr>
              <a:t>w  </a:t>
            </a:r>
            <a:r>
              <a:rPr sz="1600" b="1" spc="105" dirty="0">
                <a:solidFill>
                  <a:srgbClr val="FFFFFF"/>
                </a:solidFill>
                <a:latin typeface="Arial"/>
                <a:cs typeface="Arial"/>
              </a:rPr>
              <a:t>w</a:t>
            </a:r>
            <a:r>
              <a:rPr sz="1600" b="1" dirty="0">
                <a:solidFill>
                  <a:srgbClr val="FFFFFF"/>
                </a:solidFill>
                <a:latin typeface="Arial"/>
                <a:cs typeface="Arial"/>
              </a:rPr>
              <a:t>a</a:t>
            </a:r>
            <a:r>
              <a:rPr sz="1600" b="1" spc="-10" dirty="0">
                <a:solidFill>
                  <a:srgbClr val="FFFFFF"/>
                </a:solidFill>
                <a:latin typeface="Arial"/>
                <a:cs typeface="Arial"/>
              </a:rPr>
              <a:t>y</a:t>
            </a:r>
            <a:r>
              <a:rPr sz="1600" b="1" spc="-40" dirty="0">
                <a:solidFill>
                  <a:srgbClr val="FFFFFF"/>
                </a:solidFill>
                <a:latin typeface="Arial"/>
                <a:cs typeface="Arial"/>
              </a:rPr>
              <a:t>s</a:t>
            </a:r>
            <a:r>
              <a:rPr sz="1600" b="1" spc="-190" dirty="0">
                <a:solidFill>
                  <a:srgbClr val="FFFFFF"/>
                </a:solidFill>
                <a:latin typeface="Arial"/>
                <a:cs typeface="Arial"/>
              </a:rPr>
              <a:t> </a:t>
            </a:r>
            <a:r>
              <a:rPr sz="1600" b="1" spc="5" dirty="0">
                <a:solidFill>
                  <a:srgbClr val="FFFFFF"/>
                </a:solidFill>
                <a:latin typeface="Arial"/>
                <a:cs typeface="Arial"/>
              </a:rPr>
              <a:t>t</a:t>
            </a:r>
            <a:r>
              <a:rPr sz="1600" b="1" spc="155" dirty="0">
                <a:solidFill>
                  <a:srgbClr val="FFFFFF"/>
                </a:solidFill>
                <a:latin typeface="Arial"/>
                <a:cs typeface="Arial"/>
              </a:rPr>
              <a:t>o</a:t>
            </a:r>
            <a:r>
              <a:rPr sz="1600" b="1" spc="-190" dirty="0">
                <a:solidFill>
                  <a:srgbClr val="FFFFFF"/>
                </a:solidFill>
                <a:latin typeface="Arial"/>
                <a:cs typeface="Arial"/>
              </a:rPr>
              <a:t> </a:t>
            </a:r>
            <a:r>
              <a:rPr sz="1600" b="1" spc="-5" dirty="0">
                <a:solidFill>
                  <a:srgbClr val="FFFFFF"/>
                </a:solidFill>
                <a:latin typeface="Arial"/>
                <a:cs typeface="Arial"/>
              </a:rPr>
              <a:t>i</a:t>
            </a:r>
            <a:r>
              <a:rPr sz="1600" b="1" spc="95" dirty="0">
                <a:solidFill>
                  <a:srgbClr val="FFFFFF"/>
                </a:solidFill>
                <a:latin typeface="Arial"/>
                <a:cs typeface="Arial"/>
              </a:rPr>
              <a:t>m</a:t>
            </a:r>
            <a:r>
              <a:rPr sz="1600" b="1" spc="-25" dirty="0">
                <a:solidFill>
                  <a:srgbClr val="FFFFFF"/>
                </a:solidFill>
                <a:latin typeface="Arial"/>
                <a:cs typeface="Arial"/>
              </a:rPr>
              <a:t>p</a:t>
            </a:r>
            <a:r>
              <a:rPr sz="1600" b="1" spc="-30" dirty="0">
                <a:solidFill>
                  <a:srgbClr val="FFFFFF"/>
                </a:solidFill>
                <a:latin typeface="Arial"/>
                <a:cs typeface="Arial"/>
              </a:rPr>
              <a:t>l</a:t>
            </a:r>
            <a:r>
              <a:rPr sz="1600" b="1" spc="35" dirty="0">
                <a:solidFill>
                  <a:srgbClr val="FFFFFF"/>
                </a:solidFill>
                <a:latin typeface="Arial"/>
                <a:cs typeface="Arial"/>
              </a:rPr>
              <a:t>e</a:t>
            </a:r>
            <a:r>
              <a:rPr sz="1600" b="1" spc="90" dirty="0">
                <a:solidFill>
                  <a:srgbClr val="FFFFFF"/>
                </a:solidFill>
                <a:latin typeface="Arial"/>
                <a:cs typeface="Arial"/>
              </a:rPr>
              <a:t>m</a:t>
            </a:r>
            <a:r>
              <a:rPr sz="1600" b="1" spc="20" dirty="0">
                <a:solidFill>
                  <a:srgbClr val="FFFFFF"/>
                </a:solidFill>
                <a:latin typeface="Arial"/>
                <a:cs typeface="Arial"/>
              </a:rPr>
              <a:t>e</a:t>
            </a:r>
            <a:r>
              <a:rPr sz="1600" b="1" dirty="0">
                <a:solidFill>
                  <a:srgbClr val="FFFFFF"/>
                </a:solidFill>
                <a:latin typeface="Arial"/>
                <a:cs typeface="Arial"/>
              </a:rPr>
              <a:t>n</a:t>
            </a:r>
            <a:r>
              <a:rPr sz="1600" b="1" spc="200" dirty="0">
                <a:solidFill>
                  <a:srgbClr val="FFFFFF"/>
                </a:solidFill>
                <a:latin typeface="Arial"/>
                <a:cs typeface="Arial"/>
              </a:rPr>
              <a:t>t</a:t>
            </a:r>
            <a:r>
              <a:rPr sz="1600" b="1" spc="-190" dirty="0">
                <a:solidFill>
                  <a:srgbClr val="FFFFFF"/>
                </a:solidFill>
                <a:latin typeface="Arial"/>
                <a:cs typeface="Arial"/>
              </a:rPr>
              <a:t> </a:t>
            </a:r>
            <a:r>
              <a:rPr sz="1600" b="1" spc="-40" dirty="0">
                <a:solidFill>
                  <a:srgbClr val="FFFFFF"/>
                </a:solidFill>
                <a:latin typeface="Arial"/>
                <a:cs typeface="Arial"/>
              </a:rPr>
              <a:t>A</a:t>
            </a:r>
            <a:r>
              <a:rPr sz="1600" b="1" spc="-90" dirty="0">
                <a:solidFill>
                  <a:srgbClr val="FFFFFF"/>
                </a:solidFill>
                <a:latin typeface="Arial"/>
                <a:cs typeface="Arial"/>
              </a:rPr>
              <a:t>g</a:t>
            </a:r>
            <a:r>
              <a:rPr sz="1600" b="1" spc="-5" dirty="0">
                <a:solidFill>
                  <a:srgbClr val="FFFFFF"/>
                </a:solidFill>
                <a:latin typeface="Arial"/>
                <a:cs typeface="Arial"/>
              </a:rPr>
              <a:t>i</a:t>
            </a:r>
            <a:r>
              <a:rPr sz="1600" b="1" spc="-15" dirty="0">
                <a:solidFill>
                  <a:srgbClr val="FFFFFF"/>
                </a:solidFill>
                <a:latin typeface="Arial"/>
                <a:cs typeface="Arial"/>
              </a:rPr>
              <a:t>le  </a:t>
            </a:r>
            <a:r>
              <a:rPr sz="1600" b="1" spc="-25" dirty="0">
                <a:solidFill>
                  <a:srgbClr val="FFFFFF"/>
                </a:solidFill>
                <a:latin typeface="Arial"/>
                <a:cs typeface="Arial"/>
              </a:rPr>
              <a:t>p</a:t>
            </a:r>
            <a:r>
              <a:rPr sz="1600" b="1" spc="25" dirty="0">
                <a:solidFill>
                  <a:srgbClr val="FFFFFF"/>
                </a:solidFill>
                <a:latin typeface="Arial"/>
                <a:cs typeface="Arial"/>
              </a:rPr>
              <a:t>r</a:t>
            </a:r>
            <a:r>
              <a:rPr sz="1600" b="1" spc="20" dirty="0">
                <a:solidFill>
                  <a:srgbClr val="FFFFFF"/>
                </a:solidFill>
                <a:latin typeface="Arial"/>
                <a:cs typeface="Arial"/>
              </a:rPr>
              <a:t>a</a:t>
            </a:r>
            <a:r>
              <a:rPr sz="1600" b="1" spc="-95" dirty="0">
                <a:solidFill>
                  <a:srgbClr val="FFFFFF"/>
                </a:solidFill>
                <a:latin typeface="Arial"/>
                <a:cs typeface="Arial"/>
              </a:rPr>
              <a:t>c</a:t>
            </a:r>
            <a:r>
              <a:rPr sz="1600" b="1" spc="135" dirty="0">
                <a:solidFill>
                  <a:srgbClr val="FFFFFF"/>
                </a:solidFill>
                <a:latin typeface="Arial"/>
                <a:cs typeface="Arial"/>
              </a:rPr>
              <a:t>t</a:t>
            </a:r>
            <a:r>
              <a:rPr sz="1600" b="1" spc="-10" dirty="0">
                <a:solidFill>
                  <a:srgbClr val="FFFFFF"/>
                </a:solidFill>
                <a:latin typeface="Arial"/>
                <a:cs typeface="Arial"/>
              </a:rPr>
              <a:t>i</a:t>
            </a:r>
            <a:r>
              <a:rPr sz="1600" b="1" spc="-114" dirty="0">
                <a:solidFill>
                  <a:srgbClr val="FFFFFF"/>
                </a:solidFill>
                <a:latin typeface="Arial"/>
                <a:cs typeface="Arial"/>
              </a:rPr>
              <a:t>c</a:t>
            </a:r>
            <a:r>
              <a:rPr sz="1600" b="1" spc="10" dirty="0">
                <a:solidFill>
                  <a:srgbClr val="FFFFFF"/>
                </a:solidFill>
                <a:latin typeface="Arial"/>
                <a:cs typeface="Arial"/>
              </a:rPr>
              <a:t>e</a:t>
            </a:r>
            <a:r>
              <a:rPr sz="1600" b="1" spc="-40" dirty="0">
                <a:solidFill>
                  <a:srgbClr val="FFFFFF"/>
                </a:solidFill>
                <a:latin typeface="Arial"/>
                <a:cs typeface="Arial"/>
              </a:rPr>
              <a:t>s</a:t>
            </a:r>
            <a:r>
              <a:rPr sz="1600" b="1" spc="-190" dirty="0">
                <a:solidFill>
                  <a:srgbClr val="FFFFFF"/>
                </a:solidFill>
                <a:latin typeface="Arial"/>
                <a:cs typeface="Arial"/>
              </a:rPr>
              <a:t> </a:t>
            </a:r>
            <a:r>
              <a:rPr sz="1600" b="1" spc="25" dirty="0">
                <a:solidFill>
                  <a:srgbClr val="FFFFFF"/>
                </a:solidFill>
                <a:latin typeface="Arial"/>
                <a:cs typeface="Arial"/>
              </a:rPr>
              <a:t>a</a:t>
            </a:r>
            <a:r>
              <a:rPr sz="1600" b="1" spc="10" dirty="0">
                <a:solidFill>
                  <a:srgbClr val="FFFFFF"/>
                </a:solidFill>
                <a:latin typeface="Arial"/>
                <a:cs typeface="Arial"/>
              </a:rPr>
              <a:t>n</a:t>
            </a:r>
            <a:r>
              <a:rPr sz="1600" b="1" spc="50" dirty="0">
                <a:solidFill>
                  <a:srgbClr val="FFFFFF"/>
                </a:solidFill>
                <a:latin typeface="Arial"/>
                <a:cs typeface="Arial"/>
              </a:rPr>
              <a:t>d</a:t>
            </a:r>
            <a:r>
              <a:rPr sz="1600" b="1" spc="-190" dirty="0">
                <a:solidFill>
                  <a:srgbClr val="FFFFFF"/>
                </a:solidFill>
                <a:latin typeface="Arial"/>
                <a:cs typeface="Arial"/>
              </a:rPr>
              <a:t> </a:t>
            </a:r>
            <a:r>
              <a:rPr sz="1600" b="1" spc="5" dirty="0">
                <a:solidFill>
                  <a:srgbClr val="FFFFFF"/>
                </a:solidFill>
                <a:latin typeface="Arial"/>
                <a:cs typeface="Arial"/>
              </a:rPr>
              <a:t>h</a:t>
            </a:r>
            <a:r>
              <a:rPr sz="1600" b="1" spc="-65" dirty="0">
                <a:solidFill>
                  <a:srgbClr val="FFFFFF"/>
                </a:solidFill>
                <a:latin typeface="Arial"/>
                <a:cs typeface="Arial"/>
              </a:rPr>
              <a:t>o</a:t>
            </a:r>
            <a:r>
              <a:rPr sz="1600" b="1" spc="210" dirty="0">
                <a:solidFill>
                  <a:srgbClr val="FFFFFF"/>
                </a:solidFill>
                <a:latin typeface="Arial"/>
                <a:cs typeface="Arial"/>
              </a:rPr>
              <a:t>w</a:t>
            </a:r>
            <a:r>
              <a:rPr sz="1600" b="1" spc="-190" dirty="0">
                <a:solidFill>
                  <a:srgbClr val="FFFFFF"/>
                </a:solidFill>
                <a:latin typeface="Arial"/>
                <a:cs typeface="Arial"/>
              </a:rPr>
              <a:t> </a:t>
            </a:r>
            <a:r>
              <a:rPr sz="1600" b="1" spc="5" dirty="0">
                <a:solidFill>
                  <a:srgbClr val="FFFFFF"/>
                </a:solidFill>
                <a:latin typeface="Arial"/>
                <a:cs typeface="Arial"/>
              </a:rPr>
              <a:t>t</a:t>
            </a:r>
            <a:r>
              <a:rPr sz="1600" b="1" spc="155" dirty="0">
                <a:solidFill>
                  <a:srgbClr val="FFFFFF"/>
                </a:solidFill>
                <a:latin typeface="Arial"/>
                <a:cs typeface="Arial"/>
              </a:rPr>
              <a:t>o</a:t>
            </a:r>
            <a:r>
              <a:rPr sz="1600" b="1" spc="-190" dirty="0">
                <a:solidFill>
                  <a:srgbClr val="FFFFFF"/>
                </a:solidFill>
                <a:latin typeface="Arial"/>
                <a:cs typeface="Arial"/>
              </a:rPr>
              <a:t> </a:t>
            </a:r>
            <a:r>
              <a:rPr sz="1600" b="1" spc="-30" dirty="0">
                <a:solidFill>
                  <a:srgbClr val="FFFFFF"/>
                </a:solidFill>
                <a:latin typeface="Arial"/>
                <a:cs typeface="Arial"/>
              </a:rPr>
              <a:t>p</a:t>
            </a:r>
            <a:r>
              <a:rPr sz="1600" b="1" spc="-10" dirty="0">
                <a:solidFill>
                  <a:srgbClr val="FFFFFF"/>
                </a:solidFill>
                <a:latin typeface="Arial"/>
                <a:cs typeface="Arial"/>
              </a:rPr>
              <a:t>i</a:t>
            </a:r>
            <a:r>
              <a:rPr sz="1600" b="1" spc="-105" dirty="0">
                <a:solidFill>
                  <a:srgbClr val="FFFFFF"/>
                </a:solidFill>
                <a:latin typeface="Arial"/>
                <a:cs typeface="Arial"/>
              </a:rPr>
              <a:t>c</a:t>
            </a:r>
            <a:r>
              <a:rPr sz="1600" b="1" spc="160" dirty="0">
                <a:solidFill>
                  <a:srgbClr val="FFFFFF"/>
                </a:solidFill>
                <a:latin typeface="Arial"/>
                <a:cs typeface="Arial"/>
              </a:rPr>
              <a:t>k</a:t>
            </a:r>
            <a:r>
              <a:rPr sz="1600" b="1" spc="-190" dirty="0">
                <a:solidFill>
                  <a:srgbClr val="FFFFFF"/>
                </a:solidFill>
                <a:latin typeface="Arial"/>
                <a:cs typeface="Arial"/>
              </a:rPr>
              <a:t> </a:t>
            </a:r>
            <a:r>
              <a:rPr sz="1600" b="1" spc="135" dirty="0">
                <a:solidFill>
                  <a:srgbClr val="FFFFFF"/>
                </a:solidFill>
                <a:latin typeface="Arial"/>
                <a:cs typeface="Arial"/>
              </a:rPr>
              <a:t>t</a:t>
            </a:r>
            <a:r>
              <a:rPr sz="1600" b="1" spc="5" dirty="0">
                <a:solidFill>
                  <a:srgbClr val="FFFFFF"/>
                </a:solidFill>
                <a:latin typeface="Arial"/>
                <a:cs typeface="Arial"/>
              </a:rPr>
              <a:t>h</a:t>
            </a:r>
            <a:r>
              <a:rPr sz="1600" b="1" spc="65" dirty="0">
                <a:solidFill>
                  <a:srgbClr val="FFFFFF"/>
                </a:solidFill>
                <a:latin typeface="Arial"/>
                <a:cs typeface="Arial"/>
              </a:rPr>
              <a:t>e  </a:t>
            </a:r>
            <a:r>
              <a:rPr sz="1600" b="1" spc="45" dirty="0">
                <a:solidFill>
                  <a:srgbClr val="FFFFFF"/>
                </a:solidFill>
                <a:latin typeface="Arial"/>
                <a:cs typeface="Arial"/>
              </a:rPr>
              <a:t>r</a:t>
            </a:r>
            <a:r>
              <a:rPr sz="1600" b="1" spc="-15" dirty="0">
                <a:solidFill>
                  <a:srgbClr val="FFFFFF"/>
                </a:solidFill>
                <a:latin typeface="Arial"/>
                <a:cs typeface="Arial"/>
              </a:rPr>
              <a:t>i</a:t>
            </a:r>
            <a:r>
              <a:rPr sz="1600" b="1" spc="-85" dirty="0">
                <a:solidFill>
                  <a:srgbClr val="FFFFFF"/>
                </a:solidFill>
                <a:latin typeface="Arial"/>
                <a:cs typeface="Arial"/>
              </a:rPr>
              <a:t>g</a:t>
            </a:r>
            <a:r>
              <a:rPr sz="1600" b="1" dirty="0">
                <a:solidFill>
                  <a:srgbClr val="FFFFFF"/>
                </a:solidFill>
                <a:latin typeface="Arial"/>
                <a:cs typeface="Arial"/>
              </a:rPr>
              <a:t>h</a:t>
            </a:r>
            <a:r>
              <a:rPr sz="1600" b="1" spc="200" dirty="0">
                <a:solidFill>
                  <a:srgbClr val="FFFFFF"/>
                </a:solidFill>
                <a:latin typeface="Arial"/>
                <a:cs typeface="Arial"/>
              </a:rPr>
              <a:t>t</a:t>
            </a:r>
            <a:r>
              <a:rPr sz="1600" b="1" spc="-190" dirty="0">
                <a:solidFill>
                  <a:srgbClr val="FFFFFF"/>
                </a:solidFill>
                <a:latin typeface="Arial"/>
                <a:cs typeface="Arial"/>
              </a:rPr>
              <a:t> </a:t>
            </a:r>
            <a:r>
              <a:rPr sz="1600" b="1" spc="-40" dirty="0">
                <a:solidFill>
                  <a:srgbClr val="FFFFFF"/>
                </a:solidFill>
                <a:latin typeface="Arial"/>
                <a:cs typeface="Arial"/>
              </a:rPr>
              <a:t>A</a:t>
            </a:r>
            <a:r>
              <a:rPr sz="1600" b="1" spc="-90" dirty="0">
                <a:solidFill>
                  <a:srgbClr val="FFFFFF"/>
                </a:solidFill>
                <a:latin typeface="Arial"/>
                <a:cs typeface="Arial"/>
              </a:rPr>
              <a:t>g</a:t>
            </a:r>
            <a:r>
              <a:rPr sz="1600" b="1" spc="-5" dirty="0">
                <a:solidFill>
                  <a:srgbClr val="FFFFFF"/>
                </a:solidFill>
                <a:latin typeface="Arial"/>
                <a:cs typeface="Arial"/>
              </a:rPr>
              <a:t>i</a:t>
            </a:r>
            <a:r>
              <a:rPr sz="1600" b="1" spc="-30" dirty="0">
                <a:solidFill>
                  <a:srgbClr val="FFFFFF"/>
                </a:solidFill>
                <a:latin typeface="Arial"/>
                <a:cs typeface="Arial"/>
              </a:rPr>
              <a:t>l</a:t>
            </a:r>
            <a:r>
              <a:rPr sz="1600" b="1" spc="110" dirty="0">
                <a:solidFill>
                  <a:srgbClr val="FFFFFF"/>
                </a:solidFill>
                <a:latin typeface="Arial"/>
                <a:cs typeface="Arial"/>
              </a:rPr>
              <a:t>e</a:t>
            </a:r>
            <a:r>
              <a:rPr sz="1600" b="1" spc="-190" dirty="0">
                <a:solidFill>
                  <a:srgbClr val="FFFFFF"/>
                </a:solidFill>
                <a:latin typeface="Arial"/>
                <a:cs typeface="Arial"/>
              </a:rPr>
              <a:t> </a:t>
            </a:r>
            <a:r>
              <a:rPr sz="1600" b="1" spc="5" dirty="0">
                <a:solidFill>
                  <a:srgbClr val="FFFFFF"/>
                </a:solidFill>
                <a:latin typeface="Arial"/>
                <a:cs typeface="Arial"/>
              </a:rPr>
              <a:t>t</a:t>
            </a:r>
            <a:r>
              <a:rPr sz="1600" b="1" spc="70" dirty="0">
                <a:solidFill>
                  <a:srgbClr val="FFFFFF"/>
                </a:solidFill>
                <a:latin typeface="Arial"/>
                <a:cs typeface="Arial"/>
              </a:rPr>
              <a:t>o</a:t>
            </a:r>
            <a:r>
              <a:rPr sz="1600" b="1" spc="-10" dirty="0">
                <a:solidFill>
                  <a:srgbClr val="FFFFFF"/>
                </a:solidFill>
                <a:latin typeface="Arial"/>
                <a:cs typeface="Arial"/>
              </a:rPr>
              <a:t>o</a:t>
            </a:r>
            <a:r>
              <a:rPr sz="1600" b="1" spc="-25" dirty="0">
                <a:solidFill>
                  <a:srgbClr val="FFFFFF"/>
                </a:solidFill>
                <a:latin typeface="Arial"/>
                <a:cs typeface="Arial"/>
              </a:rPr>
              <a:t>l</a:t>
            </a:r>
            <a:r>
              <a:rPr sz="1600" b="1" spc="15" dirty="0">
                <a:solidFill>
                  <a:srgbClr val="FFFFFF"/>
                </a:solidFill>
                <a:latin typeface="Arial"/>
                <a:cs typeface="Arial"/>
              </a:rPr>
              <a:t>.</a:t>
            </a:r>
            <a:endParaRPr sz="1600">
              <a:latin typeface="Arial"/>
              <a:cs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1920239"/>
          </a:xfrm>
          <a:custGeom>
            <a:avLst/>
            <a:gdLst/>
            <a:ahLst/>
            <a:cxnLst/>
            <a:rect l="l" t="t" r="r" b="b"/>
            <a:pathLst>
              <a:path w="9144000" h="1920239">
                <a:moveTo>
                  <a:pt x="9144000" y="0"/>
                </a:moveTo>
                <a:lnTo>
                  <a:pt x="0" y="0"/>
                </a:lnTo>
                <a:lnTo>
                  <a:pt x="0" y="1920074"/>
                </a:lnTo>
                <a:lnTo>
                  <a:pt x="9144000" y="1920074"/>
                </a:lnTo>
                <a:lnTo>
                  <a:pt x="9144000" y="0"/>
                </a:lnTo>
                <a:close/>
              </a:path>
            </a:pathLst>
          </a:custGeom>
          <a:solidFill>
            <a:srgbClr val="00BC31"/>
          </a:solidFill>
        </p:spPr>
        <p:txBody>
          <a:bodyPr wrap="square" lIns="0" tIns="0" rIns="0" bIns="0" rtlCol="0"/>
          <a:lstStyle/>
          <a:p>
            <a:endParaRPr/>
          </a:p>
        </p:txBody>
      </p:sp>
      <p:sp>
        <p:nvSpPr>
          <p:cNvPr id="3" name="object 3"/>
          <p:cNvSpPr txBox="1"/>
          <p:nvPr/>
        </p:nvSpPr>
        <p:spPr>
          <a:xfrm>
            <a:off x="6502400" y="622696"/>
            <a:ext cx="2122805" cy="1016000"/>
          </a:xfrm>
          <a:prstGeom prst="rect">
            <a:avLst/>
          </a:prstGeom>
        </p:spPr>
        <p:txBody>
          <a:bodyPr vert="horz" wrap="square" lIns="0" tIns="12700" rIns="0" bIns="0" rtlCol="0">
            <a:spAutoFit/>
          </a:bodyPr>
          <a:lstStyle/>
          <a:p>
            <a:pPr marL="12700" marR="5080">
              <a:lnSpc>
                <a:spcPct val="100000"/>
              </a:lnSpc>
              <a:spcBef>
                <a:spcPts val="100"/>
              </a:spcBef>
            </a:pPr>
            <a:r>
              <a:rPr sz="1300" spc="-30" dirty="0">
                <a:solidFill>
                  <a:srgbClr val="FFFFFF"/>
                </a:solidFill>
                <a:latin typeface="Roboto Lt"/>
                <a:cs typeface="Roboto Lt"/>
              </a:rPr>
              <a:t>Whichever route you </a:t>
            </a:r>
            <a:r>
              <a:rPr sz="1300" spc="-25" dirty="0">
                <a:solidFill>
                  <a:srgbClr val="FFFFFF"/>
                </a:solidFill>
                <a:latin typeface="Roboto Lt"/>
                <a:cs typeface="Roboto Lt"/>
              </a:rPr>
              <a:t>choose, </a:t>
            </a:r>
            <a:r>
              <a:rPr sz="1300" spc="-20" dirty="0">
                <a:solidFill>
                  <a:srgbClr val="FFFFFF"/>
                </a:solidFill>
                <a:latin typeface="Roboto Lt"/>
                <a:cs typeface="Roboto Lt"/>
              </a:rPr>
              <a:t> </a:t>
            </a:r>
            <a:r>
              <a:rPr sz="1300" spc="-25" dirty="0">
                <a:solidFill>
                  <a:srgbClr val="FFFFFF"/>
                </a:solidFill>
                <a:latin typeface="Roboto Lt"/>
                <a:cs typeface="Roboto Lt"/>
              </a:rPr>
              <a:t>remember </a:t>
            </a:r>
            <a:r>
              <a:rPr sz="1300" spc="-30" dirty="0">
                <a:solidFill>
                  <a:srgbClr val="FFFFFF"/>
                </a:solidFill>
                <a:latin typeface="Roboto Lt"/>
                <a:cs typeface="Roboto Lt"/>
              </a:rPr>
              <a:t>that </a:t>
            </a:r>
            <a:r>
              <a:rPr sz="1300" spc="-25" dirty="0">
                <a:solidFill>
                  <a:srgbClr val="FFFFFF"/>
                </a:solidFill>
                <a:latin typeface="Roboto Lt"/>
                <a:cs typeface="Roboto Lt"/>
              </a:rPr>
              <a:t>Agile is flexible </a:t>
            </a:r>
            <a:r>
              <a:rPr sz="1300" spc="-305" dirty="0">
                <a:solidFill>
                  <a:srgbClr val="FFFFFF"/>
                </a:solidFill>
                <a:latin typeface="Roboto Lt"/>
                <a:cs typeface="Roboto Lt"/>
              </a:rPr>
              <a:t> </a:t>
            </a:r>
            <a:r>
              <a:rPr sz="1300" spc="-25" dirty="0">
                <a:solidFill>
                  <a:srgbClr val="FFFFFF"/>
                </a:solidFill>
                <a:latin typeface="Roboto Lt"/>
                <a:cs typeface="Roboto Lt"/>
              </a:rPr>
              <a:t>in its </a:t>
            </a:r>
            <a:r>
              <a:rPr sz="1300" spc="-20" dirty="0">
                <a:solidFill>
                  <a:srgbClr val="FFFFFF"/>
                </a:solidFill>
                <a:latin typeface="Roboto Lt"/>
                <a:cs typeface="Roboto Lt"/>
              </a:rPr>
              <a:t>very </a:t>
            </a:r>
            <a:r>
              <a:rPr sz="1300" spc="-35" dirty="0">
                <a:solidFill>
                  <a:srgbClr val="FFFFFF"/>
                </a:solidFill>
                <a:latin typeface="Roboto Lt"/>
                <a:cs typeface="Roboto Lt"/>
              </a:rPr>
              <a:t>nature. </a:t>
            </a:r>
            <a:r>
              <a:rPr sz="1300" spc="-25" dirty="0">
                <a:solidFill>
                  <a:srgbClr val="FFFFFF"/>
                </a:solidFill>
                <a:latin typeface="Roboto Lt"/>
                <a:cs typeface="Roboto Lt"/>
              </a:rPr>
              <a:t>There is </a:t>
            </a:r>
            <a:r>
              <a:rPr sz="1300" spc="-15" dirty="0">
                <a:solidFill>
                  <a:srgbClr val="FFFFFF"/>
                </a:solidFill>
                <a:latin typeface="Roboto Lt"/>
                <a:cs typeface="Roboto Lt"/>
              </a:rPr>
              <a:t>no </a:t>
            </a:r>
            <a:r>
              <a:rPr sz="1300" spc="-10" dirty="0">
                <a:solidFill>
                  <a:srgbClr val="FFFFFF"/>
                </a:solidFill>
                <a:latin typeface="Roboto Lt"/>
                <a:cs typeface="Roboto Lt"/>
              </a:rPr>
              <a:t> </a:t>
            </a:r>
            <a:r>
              <a:rPr sz="1300" spc="-30" dirty="0">
                <a:solidFill>
                  <a:srgbClr val="FFFFFF"/>
                </a:solidFill>
                <a:latin typeface="Roboto Lt"/>
                <a:cs typeface="Roboto Lt"/>
              </a:rPr>
              <a:t>wrong </a:t>
            </a:r>
            <a:r>
              <a:rPr sz="1300" spc="-15" dirty="0">
                <a:solidFill>
                  <a:srgbClr val="FFFFFF"/>
                </a:solidFill>
                <a:latin typeface="Roboto Lt"/>
                <a:cs typeface="Roboto Lt"/>
              </a:rPr>
              <a:t>or </a:t>
            </a:r>
            <a:r>
              <a:rPr sz="1300" spc="-30" dirty="0">
                <a:solidFill>
                  <a:srgbClr val="FFFFFF"/>
                </a:solidFill>
                <a:latin typeface="Roboto Lt"/>
                <a:cs typeface="Roboto Lt"/>
              </a:rPr>
              <a:t>right </a:t>
            </a:r>
            <a:r>
              <a:rPr sz="1300" spc="-40" dirty="0">
                <a:solidFill>
                  <a:srgbClr val="FFFFFF"/>
                </a:solidFill>
                <a:latin typeface="Roboto Lt"/>
                <a:cs typeface="Roboto Lt"/>
              </a:rPr>
              <a:t>way </a:t>
            </a:r>
            <a:r>
              <a:rPr sz="1300" spc="-30" dirty="0">
                <a:solidFill>
                  <a:srgbClr val="FFFFFF"/>
                </a:solidFill>
                <a:latin typeface="Roboto Lt"/>
                <a:cs typeface="Roboto Lt"/>
              </a:rPr>
              <a:t>to </a:t>
            </a:r>
            <a:r>
              <a:rPr sz="1300" spc="-20" dirty="0">
                <a:solidFill>
                  <a:srgbClr val="FFFFFF"/>
                </a:solidFill>
                <a:latin typeface="Roboto Lt"/>
                <a:cs typeface="Roboto Lt"/>
              </a:rPr>
              <a:t>get </a:t>
            </a:r>
            <a:r>
              <a:rPr sz="1300" spc="-15" dirty="0">
                <a:solidFill>
                  <a:srgbClr val="FFFFFF"/>
                </a:solidFill>
                <a:latin typeface="Roboto Lt"/>
                <a:cs typeface="Roboto Lt"/>
              </a:rPr>
              <a:t> </a:t>
            </a:r>
            <a:r>
              <a:rPr sz="1300" spc="-25" dirty="0">
                <a:solidFill>
                  <a:srgbClr val="FFFFFF"/>
                </a:solidFill>
                <a:latin typeface="Roboto Lt"/>
                <a:cs typeface="Roboto Lt"/>
              </a:rPr>
              <a:t>started</a:t>
            </a:r>
            <a:r>
              <a:rPr sz="1300" spc="-35" dirty="0">
                <a:solidFill>
                  <a:srgbClr val="FFFFFF"/>
                </a:solidFill>
                <a:latin typeface="Roboto Lt"/>
                <a:cs typeface="Roboto Lt"/>
              </a:rPr>
              <a:t> </a:t>
            </a:r>
            <a:r>
              <a:rPr sz="1300" spc="-30" dirty="0">
                <a:solidFill>
                  <a:srgbClr val="FFFFFF"/>
                </a:solidFill>
                <a:latin typeface="Roboto Lt"/>
                <a:cs typeface="Roboto Lt"/>
              </a:rPr>
              <a:t>with </a:t>
            </a:r>
            <a:r>
              <a:rPr sz="1300" spc="-25" dirty="0">
                <a:solidFill>
                  <a:srgbClr val="FFFFFF"/>
                </a:solidFill>
                <a:latin typeface="Roboto Lt"/>
                <a:cs typeface="Roboto Lt"/>
              </a:rPr>
              <a:t>Agile.</a:t>
            </a:r>
            <a:endParaRPr sz="1300">
              <a:latin typeface="Roboto Lt"/>
              <a:cs typeface="Roboto Lt"/>
            </a:endParaRPr>
          </a:p>
        </p:txBody>
      </p:sp>
      <p:sp>
        <p:nvSpPr>
          <p:cNvPr id="4" name="object 4"/>
          <p:cNvSpPr txBox="1">
            <a:spLocks noGrp="1"/>
          </p:cNvSpPr>
          <p:nvPr>
            <p:ph type="title"/>
          </p:nvPr>
        </p:nvSpPr>
        <p:spPr>
          <a:xfrm>
            <a:off x="526368" y="411876"/>
            <a:ext cx="5655310" cy="711200"/>
          </a:xfrm>
          <a:prstGeom prst="rect">
            <a:avLst/>
          </a:prstGeom>
        </p:spPr>
        <p:txBody>
          <a:bodyPr vert="horz" wrap="square" lIns="0" tIns="12700" rIns="0" bIns="0" rtlCol="0">
            <a:spAutoFit/>
          </a:bodyPr>
          <a:lstStyle/>
          <a:p>
            <a:pPr marL="12700">
              <a:lnSpc>
                <a:spcPct val="100000"/>
              </a:lnSpc>
              <a:spcBef>
                <a:spcPts val="100"/>
              </a:spcBef>
            </a:pPr>
            <a:r>
              <a:rPr spc="130" dirty="0"/>
              <a:t>3</a:t>
            </a:r>
            <a:r>
              <a:rPr spc="-600" dirty="0"/>
              <a:t> </a:t>
            </a:r>
            <a:r>
              <a:rPr spc="20" dirty="0"/>
              <a:t>W</a:t>
            </a:r>
            <a:r>
              <a:rPr spc="-40" dirty="0"/>
              <a:t>a</a:t>
            </a:r>
            <a:r>
              <a:rPr spc="-65" dirty="0"/>
              <a:t>y</a:t>
            </a:r>
            <a:r>
              <a:rPr spc="-105" dirty="0"/>
              <a:t>s</a:t>
            </a:r>
            <a:r>
              <a:rPr spc="-600" dirty="0"/>
              <a:t> </a:t>
            </a:r>
            <a:r>
              <a:rPr spc="300" dirty="0"/>
              <a:t>t</a:t>
            </a:r>
            <a:r>
              <a:rPr spc="114" dirty="0"/>
              <a:t>o</a:t>
            </a:r>
            <a:r>
              <a:rPr spc="-600" dirty="0"/>
              <a:t> </a:t>
            </a:r>
            <a:r>
              <a:rPr spc="55" dirty="0"/>
              <a:t>I</a:t>
            </a:r>
            <a:r>
              <a:rPr spc="235" dirty="0"/>
              <a:t>m</a:t>
            </a:r>
            <a:r>
              <a:rPr spc="-105" dirty="0"/>
              <a:t>p</a:t>
            </a:r>
            <a:r>
              <a:rPr spc="-70" dirty="0"/>
              <a:t>l</a:t>
            </a:r>
            <a:r>
              <a:rPr spc="25" dirty="0"/>
              <a:t>e</a:t>
            </a:r>
            <a:r>
              <a:rPr spc="220" dirty="0"/>
              <a:t>m</a:t>
            </a:r>
            <a:r>
              <a:rPr spc="25" dirty="0"/>
              <a:t>e</a:t>
            </a:r>
            <a:r>
              <a:rPr spc="-25" dirty="0"/>
              <a:t>n</a:t>
            </a:r>
            <a:r>
              <a:rPr spc="570" dirty="0"/>
              <a:t>t</a:t>
            </a:r>
          </a:p>
        </p:txBody>
      </p:sp>
      <p:sp>
        <p:nvSpPr>
          <p:cNvPr id="5" name="object 5"/>
          <p:cNvSpPr txBox="1"/>
          <p:nvPr/>
        </p:nvSpPr>
        <p:spPr>
          <a:xfrm>
            <a:off x="526368" y="932576"/>
            <a:ext cx="3918585" cy="711200"/>
          </a:xfrm>
          <a:prstGeom prst="rect">
            <a:avLst/>
          </a:prstGeom>
        </p:spPr>
        <p:txBody>
          <a:bodyPr vert="horz" wrap="square" lIns="0" tIns="12700" rIns="0" bIns="0" rtlCol="0">
            <a:spAutoFit/>
          </a:bodyPr>
          <a:lstStyle/>
          <a:p>
            <a:pPr marL="12700">
              <a:lnSpc>
                <a:spcPct val="100000"/>
              </a:lnSpc>
              <a:spcBef>
                <a:spcPts val="100"/>
              </a:spcBef>
            </a:pPr>
            <a:r>
              <a:rPr sz="4500" b="1" spc="-150" dirty="0">
                <a:solidFill>
                  <a:srgbClr val="FFFFFF"/>
                </a:solidFill>
                <a:latin typeface="Arial"/>
                <a:cs typeface="Arial"/>
              </a:rPr>
              <a:t>A</a:t>
            </a:r>
            <a:r>
              <a:rPr sz="4500" b="1" spc="-280" dirty="0">
                <a:solidFill>
                  <a:srgbClr val="FFFFFF"/>
                </a:solidFill>
                <a:latin typeface="Arial"/>
                <a:cs typeface="Arial"/>
              </a:rPr>
              <a:t>g</a:t>
            </a:r>
            <a:r>
              <a:rPr sz="4500" b="1" spc="-55" dirty="0">
                <a:solidFill>
                  <a:srgbClr val="FFFFFF"/>
                </a:solidFill>
                <a:latin typeface="Arial"/>
                <a:cs typeface="Arial"/>
              </a:rPr>
              <a:t>i</a:t>
            </a:r>
            <a:r>
              <a:rPr sz="4500" b="1" spc="-70" dirty="0">
                <a:solidFill>
                  <a:srgbClr val="FFFFFF"/>
                </a:solidFill>
                <a:latin typeface="Arial"/>
                <a:cs typeface="Arial"/>
              </a:rPr>
              <a:t>l</a:t>
            </a:r>
            <a:r>
              <a:rPr sz="4500" b="1" spc="275" dirty="0">
                <a:solidFill>
                  <a:srgbClr val="FFFFFF"/>
                </a:solidFill>
                <a:latin typeface="Arial"/>
                <a:cs typeface="Arial"/>
              </a:rPr>
              <a:t>e</a:t>
            </a:r>
            <a:r>
              <a:rPr sz="4500" b="1" spc="-535" dirty="0">
                <a:solidFill>
                  <a:srgbClr val="FFFFFF"/>
                </a:solidFill>
                <a:latin typeface="Arial"/>
                <a:cs typeface="Arial"/>
              </a:rPr>
              <a:t> </a:t>
            </a:r>
            <a:r>
              <a:rPr sz="4500" b="1" spc="-455" dirty="0">
                <a:solidFill>
                  <a:srgbClr val="FFFFFF"/>
                </a:solidFill>
                <a:latin typeface="Arial"/>
                <a:cs typeface="Arial"/>
              </a:rPr>
              <a:t>P</a:t>
            </a:r>
            <a:r>
              <a:rPr sz="4500" b="1" spc="35" dirty="0">
                <a:solidFill>
                  <a:srgbClr val="FFFFFF"/>
                </a:solidFill>
                <a:latin typeface="Arial"/>
                <a:cs typeface="Arial"/>
              </a:rPr>
              <a:t>r</a:t>
            </a:r>
            <a:r>
              <a:rPr sz="4500" b="1" spc="25" dirty="0">
                <a:solidFill>
                  <a:srgbClr val="FFFFFF"/>
                </a:solidFill>
                <a:latin typeface="Arial"/>
                <a:cs typeface="Arial"/>
              </a:rPr>
              <a:t>a</a:t>
            </a:r>
            <a:r>
              <a:rPr sz="4500" b="1" spc="-290" dirty="0">
                <a:solidFill>
                  <a:srgbClr val="FFFFFF"/>
                </a:solidFill>
                <a:latin typeface="Arial"/>
                <a:cs typeface="Arial"/>
              </a:rPr>
              <a:t>c</a:t>
            </a:r>
            <a:r>
              <a:rPr sz="4500" b="1" spc="345" dirty="0">
                <a:solidFill>
                  <a:srgbClr val="FFFFFF"/>
                </a:solidFill>
                <a:latin typeface="Arial"/>
                <a:cs typeface="Arial"/>
              </a:rPr>
              <a:t>t</a:t>
            </a:r>
            <a:r>
              <a:rPr sz="4500" b="1" spc="-229" dirty="0">
                <a:solidFill>
                  <a:srgbClr val="FFFFFF"/>
                </a:solidFill>
                <a:latin typeface="Arial"/>
                <a:cs typeface="Arial"/>
              </a:rPr>
              <a:t>i</a:t>
            </a:r>
            <a:r>
              <a:rPr sz="4500" b="1" spc="-190" dirty="0">
                <a:solidFill>
                  <a:srgbClr val="FFFFFF"/>
                </a:solidFill>
                <a:latin typeface="Arial"/>
                <a:cs typeface="Arial"/>
              </a:rPr>
              <a:t>c</a:t>
            </a:r>
            <a:r>
              <a:rPr sz="4500" b="1" spc="-5" dirty="0">
                <a:solidFill>
                  <a:srgbClr val="FFFFFF"/>
                </a:solidFill>
                <a:latin typeface="Arial"/>
                <a:cs typeface="Arial"/>
              </a:rPr>
              <a:t>e</a:t>
            </a:r>
            <a:r>
              <a:rPr sz="4500" b="1" spc="-105" dirty="0">
                <a:solidFill>
                  <a:srgbClr val="FFFFFF"/>
                </a:solidFill>
                <a:latin typeface="Arial"/>
                <a:cs typeface="Arial"/>
              </a:rPr>
              <a:t>s</a:t>
            </a:r>
            <a:endParaRPr sz="4500">
              <a:latin typeface="Arial"/>
              <a:cs typeface="Arial"/>
            </a:endParaRPr>
          </a:p>
        </p:txBody>
      </p:sp>
      <p:grpSp>
        <p:nvGrpSpPr>
          <p:cNvPr id="6" name="object 6"/>
          <p:cNvGrpSpPr/>
          <p:nvPr/>
        </p:nvGrpSpPr>
        <p:grpSpPr>
          <a:xfrm>
            <a:off x="419100" y="1920074"/>
            <a:ext cx="8305800" cy="3452495"/>
            <a:chOff x="419100" y="1920074"/>
            <a:chExt cx="8305800" cy="3452495"/>
          </a:xfrm>
        </p:grpSpPr>
        <p:sp>
          <p:nvSpPr>
            <p:cNvPr id="7" name="object 7"/>
            <p:cNvSpPr/>
            <p:nvPr/>
          </p:nvSpPr>
          <p:spPr>
            <a:xfrm>
              <a:off x="5956300" y="1920074"/>
              <a:ext cx="2768600" cy="3452495"/>
            </a:xfrm>
            <a:custGeom>
              <a:avLst/>
              <a:gdLst/>
              <a:ahLst/>
              <a:cxnLst/>
              <a:rect l="l" t="t" r="r" b="b"/>
              <a:pathLst>
                <a:path w="2768600" h="3452495">
                  <a:moveTo>
                    <a:pt x="2768600" y="0"/>
                  </a:moveTo>
                  <a:lnTo>
                    <a:pt x="0" y="0"/>
                  </a:lnTo>
                  <a:lnTo>
                    <a:pt x="0" y="3452025"/>
                  </a:lnTo>
                  <a:lnTo>
                    <a:pt x="2768600" y="3452025"/>
                  </a:lnTo>
                  <a:lnTo>
                    <a:pt x="2768600" y="0"/>
                  </a:lnTo>
                  <a:close/>
                </a:path>
              </a:pathLst>
            </a:custGeom>
            <a:solidFill>
              <a:srgbClr val="D8F5E0"/>
            </a:solidFill>
          </p:spPr>
          <p:txBody>
            <a:bodyPr wrap="square" lIns="0" tIns="0" rIns="0" bIns="0" rtlCol="0"/>
            <a:lstStyle/>
            <a:p>
              <a:endParaRPr/>
            </a:p>
          </p:txBody>
        </p:sp>
        <p:sp>
          <p:nvSpPr>
            <p:cNvPr id="8" name="object 8"/>
            <p:cNvSpPr/>
            <p:nvPr/>
          </p:nvSpPr>
          <p:spPr>
            <a:xfrm>
              <a:off x="419100" y="1920074"/>
              <a:ext cx="2768600" cy="3452495"/>
            </a:xfrm>
            <a:custGeom>
              <a:avLst/>
              <a:gdLst/>
              <a:ahLst/>
              <a:cxnLst/>
              <a:rect l="l" t="t" r="r" b="b"/>
              <a:pathLst>
                <a:path w="2768600" h="3452495">
                  <a:moveTo>
                    <a:pt x="2768600" y="0"/>
                  </a:moveTo>
                  <a:lnTo>
                    <a:pt x="0" y="0"/>
                  </a:lnTo>
                  <a:lnTo>
                    <a:pt x="0" y="3452025"/>
                  </a:lnTo>
                  <a:lnTo>
                    <a:pt x="2768600" y="3452025"/>
                  </a:lnTo>
                  <a:lnTo>
                    <a:pt x="2768600" y="0"/>
                  </a:lnTo>
                  <a:close/>
                </a:path>
              </a:pathLst>
            </a:custGeom>
            <a:solidFill>
              <a:srgbClr val="F2FBF4"/>
            </a:solidFill>
          </p:spPr>
          <p:txBody>
            <a:bodyPr wrap="square" lIns="0" tIns="0" rIns="0" bIns="0" rtlCol="0"/>
            <a:lstStyle/>
            <a:p>
              <a:endParaRPr/>
            </a:p>
          </p:txBody>
        </p:sp>
        <p:sp>
          <p:nvSpPr>
            <p:cNvPr id="9" name="object 9"/>
            <p:cNvSpPr/>
            <p:nvPr/>
          </p:nvSpPr>
          <p:spPr>
            <a:xfrm>
              <a:off x="3187700" y="1920074"/>
              <a:ext cx="2768600" cy="3452495"/>
            </a:xfrm>
            <a:custGeom>
              <a:avLst/>
              <a:gdLst/>
              <a:ahLst/>
              <a:cxnLst/>
              <a:rect l="l" t="t" r="r" b="b"/>
              <a:pathLst>
                <a:path w="2768600" h="3452495">
                  <a:moveTo>
                    <a:pt x="2768600" y="0"/>
                  </a:moveTo>
                  <a:lnTo>
                    <a:pt x="0" y="0"/>
                  </a:lnTo>
                  <a:lnTo>
                    <a:pt x="0" y="3452025"/>
                  </a:lnTo>
                  <a:lnTo>
                    <a:pt x="2768600" y="3452025"/>
                  </a:lnTo>
                  <a:lnTo>
                    <a:pt x="2768600" y="0"/>
                  </a:lnTo>
                  <a:close/>
                </a:path>
              </a:pathLst>
            </a:custGeom>
            <a:solidFill>
              <a:srgbClr val="E5F8EA"/>
            </a:solidFill>
          </p:spPr>
          <p:txBody>
            <a:bodyPr wrap="square" lIns="0" tIns="0" rIns="0" bIns="0" rtlCol="0"/>
            <a:lstStyle/>
            <a:p>
              <a:endParaRPr/>
            </a:p>
          </p:txBody>
        </p:sp>
      </p:grpSp>
      <p:sp>
        <p:nvSpPr>
          <p:cNvPr id="10" name="object 10"/>
          <p:cNvSpPr txBox="1"/>
          <p:nvPr/>
        </p:nvSpPr>
        <p:spPr>
          <a:xfrm>
            <a:off x="706785" y="2321566"/>
            <a:ext cx="2172335" cy="1925320"/>
          </a:xfrm>
          <a:prstGeom prst="rect">
            <a:avLst/>
          </a:prstGeom>
        </p:spPr>
        <p:txBody>
          <a:bodyPr vert="horz" wrap="square" lIns="0" tIns="153035" rIns="0" bIns="0" rtlCol="0">
            <a:spAutoFit/>
          </a:bodyPr>
          <a:lstStyle/>
          <a:p>
            <a:pPr marL="12700">
              <a:lnSpc>
                <a:spcPct val="100000"/>
              </a:lnSpc>
              <a:spcBef>
                <a:spcPts val="1205"/>
              </a:spcBef>
            </a:pPr>
            <a:r>
              <a:rPr sz="2700" b="1" spc="30" dirty="0">
                <a:solidFill>
                  <a:srgbClr val="333333"/>
                </a:solidFill>
                <a:latin typeface="Arial"/>
                <a:cs typeface="Arial"/>
              </a:rPr>
              <a:t>Meetings</a:t>
            </a:r>
            <a:endParaRPr sz="2700">
              <a:latin typeface="Arial"/>
              <a:cs typeface="Arial"/>
            </a:endParaRPr>
          </a:p>
          <a:p>
            <a:pPr marL="12700" marR="5080">
              <a:lnSpc>
                <a:spcPct val="125000"/>
              </a:lnSpc>
              <a:spcBef>
                <a:spcPts val="110"/>
              </a:spcBef>
            </a:pPr>
            <a:r>
              <a:rPr sz="1000" spc="10" dirty="0">
                <a:solidFill>
                  <a:srgbClr val="333333"/>
                </a:solidFill>
                <a:latin typeface="Roboto Lt"/>
                <a:cs typeface="Roboto Lt"/>
              </a:rPr>
              <a:t>A</a:t>
            </a:r>
            <a:r>
              <a:rPr sz="1000" spc="-30" dirty="0">
                <a:solidFill>
                  <a:srgbClr val="333333"/>
                </a:solidFill>
                <a:latin typeface="Roboto Lt"/>
                <a:cs typeface="Roboto Lt"/>
              </a:rPr>
              <a:t> </a:t>
            </a:r>
            <a:r>
              <a:rPr sz="1000" spc="-15" dirty="0">
                <a:solidFill>
                  <a:srgbClr val="333333"/>
                </a:solidFill>
                <a:latin typeface="Roboto Lt"/>
                <a:cs typeface="Roboto Lt"/>
              </a:rPr>
              <a:t>simple</a:t>
            </a:r>
            <a:r>
              <a:rPr sz="1000" spc="-25" dirty="0">
                <a:solidFill>
                  <a:srgbClr val="333333"/>
                </a:solidFill>
                <a:latin typeface="Roboto Lt"/>
                <a:cs typeface="Roboto Lt"/>
              </a:rPr>
              <a:t> way </a:t>
            </a:r>
            <a:r>
              <a:rPr sz="1000" spc="-20" dirty="0">
                <a:solidFill>
                  <a:srgbClr val="333333"/>
                </a:solidFill>
                <a:latin typeface="Roboto Lt"/>
                <a:cs typeface="Roboto Lt"/>
              </a:rPr>
              <a:t>to</a:t>
            </a:r>
            <a:r>
              <a:rPr sz="1000" spc="-30" dirty="0">
                <a:solidFill>
                  <a:srgbClr val="333333"/>
                </a:solidFill>
                <a:latin typeface="Roboto Lt"/>
                <a:cs typeface="Roboto Lt"/>
              </a:rPr>
              <a:t> </a:t>
            </a:r>
            <a:r>
              <a:rPr sz="1000" spc="-10" dirty="0">
                <a:solidFill>
                  <a:srgbClr val="333333"/>
                </a:solidFill>
                <a:latin typeface="Roboto Lt"/>
                <a:cs typeface="Roboto Lt"/>
              </a:rPr>
              <a:t>get</a:t>
            </a:r>
            <a:r>
              <a:rPr sz="1000" spc="-25" dirty="0">
                <a:solidFill>
                  <a:srgbClr val="333333"/>
                </a:solidFill>
                <a:latin typeface="Roboto Lt"/>
                <a:cs typeface="Roboto Lt"/>
              </a:rPr>
              <a:t> </a:t>
            </a:r>
            <a:r>
              <a:rPr sz="1000" spc="-10" dirty="0">
                <a:solidFill>
                  <a:srgbClr val="333333"/>
                </a:solidFill>
                <a:latin typeface="Roboto Lt"/>
                <a:cs typeface="Roboto Lt"/>
              </a:rPr>
              <a:t>started</a:t>
            </a:r>
            <a:r>
              <a:rPr sz="1000" spc="-25" dirty="0">
                <a:solidFill>
                  <a:srgbClr val="333333"/>
                </a:solidFill>
                <a:latin typeface="Roboto Lt"/>
                <a:cs typeface="Roboto Lt"/>
              </a:rPr>
              <a:t> </a:t>
            </a:r>
            <a:r>
              <a:rPr sz="1000" spc="-15" dirty="0">
                <a:solidFill>
                  <a:srgbClr val="333333"/>
                </a:solidFill>
                <a:latin typeface="Roboto Lt"/>
                <a:cs typeface="Roboto Lt"/>
              </a:rPr>
              <a:t>with</a:t>
            </a:r>
            <a:r>
              <a:rPr sz="1000" spc="-20" dirty="0">
                <a:solidFill>
                  <a:srgbClr val="333333"/>
                </a:solidFill>
                <a:latin typeface="Roboto Lt"/>
                <a:cs typeface="Roboto Lt"/>
              </a:rPr>
              <a:t> </a:t>
            </a:r>
            <a:r>
              <a:rPr sz="1000" spc="-15" dirty="0">
                <a:solidFill>
                  <a:srgbClr val="333333"/>
                </a:solidFill>
                <a:latin typeface="Roboto Lt"/>
                <a:cs typeface="Roboto Lt"/>
              </a:rPr>
              <a:t>Agile</a:t>
            </a:r>
            <a:r>
              <a:rPr sz="1000" spc="-25" dirty="0">
                <a:solidFill>
                  <a:srgbClr val="333333"/>
                </a:solidFill>
                <a:latin typeface="Roboto Lt"/>
                <a:cs typeface="Roboto Lt"/>
              </a:rPr>
              <a:t> </a:t>
            </a:r>
            <a:r>
              <a:rPr sz="1000" spc="-15" dirty="0">
                <a:solidFill>
                  <a:srgbClr val="333333"/>
                </a:solidFill>
                <a:latin typeface="Roboto Lt"/>
                <a:cs typeface="Roboto Lt"/>
              </a:rPr>
              <a:t>is </a:t>
            </a:r>
            <a:r>
              <a:rPr sz="1000" spc="-229" dirty="0">
                <a:solidFill>
                  <a:srgbClr val="333333"/>
                </a:solidFill>
                <a:latin typeface="Roboto Lt"/>
                <a:cs typeface="Roboto Lt"/>
              </a:rPr>
              <a:t> </a:t>
            </a:r>
            <a:r>
              <a:rPr sz="1000" spc="-20" dirty="0">
                <a:solidFill>
                  <a:srgbClr val="333333"/>
                </a:solidFill>
                <a:latin typeface="Roboto Lt"/>
                <a:cs typeface="Roboto Lt"/>
              </a:rPr>
              <a:t>to </a:t>
            </a:r>
            <a:r>
              <a:rPr sz="1000" spc="-15" dirty="0">
                <a:solidFill>
                  <a:srgbClr val="333333"/>
                </a:solidFill>
                <a:latin typeface="Roboto Lt"/>
                <a:cs typeface="Roboto Lt"/>
              </a:rPr>
              <a:t>incorporate </a:t>
            </a:r>
            <a:r>
              <a:rPr sz="1000" spc="-20" dirty="0">
                <a:solidFill>
                  <a:srgbClr val="333333"/>
                </a:solidFill>
                <a:latin typeface="Roboto Lt"/>
                <a:cs typeface="Roboto Lt"/>
              </a:rPr>
              <a:t>daily </a:t>
            </a:r>
            <a:r>
              <a:rPr sz="1000" spc="-25" dirty="0">
                <a:solidFill>
                  <a:srgbClr val="333333"/>
                </a:solidFill>
                <a:latin typeface="Roboto Lt"/>
                <a:cs typeface="Roboto Lt"/>
              </a:rPr>
              <a:t>stand-up </a:t>
            </a:r>
            <a:r>
              <a:rPr sz="1000" spc="-15" dirty="0">
                <a:solidFill>
                  <a:srgbClr val="333333"/>
                </a:solidFill>
                <a:latin typeface="Roboto Lt"/>
                <a:cs typeface="Roboto Lt"/>
              </a:rPr>
              <a:t>meetings </a:t>
            </a:r>
            <a:r>
              <a:rPr sz="1000" spc="-10" dirty="0">
                <a:solidFill>
                  <a:srgbClr val="333333"/>
                </a:solidFill>
                <a:latin typeface="Roboto Lt"/>
                <a:cs typeface="Roboto Lt"/>
              </a:rPr>
              <a:t> </a:t>
            </a:r>
            <a:r>
              <a:rPr sz="1000" spc="-20" dirty="0">
                <a:solidFill>
                  <a:srgbClr val="333333"/>
                </a:solidFill>
                <a:latin typeface="Roboto Lt"/>
                <a:cs typeface="Roboto Lt"/>
              </a:rPr>
              <a:t>into your </a:t>
            </a:r>
            <a:r>
              <a:rPr sz="1000" spc="-15" dirty="0">
                <a:solidFill>
                  <a:srgbClr val="333333"/>
                </a:solidFill>
                <a:latin typeface="Roboto Lt"/>
                <a:cs typeface="Roboto Lt"/>
              </a:rPr>
              <a:t>project. </a:t>
            </a:r>
            <a:r>
              <a:rPr sz="1000" spc="-20" dirty="0">
                <a:solidFill>
                  <a:srgbClr val="333333"/>
                </a:solidFill>
                <a:latin typeface="Roboto Lt"/>
                <a:cs typeface="Roboto Lt"/>
              </a:rPr>
              <a:t>Daily </a:t>
            </a:r>
            <a:r>
              <a:rPr sz="1000" spc="-25" dirty="0">
                <a:solidFill>
                  <a:srgbClr val="333333"/>
                </a:solidFill>
                <a:latin typeface="Roboto Lt"/>
                <a:cs typeface="Roboto Lt"/>
              </a:rPr>
              <a:t>stand-up </a:t>
            </a:r>
            <a:r>
              <a:rPr sz="1000" spc="-20" dirty="0">
                <a:solidFill>
                  <a:srgbClr val="333333"/>
                </a:solidFill>
                <a:latin typeface="Roboto Lt"/>
                <a:cs typeface="Roboto Lt"/>
              </a:rPr>
              <a:t> </a:t>
            </a:r>
            <a:r>
              <a:rPr sz="1000" spc="-15" dirty="0">
                <a:solidFill>
                  <a:srgbClr val="333333"/>
                </a:solidFill>
                <a:latin typeface="Roboto Lt"/>
                <a:cs typeface="Roboto Lt"/>
              </a:rPr>
              <a:t>meetings are </a:t>
            </a:r>
            <a:r>
              <a:rPr sz="1000" spc="-20" dirty="0">
                <a:solidFill>
                  <a:srgbClr val="333333"/>
                </a:solidFill>
                <a:latin typeface="Roboto Lt"/>
                <a:cs typeface="Roboto Lt"/>
              </a:rPr>
              <a:t>easy to </a:t>
            </a:r>
            <a:r>
              <a:rPr sz="1000" spc="-15" dirty="0">
                <a:solidFill>
                  <a:srgbClr val="333333"/>
                </a:solidFill>
                <a:latin typeface="Roboto Lt"/>
                <a:cs typeface="Roboto Lt"/>
              </a:rPr>
              <a:t>incorporate </a:t>
            </a:r>
            <a:r>
              <a:rPr sz="1000" spc="-20" dirty="0">
                <a:solidFill>
                  <a:srgbClr val="333333"/>
                </a:solidFill>
                <a:latin typeface="Roboto Lt"/>
                <a:cs typeface="Roboto Lt"/>
              </a:rPr>
              <a:t>into </a:t>
            </a:r>
            <a:r>
              <a:rPr sz="1000" spc="-15" dirty="0">
                <a:solidFill>
                  <a:srgbClr val="333333"/>
                </a:solidFill>
                <a:latin typeface="Roboto Lt"/>
                <a:cs typeface="Roboto Lt"/>
              </a:rPr>
              <a:t> </a:t>
            </a:r>
            <a:r>
              <a:rPr sz="1000" spc="-25" dirty="0">
                <a:solidFill>
                  <a:srgbClr val="333333"/>
                </a:solidFill>
                <a:latin typeface="Roboto Lt"/>
                <a:cs typeface="Roboto Lt"/>
              </a:rPr>
              <a:t>any </a:t>
            </a:r>
            <a:r>
              <a:rPr sz="1000" spc="-15" dirty="0">
                <a:solidFill>
                  <a:srgbClr val="333333"/>
                </a:solidFill>
                <a:latin typeface="Roboto Lt"/>
                <a:cs typeface="Roboto Lt"/>
              </a:rPr>
              <a:t>project </a:t>
            </a:r>
            <a:r>
              <a:rPr sz="1000" spc="-10" dirty="0">
                <a:solidFill>
                  <a:srgbClr val="333333"/>
                </a:solidFill>
                <a:latin typeface="Roboto Lt"/>
                <a:cs typeface="Roboto Lt"/>
              </a:rPr>
              <a:t>methodology </a:t>
            </a:r>
            <a:r>
              <a:rPr sz="1000" spc="-20" dirty="0">
                <a:solidFill>
                  <a:srgbClr val="333333"/>
                </a:solidFill>
                <a:latin typeface="Roboto Lt"/>
                <a:cs typeface="Roboto Lt"/>
              </a:rPr>
              <a:t>you </a:t>
            </a:r>
            <a:r>
              <a:rPr sz="1000" spc="-15" dirty="0">
                <a:solidFill>
                  <a:srgbClr val="333333"/>
                </a:solidFill>
                <a:latin typeface="Roboto Lt"/>
                <a:cs typeface="Roboto Lt"/>
              </a:rPr>
              <a:t>already </a:t>
            </a:r>
            <a:r>
              <a:rPr sz="1000" spc="-10" dirty="0">
                <a:solidFill>
                  <a:srgbClr val="333333"/>
                </a:solidFill>
                <a:latin typeface="Roboto Lt"/>
                <a:cs typeface="Roboto Lt"/>
              </a:rPr>
              <a:t> </a:t>
            </a:r>
            <a:r>
              <a:rPr sz="1000" spc="-15" dirty="0">
                <a:solidFill>
                  <a:srgbClr val="333333"/>
                </a:solidFill>
                <a:latin typeface="Roboto Lt"/>
                <a:cs typeface="Roboto Lt"/>
              </a:rPr>
              <a:t>use </a:t>
            </a:r>
            <a:r>
              <a:rPr sz="1000" spc="-25" dirty="0">
                <a:solidFill>
                  <a:srgbClr val="333333"/>
                </a:solidFill>
                <a:latin typeface="Roboto Lt"/>
                <a:cs typeface="Roboto Lt"/>
              </a:rPr>
              <a:t>(even </a:t>
            </a:r>
            <a:r>
              <a:rPr sz="1000" spc="-15" dirty="0">
                <a:solidFill>
                  <a:srgbClr val="333333"/>
                </a:solidFill>
                <a:latin typeface="Roboto Lt"/>
                <a:cs typeface="Roboto Lt"/>
              </a:rPr>
              <a:t>Waterfall) and </a:t>
            </a:r>
            <a:r>
              <a:rPr sz="1000" spc="-20" dirty="0">
                <a:solidFill>
                  <a:srgbClr val="333333"/>
                </a:solidFill>
                <a:latin typeface="Roboto Lt"/>
                <a:cs typeface="Roboto Lt"/>
              </a:rPr>
              <a:t>don’t </a:t>
            </a:r>
            <a:r>
              <a:rPr sz="1000" spc="-15" dirty="0">
                <a:solidFill>
                  <a:srgbClr val="333333"/>
                </a:solidFill>
                <a:latin typeface="Roboto Lt"/>
                <a:cs typeface="Roboto Lt"/>
              </a:rPr>
              <a:t>require </a:t>
            </a:r>
            <a:r>
              <a:rPr sz="1000" spc="-10" dirty="0">
                <a:solidFill>
                  <a:srgbClr val="333333"/>
                </a:solidFill>
                <a:latin typeface="Roboto Lt"/>
                <a:cs typeface="Roboto Lt"/>
              </a:rPr>
              <a:t> </a:t>
            </a:r>
            <a:r>
              <a:rPr sz="1000" spc="-25" dirty="0">
                <a:solidFill>
                  <a:srgbClr val="333333"/>
                </a:solidFill>
                <a:latin typeface="Roboto Lt"/>
                <a:cs typeface="Roboto Lt"/>
              </a:rPr>
              <a:t>any </a:t>
            </a:r>
            <a:r>
              <a:rPr sz="1000" spc="-20" dirty="0">
                <a:solidFill>
                  <a:srgbClr val="333333"/>
                </a:solidFill>
                <a:latin typeface="Roboto Lt"/>
                <a:cs typeface="Roboto Lt"/>
              </a:rPr>
              <a:t>training</a:t>
            </a:r>
            <a:r>
              <a:rPr sz="1000" spc="-25" dirty="0">
                <a:solidFill>
                  <a:srgbClr val="333333"/>
                </a:solidFill>
                <a:latin typeface="Roboto Lt"/>
                <a:cs typeface="Roboto Lt"/>
              </a:rPr>
              <a:t> </a:t>
            </a:r>
            <a:r>
              <a:rPr sz="1000" spc="-5" dirty="0">
                <a:solidFill>
                  <a:srgbClr val="333333"/>
                </a:solidFill>
                <a:latin typeface="Roboto Lt"/>
                <a:cs typeface="Roboto Lt"/>
              </a:rPr>
              <a:t>or</a:t>
            </a:r>
            <a:r>
              <a:rPr sz="1000" spc="-25" dirty="0">
                <a:solidFill>
                  <a:srgbClr val="333333"/>
                </a:solidFill>
                <a:latin typeface="Roboto Lt"/>
                <a:cs typeface="Roboto Lt"/>
              </a:rPr>
              <a:t> </a:t>
            </a:r>
            <a:r>
              <a:rPr sz="1000" spc="-15" dirty="0">
                <a:solidFill>
                  <a:srgbClr val="333333"/>
                </a:solidFill>
                <a:latin typeface="Roboto Lt"/>
                <a:cs typeface="Roboto Lt"/>
              </a:rPr>
              <a:t>knowledge</a:t>
            </a:r>
            <a:r>
              <a:rPr sz="1000" spc="-20" dirty="0">
                <a:solidFill>
                  <a:srgbClr val="333333"/>
                </a:solidFill>
                <a:latin typeface="Roboto Lt"/>
                <a:cs typeface="Roboto Lt"/>
              </a:rPr>
              <a:t> </a:t>
            </a:r>
            <a:r>
              <a:rPr sz="1000" spc="-25" dirty="0">
                <a:solidFill>
                  <a:srgbClr val="333333"/>
                </a:solidFill>
                <a:latin typeface="Roboto Lt"/>
                <a:cs typeface="Roboto Lt"/>
              </a:rPr>
              <a:t>transfer.</a:t>
            </a:r>
            <a:endParaRPr sz="1000">
              <a:latin typeface="Roboto Lt"/>
              <a:cs typeface="Roboto Lt"/>
            </a:endParaRPr>
          </a:p>
        </p:txBody>
      </p:sp>
      <p:sp>
        <p:nvSpPr>
          <p:cNvPr id="15" name="object 15"/>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41</a:t>
            </a:r>
            <a:endParaRPr spc="35" dirty="0"/>
          </a:p>
        </p:txBody>
      </p:sp>
      <p:sp>
        <p:nvSpPr>
          <p:cNvPr id="16" name="object 16"/>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Agile Methodology</a:t>
            </a:r>
            <a:endParaRPr dirty="0"/>
          </a:p>
        </p:txBody>
      </p:sp>
      <p:sp>
        <p:nvSpPr>
          <p:cNvPr id="11" name="object 11"/>
          <p:cNvSpPr txBox="1"/>
          <p:nvPr/>
        </p:nvSpPr>
        <p:spPr>
          <a:xfrm>
            <a:off x="706785" y="2144655"/>
            <a:ext cx="4034154" cy="436880"/>
          </a:xfrm>
          <a:prstGeom prst="rect">
            <a:avLst/>
          </a:prstGeom>
        </p:spPr>
        <p:txBody>
          <a:bodyPr vert="horz" wrap="square" lIns="0" tIns="12700" rIns="0" bIns="0" rtlCol="0">
            <a:spAutoFit/>
          </a:bodyPr>
          <a:lstStyle/>
          <a:p>
            <a:pPr marL="12700">
              <a:lnSpc>
                <a:spcPct val="100000"/>
              </a:lnSpc>
              <a:spcBef>
                <a:spcPts val="100"/>
              </a:spcBef>
              <a:tabLst>
                <a:tab pos="2780665" algn="l"/>
              </a:tabLst>
            </a:pPr>
            <a:r>
              <a:rPr sz="2700" b="1" spc="-10" dirty="0">
                <a:solidFill>
                  <a:srgbClr val="333333"/>
                </a:solidFill>
                <a:latin typeface="Arial"/>
                <a:cs typeface="Arial"/>
              </a:rPr>
              <a:t>Stand</a:t>
            </a:r>
            <a:r>
              <a:rPr sz="2700" b="1" spc="-320" dirty="0">
                <a:solidFill>
                  <a:srgbClr val="333333"/>
                </a:solidFill>
                <a:latin typeface="Arial"/>
                <a:cs typeface="Arial"/>
              </a:rPr>
              <a:t> </a:t>
            </a:r>
            <a:r>
              <a:rPr sz="2700" b="1" spc="50" dirty="0">
                <a:solidFill>
                  <a:srgbClr val="333333"/>
                </a:solidFill>
                <a:latin typeface="Arial"/>
                <a:cs typeface="Arial"/>
              </a:rPr>
              <a:t>up	</a:t>
            </a:r>
            <a:r>
              <a:rPr sz="2700" b="1" spc="-35" dirty="0">
                <a:solidFill>
                  <a:srgbClr val="333333"/>
                </a:solidFill>
                <a:latin typeface="Arial"/>
                <a:cs typeface="Arial"/>
              </a:rPr>
              <a:t>Kanban</a:t>
            </a:r>
            <a:endParaRPr sz="2700">
              <a:latin typeface="Arial"/>
              <a:cs typeface="Arial"/>
            </a:endParaRPr>
          </a:p>
        </p:txBody>
      </p:sp>
      <p:sp>
        <p:nvSpPr>
          <p:cNvPr id="12" name="object 12"/>
          <p:cNvSpPr txBox="1"/>
          <p:nvPr/>
        </p:nvSpPr>
        <p:spPr>
          <a:xfrm>
            <a:off x="3475384" y="2321566"/>
            <a:ext cx="2162175" cy="2306320"/>
          </a:xfrm>
          <a:prstGeom prst="rect">
            <a:avLst/>
          </a:prstGeom>
        </p:spPr>
        <p:txBody>
          <a:bodyPr vert="horz" wrap="square" lIns="0" tIns="153035" rIns="0" bIns="0" rtlCol="0">
            <a:spAutoFit/>
          </a:bodyPr>
          <a:lstStyle/>
          <a:p>
            <a:pPr marL="12700">
              <a:lnSpc>
                <a:spcPct val="100000"/>
              </a:lnSpc>
              <a:spcBef>
                <a:spcPts val="1205"/>
              </a:spcBef>
            </a:pPr>
            <a:r>
              <a:rPr sz="2700" b="1" spc="-35" dirty="0">
                <a:solidFill>
                  <a:srgbClr val="333333"/>
                </a:solidFill>
                <a:latin typeface="Arial"/>
                <a:cs typeface="Arial"/>
              </a:rPr>
              <a:t>Board</a:t>
            </a:r>
            <a:endParaRPr sz="2700">
              <a:latin typeface="Arial"/>
              <a:cs typeface="Arial"/>
            </a:endParaRPr>
          </a:p>
          <a:p>
            <a:pPr marL="12700" marR="5080">
              <a:lnSpc>
                <a:spcPct val="125000"/>
              </a:lnSpc>
              <a:spcBef>
                <a:spcPts val="110"/>
              </a:spcBef>
            </a:pPr>
            <a:r>
              <a:rPr sz="1000" spc="-10" dirty="0">
                <a:solidFill>
                  <a:srgbClr val="333333"/>
                </a:solidFill>
                <a:latin typeface="Roboto Lt"/>
                <a:cs typeface="Roboto Lt"/>
              </a:rPr>
              <a:t>Another </a:t>
            </a:r>
            <a:r>
              <a:rPr sz="1000" spc="-25" dirty="0">
                <a:solidFill>
                  <a:srgbClr val="333333"/>
                </a:solidFill>
                <a:latin typeface="Roboto Lt"/>
                <a:cs typeface="Roboto Lt"/>
              </a:rPr>
              <a:t>way </a:t>
            </a:r>
            <a:r>
              <a:rPr sz="1000" spc="-20" dirty="0">
                <a:solidFill>
                  <a:srgbClr val="333333"/>
                </a:solidFill>
                <a:latin typeface="Roboto Lt"/>
                <a:cs typeface="Roboto Lt"/>
              </a:rPr>
              <a:t>to </a:t>
            </a:r>
            <a:r>
              <a:rPr sz="1000" spc="-15" dirty="0">
                <a:solidFill>
                  <a:srgbClr val="333333"/>
                </a:solidFill>
                <a:latin typeface="Roboto Lt"/>
                <a:cs typeface="Roboto Lt"/>
              </a:rPr>
              <a:t>incorporate Agile </a:t>
            </a:r>
            <a:r>
              <a:rPr sz="1000" spc="-10" dirty="0">
                <a:solidFill>
                  <a:srgbClr val="333333"/>
                </a:solidFill>
                <a:latin typeface="Roboto Lt"/>
                <a:cs typeface="Roboto Lt"/>
              </a:rPr>
              <a:t> </a:t>
            </a:r>
            <a:r>
              <a:rPr sz="1000" spc="-15" dirty="0">
                <a:solidFill>
                  <a:srgbClr val="333333"/>
                </a:solidFill>
                <a:latin typeface="Roboto Lt"/>
                <a:cs typeface="Roboto Lt"/>
              </a:rPr>
              <a:t>practices is </a:t>
            </a:r>
            <a:r>
              <a:rPr sz="1000" spc="-20" dirty="0">
                <a:solidFill>
                  <a:srgbClr val="333333"/>
                </a:solidFill>
                <a:latin typeface="Roboto Lt"/>
                <a:cs typeface="Roboto Lt"/>
              </a:rPr>
              <a:t>to create </a:t>
            </a:r>
            <a:r>
              <a:rPr sz="1000" spc="-15" dirty="0">
                <a:solidFill>
                  <a:srgbClr val="333333"/>
                </a:solidFill>
                <a:latin typeface="Roboto Lt"/>
                <a:cs typeface="Roboto Lt"/>
              </a:rPr>
              <a:t>and use </a:t>
            </a:r>
            <a:r>
              <a:rPr sz="1000" spc="-5" dirty="0">
                <a:solidFill>
                  <a:srgbClr val="333333"/>
                </a:solidFill>
                <a:latin typeface="Roboto Lt"/>
                <a:cs typeface="Roboto Lt"/>
              </a:rPr>
              <a:t>a </a:t>
            </a:r>
            <a:r>
              <a:rPr sz="1000" spc="-15" dirty="0">
                <a:solidFill>
                  <a:srgbClr val="333333"/>
                </a:solidFill>
                <a:latin typeface="Roboto Lt"/>
                <a:cs typeface="Roboto Lt"/>
              </a:rPr>
              <a:t>Kanban </a:t>
            </a:r>
            <a:r>
              <a:rPr sz="1000" spc="-229" dirty="0">
                <a:solidFill>
                  <a:srgbClr val="333333"/>
                </a:solidFill>
                <a:latin typeface="Roboto Lt"/>
                <a:cs typeface="Roboto Lt"/>
              </a:rPr>
              <a:t> </a:t>
            </a:r>
            <a:r>
              <a:rPr sz="1000" spc="-15" dirty="0">
                <a:solidFill>
                  <a:srgbClr val="333333"/>
                </a:solidFill>
                <a:latin typeface="Roboto Lt"/>
                <a:cs typeface="Roboto Lt"/>
              </a:rPr>
              <a:t>board. </a:t>
            </a:r>
            <a:r>
              <a:rPr sz="1000" spc="-10" dirty="0">
                <a:solidFill>
                  <a:srgbClr val="333333"/>
                </a:solidFill>
                <a:latin typeface="Roboto Lt"/>
                <a:cs typeface="Roboto Lt"/>
              </a:rPr>
              <a:t>The </a:t>
            </a:r>
            <a:r>
              <a:rPr sz="1000" spc="-15" dirty="0">
                <a:solidFill>
                  <a:srgbClr val="333333"/>
                </a:solidFill>
                <a:latin typeface="Roboto Lt"/>
                <a:cs typeface="Roboto Lt"/>
              </a:rPr>
              <a:t>Kanban board is simple tool </a:t>
            </a:r>
            <a:r>
              <a:rPr sz="1000" spc="-229" dirty="0">
                <a:solidFill>
                  <a:srgbClr val="333333"/>
                </a:solidFill>
                <a:latin typeface="Roboto Lt"/>
                <a:cs typeface="Roboto Lt"/>
              </a:rPr>
              <a:t> </a:t>
            </a:r>
            <a:r>
              <a:rPr sz="1000" spc="-20" dirty="0">
                <a:solidFill>
                  <a:srgbClr val="333333"/>
                </a:solidFill>
                <a:latin typeface="Roboto Lt"/>
                <a:cs typeface="Roboto Lt"/>
              </a:rPr>
              <a:t>to </a:t>
            </a:r>
            <a:r>
              <a:rPr sz="1000" spc="-15" dirty="0">
                <a:solidFill>
                  <a:srgbClr val="333333"/>
                </a:solidFill>
                <a:latin typeface="Roboto Lt"/>
                <a:cs typeface="Roboto Lt"/>
              </a:rPr>
              <a:t>help </a:t>
            </a:r>
            <a:r>
              <a:rPr sz="1000" spc="-20" dirty="0">
                <a:solidFill>
                  <a:srgbClr val="333333"/>
                </a:solidFill>
                <a:latin typeface="Roboto Lt"/>
                <a:cs typeface="Roboto Lt"/>
              </a:rPr>
              <a:t>your </a:t>
            </a:r>
            <a:r>
              <a:rPr sz="1000" spc="-15" dirty="0">
                <a:solidFill>
                  <a:srgbClr val="333333"/>
                </a:solidFill>
                <a:latin typeface="Roboto Lt"/>
                <a:cs typeface="Roboto Lt"/>
              </a:rPr>
              <a:t>team </a:t>
            </a:r>
            <a:r>
              <a:rPr sz="1000" spc="-20" dirty="0">
                <a:solidFill>
                  <a:srgbClr val="333333"/>
                </a:solidFill>
                <a:latin typeface="Roboto Lt"/>
                <a:cs typeface="Roboto Lt"/>
              </a:rPr>
              <a:t>visualize </a:t>
            </a:r>
            <a:r>
              <a:rPr sz="1000" spc="-15" dirty="0">
                <a:solidFill>
                  <a:srgbClr val="333333"/>
                </a:solidFill>
                <a:latin typeface="Roboto Lt"/>
                <a:cs typeface="Roboto Lt"/>
              </a:rPr>
              <a:t>the </a:t>
            </a:r>
            <a:r>
              <a:rPr sz="1000" spc="-10" dirty="0">
                <a:solidFill>
                  <a:srgbClr val="333333"/>
                </a:solidFill>
                <a:latin typeface="Roboto Lt"/>
                <a:cs typeface="Roboto Lt"/>
              </a:rPr>
              <a:t>flow of </a:t>
            </a:r>
            <a:r>
              <a:rPr sz="1000" spc="-5" dirty="0">
                <a:solidFill>
                  <a:srgbClr val="333333"/>
                </a:solidFill>
                <a:latin typeface="Roboto Lt"/>
                <a:cs typeface="Roboto Lt"/>
              </a:rPr>
              <a:t> </a:t>
            </a:r>
            <a:r>
              <a:rPr sz="1000" spc="-15" dirty="0">
                <a:solidFill>
                  <a:srgbClr val="333333"/>
                </a:solidFill>
                <a:latin typeface="Roboto Lt"/>
                <a:cs typeface="Roboto Lt"/>
              </a:rPr>
              <a:t>work as </a:t>
            </a:r>
            <a:r>
              <a:rPr sz="1000" spc="-25" dirty="0">
                <a:solidFill>
                  <a:srgbClr val="333333"/>
                </a:solidFill>
                <a:latin typeface="Roboto Lt"/>
                <a:cs typeface="Roboto Lt"/>
              </a:rPr>
              <a:t>it’s </a:t>
            </a:r>
            <a:r>
              <a:rPr sz="1000" spc="-10" dirty="0">
                <a:solidFill>
                  <a:srgbClr val="333333"/>
                </a:solidFill>
                <a:latin typeface="Roboto Lt"/>
                <a:cs typeface="Roboto Lt"/>
              </a:rPr>
              <a:t>getting done. </a:t>
            </a:r>
            <a:r>
              <a:rPr sz="1000" spc="-15" dirty="0">
                <a:solidFill>
                  <a:srgbClr val="333333"/>
                </a:solidFill>
                <a:latin typeface="Roboto Lt"/>
                <a:cs typeface="Roboto Lt"/>
              </a:rPr>
              <a:t>Use the board </a:t>
            </a:r>
            <a:r>
              <a:rPr sz="1000" spc="-229" dirty="0">
                <a:solidFill>
                  <a:srgbClr val="333333"/>
                </a:solidFill>
                <a:latin typeface="Roboto Lt"/>
                <a:cs typeface="Roboto Lt"/>
              </a:rPr>
              <a:t> </a:t>
            </a:r>
            <a:r>
              <a:rPr sz="1000" spc="-15" dirty="0">
                <a:solidFill>
                  <a:srgbClr val="333333"/>
                </a:solidFill>
                <a:latin typeface="Roboto Lt"/>
                <a:cs typeface="Roboto Lt"/>
              </a:rPr>
              <a:t>during </a:t>
            </a:r>
            <a:r>
              <a:rPr sz="1000" spc="-25" dirty="0">
                <a:solidFill>
                  <a:srgbClr val="333333"/>
                </a:solidFill>
                <a:latin typeface="Roboto Lt"/>
                <a:cs typeface="Roboto Lt"/>
              </a:rPr>
              <a:t>stand-up </a:t>
            </a:r>
            <a:r>
              <a:rPr sz="1000" spc="-15" dirty="0">
                <a:solidFill>
                  <a:srgbClr val="333333"/>
                </a:solidFill>
                <a:latin typeface="Roboto Lt"/>
                <a:cs typeface="Roboto Lt"/>
              </a:rPr>
              <a:t>meetings </a:t>
            </a:r>
            <a:r>
              <a:rPr sz="1000" spc="-20" dirty="0">
                <a:solidFill>
                  <a:srgbClr val="333333"/>
                </a:solidFill>
                <a:latin typeface="Roboto Lt"/>
                <a:cs typeface="Roboto Lt"/>
              </a:rPr>
              <a:t>to discuss </a:t>
            </a:r>
            <a:r>
              <a:rPr sz="1000" spc="-15" dirty="0">
                <a:solidFill>
                  <a:srgbClr val="333333"/>
                </a:solidFill>
                <a:latin typeface="Roboto Lt"/>
                <a:cs typeface="Roboto Lt"/>
              </a:rPr>
              <a:t> current work in progress </a:t>
            </a:r>
            <a:r>
              <a:rPr sz="1000" spc="-5" dirty="0">
                <a:solidFill>
                  <a:srgbClr val="333333"/>
                </a:solidFill>
                <a:latin typeface="Roboto Lt"/>
                <a:cs typeface="Roboto Lt"/>
              </a:rPr>
              <a:t>or </a:t>
            </a:r>
            <a:r>
              <a:rPr sz="1000" spc="-20" dirty="0">
                <a:solidFill>
                  <a:srgbClr val="333333"/>
                </a:solidFill>
                <a:latin typeface="Roboto Lt"/>
                <a:cs typeface="Roboto Lt"/>
              </a:rPr>
              <a:t>display </a:t>
            </a:r>
            <a:r>
              <a:rPr sz="1000" spc="-5" dirty="0">
                <a:solidFill>
                  <a:srgbClr val="333333"/>
                </a:solidFill>
                <a:latin typeface="Roboto Lt"/>
                <a:cs typeface="Roboto Lt"/>
              </a:rPr>
              <a:t>it </a:t>
            </a:r>
            <a:r>
              <a:rPr sz="1000" dirty="0">
                <a:solidFill>
                  <a:srgbClr val="333333"/>
                </a:solidFill>
                <a:latin typeface="Roboto Lt"/>
                <a:cs typeface="Roboto Lt"/>
              </a:rPr>
              <a:t> </a:t>
            </a:r>
            <a:r>
              <a:rPr sz="1000" spc="-15" dirty="0">
                <a:solidFill>
                  <a:srgbClr val="333333"/>
                </a:solidFill>
                <a:latin typeface="Roboto Lt"/>
                <a:cs typeface="Roboto Lt"/>
              </a:rPr>
              <a:t>where </a:t>
            </a:r>
            <a:r>
              <a:rPr sz="1000" spc="-20" dirty="0">
                <a:solidFill>
                  <a:srgbClr val="333333"/>
                </a:solidFill>
                <a:latin typeface="Roboto Lt"/>
                <a:cs typeface="Roboto Lt"/>
              </a:rPr>
              <a:t>your </a:t>
            </a:r>
            <a:r>
              <a:rPr sz="1000" spc="-15" dirty="0">
                <a:solidFill>
                  <a:srgbClr val="333333"/>
                </a:solidFill>
                <a:latin typeface="Roboto Lt"/>
                <a:cs typeface="Roboto Lt"/>
              </a:rPr>
              <a:t>team </a:t>
            </a:r>
            <a:r>
              <a:rPr sz="1000" spc="-10" dirty="0">
                <a:solidFill>
                  <a:srgbClr val="333333"/>
                </a:solidFill>
                <a:latin typeface="Roboto Lt"/>
                <a:cs typeface="Roboto Lt"/>
              </a:rPr>
              <a:t>can </a:t>
            </a:r>
            <a:r>
              <a:rPr sz="1000" spc="-20" dirty="0">
                <a:solidFill>
                  <a:srgbClr val="333333"/>
                </a:solidFill>
                <a:latin typeface="Roboto Lt"/>
                <a:cs typeface="Roboto Lt"/>
              </a:rPr>
              <a:t>easily </a:t>
            </a:r>
            <a:r>
              <a:rPr sz="1000" spc="-10" dirty="0">
                <a:solidFill>
                  <a:srgbClr val="333333"/>
                </a:solidFill>
                <a:latin typeface="Roboto Lt"/>
                <a:cs typeface="Roboto Lt"/>
              </a:rPr>
              <a:t>access </a:t>
            </a:r>
            <a:r>
              <a:rPr sz="1000" spc="-5" dirty="0">
                <a:solidFill>
                  <a:srgbClr val="333333"/>
                </a:solidFill>
                <a:latin typeface="Roboto Lt"/>
                <a:cs typeface="Roboto Lt"/>
              </a:rPr>
              <a:t>it </a:t>
            </a:r>
            <a:r>
              <a:rPr sz="1000" spc="-20" dirty="0">
                <a:solidFill>
                  <a:srgbClr val="333333"/>
                </a:solidFill>
                <a:latin typeface="Roboto Lt"/>
                <a:cs typeface="Roboto Lt"/>
              </a:rPr>
              <a:t>to </a:t>
            </a:r>
            <a:r>
              <a:rPr sz="1000" spc="-229" dirty="0">
                <a:solidFill>
                  <a:srgbClr val="333333"/>
                </a:solidFill>
                <a:latin typeface="Roboto Lt"/>
                <a:cs typeface="Roboto Lt"/>
              </a:rPr>
              <a:t> </a:t>
            </a:r>
            <a:r>
              <a:rPr sz="1000" spc="-20" dirty="0">
                <a:solidFill>
                  <a:srgbClr val="333333"/>
                </a:solidFill>
                <a:latin typeface="Roboto Lt"/>
                <a:cs typeface="Roboto Lt"/>
              </a:rPr>
              <a:t>make</a:t>
            </a:r>
            <a:r>
              <a:rPr sz="1000" spc="-25" dirty="0">
                <a:solidFill>
                  <a:srgbClr val="333333"/>
                </a:solidFill>
                <a:latin typeface="Roboto Lt"/>
                <a:cs typeface="Roboto Lt"/>
              </a:rPr>
              <a:t> </a:t>
            </a:r>
            <a:r>
              <a:rPr sz="1000" spc="-20" dirty="0">
                <a:solidFill>
                  <a:srgbClr val="333333"/>
                </a:solidFill>
                <a:latin typeface="Roboto Lt"/>
                <a:cs typeface="Roboto Lt"/>
              </a:rPr>
              <a:t>updates to</a:t>
            </a:r>
            <a:r>
              <a:rPr sz="1000" spc="-25" dirty="0">
                <a:solidFill>
                  <a:srgbClr val="333333"/>
                </a:solidFill>
                <a:latin typeface="Roboto Lt"/>
                <a:cs typeface="Roboto Lt"/>
              </a:rPr>
              <a:t> </a:t>
            </a:r>
            <a:r>
              <a:rPr sz="1000" spc="-15" dirty="0">
                <a:solidFill>
                  <a:srgbClr val="333333"/>
                </a:solidFill>
                <a:latin typeface="Roboto Lt"/>
                <a:cs typeface="Roboto Lt"/>
              </a:rPr>
              <a:t>task</a:t>
            </a:r>
            <a:r>
              <a:rPr sz="1000" spc="-30" dirty="0">
                <a:solidFill>
                  <a:srgbClr val="333333"/>
                </a:solidFill>
                <a:latin typeface="Roboto Lt"/>
                <a:cs typeface="Roboto Lt"/>
              </a:rPr>
              <a:t> </a:t>
            </a:r>
            <a:r>
              <a:rPr sz="1000" spc="-15" dirty="0">
                <a:solidFill>
                  <a:srgbClr val="333333"/>
                </a:solidFill>
                <a:latin typeface="Roboto Lt"/>
                <a:cs typeface="Roboto Lt"/>
              </a:rPr>
              <a:t>status.</a:t>
            </a:r>
            <a:endParaRPr sz="1000">
              <a:latin typeface="Roboto Lt"/>
              <a:cs typeface="Roboto Lt"/>
            </a:endParaRPr>
          </a:p>
        </p:txBody>
      </p:sp>
      <p:sp>
        <p:nvSpPr>
          <p:cNvPr id="13" name="object 13"/>
          <p:cNvSpPr txBox="1"/>
          <p:nvPr/>
        </p:nvSpPr>
        <p:spPr>
          <a:xfrm>
            <a:off x="6243985" y="2144655"/>
            <a:ext cx="1534160" cy="436880"/>
          </a:xfrm>
          <a:prstGeom prst="rect">
            <a:avLst/>
          </a:prstGeom>
        </p:spPr>
        <p:txBody>
          <a:bodyPr vert="horz" wrap="square" lIns="0" tIns="12700" rIns="0" bIns="0" rtlCol="0">
            <a:spAutoFit/>
          </a:bodyPr>
          <a:lstStyle/>
          <a:p>
            <a:pPr marL="12700">
              <a:lnSpc>
                <a:spcPct val="100000"/>
              </a:lnSpc>
              <a:spcBef>
                <a:spcPts val="100"/>
              </a:spcBef>
            </a:pPr>
            <a:r>
              <a:rPr sz="2700" b="1" spc="-80" dirty="0">
                <a:solidFill>
                  <a:srgbClr val="333333"/>
                </a:solidFill>
                <a:latin typeface="Arial"/>
                <a:cs typeface="Arial"/>
              </a:rPr>
              <a:t>Changing</a:t>
            </a:r>
            <a:endParaRPr sz="2700">
              <a:latin typeface="Arial"/>
              <a:cs typeface="Arial"/>
            </a:endParaRPr>
          </a:p>
        </p:txBody>
      </p:sp>
      <p:sp>
        <p:nvSpPr>
          <p:cNvPr id="14" name="object 14"/>
          <p:cNvSpPr txBox="1"/>
          <p:nvPr/>
        </p:nvSpPr>
        <p:spPr>
          <a:xfrm>
            <a:off x="6243985" y="2321566"/>
            <a:ext cx="2226310" cy="2687320"/>
          </a:xfrm>
          <a:prstGeom prst="rect">
            <a:avLst/>
          </a:prstGeom>
        </p:spPr>
        <p:txBody>
          <a:bodyPr vert="horz" wrap="square" lIns="0" tIns="153035" rIns="0" bIns="0" rtlCol="0">
            <a:spAutoFit/>
          </a:bodyPr>
          <a:lstStyle/>
          <a:p>
            <a:pPr marL="12700">
              <a:lnSpc>
                <a:spcPct val="100000"/>
              </a:lnSpc>
              <a:spcBef>
                <a:spcPts val="1205"/>
              </a:spcBef>
            </a:pPr>
            <a:r>
              <a:rPr sz="2700" b="1" spc="-335" dirty="0">
                <a:solidFill>
                  <a:srgbClr val="333333"/>
                </a:solidFill>
                <a:latin typeface="Arial"/>
                <a:cs typeface="Arial"/>
              </a:rPr>
              <a:t>T</a:t>
            </a:r>
            <a:r>
              <a:rPr sz="2700" b="1" spc="20" dirty="0">
                <a:solidFill>
                  <a:srgbClr val="333333"/>
                </a:solidFill>
                <a:latin typeface="Arial"/>
                <a:cs typeface="Arial"/>
              </a:rPr>
              <a:t>e</a:t>
            </a:r>
            <a:r>
              <a:rPr sz="2700" b="1" spc="40" dirty="0">
                <a:solidFill>
                  <a:srgbClr val="333333"/>
                </a:solidFill>
                <a:latin typeface="Arial"/>
                <a:cs typeface="Arial"/>
              </a:rPr>
              <a:t>a</a:t>
            </a:r>
            <a:r>
              <a:rPr sz="2700" b="1" spc="295" dirty="0">
                <a:solidFill>
                  <a:srgbClr val="333333"/>
                </a:solidFill>
                <a:latin typeface="Arial"/>
                <a:cs typeface="Arial"/>
              </a:rPr>
              <a:t>m</a:t>
            </a:r>
            <a:r>
              <a:rPr sz="2700" b="1" spc="-320" dirty="0">
                <a:solidFill>
                  <a:srgbClr val="333333"/>
                </a:solidFill>
                <a:latin typeface="Arial"/>
                <a:cs typeface="Arial"/>
              </a:rPr>
              <a:t> </a:t>
            </a:r>
            <a:r>
              <a:rPr sz="2700" b="1" spc="-300" dirty="0">
                <a:solidFill>
                  <a:srgbClr val="333333"/>
                </a:solidFill>
                <a:latin typeface="Arial"/>
                <a:cs typeface="Arial"/>
              </a:rPr>
              <a:t>R</a:t>
            </a:r>
            <a:r>
              <a:rPr sz="2700" b="1" spc="-40" dirty="0">
                <a:solidFill>
                  <a:srgbClr val="333333"/>
                </a:solidFill>
                <a:latin typeface="Arial"/>
                <a:cs typeface="Arial"/>
              </a:rPr>
              <a:t>ol</a:t>
            </a:r>
            <a:r>
              <a:rPr sz="2700" b="1" spc="-20" dirty="0">
                <a:solidFill>
                  <a:srgbClr val="333333"/>
                </a:solidFill>
                <a:latin typeface="Arial"/>
                <a:cs typeface="Arial"/>
              </a:rPr>
              <a:t>e</a:t>
            </a:r>
            <a:r>
              <a:rPr sz="2700" b="1" spc="-65" dirty="0">
                <a:solidFill>
                  <a:srgbClr val="333333"/>
                </a:solidFill>
                <a:latin typeface="Arial"/>
                <a:cs typeface="Arial"/>
              </a:rPr>
              <a:t>s</a:t>
            </a:r>
            <a:endParaRPr sz="2700">
              <a:latin typeface="Arial"/>
              <a:cs typeface="Arial"/>
            </a:endParaRPr>
          </a:p>
          <a:p>
            <a:pPr marL="12700" marR="5080">
              <a:lnSpc>
                <a:spcPct val="125000"/>
              </a:lnSpc>
              <a:spcBef>
                <a:spcPts val="110"/>
              </a:spcBef>
            </a:pPr>
            <a:r>
              <a:rPr sz="1000" spc="-5" dirty="0">
                <a:solidFill>
                  <a:srgbClr val="333333"/>
                </a:solidFill>
                <a:latin typeface="Roboto Lt"/>
                <a:cs typeface="Roboto Lt"/>
              </a:rPr>
              <a:t>Some </a:t>
            </a:r>
            <a:r>
              <a:rPr sz="1000" spc="-15" dirty="0">
                <a:solidFill>
                  <a:srgbClr val="333333"/>
                </a:solidFill>
                <a:latin typeface="Roboto Lt"/>
                <a:cs typeface="Roboto Lt"/>
              </a:rPr>
              <a:t>methods </a:t>
            </a:r>
            <a:r>
              <a:rPr sz="1000" spc="-10" dirty="0">
                <a:solidFill>
                  <a:srgbClr val="333333"/>
                </a:solidFill>
                <a:latin typeface="Roboto Lt"/>
                <a:cs typeface="Roboto Lt"/>
              </a:rPr>
              <a:t>of </a:t>
            </a:r>
            <a:r>
              <a:rPr sz="1000" spc="-15" dirty="0">
                <a:solidFill>
                  <a:srgbClr val="333333"/>
                </a:solidFill>
                <a:latin typeface="Roboto Lt"/>
                <a:cs typeface="Roboto Lt"/>
              </a:rPr>
              <a:t>Agile </a:t>
            </a:r>
            <a:r>
              <a:rPr sz="1000" spc="-20" dirty="0">
                <a:solidFill>
                  <a:srgbClr val="333333"/>
                </a:solidFill>
                <a:latin typeface="Roboto Lt"/>
                <a:cs typeface="Roboto Lt"/>
              </a:rPr>
              <a:t>may </a:t>
            </a:r>
            <a:r>
              <a:rPr sz="1000" spc="-15" dirty="0">
                <a:solidFill>
                  <a:srgbClr val="333333"/>
                </a:solidFill>
                <a:latin typeface="Roboto Lt"/>
                <a:cs typeface="Roboto Lt"/>
              </a:rPr>
              <a:t>result in the </a:t>
            </a:r>
            <a:r>
              <a:rPr sz="1000" spc="-229" dirty="0">
                <a:solidFill>
                  <a:srgbClr val="333333"/>
                </a:solidFill>
                <a:latin typeface="Roboto Lt"/>
                <a:cs typeface="Roboto Lt"/>
              </a:rPr>
              <a:t> </a:t>
            </a:r>
            <a:r>
              <a:rPr sz="1000" spc="-5" dirty="0">
                <a:solidFill>
                  <a:srgbClr val="333333"/>
                </a:solidFill>
                <a:latin typeface="Roboto Lt"/>
                <a:cs typeface="Roboto Lt"/>
              </a:rPr>
              <a:t>need </a:t>
            </a:r>
            <a:r>
              <a:rPr sz="1000" spc="-20" dirty="0">
                <a:solidFill>
                  <a:srgbClr val="333333"/>
                </a:solidFill>
                <a:latin typeface="Roboto Lt"/>
                <a:cs typeface="Roboto Lt"/>
              </a:rPr>
              <a:t>to </a:t>
            </a:r>
            <a:r>
              <a:rPr sz="1000" spc="-15" dirty="0">
                <a:solidFill>
                  <a:srgbClr val="333333"/>
                </a:solidFill>
                <a:latin typeface="Roboto Lt"/>
                <a:cs typeface="Roboto Lt"/>
              </a:rPr>
              <a:t>change team roles. </a:t>
            </a:r>
            <a:r>
              <a:rPr sz="1000" spc="-5" dirty="0">
                <a:solidFill>
                  <a:srgbClr val="333333"/>
                </a:solidFill>
                <a:latin typeface="Roboto Lt"/>
                <a:cs typeface="Roboto Lt"/>
              </a:rPr>
              <a:t>For </a:t>
            </a:r>
            <a:r>
              <a:rPr sz="1000" spc="-15" dirty="0">
                <a:solidFill>
                  <a:srgbClr val="333333"/>
                </a:solidFill>
                <a:latin typeface="Roboto Lt"/>
                <a:cs typeface="Roboto Lt"/>
              </a:rPr>
              <a:t>example, </a:t>
            </a:r>
            <a:r>
              <a:rPr sz="1000" spc="-229" dirty="0">
                <a:solidFill>
                  <a:srgbClr val="333333"/>
                </a:solidFill>
                <a:latin typeface="Roboto Lt"/>
                <a:cs typeface="Roboto Lt"/>
              </a:rPr>
              <a:t> </a:t>
            </a:r>
            <a:r>
              <a:rPr sz="1000" spc="-15" dirty="0">
                <a:solidFill>
                  <a:srgbClr val="333333"/>
                </a:solidFill>
                <a:latin typeface="Roboto Lt"/>
                <a:cs typeface="Roboto Lt"/>
              </a:rPr>
              <a:t>working with </a:t>
            </a:r>
            <a:r>
              <a:rPr sz="1000" spc="-10" dirty="0">
                <a:solidFill>
                  <a:srgbClr val="333333"/>
                </a:solidFill>
                <a:latin typeface="Roboto Lt"/>
                <a:cs typeface="Roboto Lt"/>
              </a:rPr>
              <a:t>Scrum, </a:t>
            </a:r>
            <a:r>
              <a:rPr sz="1000" spc="-15" dirty="0">
                <a:solidFill>
                  <a:srgbClr val="333333"/>
                </a:solidFill>
                <a:latin typeface="Roboto Lt"/>
                <a:cs typeface="Roboto Lt"/>
              </a:rPr>
              <a:t>the team </a:t>
            </a:r>
            <a:r>
              <a:rPr sz="1000" spc="-20" dirty="0">
                <a:solidFill>
                  <a:srgbClr val="333333"/>
                </a:solidFill>
                <a:latin typeface="Roboto Lt"/>
                <a:cs typeface="Roboto Lt"/>
              </a:rPr>
              <a:t>may </a:t>
            </a:r>
            <a:r>
              <a:rPr sz="1000" spc="-5" dirty="0">
                <a:solidFill>
                  <a:srgbClr val="333333"/>
                </a:solidFill>
                <a:latin typeface="Roboto Lt"/>
                <a:cs typeface="Roboto Lt"/>
              </a:rPr>
              <a:t>need </a:t>
            </a:r>
            <a:r>
              <a:rPr sz="1000" spc="-229" dirty="0">
                <a:solidFill>
                  <a:srgbClr val="333333"/>
                </a:solidFill>
                <a:latin typeface="Roboto Lt"/>
                <a:cs typeface="Roboto Lt"/>
              </a:rPr>
              <a:t> </a:t>
            </a:r>
            <a:r>
              <a:rPr sz="1000" spc="-20" dirty="0">
                <a:solidFill>
                  <a:srgbClr val="333333"/>
                </a:solidFill>
                <a:latin typeface="Roboto Lt"/>
                <a:cs typeface="Roboto Lt"/>
              </a:rPr>
              <a:t>to take </a:t>
            </a:r>
            <a:r>
              <a:rPr sz="1000" spc="-10" dirty="0">
                <a:solidFill>
                  <a:srgbClr val="333333"/>
                </a:solidFill>
                <a:latin typeface="Roboto Lt"/>
                <a:cs typeface="Roboto Lt"/>
              </a:rPr>
              <a:t>more </a:t>
            </a:r>
            <a:r>
              <a:rPr sz="1000" spc="-15" dirty="0">
                <a:solidFill>
                  <a:srgbClr val="333333"/>
                </a:solidFill>
                <a:latin typeface="Roboto Lt"/>
                <a:cs typeface="Roboto Lt"/>
              </a:rPr>
              <a:t>responsibility and </a:t>
            </a:r>
            <a:r>
              <a:rPr sz="1000" spc="-10" dirty="0">
                <a:solidFill>
                  <a:srgbClr val="333333"/>
                </a:solidFill>
                <a:latin typeface="Roboto Lt"/>
                <a:cs typeface="Roboto Lt"/>
              </a:rPr>
              <a:t>boost </a:t>
            </a:r>
            <a:r>
              <a:rPr sz="1000" spc="-5" dirty="0">
                <a:solidFill>
                  <a:srgbClr val="333333"/>
                </a:solidFill>
                <a:latin typeface="Roboto Lt"/>
                <a:cs typeface="Roboto Lt"/>
              </a:rPr>
              <a:t> speed </a:t>
            </a:r>
            <a:r>
              <a:rPr sz="1000" spc="-10" dirty="0">
                <a:solidFill>
                  <a:srgbClr val="333333"/>
                </a:solidFill>
                <a:latin typeface="Roboto Lt"/>
                <a:cs typeface="Roboto Lt"/>
              </a:rPr>
              <a:t>of </a:t>
            </a:r>
            <a:r>
              <a:rPr sz="1000" spc="-20" dirty="0">
                <a:solidFill>
                  <a:srgbClr val="333333"/>
                </a:solidFill>
                <a:latin typeface="Roboto Lt"/>
                <a:cs typeface="Roboto Lt"/>
              </a:rPr>
              <a:t>delivery. </a:t>
            </a:r>
            <a:r>
              <a:rPr sz="1000" spc="10" dirty="0">
                <a:solidFill>
                  <a:srgbClr val="333333"/>
                </a:solidFill>
                <a:latin typeface="Roboto Lt"/>
                <a:cs typeface="Roboto Lt"/>
              </a:rPr>
              <a:t>A </a:t>
            </a:r>
            <a:r>
              <a:rPr sz="1000" spc="-5" dirty="0">
                <a:solidFill>
                  <a:srgbClr val="333333"/>
                </a:solidFill>
                <a:latin typeface="Roboto Lt"/>
                <a:cs typeface="Roboto Lt"/>
              </a:rPr>
              <a:t>good </a:t>
            </a:r>
            <a:r>
              <a:rPr sz="1000" spc="-10" dirty="0">
                <a:solidFill>
                  <a:srgbClr val="333333"/>
                </a:solidFill>
                <a:latin typeface="Roboto Lt"/>
                <a:cs typeface="Roboto Lt"/>
              </a:rPr>
              <a:t>place </a:t>
            </a:r>
            <a:r>
              <a:rPr sz="1000" spc="-20" dirty="0">
                <a:solidFill>
                  <a:srgbClr val="333333"/>
                </a:solidFill>
                <a:latin typeface="Roboto Lt"/>
                <a:cs typeface="Roboto Lt"/>
              </a:rPr>
              <a:t>to </a:t>
            </a:r>
            <a:r>
              <a:rPr sz="1000" spc="-10" dirty="0">
                <a:solidFill>
                  <a:srgbClr val="333333"/>
                </a:solidFill>
                <a:latin typeface="Roboto Lt"/>
                <a:cs typeface="Roboto Lt"/>
              </a:rPr>
              <a:t>start </a:t>
            </a:r>
            <a:r>
              <a:rPr sz="1000" spc="-5" dirty="0">
                <a:solidFill>
                  <a:srgbClr val="333333"/>
                </a:solidFill>
                <a:latin typeface="Roboto Lt"/>
                <a:cs typeface="Roboto Lt"/>
              </a:rPr>
              <a:t> </a:t>
            </a:r>
            <a:r>
              <a:rPr sz="1000" spc="-15" dirty="0">
                <a:solidFill>
                  <a:srgbClr val="333333"/>
                </a:solidFill>
                <a:latin typeface="Roboto Lt"/>
                <a:cs typeface="Roboto Lt"/>
              </a:rPr>
              <a:t>with </a:t>
            </a:r>
            <a:r>
              <a:rPr sz="1000" spc="-10" dirty="0">
                <a:solidFill>
                  <a:srgbClr val="333333"/>
                </a:solidFill>
                <a:latin typeface="Roboto Lt"/>
                <a:cs typeface="Roboto Lt"/>
              </a:rPr>
              <a:t>Scrum </a:t>
            </a:r>
            <a:r>
              <a:rPr sz="1000" spc="-15" dirty="0">
                <a:solidFill>
                  <a:srgbClr val="333333"/>
                </a:solidFill>
                <a:latin typeface="Roboto Lt"/>
                <a:cs typeface="Roboto Lt"/>
              </a:rPr>
              <a:t>is </a:t>
            </a:r>
            <a:r>
              <a:rPr sz="1000" spc="-20" dirty="0">
                <a:solidFill>
                  <a:srgbClr val="333333"/>
                </a:solidFill>
                <a:latin typeface="Roboto Lt"/>
                <a:cs typeface="Roboto Lt"/>
              </a:rPr>
              <a:t>to </a:t>
            </a:r>
            <a:r>
              <a:rPr sz="1000" spc="-15" dirty="0">
                <a:solidFill>
                  <a:srgbClr val="333333"/>
                </a:solidFill>
                <a:latin typeface="Roboto Lt"/>
                <a:cs typeface="Roboto Lt"/>
              </a:rPr>
              <a:t>talk </a:t>
            </a:r>
            <a:r>
              <a:rPr sz="1000" spc="-10" dirty="0">
                <a:solidFill>
                  <a:srgbClr val="333333"/>
                </a:solidFill>
                <a:latin typeface="Roboto Lt"/>
                <a:cs typeface="Roboto Lt"/>
              </a:rPr>
              <a:t>about </a:t>
            </a:r>
            <a:r>
              <a:rPr sz="1000" spc="-15" dirty="0">
                <a:solidFill>
                  <a:srgbClr val="333333"/>
                </a:solidFill>
                <a:latin typeface="Roboto Lt"/>
                <a:cs typeface="Roboto Lt"/>
              </a:rPr>
              <a:t>the roles and </a:t>
            </a:r>
            <a:r>
              <a:rPr sz="1000" spc="-229" dirty="0">
                <a:solidFill>
                  <a:srgbClr val="333333"/>
                </a:solidFill>
                <a:latin typeface="Roboto Lt"/>
                <a:cs typeface="Roboto Lt"/>
              </a:rPr>
              <a:t> </a:t>
            </a:r>
            <a:r>
              <a:rPr sz="1000" spc="-15" dirty="0">
                <a:solidFill>
                  <a:srgbClr val="333333"/>
                </a:solidFill>
                <a:latin typeface="Roboto Lt"/>
                <a:cs typeface="Roboto Lt"/>
              </a:rPr>
              <a:t>responsibilities. </a:t>
            </a:r>
            <a:r>
              <a:rPr sz="1000" spc="-10" dirty="0">
                <a:solidFill>
                  <a:srgbClr val="333333"/>
                </a:solidFill>
                <a:latin typeface="Roboto Lt"/>
                <a:cs typeface="Roboto Lt"/>
              </a:rPr>
              <a:t>Every </a:t>
            </a:r>
            <a:r>
              <a:rPr sz="1000" spc="-15" dirty="0">
                <a:solidFill>
                  <a:srgbClr val="333333"/>
                </a:solidFill>
                <a:latin typeface="Roboto Lt"/>
                <a:cs typeface="Roboto Lt"/>
              </a:rPr>
              <a:t>project must </a:t>
            </a:r>
            <a:r>
              <a:rPr sz="1000" spc="-25" dirty="0">
                <a:solidFill>
                  <a:srgbClr val="333333"/>
                </a:solidFill>
                <a:latin typeface="Roboto Lt"/>
                <a:cs typeface="Roboto Lt"/>
              </a:rPr>
              <a:t>have </a:t>
            </a:r>
            <a:r>
              <a:rPr sz="1000" spc="-20" dirty="0">
                <a:solidFill>
                  <a:srgbClr val="333333"/>
                </a:solidFill>
                <a:latin typeface="Roboto Lt"/>
                <a:cs typeface="Roboto Lt"/>
              </a:rPr>
              <a:t> </a:t>
            </a:r>
            <a:r>
              <a:rPr sz="1000" spc="-5" dirty="0">
                <a:solidFill>
                  <a:srgbClr val="333333"/>
                </a:solidFill>
                <a:latin typeface="Roboto Lt"/>
                <a:cs typeface="Roboto Lt"/>
              </a:rPr>
              <a:t>a </a:t>
            </a:r>
            <a:r>
              <a:rPr sz="1000" spc="-10" dirty="0">
                <a:solidFill>
                  <a:srgbClr val="333333"/>
                </a:solidFill>
                <a:latin typeface="Roboto Lt"/>
                <a:cs typeface="Roboto Lt"/>
              </a:rPr>
              <a:t>Scrum </a:t>
            </a:r>
            <a:r>
              <a:rPr sz="1000" spc="-25" dirty="0">
                <a:solidFill>
                  <a:srgbClr val="333333"/>
                </a:solidFill>
                <a:latin typeface="Roboto Lt"/>
                <a:cs typeface="Roboto Lt"/>
              </a:rPr>
              <a:t>Master, </a:t>
            </a:r>
            <a:r>
              <a:rPr sz="1000" spc="-15" dirty="0">
                <a:solidFill>
                  <a:srgbClr val="333333"/>
                </a:solidFill>
                <a:latin typeface="Roboto Lt"/>
                <a:cs typeface="Roboto Lt"/>
              </a:rPr>
              <a:t>Product </a:t>
            </a:r>
            <a:r>
              <a:rPr sz="1000" spc="-20" dirty="0">
                <a:solidFill>
                  <a:srgbClr val="333333"/>
                </a:solidFill>
                <a:latin typeface="Roboto Lt"/>
                <a:cs typeface="Roboto Lt"/>
              </a:rPr>
              <a:t>Owner, </a:t>
            </a:r>
            <a:r>
              <a:rPr sz="1000" spc="-15" dirty="0">
                <a:solidFill>
                  <a:srgbClr val="333333"/>
                </a:solidFill>
                <a:latin typeface="Roboto Lt"/>
                <a:cs typeface="Roboto Lt"/>
              </a:rPr>
              <a:t>and </a:t>
            </a:r>
            <a:r>
              <a:rPr sz="1000" spc="-10" dirty="0">
                <a:solidFill>
                  <a:srgbClr val="333333"/>
                </a:solidFill>
                <a:latin typeface="Roboto Lt"/>
                <a:cs typeface="Roboto Lt"/>
              </a:rPr>
              <a:t> Scrum </a:t>
            </a:r>
            <a:r>
              <a:rPr sz="1000" spc="-25" dirty="0">
                <a:solidFill>
                  <a:srgbClr val="333333"/>
                </a:solidFill>
                <a:latin typeface="Roboto Lt"/>
                <a:cs typeface="Roboto Lt"/>
              </a:rPr>
              <a:t>Team. </a:t>
            </a:r>
            <a:r>
              <a:rPr sz="1000" spc="-15" dirty="0">
                <a:solidFill>
                  <a:srgbClr val="333333"/>
                </a:solidFill>
                <a:latin typeface="Roboto Lt"/>
                <a:cs typeface="Roboto Lt"/>
              </a:rPr>
              <a:t>Clarifying these roles </a:t>
            </a:r>
            <a:r>
              <a:rPr sz="1000" spc="-20" dirty="0">
                <a:solidFill>
                  <a:srgbClr val="333333"/>
                </a:solidFill>
                <a:latin typeface="Roboto Lt"/>
                <a:cs typeface="Roboto Lt"/>
              </a:rPr>
              <a:t>will </a:t>
            </a:r>
            <a:r>
              <a:rPr sz="1000" spc="-15" dirty="0">
                <a:solidFill>
                  <a:srgbClr val="333333"/>
                </a:solidFill>
                <a:latin typeface="Roboto Lt"/>
                <a:cs typeface="Roboto Lt"/>
              </a:rPr>
              <a:t> help teams understand their </a:t>
            </a:r>
            <a:r>
              <a:rPr sz="1000" spc="-10" dirty="0">
                <a:solidFill>
                  <a:srgbClr val="333333"/>
                </a:solidFill>
                <a:latin typeface="Roboto Lt"/>
                <a:cs typeface="Roboto Lt"/>
              </a:rPr>
              <a:t> </a:t>
            </a:r>
            <a:r>
              <a:rPr sz="1000" spc="-15" dirty="0">
                <a:solidFill>
                  <a:srgbClr val="333333"/>
                </a:solidFill>
                <a:latin typeface="Roboto Lt"/>
                <a:cs typeface="Roboto Lt"/>
              </a:rPr>
              <a:t>responsibilities</a:t>
            </a:r>
            <a:r>
              <a:rPr sz="1000" spc="-35" dirty="0">
                <a:solidFill>
                  <a:srgbClr val="333333"/>
                </a:solidFill>
                <a:latin typeface="Roboto Lt"/>
                <a:cs typeface="Roboto Lt"/>
              </a:rPr>
              <a:t> </a:t>
            </a:r>
            <a:r>
              <a:rPr sz="1000" spc="-15" dirty="0">
                <a:solidFill>
                  <a:srgbClr val="333333"/>
                </a:solidFill>
                <a:latin typeface="Roboto Lt"/>
                <a:cs typeface="Roboto Lt"/>
              </a:rPr>
              <a:t>and</a:t>
            </a:r>
            <a:r>
              <a:rPr sz="1000" spc="-30" dirty="0">
                <a:solidFill>
                  <a:srgbClr val="333333"/>
                </a:solidFill>
                <a:latin typeface="Roboto Lt"/>
                <a:cs typeface="Roboto Lt"/>
              </a:rPr>
              <a:t> </a:t>
            </a:r>
            <a:r>
              <a:rPr sz="1000" spc="-15" dirty="0">
                <a:solidFill>
                  <a:srgbClr val="333333"/>
                </a:solidFill>
                <a:latin typeface="Roboto Lt"/>
                <a:cs typeface="Roboto Lt"/>
              </a:rPr>
              <a:t>remain</a:t>
            </a:r>
            <a:r>
              <a:rPr sz="1000" spc="-35" dirty="0">
                <a:solidFill>
                  <a:srgbClr val="333333"/>
                </a:solidFill>
                <a:latin typeface="Roboto Lt"/>
                <a:cs typeface="Roboto Lt"/>
              </a:rPr>
              <a:t> </a:t>
            </a:r>
            <a:r>
              <a:rPr sz="1000" spc="-15" dirty="0">
                <a:solidFill>
                  <a:srgbClr val="333333"/>
                </a:solidFill>
                <a:latin typeface="Roboto Lt"/>
                <a:cs typeface="Roboto Lt"/>
              </a:rPr>
              <a:t>accountable.</a:t>
            </a:r>
            <a:endParaRPr sz="1000">
              <a:latin typeface="Roboto Lt"/>
              <a:cs typeface="Roboto L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1920239"/>
          </a:xfrm>
          <a:custGeom>
            <a:avLst/>
            <a:gdLst/>
            <a:ahLst/>
            <a:cxnLst/>
            <a:rect l="l" t="t" r="r" b="b"/>
            <a:pathLst>
              <a:path w="9144000" h="1920239">
                <a:moveTo>
                  <a:pt x="9144000" y="0"/>
                </a:moveTo>
                <a:lnTo>
                  <a:pt x="0" y="0"/>
                </a:lnTo>
                <a:lnTo>
                  <a:pt x="0" y="1920074"/>
                </a:lnTo>
                <a:lnTo>
                  <a:pt x="9144000" y="1920074"/>
                </a:lnTo>
                <a:lnTo>
                  <a:pt x="9144000" y="0"/>
                </a:lnTo>
                <a:close/>
              </a:path>
            </a:pathLst>
          </a:custGeom>
          <a:solidFill>
            <a:srgbClr val="00BC31"/>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620" dirty="0"/>
              <a:t>F</a:t>
            </a:r>
            <a:r>
              <a:rPr spc="-60" dirty="0"/>
              <a:t>indi</a:t>
            </a:r>
            <a:r>
              <a:rPr spc="-5" dirty="0"/>
              <a:t>n</a:t>
            </a:r>
            <a:r>
              <a:rPr spc="-25" dirty="0"/>
              <a:t>g</a:t>
            </a:r>
            <a:r>
              <a:rPr spc="-535" dirty="0"/>
              <a:t> </a:t>
            </a:r>
            <a:r>
              <a:rPr spc="355" dirty="0"/>
              <a:t>t</a:t>
            </a:r>
            <a:r>
              <a:rPr spc="-10" dirty="0"/>
              <a:t>h</a:t>
            </a:r>
            <a:r>
              <a:rPr spc="275" dirty="0"/>
              <a:t>e</a:t>
            </a:r>
          </a:p>
        </p:txBody>
      </p:sp>
      <p:sp>
        <p:nvSpPr>
          <p:cNvPr id="4" name="object 4"/>
          <p:cNvSpPr txBox="1"/>
          <p:nvPr/>
        </p:nvSpPr>
        <p:spPr>
          <a:xfrm>
            <a:off x="526368" y="932576"/>
            <a:ext cx="3886200" cy="711200"/>
          </a:xfrm>
          <a:prstGeom prst="rect">
            <a:avLst/>
          </a:prstGeom>
        </p:spPr>
        <p:txBody>
          <a:bodyPr vert="horz" wrap="square" lIns="0" tIns="12700" rIns="0" bIns="0" rtlCol="0">
            <a:spAutoFit/>
          </a:bodyPr>
          <a:lstStyle/>
          <a:p>
            <a:pPr marL="12700">
              <a:lnSpc>
                <a:spcPct val="100000"/>
              </a:lnSpc>
              <a:spcBef>
                <a:spcPts val="100"/>
              </a:spcBef>
            </a:pPr>
            <a:r>
              <a:rPr sz="4500" b="1" spc="-235" dirty="0">
                <a:solidFill>
                  <a:srgbClr val="FFFFFF"/>
                </a:solidFill>
                <a:latin typeface="Arial"/>
                <a:cs typeface="Arial"/>
              </a:rPr>
              <a:t>B</a:t>
            </a:r>
            <a:r>
              <a:rPr sz="4500" b="1" spc="-254" dirty="0">
                <a:solidFill>
                  <a:srgbClr val="FFFFFF"/>
                </a:solidFill>
                <a:latin typeface="Arial"/>
                <a:cs typeface="Arial"/>
              </a:rPr>
              <a:t>e</a:t>
            </a:r>
            <a:r>
              <a:rPr sz="4500" b="1" spc="-360" dirty="0">
                <a:solidFill>
                  <a:srgbClr val="FFFFFF"/>
                </a:solidFill>
                <a:latin typeface="Arial"/>
                <a:cs typeface="Arial"/>
              </a:rPr>
              <a:t>s</a:t>
            </a:r>
            <a:r>
              <a:rPr sz="4500" b="1" spc="570" dirty="0">
                <a:solidFill>
                  <a:srgbClr val="FFFFFF"/>
                </a:solidFill>
                <a:latin typeface="Arial"/>
                <a:cs typeface="Arial"/>
              </a:rPr>
              <a:t>t</a:t>
            </a:r>
            <a:r>
              <a:rPr sz="4500" b="1" spc="-535" dirty="0">
                <a:solidFill>
                  <a:srgbClr val="FFFFFF"/>
                </a:solidFill>
                <a:latin typeface="Arial"/>
                <a:cs typeface="Arial"/>
              </a:rPr>
              <a:t> </a:t>
            </a:r>
            <a:r>
              <a:rPr sz="4500" b="1" spc="-150" dirty="0">
                <a:solidFill>
                  <a:srgbClr val="FFFFFF"/>
                </a:solidFill>
                <a:latin typeface="Arial"/>
                <a:cs typeface="Arial"/>
              </a:rPr>
              <a:t>A</a:t>
            </a:r>
            <a:r>
              <a:rPr sz="4500" b="1" spc="-280" dirty="0">
                <a:solidFill>
                  <a:srgbClr val="FFFFFF"/>
                </a:solidFill>
                <a:latin typeface="Arial"/>
                <a:cs typeface="Arial"/>
              </a:rPr>
              <a:t>g</a:t>
            </a:r>
            <a:r>
              <a:rPr sz="4500" b="1" spc="-55" dirty="0">
                <a:solidFill>
                  <a:srgbClr val="FFFFFF"/>
                </a:solidFill>
                <a:latin typeface="Arial"/>
                <a:cs typeface="Arial"/>
              </a:rPr>
              <a:t>i</a:t>
            </a:r>
            <a:r>
              <a:rPr sz="4500" b="1" spc="-110" dirty="0">
                <a:solidFill>
                  <a:srgbClr val="FFFFFF"/>
                </a:solidFill>
                <a:latin typeface="Arial"/>
                <a:cs typeface="Arial"/>
              </a:rPr>
              <a:t>l</a:t>
            </a:r>
            <a:r>
              <a:rPr sz="4500" b="1" spc="320" dirty="0">
                <a:solidFill>
                  <a:srgbClr val="FFFFFF"/>
                </a:solidFill>
                <a:latin typeface="Arial"/>
                <a:cs typeface="Arial"/>
              </a:rPr>
              <a:t>e</a:t>
            </a:r>
            <a:r>
              <a:rPr sz="4500" b="1" spc="-535" dirty="0">
                <a:solidFill>
                  <a:srgbClr val="FFFFFF"/>
                </a:solidFill>
                <a:latin typeface="Arial"/>
                <a:cs typeface="Arial"/>
              </a:rPr>
              <a:t> </a:t>
            </a:r>
            <a:r>
              <a:rPr sz="4500" b="1" spc="-595" dirty="0">
                <a:solidFill>
                  <a:srgbClr val="FFFFFF"/>
                </a:solidFill>
                <a:latin typeface="Arial"/>
                <a:cs typeface="Arial"/>
              </a:rPr>
              <a:t>T</a:t>
            </a:r>
            <a:r>
              <a:rPr sz="4500" b="1" spc="-160" dirty="0">
                <a:solidFill>
                  <a:srgbClr val="FFFFFF"/>
                </a:solidFill>
                <a:latin typeface="Arial"/>
                <a:cs typeface="Arial"/>
              </a:rPr>
              <a:t>o</a:t>
            </a:r>
            <a:r>
              <a:rPr sz="4500" b="1" spc="-110" dirty="0">
                <a:solidFill>
                  <a:srgbClr val="FFFFFF"/>
                </a:solidFill>
                <a:latin typeface="Arial"/>
                <a:cs typeface="Arial"/>
              </a:rPr>
              <a:t>ol</a:t>
            </a:r>
            <a:endParaRPr sz="4500">
              <a:latin typeface="Arial"/>
              <a:cs typeface="Arial"/>
            </a:endParaRPr>
          </a:p>
        </p:txBody>
      </p:sp>
      <p:sp>
        <p:nvSpPr>
          <p:cNvPr id="5" name="object 5"/>
          <p:cNvSpPr txBox="1"/>
          <p:nvPr/>
        </p:nvSpPr>
        <p:spPr>
          <a:xfrm>
            <a:off x="4991100" y="731916"/>
            <a:ext cx="3605529" cy="817880"/>
          </a:xfrm>
          <a:prstGeom prst="rect">
            <a:avLst/>
          </a:prstGeom>
        </p:spPr>
        <p:txBody>
          <a:bodyPr vert="horz" wrap="square" lIns="0" tIns="12700" rIns="0" bIns="0" rtlCol="0">
            <a:spAutoFit/>
          </a:bodyPr>
          <a:lstStyle/>
          <a:p>
            <a:pPr marL="12700" marR="5080">
              <a:lnSpc>
                <a:spcPct val="100000"/>
              </a:lnSpc>
              <a:spcBef>
                <a:spcPts val="100"/>
              </a:spcBef>
            </a:pPr>
            <a:r>
              <a:rPr sz="1300" spc="-15" dirty="0">
                <a:solidFill>
                  <a:srgbClr val="FFFFFF"/>
                </a:solidFill>
                <a:latin typeface="Roboto Lt"/>
                <a:cs typeface="Roboto Lt"/>
              </a:rPr>
              <a:t>If </a:t>
            </a:r>
            <a:r>
              <a:rPr sz="1300" spc="-50" dirty="0">
                <a:solidFill>
                  <a:srgbClr val="FFFFFF"/>
                </a:solidFill>
                <a:latin typeface="Roboto Lt"/>
                <a:cs typeface="Roboto Lt"/>
              </a:rPr>
              <a:t>you’re </a:t>
            </a:r>
            <a:r>
              <a:rPr sz="1300" spc="-30" dirty="0">
                <a:solidFill>
                  <a:srgbClr val="FFFFFF"/>
                </a:solidFill>
                <a:latin typeface="Roboto Lt"/>
                <a:cs typeface="Roboto Lt"/>
              </a:rPr>
              <a:t>considering </a:t>
            </a:r>
            <a:r>
              <a:rPr sz="1300" spc="-5" dirty="0">
                <a:solidFill>
                  <a:srgbClr val="FFFFFF"/>
                </a:solidFill>
                <a:latin typeface="Roboto Lt"/>
                <a:cs typeface="Roboto Lt"/>
              </a:rPr>
              <a:t>a </a:t>
            </a:r>
            <a:r>
              <a:rPr sz="1300" spc="-35" dirty="0">
                <a:solidFill>
                  <a:srgbClr val="FFFFFF"/>
                </a:solidFill>
                <a:latin typeface="Roboto Lt"/>
                <a:cs typeface="Roboto Lt"/>
              </a:rPr>
              <a:t>switch </a:t>
            </a:r>
            <a:r>
              <a:rPr sz="1300" spc="-30" dirty="0">
                <a:solidFill>
                  <a:srgbClr val="FFFFFF"/>
                </a:solidFill>
                <a:latin typeface="Roboto Lt"/>
                <a:cs typeface="Roboto Lt"/>
              </a:rPr>
              <a:t>to </a:t>
            </a:r>
            <a:r>
              <a:rPr sz="1300" spc="-25" dirty="0">
                <a:solidFill>
                  <a:srgbClr val="FFFFFF"/>
                </a:solidFill>
                <a:latin typeface="Roboto Lt"/>
                <a:cs typeface="Roboto Lt"/>
              </a:rPr>
              <a:t>Agile project </a:t>
            </a:r>
            <a:r>
              <a:rPr sz="1300" spc="-20" dirty="0">
                <a:solidFill>
                  <a:srgbClr val="FFFFFF"/>
                </a:solidFill>
                <a:latin typeface="Roboto Lt"/>
                <a:cs typeface="Roboto Lt"/>
              </a:rPr>
              <a:t> </a:t>
            </a:r>
            <a:r>
              <a:rPr sz="1300" spc="-25" dirty="0">
                <a:solidFill>
                  <a:srgbClr val="FFFFFF"/>
                </a:solidFill>
                <a:latin typeface="Roboto Lt"/>
                <a:cs typeface="Roboto Lt"/>
              </a:rPr>
              <a:t>management, </a:t>
            </a:r>
            <a:r>
              <a:rPr sz="1300" spc="-30" dirty="0">
                <a:solidFill>
                  <a:srgbClr val="FFFFFF"/>
                </a:solidFill>
                <a:latin typeface="Roboto Lt"/>
                <a:cs typeface="Roboto Lt"/>
              </a:rPr>
              <a:t>you should determine which </a:t>
            </a:r>
            <a:r>
              <a:rPr sz="1300" spc="-25" dirty="0">
                <a:solidFill>
                  <a:srgbClr val="FFFFFF"/>
                </a:solidFill>
                <a:latin typeface="Roboto Lt"/>
                <a:cs typeface="Roboto Lt"/>
              </a:rPr>
              <a:t>tool is </a:t>
            </a:r>
            <a:r>
              <a:rPr sz="1300" spc="-20" dirty="0">
                <a:solidFill>
                  <a:srgbClr val="FFFFFF"/>
                </a:solidFill>
                <a:latin typeface="Roboto Lt"/>
                <a:cs typeface="Roboto Lt"/>
              </a:rPr>
              <a:t> best </a:t>
            </a:r>
            <a:r>
              <a:rPr sz="1300" spc="-30" dirty="0">
                <a:solidFill>
                  <a:srgbClr val="FFFFFF"/>
                </a:solidFill>
                <a:latin typeface="Roboto Lt"/>
                <a:cs typeface="Roboto Lt"/>
              </a:rPr>
              <a:t>to </a:t>
            </a:r>
            <a:r>
              <a:rPr sz="1300" spc="-25" dirty="0">
                <a:solidFill>
                  <a:srgbClr val="FFFFFF"/>
                </a:solidFill>
                <a:latin typeface="Roboto Lt"/>
                <a:cs typeface="Roboto Lt"/>
              </a:rPr>
              <a:t>help track and manage </a:t>
            </a:r>
            <a:r>
              <a:rPr sz="1300" spc="-30" dirty="0">
                <a:solidFill>
                  <a:srgbClr val="FFFFFF"/>
                </a:solidFill>
                <a:latin typeface="Roboto Lt"/>
                <a:cs typeface="Roboto Lt"/>
              </a:rPr>
              <a:t>your projects. </a:t>
            </a:r>
            <a:r>
              <a:rPr sz="1300" spc="-20" dirty="0">
                <a:solidFill>
                  <a:srgbClr val="FFFFFF"/>
                </a:solidFill>
                <a:latin typeface="Roboto Lt"/>
                <a:cs typeface="Roboto Lt"/>
              </a:rPr>
              <a:t>Here </a:t>
            </a:r>
            <a:r>
              <a:rPr sz="1300" spc="-15" dirty="0">
                <a:solidFill>
                  <a:srgbClr val="FFFFFF"/>
                </a:solidFill>
                <a:latin typeface="Roboto Lt"/>
                <a:cs typeface="Roboto Lt"/>
              </a:rPr>
              <a:t> </a:t>
            </a:r>
            <a:r>
              <a:rPr sz="1300" spc="-30" dirty="0">
                <a:solidFill>
                  <a:srgbClr val="FFFFFF"/>
                </a:solidFill>
                <a:latin typeface="Roboto Lt"/>
                <a:cs typeface="Roboto Lt"/>
              </a:rPr>
              <a:t>are</a:t>
            </a:r>
            <a:r>
              <a:rPr sz="1300" spc="-35" dirty="0">
                <a:solidFill>
                  <a:srgbClr val="FFFFFF"/>
                </a:solidFill>
                <a:latin typeface="Roboto Lt"/>
                <a:cs typeface="Roboto Lt"/>
              </a:rPr>
              <a:t> </a:t>
            </a:r>
            <a:r>
              <a:rPr sz="1300" spc="-25" dirty="0">
                <a:solidFill>
                  <a:srgbClr val="FFFFFF"/>
                </a:solidFill>
                <a:latin typeface="Roboto Lt"/>
                <a:cs typeface="Roboto Lt"/>
              </a:rPr>
              <a:t>the</a:t>
            </a:r>
            <a:r>
              <a:rPr sz="1300" spc="-35" dirty="0">
                <a:solidFill>
                  <a:srgbClr val="FFFFFF"/>
                </a:solidFill>
                <a:latin typeface="Roboto Lt"/>
                <a:cs typeface="Roboto Lt"/>
              </a:rPr>
              <a:t> </a:t>
            </a:r>
            <a:r>
              <a:rPr sz="1300" spc="-25" dirty="0">
                <a:solidFill>
                  <a:srgbClr val="FFFFFF"/>
                </a:solidFill>
                <a:latin typeface="Roboto Lt"/>
                <a:cs typeface="Roboto Lt"/>
              </a:rPr>
              <a:t>top</a:t>
            </a:r>
            <a:r>
              <a:rPr sz="1300" spc="-30" dirty="0">
                <a:solidFill>
                  <a:srgbClr val="FFFFFF"/>
                </a:solidFill>
                <a:latin typeface="Roboto Lt"/>
                <a:cs typeface="Roboto Lt"/>
              </a:rPr>
              <a:t> things</a:t>
            </a:r>
            <a:r>
              <a:rPr sz="1300" spc="-35" dirty="0">
                <a:solidFill>
                  <a:srgbClr val="FFFFFF"/>
                </a:solidFill>
                <a:latin typeface="Roboto Lt"/>
                <a:cs typeface="Roboto Lt"/>
              </a:rPr>
              <a:t> </a:t>
            </a:r>
            <a:r>
              <a:rPr sz="1300" spc="-30" dirty="0">
                <a:solidFill>
                  <a:srgbClr val="FFFFFF"/>
                </a:solidFill>
                <a:latin typeface="Roboto Lt"/>
                <a:cs typeface="Roboto Lt"/>
              </a:rPr>
              <a:t>to </a:t>
            </a:r>
            <a:r>
              <a:rPr sz="1300" spc="-25" dirty="0">
                <a:solidFill>
                  <a:srgbClr val="FFFFFF"/>
                </a:solidFill>
                <a:latin typeface="Roboto Lt"/>
                <a:cs typeface="Roboto Lt"/>
              </a:rPr>
              <a:t>consider</a:t>
            </a:r>
            <a:r>
              <a:rPr sz="1300" spc="-35" dirty="0">
                <a:solidFill>
                  <a:srgbClr val="FFFFFF"/>
                </a:solidFill>
                <a:latin typeface="Roboto Lt"/>
                <a:cs typeface="Roboto Lt"/>
              </a:rPr>
              <a:t> </a:t>
            </a:r>
            <a:r>
              <a:rPr sz="1300" spc="-25" dirty="0">
                <a:solidFill>
                  <a:srgbClr val="FFFFFF"/>
                </a:solidFill>
                <a:latin typeface="Roboto Lt"/>
                <a:cs typeface="Roboto Lt"/>
              </a:rPr>
              <a:t>when</a:t>
            </a:r>
            <a:r>
              <a:rPr sz="1300" spc="-30" dirty="0">
                <a:solidFill>
                  <a:srgbClr val="FFFFFF"/>
                </a:solidFill>
                <a:latin typeface="Roboto Lt"/>
                <a:cs typeface="Roboto Lt"/>
              </a:rPr>
              <a:t> </a:t>
            </a:r>
            <a:r>
              <a:rPr sz="1300" spc="-25" dirty="0">
                <a:solidFill>
                  <a:srgbClr val="FFFFFF"/>
                </a:solidFill>
                <a:latin typeface="Roboto Lt"/>
                <a:cs typeface="Roboto Lt"/>
              </a:rPr>
              <a:t>choosing</a:t>
            </a:r>
            <a:r>
              <a:rPr sz="1300" spc="-35" dirty="0">
                <a:solidFill>
                  <a:srgbClr val="FFFFFF"/>
                </a:solidFill>
                <a:latin typeface="Roboto Lt"/>
                <a:cs typeface="Roboto Lt"/>
              </a:rPr>
              <a:t> </a:t>
            </a:r>
            <a:r>
              <a:rPr sz="1300" spc="-5" dirty="0">
                <a:solidFill>
                  <a:srgbClr val="FFFFFF"/>
                </a:solidFill>
                <a:latin typeface="Roboto Lt"/>
                <a:cs typeface="Roboto Lt"/>
              </a:rPr>
              <a:t>a</a:t>
            </a:r>
            <a:r>
              <a:rPr sz="1300" spc="-30" dirty="0">
                <a:solidFill>
                  <a:srgbClr val="FFFFFF"/>
                </a:solidFill>
                <a:latin typeface="Roboto Lt"/>
                <a:cs typeface="Roboto Lt"/>
              </a:rPr>
              <a:t> tool:</a:t>
            </a:r>
            <a:endParaRPr sz="1300">
              <a:latin typeface="Roboto Lt"/>
              <a:cs typeface="Roboto Lt"/>
            </a:endParaRPr>
          </a:p>
        </p:txBody>
      </p:sp>
      <p:grpSp>
        <p:nvGrpSpPr>
          <p:cNvPr id="6" name="object 6"/>
          <p:cNvGrpSpPr/>
          <p:nvPr/>
        </p:nvGrpSpPr>
        <p:grpSpPr>
          <a:xfrm>
            <a:off x="419100" y="1920074"/>
            <a:ext cx="8305800" cy="3452495"/>
            <a:chOff x="419100" y="1920074"/>
            <a:chExt cx="8305800" cy="3452495"/>
          </a:xfrm>
        </p:grpSpPr>
        <p:sp>
          <p:nvSpPr>
            <p:cNvPr id="7" name="object 7"/>
            <p:cNvSpPr/>
            <p:nvPr/>
          </p:nvSpPr>
          <p:spPr>
            <a:xfrm>
              <a:off x="3742664" y="1920074"/>
              <a:ext cx="1661795" cy="3452495"/>
            </a:xfrm>
            <a:custGeom>
              <a:avLst/>
              <a:gdLst/>
              <a:ahLst/>
              <a:cxnLst/>
              <a:rect l="l" t="t" r="r" b="b"/>
              <a:pathLst>
                <a:path w="1661795" h="3452495">
                  <a:moveTo>
                    <a:pt x="1661782" y="0"/>
                  </a:moveTo>
                  <a:lnTo>
                    <a:pt x="0" y="0"/>
                  </a:lnTo>
                  <a:lnTo>
                    <a:pt x="0" y="3452025"/>
                  </a:lnTo>
                  <a:lnTo>
                    <a:pt x="1661782" y="3452025"/>
                  </a:lnTo>
                  <a:lnTo>
                    <a:pt x="1661782" y="0"/>
                  </a:lnTo>
                  <a:close/>
                </a:path>
              </a:pathLst>
            </a:custGeom>
            <a:solidFill>
              <a:srgbClr val="D8F5E0"/>
            </a:solidFill>
          </p:spPr>
          <p:txBody>
            <a:bodyPr wrap="square" lIns="0" tIns="0" rIns="0" bIns="0" rtlCol="0"/>
            <a:lstStyle/>
            <a:p>
              <a:endParaRPr/>
            </a:p>
          </p:txBody>
        </p:sp>
        <p:sp>
          <p:nvSpPr>
            <p:cNvPr id="8" name="object 8"/>
            <p:cNvSpPr/>
            <p:nvPr/>
          </p:nvSpPr>
          <p:spPr>
            <a:xfrm>
              <a:off x="5401335" y="1920074"/>
              <a:ext cx="1661795" cy="3452495"/>
            </a:xfrm>
            <a:custGeom>
              <a:avLst/>
              <a:gdLst/>
              <a:ahLst/>
              <a:cxnLst/>
              <a:rect l="l" t="t" r="r" b="b"/>
              <a:pathLst>
                <a:path w="1661795" h="3452495">
                  <a:moveTo>
                    <a:pt x="1661782" y="0"/>
                  </a:moveTo>
                  <a:lnTo>
                    <a:pt x="0" y="0"/>
                  </a:lnTo>
                  <a:lnTo>
                    <a:pt x="0" y="3452025"/>
                  </a:lnTo>
                  <a:lnTo>
                    <a:pt x="1661782" y="3452025"/>
                  </a:lnTo>
                  <a:lnTo>
                    <a:pt x="1661782" y="0"/>
                  </a:lnTo>
                  <a:close/>
                </a:path>
              </a:pathLst>
            </a:custGeom>
            <a:solidFill>
              <a:srgbClr val="CCF1D5"/>
            </a:solidFill>
          </p:spPr>
          <p:txBody>
            <a:bodyPr wrap="square" lIns="0" tIns="0" rIns="0" bIns="0" rtlCol="0"/>
            <a:lstStyle/>
            <a:p>
              <a:endParaRPr/>
            </a:p>
          </p:txBody>
        </p:sp>
        <p:sp>
          <p:nvSpPr>
            <p:cNvPr id="9" name="object 9"/>
            <p:cNvSpPr/>
            <p:nvPr/>
          </p:nvSpPr>
          <p:spPr>
            <a:xfrm>
              <a:off x="7063117" y="1920074"/>
              <a:ext cx="1661795" cy="3452495"/>
            </a:xfrm>
            <a:custGeom>
              <a:avLst/>
              <a:gdLst/>
              <a:ahLst/>
              <a:cxnLst/>
              <a:rect l="l" t="t" r="r" b="b"/>
              <a:pathLst>
                <a:path w="1661795" h="3452495">
                  <a:moveTo>
                    <a:pt x="1661782" y="0"/>
                  </a:moveTo>
                  <a:lnTo>
                    <a:pt x="0" y="0"/>
                  </a:lnTo>
                  <a:lnTo>
                    <a:pt x="0" y="3452025"/>
                  </a:lnTo>
                  <a:lnTo>
                    <a:pt x="1661782" y="3452025"/>
                  </a:lnTo>
                  <a:lnTo>
                    <a:pt x="1661782" y="0"/>
                  </a:lnTo>
                  <a:close/>
                </a:path>
              </a:pathLst>
            </a:custGeom>
            <a:solidFill>
              <a:srgbClr val="BFEECB"/>
            </a:solidFill>
          </p:spPr>
          <p:txBody>
            <a:bodyPr wrap="square" lIns="0" tIns="0" rIns="0" bIns="0" rtlCol="0"/>
            <a:lstStyle/>
            <a:p>
              <a:endParaRPr/>
            </a:p>
          </p:txBody>
        </p:sp>
        <p:sp>
          <p:nvSpPr>
            <p:cNvPr id="10" name="object 10"/>
            <p:cNvSpPr/>
            <p:nvPr/>
          </p:nvSpPr>
          <p:spPr>
            <a:xfrm>
              <a:off x="419100" y="1920074"/>
              <a:ext cx="1661795" cy="3452495"/>
            </a:xfrm>
            <a:custGeom>
              <a:avLst/>
              <a:gdLst/>
              <a:ahLst/>
              <a:cxnLst/>
              <a:rect l="l" t="t" r="r" b="b"/>
              <a:pathLst>
                <a:path w="1661795" h="3452495">
                  <a:moveTo>
                    <a:pt x="1661782" y="0"/>
                  </a:moveTo>
                  <a:lnTo>
                    <a:pt x="0" y="0"/>
                  </a:lnTo>
                  <a:lnTo>
                    <a:pt x="0" y="3452025"/>
                  </a:lnTo>
                  <a:lnTo>
                    <a:pt x="1661782" y="3452025"/>
                  </a:lnTo>
                  <a:lnTo>
                    <a:pt x="1661782" y="0"/>
                  </a:lnTo>
                  <a:close/>
                </a:path>
              </a:pathLst>
            </a:custGeom>
            <a:solidFill>
              <a:srgbClr val="F2FBF4"/>
            </a:solidFill>
          </p:spPr>
          <p:txBody>
            <a:bodyPr wrap="square" lIns="0" tIns="0" rIns="0" bIns="0" rtlCol="0"/>
            <a:lstStyle/>
            <a:p>
              <a:endParaRPr/>
            </a:p>
          </p:txBody>
        </p:sp>
        <p:sp>
          <p:nvSpPr>
            <p:cNvPr id="11" name="object 11"/>
            <p:cNvSpPr/>
            <p:nvPr/>
          </p:nvSpPr>
          <p:spPr>
            <a:xfrm>
              <a:off x="2080882" y="1920074"/>
              <a:ext cx="1661795" cy="3452495"/>
            </a:xfrm>
            <a:custGeom>
              <a:avLst/>
              <a:gdLst/>
              <a:ahLst/>
              <a:cxnLst/>
              <a:rect l="l" t="t" r="r" b="b"/>
              <a:pathLst>
                <a:path w="1661795" h="3452495">
                  <a:moveTo>
                    <a:pt x="1661782" y="0"/>
                  </a:moveTo>
                  <a:lnTo>
                    <a:pt x="0" y="0"/>
                  </a:lnTo>
                  <a:lnTo>
                    <a:pt x="0" y="3452025"/>
                  </a:lnTo>
                  <a:lnTo>
                    <a:pt x="1661782" y="3452025"/>
                  </a:lnTo>
                  <a:lnTo>
                    <a:pt x="1661782" y="0"/>
                  </a:lnTo>
                  <a:close/>
                </a:path>
              </a:pathLst>
            </a:custGeom>
            <a:solidFill>
              <a:srgbClr val="E5F8EA"/>
            </a:solidFill>
          </p:spPr>
          <p:txBody>
            <a:bodyPr wrap="square" lIns="0" tIns="0" rIns="0" bIns="0" rtlCol="0"/>
            <a:lstStyle/>
            <a:p>
              <a:endParaRPr/>
            </a:p>
          </p:txBody>
        </p:sp>
      </p:grpSp>
      <p:sp>
        <p:nvSpPr>
          <p:cNvPr id="12" name="object 12"/>
          <p:cNvSpPr txBox="1"/>
          <p:nvPr/>
        </p:nvSpPr>
        <p:spPr>
          <a:xfrm>
            <a:off x="576635" y="2662166"/>
            <a:ext cx="1344930" cy="1752600"/>
          </a:xfrm>
          <a:prstGeom prst="rect">
            <a:avLst/>
          </a:prstGeom>
        </p:spPr>
        <p:txBody>
          <a:bodyPr vert="horz" wrap="square" lIns="0" tIns="29209" rIns="0" bIns="0" rtlCol="0">
            <a:spAutoFit/>
          </a:bodyPr>
          <a:lstStyle/>
          <a:p>
            <a:pPr marL="12700" marR="129539">
              <a:lnSpc>
                <a:spcPts val="1800"/>
              </a:lnSpc>
              <a:spcBef>
                <a:spcPts val="229"/>
              </a:spcBef>
            </a:pPr>
            <a:r>
              <a:rPr sz="1550" b="1" spc="-185" dirty="0">
                <a:solidFill>
                  <a:srgbClr val="333333"/>
                </a:solidFill>
                <a:latin typeface="Arial"/>
                <a:cs typeface="Arial"/>
              </a:rPr>
              <a:t>F</a:t>
            </a:r>
            <a:r>
              <a:rPr sz="1550" b="1" spc="55" dirty="0">
                <a:solidFill>
                  <a:srgbClr val="333333"/>
                </a:solidFill>
                <a:latin typeface="Arial"/>
                <a:cs typeface="Arial"/>
              </a:rPr>
              <a:t>a</a:t>
            </a:r>
            <a:r>
              <a:rPr sz="1550" b="1" spc="70" dirty="0">
                <a:solidFill>
                  <a:srgbClr val="333333"/>
                </a:solidFill>
                <a:latin typeface="Arial"/>
                <a:cs typeface="Arial"/>
              </a:rPr>
              <a:t>mi</a:t>
            </a:r>
            <a:r>
              <a:rPr sz="1550" b="1" spc="10" dirty="0">
                <a:solidFill>
                  <a:srgbClr val="333333"/>
                </a:solidFill>
                <a:latin typeface="Arial"/>
                <a:cs typeface="Arial"/>
              </a:rPr>
              <a:t>li</a:t>
            </a:r>
            <a:r>
              <a:rPr sz="1550" b="1" spc="55" dirty="0">
                <a:solidFill>
                  <a:srgbClr val="333333"/>
                </a:solidFill>
                <a:latin typeface="Arial"/>
                <a:cs typeface="Arial"/>
              </a:rPr>
              <a:t>a</a:t>
            </a:r>
            <a:r>
              <a:rPr sz="1550" b="1" spc="130" dirty="0">
                <a:solidFill>
                  <a:srgbClr val="333333"/>
                </a:solidFill>
                <a:latin typeface="Arial"/>
                <a:cs typeface="Arial"/>
              </a:rPr>
              <a:t>r</a:t>
            </a:r>
            <a:r>
              <a:rPr sz="1550" b="1" spc="-150" dirty="0">
                <a:solidFill>
                  <a:srgbClr val="333333"/>
                </a:solidFill>
                <a:latin typeface="Arial"/>
                <a:cs typeface="Arial"/>
              </a:rPr>
              <a:t> </a:t>
            </a:r>
            <a:r>
              <a:rPr sz="1550" b="1" spc="55" dirty="0">
                <a:solidFill>
                  <a:srgbClr val="333333"/>
                </a:solidFill>
                <a:latin typeface="Arial"/>
                <a:cs typeface="Arial"/>
              </a:rPr>
              <a:t>a</a:t>
            </a:r>
            <a:r>
              <a:rPr sz="1550" b="1" spc="40" dirty="0">
                <a:solidFill>
                  <a:srgbClr val="333333"/>
                </a:solidFill>
                <a:latin typeface="Arial"/>
                <a:cs typeface="Arial"/>
              </a:rPr>
              <a:t>nd  </a:t>
            </a:r>
            <a:r>
              <a:rPr sz="1550" b="1" spc="-235" dirty="0">
                <a:solidFill>
                  <a:srgbClr val="333333"/>
                </a:solidFill>
                <a:latin typeface="Arial"/>
                <a:cs typeface="Arial"/>
              </a:rPr>
              <a:t>E</a:t>
            </a:r>
            <a:r>
              <a:rPr sz="1550" b="1" spc="50" dirty="0">
                <a:solidFill>
                  <a:srgbClr val="333333"/>
                </a:solidFill>
                <a:latin typeface="Arial"/>
                <a:cs typeface="Arial"/>
              </a:rPr>
              <a:t>a</a:t>
            </a:r>
            <a:r>
              <a:rPr sz="1550" b="1" spc="-70" dirty="0">
                <a:solidFill>
                  <a:srgbClr val="333333"/>
                </a:solidFill>
                <a:latin typeface="Arial"/>
                <a:cs typeface="Arial"/>
              </a:rPr>
              <a:t>s</a:t>
            </a:r>
            <a:r>
              <a:rPr sz="1550" b="1" spc="95" dirty="0">
                <a:solidFill>
                  <a:srgbClr val="333333"/>
                </a:solidFill>
                <a:latin typeface="Arial"/>
                <a:cs typeface="Arial"/>
              </a:rPr>
              <a:t>y</a:t>
            </a:r>
            <a:r>
              <a:rPr sz="1550" b="1" spc="-150" dirty="0">
                <a:solidFill>
                  <a:srgbClr val="333333"/>
                </a:solidFill>
                <a:latin typeface="Arial"/>
                <a:cs typeface="Arial"/>
              </a:rPr>
              <a:t> </a:t>
            </a:r>
            <a:r>
              <a:rPr sz="1550" b="1" spc="25" dirty="0">
                <a:solidFill>
                  <a:srgbClr val="333333"/>
                </a:solidFill>
                <a:latin typeface="Arial"/>
                <a:cs typeface="Arial"/>
              </a:rPr>
              <a:t>t</a:t>
            </a:r>
            <a:r>
              <a:rPr sz="1550" b="1" spc="170" dirty="0">
                <a:solidFill>
                  <a:srgbClr val="333333"/>
                </a:solidFill>
                <a:latin typeface="Arial"/>
                <a:cs typeface="Arial"/>
              </a:rPr>
              <a:t>o</a:t>
            </a:r>
            <a:r>
              <a:rPr sz="1550" b="1" spc="-150" dirty="0">
                <a:solidFill>
                  <a:srgbClr val="333333"/>
                </a:solidFill>
                <a:latin typeface="Arial"/>
                <a:cs typeface="Arial"/>
              </a:rPr>
              <a:t> </a:t>
            </a:r>
            <a:r>
              <a:rPr sz="1550" b="1" spc="-5" dirty="0">
                <a:solidFill>
                  <a:srgbClr val="333333"/>
                </a:solidFill>
                <a:latin typeface="Arial"/>
                <a:cs typeface="Arial"/>
              </a:rPr>
              <a:t>U</a:t>
            </a:r>
            <a:r>
              <a:rPr sz="1550" b="1" spc="-95" dirty="0">
                <a:solidFill>
                  <a:srgbClr val="333333"/>
                </a:solidFill>
                <a:latin typeface="Arial"/>
                <a:cs typeface="Arial"/>
              </a:rPr>
              <a:t>s</a:t>
            </a:r>
            <a:r>
              <a:rPr sz="1550" b="1" spc="110" dirty="0">
                <a:solidFill>
                  <a:srgbClr val="333333"/>
                </a:solidFill>
                <a:latin typeface="Arial"/>
                <a:cs typeface="Arial"/>
              </a:rPr>
              <a:t>e</a:t>
            </a:r>
            <a:endParaRPr sz="1550">
              <a:latin typeface="Arial"/>
              <a:cs typeface="Arial"/>
            </a:endParaRPr>
          </a:p>
          <a:p>
            <a:pPr marL="12700" marR="5080">
              <a:lnSpc>
                <a:spcPct val="111100"/>
              </a:lnSpc>
              <a:spcBef>
                <a:spcPts val="265"/>
              </a:spcBef>
            </a:pPr>
            <a:r>
              <a:rPr sz="900" spc="-5" dirty="0">
                <a:solidFill>
                  <a:srgbClr val="333333"/>
                </a:solidFill>
                <a:latin typeface="Roboto Lt"/>
                <a:cs typeface="Roboto Lt"/>
              </a:rPr>
              <a:t>When </a:t>
            </a:r>
            <a:r>
              <a:rPr sz="900" spc="-15" dirty="0">
                <a:solidFill>
                  <a:srgbClr val="333333"/>
                </a:solidFill>
                <a:latin typeface="Roboto Lt"/>
                <a:cs typeface="Roboto Lt"/>
              </a:rPr>
              <a:t>switching to </a:t>
            </a:r>
            <a:r>
              <a:rPr sz="900" spc="-5" dirty="0">
                <a:solidFill>
                  <a:srgbClr val="333333"/>
                </a:solidFill>
                <a:latin typeface="Roboto Lt"/>
                <a:cs typeface="Roboto Lt"/>
              </a:rPr>
              <a:t>a </a:t>
            </a:r>
            <a:r>
              <a:rPr sz="900" spc="-15" dirty="0">
                <a:solidFill>
                  <a:srgbClr val="333333"/>
                </a:solidFill>
                <a:latin typeface="Roboto Lt"/>
                <a:cs typeface="Roboto Lt"/>
              </a:rPr>
              <a:t>new </a:t>
            </a:r>
            <a:r>
              <a:rPr sz="900" spc="-10" dirty="0">
                <a:solidFill>
                  <a:srgbClr val="333333"/>
                </a:solidFill>
                <a:latin typeface="Roboto Lt"/>
                <a:cs typeface="Roboto Lt"/>
              </a:rPr>
              <a:t> tool, familiarity </a:t>
            </a:r>
            <a:r>
              <a:rPr sz="900" spc="-15" dirty="0">
                <a:solidFill>
                  <a:srgbClr val="333333"/>
                </a:solidFill>
                <a:latin typeface="Roboto Lt"/>
                <a:cs typeface="Roboto Lt"/>
              </a:rPr>
              <a:t>is </a:t>
            </a:r>
            <a:r>
              <a:rPr sz="900" spc="-25" dirty="0">
                <a:solidFill>
                  <a:srgbClr val="333333"/>
                </a:solidFill>
                <a:latin typeface="Roboto Lt"/>
                <a:cs typeface="Roboto Lt"/>
              </a:rPr>
              <a:t>key. </a:t>
            </a:r>
            <a:r>
              <a:rPr sz="900" spc="-30" dirty="0">
                <a:solidFill>
                  <a:srgbClr val="333333"/>
                </a:solidFill>
                <a:latin typeface="Roboto Lt"/>
                <a:cs typeface="Roboto Lt"/>
              </a:rPr>
              <a:t>You </a:t>
            </a:r>
            <a:r>
              <a:rPr sz="900" spc="-25" dirty="0">
                <a:solidFill>
                  <a:srgbClr val="333333"/>
                </a:solidFill>
                <a:latin typeface="Roboto Lt"/>
                <a:cs typeface="Roboto Lt"/>
              </a:rPr>
              <a:t> </a:t>
            </a:r>
            <a:r>
              <a:rPr sz="900" spc="-15" dirty="0">
                <a:solidFill>
                  <a:srgbClr val="333333"/>
                </a:solidFill>
                <a:latin typeface="Roboto Lt"/>
                <a:cs typeface="Roboto Lt"/>
              </a:rPr>
              <a:t>don’t want your </a:t>
            </a:r>
            <a:r>
              <a:rPr sz="900" spc="-10" dirty="0">
                <a:solidFill>
                  <a:srgbClr val="333333"/>
                </a:solidFill>
                <a:latin typeface="Roboto Lt"/>
                <a:cs typeface="Roboto Lt"/>
              </a:rPr>
              <a:t>team </a:t>
            </a:r>
            <a:r>
              <a:rPr sz="900" spc="-5" dirty="0">
                <a:solidFill>
                  <a:srgbClr val="333333"/>
                </a:solidFill>
                <a:latin typeface="Roboto Lt"/>
                <a:cs typeface="Roboto Lt"/>
              </a:rPr>
              <a:t> </a:t>
            </a:r>
            <a:r>
              <a:rPr sz="900" spc="-10" dirty="0">
                <a:solidFill>
                  <a:srgbClr val="333333"/>
                </a:solidFill>
                <a:latin typeface="Roboto Lt"/>
                <a:cs typeface="Roboto Lt"/>
              </a:rPr>
              <a:t>spending </a:t>
            </a:r>
            <a:r>
              <a:rPr sz="900" spc="-15" dirty="0">
                <a:solidFill>
                  <a:srgbClr val="333333"/>
                </a:solidFill>
                <a:latin typeface="Roboto Lt"/>
                <a:cs typeface="Roboto Lt"/>
              </a:rPr>
              <a:t>valuable </a:t>
            </a:r>
            <a:r>
              <a:rPr sz="900" spc="-10" dirty="0">
                <a:solidFill>
                  <a:srgbClr val="333333"/>
                </a:solidFill>
                <a:latin typeface="Roboto Lt"/>
                <a:cs typeface="Roboto Lt"/>
              </a:rPr>
              <a:t>time </a:t>
            </a:r>
            <a:r>
              <a:rPr sz="900" spc="-5" dirty="0">
                <a:solidFill>
                  <a:srgbClr val="333333"/>
                </a:solidFill>
                <a:latin typeface="Roboto Lt"/>
                <a:cs typeface="Roboto Lt"/>
              </a:rPr>
              <a:t> </a:t>
            </a:r>
            <a:r>
              <a:rPr sz="900" spc="-10" dirty="0">
                <a:solidFill>
                  <a:srgbClr val="333333"/>
                </a:solidFill>
                <a:latin typeface="Roboto Lt"/>
                <a:cs typeface="Roboto Lt"/>
              </a:rPr>
              <a:t>learning </a:t>
            </a:r>
            <a:r>
              <a:rPr sz="900" spc="-5" dirty="0">
                <a:solidFill>
                  <a:srgbClr val="333333"/>
                </a:solidFill>
                <a:latin typeface="Roboto Lt"/>
                <a:cs typeface="Roboto Lt"/>
              </a:rPr>
              <a:t>a </a:t>
            </a:r>
            <a:r>
              <a:rPr sz="900" spc="-10" dirty="0">
                <a:solidFill>
                  <a:srgbClr val="333333"/>
                </a:solidFill>
                <a:latin typeface="Roboto Lt"/>
                <a:cs typeface="Roboto Lt"/>
              </a:rPr>
              <a:t>new program. </a:t>
            </a:r>
            <a:r>
              <a:rPr sz="900" spc="-5" dirty="0">
                <a:solidFill>
                  <a:srgbClr val="333333"/>
                </a:solidFill>
                <a:latin typeface="Roboto Lt"/>
                <a:cs typeface="Roboto Lt"/>
              </a:rPr>
              <a:t> </a:t>
            </a:r>
            <a:r>
              <a:rPr sz="900" spc="-10" dirty="0">
                <a:solidFill>
                  <a:srgbClr val="333333"/>
                </a:solidFill>
                <a:latin typeface="Roboto Lt"/>
                <a:cs typeface="Roboto Lt"/>
              </a:rPr>
              <a:t>Agile project management </a:t>
            </a:r>
            <a:r>
              <a:rPr sz="900" spc="-204" dirty="0">
                <a:solidFill>
                  <a:srgbClr val="333333"/>
                </a:solidFill>
                <a:latin typeface="Roboto Lt"/>
                <a:cs typeface="Roboto Lt"/>
              </a:rPr>
              <a:t> </a:t>
            </a:r>
            <a:r>
              <a:rPr sz="900" spc="-10" dirty="0">
                <a:solidFill>
                  <a:srgbClr val="333333"/>
                </a:solidFill>
                <a:latin typeface="Roboto Lt"/>
                <a:cs typeface="Roboto Lt"/>
              </a:rPr>
              <a:t>software should </a:t>
            </a:r>
            <a:r>
              <a:rPr sz="900" spc="-5" dirty="0">
                <a:solidFill>
                  <a:srgbClr val="333333"/>
                </a:solidFill>
                <a:latin typeface="Roboto Lt"/>
                <a:cs typeface="Roboto Lt"/>
              </a:rPr>
              <a:t>be </a:t>
            </a:r>
            <a:r>
              <a:rPr sz="900" spc="-10" dirty="0">
                <a:solidFill>
                  <a:srgbClr val="333333"/>
                </a:solidFill>
                <a:latin typeface="Roboto Lt"/>
                <a:cs typeface="Roboto Lt"/>
              </a:rPr>
              <a:t>flexible </a:t>
            </a:r>
            <a:r>
              <a:rPr sz="900" spc="-204" dirty="0">
                <a:solidFill>
                  <a:srgbClr val="333333"/>
                </a:solidFill>
                <a:latin typeface="Roboto Lt"/>
                <a:cs typeface="Roboto Lt"/>
              </a:rPr>
              <a:t> </a:t>
            </a:r>
            <a:r>
              <a:rPr sz="900" spc="-10" dirty="0">
                <a:solidFill>
                  <a:srgbClr val="333333"/>
                </a:solidFill>
                <a:latin typeface="Roboto Lt"/>
                <a:cs typeface="Roboto Lt"/>
              </a:rPr>
              <a:t>and</a:t>
            </a:r>
            <a:r>
              <a:rPr sz="900" spc="-25" dirty="0">
                <a:solidFill>
                  <a:srgbClr val="333333"/>
                </a:solidFill>
                <a:latin typeface="Roboto Lt"/>
                <a:cs typeface="Roboto Lt"/>
              </a:rPr>
              <a:t> </a:t>
            </a:r>
            <a:r>
              <a:rPr sz="900" spc="-15" dirty="0">
                <a:solidFill>
                  <a:srgbClr val="333333"/>
                </a:solidFill>
                <a:latin typeface="Roboto Lt"/>
                <a:cs typeface="Roboto Lt"/>
              </a:rPr>
              <a:t>intuitive</a:t>
            </a:r>
            <a:r>
              <a:rPr sz="900" spc="-25" dirty="0">
                <a:solidFill>
                  <a:srgbClr val="333333"/>
                </a:solidFill>
                <a:latin typeface="Roboto Lt"/>
                <a:cs typeface="Roboto Lt"/>
              </a:rPr>
              <a:t> </a:t>
            </a:r>
            <a:r>
              <a:rPr sz="900" spc="-15" dirty="0">
                <a:solidFill>
                  <a:srgbClr val="333333"/>
                </a:solidFill>
                <a:latin typeface="Roboto Lt"/>
                <a:cs typeface="Roboto Lt"/>
              </a:rPr>
              <a:t>to</a:t>
            </a:r>
            <a:r>
              <a:rPr sz="900" spc="-20" dirty="0">
                <a:solidFill>
                  <a:srgbClr val="333333"/>
                </a:solidFill>
                <a:latin typeface="Roboto Lt"/>
                <a:cs typeface="Roboto Lt"/>
              </a:rPr>
              <a:t> </a:t>
            </a:r>
            <a:r>
              <a:rPr sz="900" spc="-10" dirty="0">
                <a:solidFill>
                  <a:srgbClr val="333333"/>
                </a:solidFill>
                <a:latin typeface="Roboto Lt"/>
                <a:cs typeface="Roboto Lt"/>
              </a:rPr>
              <a:t>use.</a:t>
            </a:r>
            <a:endParaRPr sz="900">
              <a:latin typeface="Roboto Lt"/>
              <a:cs typeface="Roboto Lt"/>
            </a:endParaRPr>
          </a:p>
        </p:txBody>
      </p:sp>
      <p:sp>
        <p:nvSpPr>
          <p:cNvPr id="13" name="object 13"/>
          <p:cNvSpPr txBox="1"/>
          <p:nvPr/>
        </p:nvSpPr>
        <p:spPr>
          <a:xfrm>
            <a:off x="2218185" y="2668132"/>
            <a:ext cx="1365885" cy="2146300"/>
          </a:xfrm>
          <a:prstGeom prst="rect">
            <a:avLst/>
          </a:prstGeom>
        </p:spPr>
        <p:txBody>
          <a:bodyPr vert="horz" wrap="square" lIns="0" tIns="34290" rIns="0" bIns="0" rtlCol="0">
            <a:spAutoFit/>
          </a:bodyPr>
          <a:lstStyle/>
          <a:p>
            <a:pPr marL="12700" marR="5080">
              <a:lnSpc>
                <a:spcPts val="1500"/>
              </a:lnSpc>
              <a:spcBef>
                <a:spcPts val="270"/>
              </a:spcBef>
            </a:pPr>
            <a:r>
              <a:rPr sz="1350" b="1" spc="-155" dirty="0">
                <a:solidFill>
                  <a:srgbClr val="333333"/>
                </a:solidFill>
                <a:latin typeface="Arial"/>
                <a:cs typeface="Arial"/>
              </a:rPr>
              <a:t>C</a:t>
            </a:r>
            <a:r>
              <a:rPr sz="1350" b="1" dirty="0">
                <a:solidFill>
                  <a:srgbClr val="333333"/>
                </a:solidFill>
                <a:latin typeface="Arial"/>
                <a:cs typeface="Arial"/>
              </a:rPr>
              <a:t>ol</a:t>
            </a:r>
            <a:r>
              <a:rPr sz="1350" b="1" spc="5" dirty="0">
                <a:solidFill>
                  <a:srgbClr val="333333"/>
                </a:solidFill>
                <a:latin typeface="Arial"/>
                <a:cs typeface="Arial"/>
              </a:rPr>
              <a:t>l</a:t>
            </a:r>
            <a:r>
              <a:rPr sz="1350" b="1" spc="45" dirty="0">
                <a:solidFill>
                  <a:srgbClr val="333333"/>
                </a:solidFill>
                <a:latin typeface="Arial"/>
                <a:cs typeface="Arial"/>
              </a:rPr>
              <a:t>a</a:t>
            </a:r>
            <a:r>
              <a:rPr sz="1350" b="1" dirty="0">
                <a:solidFill>
                  <a:srgbClr val="333333"/>
                </a:solidFill>
                <a:latin typeface="Arial"/>
                <a:cs typeface="Arial"/>
              </a:rPr>
              <a:t>b</a:t>
            </a:r>
            <a:r>
              <a:rPr sz="1350" b="1" spc="45" dirty="0">
                <a:solidFill>
                  <a:srgbClr val="333333"/>
                </a:solidFill>
                <a:latin typeface="Arial"/>
                <a:cs typeface="Arial"/>
              </a:rPr>
              <a:t>o</a:t>
            </a:r>
            <a:r>
              <a:rPr sz="1350" b="1" spc="-10" dirty="0">
                <a:solidFill>
                  <a:srgbClr val="333333"/>
                </a:solidFill>
                <a:latin typeface="Arial"/>
                <a:cs typeface="Arial"/>
              </a:rPr>
              <a:t>r</a:t>
            </a:r>
            <a:r>
              <a:rPr sz="1350" b="1" spc="35" dirty="0">
                <a:solidFill>
                  <a:srgbClr val="333333"/>
                </a:solidFill>
                <a:latin typeface="Arial"/>
                <a:cs typeface="Arial"/>
              </a:rPr>
              <a:t>a</a:t>
            </a:r>
            <a:r>
              <a:rPr sz="1350" b="1" spc="135" dirty="0">
                <a:solidFill>
                  <a:srgbClr val="333333"/>
                </a:solidFill>
                <a:latin typeface="Arial"/>
                <a:cs typeface="Arial"/>
              </a:rPr>
              <a:t>t</a:t>
            </a:r>
            <a:r>
              <a:rPr sz="1350" b="1" spc="10" dirty="0">
                <a:solidFill>
                  <a:srgbClr val="333333"/>
                </a:solidFill>
                <a:latin typeface="Arial"/>
                <a:cs typeface="Arial"/>
              </a:rPr>
              <a:t>i</a:t>
            </a:r>
            <a:r>
              <a:rPr sz="1350" b="1" spc="15" dirty="0">
                <a:solidFill>
                  <a:srgbClr val="333333"/>
                </a:solidFill>
                <a:latin typeface="Arial"/>
                <a:cs typeface="Arial"/>
              </a:rPr>
              <a:t>o</a:t>
            </a:r>
            <a:r>
              <a:rPr sz="1350" b="1" spc="70" dirty="0">
                <a:solidFill>
                  <a:srgbClr val="333333"/>
                </a:solidFill>
                <a:latin typeface="Arial"/>
                <a:cs typeface="Arial"/>
              </a:rPr>
              <a:t>n</a:t>
            </a:r>
            <a:r>
              <a:rPr sz="1350" b="1" spc="-130" dirty="0">
                <a:solidFill>
                  <a:srgbClr val="333333"/>
                </a:solidFill>
                <a:latin typeface="Arial"/>
                <a:cs typeface="Arial"/>
              </a:rPr>
              <a:t> </a:t>
            </a:r>
            <a:r>
              <a:rPr sz="1350" b="1" spc="70" dirty="0">
                <a:solidFill>
                  <a:srgbClr val="333333"/>
                </a:solidFill>
                <a:latin typeface="Arial"/>
                <a:cs typeface="Arial"/>
              </a:rPr>
              <a:t>&amp;  </a:t>
            </a:r>
            <a:r>
              <a:rPr sz="1350" b="1" spc="-155" dirty="0">
                <a:solidFill>
                  <a:srgbClr val="333333"/>
                </a:solidFill>
                <a:latin typeface="Arial"/>
                <a:cs typeface="Arial"/>
              </a:rPr>
              <a:t>C</a:t>
            </a:r>
            <a:r>
              <a:rPr sz="1350" b="1" spc="55" dirty="0">
                <a:solidFill>
                  <a:srgbClr val="333333"/>
                </a:solidFill>
                <a:latin typeface="Arial"/>
                <a:cs typeface="Arial"/>
              </a:rPr>
              <a:t>om</a:t>
            </a:r>
            <a:r>
              <a:rPr sz="1350" b="1" spc="110" dirty="0">
                <a:solidFill>
                  <a:srgbClr val="333333"/>
                </a:solidFill>
                <a:latin typeface="Arial"/>
                <a:cs typeface="Arial"/>
              </a:rPr>
              <a:t>m</a:t>
            </a:r>
            <a:r>
              <a:rPr sz="1350" b="1" spc="40" dirty="0">
                <a:solidFill>
                  <a:srgbClr val="333333"/>
                </a:solidFill>
                <a:latin typeface="Arial"/>
                <a:cs typeface="Arial"/>
              </a:rPr>
              <a:t>un</a:t>
            </a:r>
            <a:r>
              <a:rPr sz="1350" b="1" spc="10" dirty="0">
                <a:solidFill>
                  <a:srgbClr val="333333"/>
                </a:solidFill>
                <a:latin typeface="Arial"/>
                <a:cs typeface="Arial"/>
              </a:rPr>
              <a:t>i</a:t>
            </a:r>
            <a:r>
              <a:rPr sz="1350" b="1" spc="-10" dirty="0">
                <a:solidFill>
                  <a:srgbClr val="333333"/>
                </a:solidFill>
                <a:latin typeface="Arial"/>
                <a:cs typeface="Arial"/>
              </a:rPr>
              <a:t>c</a:t>
            </a:r>
            <a:r>
              <a:rPr sz="1350" b="1" spc="-20" dirty="0">
                <a:solidFill>
                  <a:srgbClr val="333333"/>
                </a:solidFill>
                <a:latin typeface="Arial"/>
                <a:cs typeface="Arial"/>
              </a:rPr>
              <a:t>a</a:t>
            </a:r>
            <a:r>
              <a:rPr sz="1350" b="1" spc="135" dirty="0">
                <a:solidFill>
                  <a:srgbClr val="333333"/>
                </a:solidFill>
                <a:latin typeface="Arial"/>
                <a:cs typeface="Arial"/>
              </a:rPr>
              <a:t>t</a:t>
            </a:r>
            <a:r>
              <a:rPr sz="1350" b="1" spc="10" dirty="0">
                <a:solidFill>
                  <a:srgbClr val="333333"/>
                </a:solidFill>
                <a:latin typeface="Arial"/>
                <a:cs typeface="Arial"/>
              </a:rPr>
              <a:t>i</a:t>
            </a:r>
            <a:r>
              <a:rPr sz="1350" b="1" spc="15" dirty="0">
                <a:solidFill>
                  <a:srgbClr val="333333"/>
                </a:solidFill>
                <a:latin typeface="Arial"/>
                <a:cs typeface="Arial"/>
              </a:rPr>
              <a:t>on</a:t>
            </a:r>
            <a:endParaRPr sz="1350">
              <a:latin typeface="Arial"/>
              <a:cs typeface="Arial"/>
            </a:endParaRPr>
          </a:p>
          <a:p>
            <a:pPr marL="12700" marR="90805">
              <a:lnSpc>
                <a:spcPct val="111100"/>
              </a:lnSpc>
              <a:spcBef>
                <a:spcPts val="325"/>
              </a:spcBef>
            </a:pPr>
            <a:r>
              <a:rPr sz="900" spc="-5" dirty="0">
                <a:solidFill>
                  <a:srgbClr val="333333"/>
                </a:solidFill>
                <a:latin typeface="Roboto Lt"/>
                <a:cs typeface="Roboto Lt"/>
              </a:rPr>
              <a:t>Find a </a:t>
            </a:r>
            <a:r>
              <a:rPr sz="900" spc="-10" dirty="0">
                <a:solidFill>
                  <a:srgbClr val="333333"/>
                </a:solidFill>
                <a:latin typeface="Roboto Lt"/>
                <a:cs typeface="Roboto Lt"/>
              </a:rPr>
              <a:t>tool </a:t>
            </a:r>
            <a:r>
              <a:rPr sz="900" spc="-15" dirty="0">
                <a:solidFill>
                  <a:srgbClr val="333333"/>
                </a:solidFill>
                <a:latin typeface="Roboto Lt"/>
                <a:cs typeface="Roboto Lt"/>
              </a:rPr>
              <a:t>that </a:t>
            </a:r>
            <a:r>
              <a:rPr sz="900" spc="-10" dirty="0">
                <a:solidFill>
                  <a:srgbClr val="333333"/>
                </a:solidFill>
                <a:latin typeface="Roboto Lt"/>
                <a:cs typeface="Roboto Lt"/>
              </a:rPr>
              <a:t>facilitates </a:t>
            </a:r>
            <a:r>
              <a:rPr sz="900" spc="-204" dirty="0">
                <a:solidFill>
                  <a:srgbClr val="333333"/>
                </a:solidFill>
                <a:latin typeface="Roboto Lt"/>
                <a:cs typeface="Roboto Lt"/>
              </a:rPr>
              <a:t> </a:t>
            </a:r>
            <a:r>
              <a:rPr sz="900" spc="-10" dirty="0">
                <a:solidFill>
                  <a:srgbClr val="333333"/>
                </a:solidFill>
                <a:latin typeface="Roboto Lt"/>
                <a:cs typeface="Roboto Lt"/>
              </a:rPr>
              <a:t>collaboration </a:t>
            </a:r>
            <a:r>
              <a:rPr sz="900" spc="-5" dirty="0">
                <a:solidFill>
                  <a:srgbClr val="333333"/>
                </a:solidFill>
                <a:latin typeface="Roboto Lt"/>
                <a:cs typeface="Roboto Lt"/>
              </a:rPr>
              <a:t>between </a:t>
            </a:r>
            <a:r>
              <a:rPr sz="900" dirty="0">
                <a:solidFill>
                  <a:srgbClr val="333333"/>
                </a:solidFill>
                <a:latin typeface="Roboto Lt"/>
                <a:cs typeface="Roboto Lt"/>
              </a:rPr>
              <a:t> </a:t>
            </a:r>
            <a:r>
              <a:rPr sz="900" spc="-15" dirty="0">
                <a:solidFill>
                  <a:srgbClr val="333333"/>
                </a:solidFill>
                <a:latin typeface="Roboto Lt"/>
                <a:cs typeface="Roboto Lt"/>
              </a:rPr>
              <a:t>internal </a:t>
            </a:r>
            <a:r>
              <a:rPr sz="900" spc="-10" dirty="0">
                <a:solidFill>
                  <a:srgbClr val="333333"/>
                </a:solidFill>
                <a:latin typeface="Roboto Lt"/>
                <a:cs typeface="Roboto Lt"/>
              </a:rPr>
              <a:t>and external </a:t>
            </a:r>
            <a:r>
              <a:rPr sz="900" spc="-5" dirty="0">
                <a:solidFill>
                  <a:srgbClr val="333333"/>
                </a:solidFill>
                <a:latin typeface="Roboto Lt"/>
                <a:cs typeface="Roboto Lt"/>
              </a:rPr>
              <a:t> </a:t>
            </a:r>
            <a:r>
              <a:rPr sz="900" spc="-10" dirty="0">
                <a:solidFill>
                  <a:srgbClr val="333333"/>
                </a:solidFill>
                <a:latin typeface="Roboto Lt"/>
                <a:cs typeface="Roboto Lt"/>
              </a:rPr>
              <a:t>stakeholders. </a:t>
            </a:r>
            <a:r>
              <a:rPr sz="900" spc="-5" dirty="0">
                <a:solidFill>
                  <a:srgbClr val="333333"/>
                </a:solidFill>
                <a:latin typeface="Roboto Lt"/>
                <a:cs typeface="Roboto Lt"/>
              </a:rPr>
              <a:t>Cloud </a:t>
            </a:r>
            <a:r>
              <a:rPr sz="900" spc="-10" dirty="0">
                <a:solidFill>
                  <a:srgbClr val="333333"/>
                </a:solidFill>
                <a:latin typeface="Roboto Lt"/>
                <a:cs typeface="Roboto Lt"/>
              </a:rPr>
              <a:t>tools </a:t>
            </a:r>
            <a:r>
              <a:rPr sz="900" spc="-204" dirty="0">
                <a:solidFill>
                  <a:srgbClr val="333333"/>
                </a:solidFill>
                <a:latin typeface="Roboto Lt"/>
                <a:cs typeface="Roboto Lt"/>
              </a:rPr>
              <a:t> </a:t>
            </a:r>
            <a:r>
              <a:rPr sz="900" spc="-10" dirty="0">
                <a:solidFill>
                  <a:srgbClr val="333333"/>
                </a:solidFill>
                <a:latin typeface="Roboto Lt"/>
                <a:cs typeface="Roboto Lt"/>
              </a:rPr>
              <a:t>enable </a:t>
            </a:r>
            <a:r>
              <a:rPr sz="900" spc="-5" dirty="0">
                <a:solidFill>
                  <a:srgbClr val="333333"/>
                </a:solidFill>
                <a:latin typeface="Roboto Lt"/>
                <a:cs typeface="Roboto Lt"/>
              </a:rPr>
              <a:t>people </a:t>
            </a:r>
            <a:r>
              <a:rPr sz="900" spc="-15" dirty="0">
                <a:solidFill>
                  <a:srgbClr val="333333"/>
                </a:solidFill>
                <a:latin typeface="Roboto Lt"/>
                <a:cs typeface="Roboto Lt"/>
              </a:rPr>
              <a:t>to </a:t>
            </a:r>
            <a:r>
              <a:rPr sz="900" spc="-10" dirty="0">
                <a:solidFill>
                  <a:srgbClr val="333333"/>
                </a:solidFill>
                <a:latin typeface="Roboto Lt"/>
                <a:cs typeface="Roboto Lt"/>
              </a:rPr>
              <a:t>work in </a:t>
            </a:r>
            <a:r>
              <a:rPr sz="900" spc="-5" dirty="0">
                <a:solidFill>
                  <a:srgbClr val="333333"/>
                </a:solidFill>
                <a:latin typeface="Roboto Lt"/>
                <a:cs typeface="Roboto Lt"/>
              </a:rPr>
              <a:t> </a:t>
            </a:r>
            <a:r>
              <a:rPr sz="900" spc="-20" dirty="0">
                <a:solidFill>
                  <a:srgbClr val="333333"/>
                </a:solidFill>
                <a:latin typeface="Roboto Lt"/>
                <a:cs typeface="Roboto Lt"/>
              </a:rPr>
              <a:t>real-time, </a:t>
            </a:r>
            <a:r>
              <a:rPr sz="900" spc="-10" dirty="0">
                <a:solidFill>
                  <a:srgbClr val="333333"/>
                </a:solidFill>
                <a:latin typeface="Roboto Lt"/>
                <a:cs typeface="Roboto Lt"/>
              </a:rPr>
              <a:t>view and </a:t>
            </a:r>
            <a:r>
              <a:rPr sz="900" spc="-5" dirty="0">
                <a:solidFill>
                  <a:srgbClr val="333333"/>
                </a:solidFill>
                <a:latin typeface="Roboto Lt"/>
                <a:cs typeface="Roboto Lt"/>
              </a:rPr>
              <a:t>edit </a:t>
            </a:r>
            <a:r>
              <a:rPr sz="900" dirty="0">
                <a:solidFill>
                  <a:srgbClr val="333333"/>
                </a:solidFill>
                <a:latin typeface="Roboto Lt"/>
                <a:cs typeface="Roboto Lt"/>
              </a:rPr>
              <a:t> </a:t>
            </a:r>
            <a:r>
              <a:rPr sz="900" spc="-10" dirty="0">
                <a:solidFill>
                  <a:srgbClr val="333333"/>
                </a:solidFill>
                <a:latin typeface="Roboto Lt"/>
                <a:cs typeface="Roboto Lt"/>
              </a:rPr>
              <a:t>projects </a:t>
            </a:r>
            <a:r>
              <a:rPr sz="900" spc="-5" dirty="0">
                <a:solidFill>
                  <a:srgbClr val="333333"/>
                </a:solidFill>
                <a:latin typeface="Roboto Lt"/>
                <a:cs typeface="Roboto Lt"/>
              </a:rPr>
              <a:t>from </a:t>
            </a:r>
            <a:r>
              <a:rPr sz="900" spc="-10" dirty="0">
                <a:solidFill>
                  <a:srgbClr val="333333"/>
                </a:solidFill>
                <a:latin typeface="Roboto Lt"/>
                <a:cs typeface="Roboto Lt"/>
              </a:rPr>
              <a:t>anywhere, </a:t>
            </a:r>
            <a:r>
              <a:rPr sz="900" spc="-5" dirty="0">
                <a:solidFill>
                  <a:srgbClr val="333333"/>
                </a:solidFill>
                <a:latin typeface="Roboto Lt"/>
                <a:cs typeface="Roboto Lt"/>
              </a:rPr>
              <a:t> </a:t>
            </a:r>
            <a:r>
              <a:rPr sz="900" spc="-15" dirty="0">
                <a:solidFill>
                  <a:srgbClr val="333333"/>
                </a:solidFill>
                <a:latin typeface="Roboto Lt"/>
                <a:cs typeface="Roboto Lt"/>
              </a:rPr>
              <a:t>stay</a:t>
            </a:r>
            <a:r>
              <a:rPr sz="900" spc="-30" dirty="0">
                <a:solidFill>
                  <a:srgbClr val="333333"/>
                </a:solidFill>
                <a:latin typeface="Roboto Lt"/>
                <a:cs typeface="Roboto Lt"/>
              </a:rPr>
              <a:t> </a:t>
            </a:r>
            <a:r>
              <a:rPr sz="900" spc="-10" dirty="0">
                <a:solidFill>
                  <a:srgbClr val="333333"/>
                </a:solidFill>
                <a:latin typeface="Roboto Lt"/>
                <a:cs typeface="Roboto Lt"/>
              </a:rPr>
              <a:t>up</a:t>
            </a:r>
            <a:r>
              <a:rPr sz="900" spc="-30" dirty="0">
                <a:solidFill>
                  <a:srgbClr val="333333"/>
                </a:solidFill>
                <a:latin typeface="Roboto Lt"/>
                <a:cs typeface="Roboto Lt"/>
              </a:rPr>
              <a:t> </a:t>
            </a:r>
            <a:r>
              <a:rPr sz="900" spc="-15" dirty="0">
                <a:solidFill>
                  <a:srgbClr val="333333"/>
                </a:solidFill>
                <a:latin typeface="Roboto Lt"/>
                <a:cs typeface="Roboto Lt"/>
              </a:rPr>
              <a:t>to</a:t>
            </a:r>
            <a:r>
              <a:rPr sz="900" spc="-30" dirty="0">
                <a:solidFill>
                  <a:srgbClr val="333333"/>
                </a:solidFill>
                <a:latin typeface="Roboto Lt"/>
                <a:cs typeface="Roboto Lt"/>
              </a:rPr>
              <a:t> </a:t>
            </a:r>
            <a:r>
              <a:rPr sz="900" spc="-15" dirty="0">
                <a:solidFill>
                  <a:srgbClr val="333333"/>
                </a:solidFill>
                <a:latin typeface="Roboto Lt"/>
                <a:cs typeface="Roboto Lt"/>
              </a:rPr>
              <a:t>date</a:t>
            </a:r>
            <a:r>
              <a:rPr sz="900" spc="-30" dirty="0">
                <a:solidFill>
                  <a:srgbClr val="333333"/>
                </a:solidFill>
                <a:latin typeface="Roboto Lt"/>
                <a:cs typeface="Roboto Lt"/>
              </a:rPr>
              <a:t> </a:t>
            </a:r>
            <a:r>
              <a:rPr sz="900" spc="-5" dirty="0">
                <a:solidFill>
                  <a:srgbClr val="333333"/>
                </a:solidFill>
                <a:latin typeface="Roboto Lt"/>
                <a:cs typeface="Roboto Lt"/>
              </a:rPr>
              <a:t>on</a:t>
            </a:r>
            <a:r>
              <a:rPr sz="900" spc="-30" dirty="0">
                <a:solidFill>
                  <a:srgbClr val="333333"/>
                </a:solidFill>
                <a:latin typeface="Roboto Lt"/>
                <a:cs typeface="Roboto Lt"/>
              </a:rPr>
              <a:t> </a:t>
            </a:r>
            <a:r>
              <a:rPr sz="900" spc="-10" dirty="0">
                <a:solidFill>
                  <a:srgbClr val="333333"/>
                </a:solidFill>
                <a:latin typeface="Roboto Lt"/>
                <a:cs typeface="Roboto Lt"/>
              </a:rPr>
              <a:t>current </a:t>
            </a:r>
            <a:r>
              <a:rPr sz="900" spc="-200" dirty="0">
                <a:solidFill>
                  <a:srgbClr val="333333"/>
                </a:solidFill>
                <a:latin typeface="Roboto Lt"/>
                <a:cs typeface="Roboto Lt"/>
              </a:rPr>
              <a:t> </a:t>
            </a:r>
            <a:r>
              <a:rPr sz="900" spc="-10" dirty="0">
                <a:solidFill>
                  <a:srgbClr val="333333"/>
                </a:solidFill>
                <a:latin typeface="Roboto Lt"/>
                <a:cs typeface="Roboto Lt"/>
              </a:rPr>
              <a:t>s</a:t>
            </a:r>
            <a:r>
              <a:rPr sz="900" spc="-15" dirty="0">
                <a:solidFill>
                  <a:srgbClr val="333333"/>
                </a:solidFill>
                <a:latin typeface="Roboto Lt"/>
                <a:cs typeface="Roboto Lt"/>
              </a:rPr>
              <a:t>t</a:t>
            </a:r>
            <a:r>
              <a:rPr sz="900" spc="-20" dirty="0">
                <a:solidFill>
                  <a:srgbClr val="333333"/>
                </a:solidFill>
                <a:latin typeface="Roboto Lt"/>
                <a:cs typeface="Roboto Lt"/>
              </a:rPr>
              <a:t>a</a:t>
            </a:r>
            <a:r>
              <a:rPr sz="900" spc="-15" dirty="0">
                <a:solidFill>
                  <a:srgbClr val="333333"/>
                </a:solidFill>
                <a:latin typeface="Roboto Lt"/>
                <a:cs typeface="Roboto Lt"/>
              </a:rPr>
              <a:t>t</a:t>
            </a:r>
            <a:r>
              <a:rPr sz="900" spc="-20" dirty="0">
                <a:solidFill>
                  <a:srgbClr val="333333"/>
                </a:solidFill>
                <a:latin typeface="Roboto Lt"/>
                <a:cs typeface="Roboto Lt"/>
              </a:rPr>
              <a:t>u</a:t>
            </a:r>
            <a:r>
              <a:rPr sz="900" spc="-5" dirty="0">
                <a:solidFill>
                  <a:srgbClr val="333333"/>
                </a:solidFill>
                <a:latin typeface="Roboto Lt"/>
                <a:cs typeface="Roboto Lt"/>
              </a:rPr>
              <a:t>s</a:t>
            </a:r>
            <a:r>
              <a:rPr sz="900" dirty="0">
                <a:solidFill>
                  <a:srgbClr val="333333"/>
                </a:solidFill>
                <a:latin typeface="Roboto Lt"/>
                <a:cs typeface="Roboto Lt"/>
              </a:rPr>
              <a:t>,</a:t>
            </a:r>
            <a:r>
              <a:rPr sz="900" spc="-20" dirty="0">
                <a:solidFill>
                  <a:srgbClr val="333333"/>
                </a:solidFill>
                <a:latin typeface="Roboto Lt"/>
                <a:cs typeface="Roboto Lt"/>
              </a:rPr>
              <a:t> </a:t>
            </a:r>
            <a:r>
              <a:rPr sz="900" spc="-15" dirty="0">
                <a:solidFill>
                  <a:srgbClr val="333333"/>
                </a:solidFill>
                <a:latin typeface="Roboto Lt"/>
                <a:cs typeface="Roboto Lt"/>
              </a:rPr>
              <a:t>an</a:t>
            </a:r>
            <a:r>
              <a:rPr sz="900" spc="-5" dirty="0">
                <a:solidFill>
                  <a:srgbClr val="333333"/>
                </a:solidFill>
                <a:latin typeface="Roboto Lt"/>
                <a:cs typeface="Roboto Lt"/>
              </a:rPr>
              <a:t>d</a:t>
            </a:r>
            <a:r>
              <a:rPr sz="900" spc="-20" dirty="0">
                <a:solidFill>
                  <a:srgbClr val="333333"/>
                </a:solidFill>
                <a:latin typeface="Roboto Lt"/>
                <a:cs typeface="Roboto Lt"/>
              </a:rPr>
              <a:t> </a:t>
            </a:r>
            <a:r>
              <a:rPr sz="900" dirty="0">
                <a:solidFill>
                  <a:srgbClr val="333333"/>
                </a:solidFill>
                <a:latin typeface="Roboto Lt"/>
                <a:cs typeface="Roboto Lt"/>
              </a:rPr>
              <a:t>co</a:t>
            </a:r>
            <a:r>
              <a:rPr sz="900" spc="-5" dirty="0">
                <a:solidFill>
                  <a:srgbClr val="333333"/>
                </a:solidFill>
                <a:latin typeface="Roboto Lt"/>
                <a:cs typeface="Roboto Lt"/>
              </a:rPr>
              <a:t>mm</a:t>
            </a:r>
            <a:r>
              <a:rPr sz="900" spc="-15" dirty="0">
                <a:solidFill>
                  <a:srgbClr val="333333"/>
                </a:solidFill>
                <a:latin typeface="Roboto Lt"/>
                <a:cs typeface="Roboto Lt"/>
              </a:rPr>
              <a:t>u</a:t>
            </a:r>
            <a:r>
              <a:rPr sz="900" spc="-20" dirty="0">
                <a:solidFill>
                  <a:srgbClr val="333333"/>
                </a:solidFill>
                <a:latin typeface="Roboto Lt"/>
                <a:cs typeface="Roboto Lt"/>
              </a:rPr>
              <a:t>n</a:t>
            </a:r>
            <a:r>
              <a:rPr sz="900" spc="-10" dirty="0">
                <a:solidFill>
                  <a:srgbClr val="333333"/>
                </a:solidFill>
                <a:latin typeface="Roboto Lt"/>
                <a:cs typeface="Roboto Lt"/>
              </a:rPr>
              <a:t>i</a:t>
            </a:r>
            <a:r>
              <a:rPr sz="900" dirty="0">
                <a:solidFill>
                  <a:srgbClr val="333333"/>
                </a:solidFill>
                <a:latin typeface="Roboto Lt"/>
                <a:cs typeface="Roboto Lt"/>
              </a:rPr>
              <a:t>c</a:t>
            </a:r>
            <a:r>
              <a:rPr sz="900" spc="-20" dirty="0">
                <a:solidFill>
                  <a:srgbClr val="333333"/>
                </a:solidFill>
                <a:latin typeface="Roboto Lt"/>
                <a:cs typeface="Roboto Lt"/>
              </a:rPr>
              <a:t>a</a:t>
            </a:r>
            <a:r>
              <a:rPr sz="900" spc="-30" dirty="0">
                <a:solidFill>
                  <a:srgbClr val="333333"/>
                </a:solidFill>
                <a:latin typeface="Roboto Lt"/>
                <a:cs typeface="Roboto Lt"/>
              </a:rPr>
              <a:t>t</a:t>
            </a:r>
            <a:r>
              <a:rPr sz="900" dirty="0">
                <a:solidFill>
                  <a:srgbClr val="333333"/>
                </a:solidFill>
                <a:latin typeface="Roboto Lt"/>
                <a:cs typeface="Roboto Lt"/>
              </a:rPr>
              <a:t>e  </a:t>
            </a:r>
            <a:r>
              <a:rPr sz="900" spc="-10" dirty="0">
                <a:solidFill>
                  <a:srgbClr val="333333"/>
                </a:solidFill>
                <a:latin typeface="Roboto Lt"/>
                <a:cs typeface="Roboto Lt"/>
              </a:rPr>
              <a:t>with others viewing the </a:t>
            </a:r>
            <a:r>
              <a:rPr sz="900" spc="-5" dirty="0">
                <a:solidFill>
                  <a:srgbClr val="333333"/>
                </a:solidFill>
                <a:latin typeface="Roboto Lt"/>
                <a:cs typeface="Roboto Lt"/>
              </a:rPr>
              <a:t> </a:t>
            </a:r>
            <a:r>
              <a:rPr sz="900" spc="-10" dirty="0">
                <a:solidFill>
                  <a:srgbClr val="333333"/>
                </a:solidFill>
                <a:latin typeface="Roboto Lt"/>
                <a:cs typeface="Roboto Lt"/>
              </a:rPr>
              <a:t>project.</a:t>
            </a:r>
            <a:endParaRPr sz="900">
              <a:latin typeface="Roboto Lt"/>
              <a:cs typeface="Roboto Lt"/>
            </a:endParaRPr>
          </a:p>
        </p:txBody>
      </p:sp>
      <p:sp>
        <p:nvSpPr>
          <p:cNvPr id="14" name="object 14"/>
          <p:cNvSpPr txBox="1"/>
          <p:nvPr/>
        </p:nvSpPr>
        <p:spPr>
          <a:xfrm>
            <a:off x="3924066" y="2662166"/>
            <a:ext cx="1296035" cy="2362200"/>
          </a:xfrm>
          <a:prstGeom prst="rect">
            <a:avLst/>
          </a:prstGeom>
        </p:spPr>
        <p:txBody>
          <a:bodyPr vert="horz" wrap="square" lIns="0" tIns="59690" rIns="0" bIns="0" rtlCol="0">
            <a:spAutoFit/>
          </a:bodyPr>
          <a:lstStyle/>
          <a:p>
            <a:pPr marL="12700" marR="149860">
              <a:lnSpc>
                <a:spcPts val="1500"/>
              </a:lnSpc>
              <a:spcBef>
                <a:spcPts val="470"/>
              </a:spcBef>
            </a:pPr>
            <a:r>
              <a:rPr sz="1550" b="1" spc="-185" dirty="0">
                <a:solidFill>
                  <a:srgbClr val="333333"/>
                </a:solidFill>
                <a:latin typeface="Arial"/>
                <a:cs typeface="Arial"/>
              </a:rPr>
              <a:t>S</a:t>
            </a:r>
            <a:r>
              <a:rPr sz="1550" b="1" spc="45" dirty="0">
                <a:solidFill>
                  <a:srgbClr val="333333"/>
                </a:solidFill>
                <a:latin typeface="Arial"/>
                <a:cs typeface="Arial"/>
              </a:rPr>
              <a:t>e</a:t>
            </a:r>
            <a:r>
              <a:rPr sz="1550" b="1" spc="15" dirty="0">
                <a:solidFill>
                  <a:srgbClr val="333333"/>
                </a:solidFill>
                <a:latin typeface="Arial"/>
                <a:cs typeface="Arial"/>
              </a:rPr>
              <a:t>ar</a:t>
            </a:r>
            <a:r>
              <a:rPr sz="1550" b="1" spc="30" dirty="0">
                <a:solidFill>
                  <a:srgbClr val="333333"/>
                </a:solidFill>
                <a:latin typeface="Arial"/>
                <a:cs typeface="Arial"/>
              </a:rPr>
              <a:t>c</a:t>
            </a:r>
            <a:r>
              <a:rPr sz="1550" b="1" spc="35" dirty="0">
                <a:solidFill>
                  <a:srgbClr val="333333"/>
                </a:solidFill>
                <a:latin typeface="Arial"/>
                <a:cs typeface="Arial"/>
              </a:rPr>
              <a:t>h</a:t>
            </a:r>
            <a:r>
              <a:rPr sz="1550" b="1" spc="30" dirty="0">
                <a:solidFill>
                  <a:srgbClr val="333333"/>
                </a:solidFill>
                <a:latin typeface="Arial"/>
                <a:cs typeface="Arial"/>
              </a:rPr>
              <a:t>ab</a:t>
            </a:r>
            <a:r>
              <a:rPr sz="1550" b="1" spc="10" dirty="0">
                <a:solidFill>
                  <a:srgbClr val="333333"/>
                </a:solidFill>
                <a:latin typeface="Arial"/>
                <a:cs typeface="Arial"/>
              </a:rPr>
              <a:t>l</a:t>
            </a:r>
            <a:r>
              <a:rPr sz="1550" b="1" spc="45" dirty="0">
                <a:solidFill>
                  <a:srgbClr val="333333"/>
                </a:solidFill>
                <a:latin typeface="Arial"/>
                <a:cs typeface="Arial"/>
              </a:rPr>
              <a:t>e</a:t>
            </a:r>
            <a:r>
              <a:rPr sz="1550" b="1" spc="55" dirty="0">
                <a:solidFill>
                  <a:srgbClr val="333333"/>
                </a:solidFill>
                <a:latin typeface="Arial"/>
                <a:cs typeface="Arial"/>
              </a:rPr>
              <a:t>,  </a:t>
            </a:r>
            <a:r>
              <a:rPr sz="1550" b="1" spc="35" dirty="0">
                <a:solidFill>
                  <a:srgbClr val="333333"/>
                </a:solidFill>
                <a:latin typeface="Arial"/>
                <a:cs typeface="Arial"/>
              </a:rPr>
              <a:t>Central </a:t>
            </a:r>
            <a:r>
              <a:rPr sz="1550" b="1" spc="40" dirty="0">
                <a:solidFill>
                  <a:srgbClr val="333333"/>
                </a:solidFill>
                <a:latin typeface="Arial"/>
                <a:cs typeface="Arial"/>
              </a:rPr>
              <a:t> </a:t>
            </a:r>
            <a:r>
              <a:rPr sz="1550" b="1" spc="5" dirty="0">
                <a:solidFill>
                  <a:srgbClr val="333333"/>
                </a:solidFill>
                <a:latin typeface="Arial"/>
                <a:cs typeface="Arial"/>
              </a:rPr>
              <a:t>Storage</a:t>
            </a:r>
            <a:endParaRPr sz="1550">
              <a:latin typeface="Arial"/>
              <a:cs typeface="Arial"/>
            </a:endParaRPr>
          </a:p>
          <a:p>
            <a:pPr marL="12700" marR="5080">
              <a:lnSpc>
                <a:spcPct val="111100"/>
              </a:lnSpc>
              <a:spcBef>
                <a:spcPts val="325"/>
              </a:spcBef>
            </a:pPr>
            <a:r>
              <a:rPr sz="900" spc="-10" dirty="0">
                <a:solidFill>
                  <a:srgbClr val="333333"/>
                </a:solidFill>
                <a:latin typeface="Roboto Lt"/>
                <a:cs typeface="Roboto Lt"/>
              </a:rPr>
              <a:t>I</a:t>
            </a:r>
            <a:r>
              <a:rPr sz="900" spc="5" dirty="0">
                <a:solidFill>
                  <a:srgbClr val="333333"/>
                </a:solidFill>
                <a:latin typeface="Roboto Lt"/>
                <a:cs typeface="Roboto Lt"/>
              </a:rPr>
              <a:t>t</a:t>
            </a:r>
            <a:r>
              <a:rPr sz="900" spc="-80" dirty="0">
                <a:solidFill>
                  <a:srgbClr val="333333"/>
                </a:solidFill>
                <a:latin typeface="Roboto Lt"/>
                <a:cs typeface="Roboto Lt"/>
              </a:rPr>
              <a:t>’</a:t>
            </a:r>
            <a:r>
              <a:rPr sz="900" spc="-5" dirty="0">
                <a:solidFill>
                  <a:srgbClr val="333333"/>
                </a:solidFill>
                <a:latin typeface="Roboto Lt"/>
                <a:cs typeface="Roboto Lt"/>
              </a:rPr>
              <a:t>s</a:t>
            </a:r>
            <a:r>
              <a:rPr sz="900" spc="-30" dirty="0">
                <a:solidFill>
                  <a:srgbClr val="333333"/>
                </a:solidFill>
                <a:latin typeface="Roboto Lt"/>
                <a:cs typeface="Roboto Lt"/>
              </a:rPr>
              <a:t> </a:t>
            </a:r>
            <a:r>
              <a:rPr sz="900" spc="-15" dirty="0">
                <a:solidFill>
                  <a:srgbClr val="333333"/>
                </a:solidFill>
                <a:latin typeface="Roboto Lt"/>
                <a:cs typeface="Roboto Lt"/>
              </a:rPr>
              <a:t>in</a:t>
            </a:r>
            <a:r>
              <a:rPr sz="900" spc="-10" dirty="0">
                <a:solidFill>
                  <a:srgbClr val="333333"/>
                </a:solidFill>
                <a:latin typeface="Roboto Lt"/>
                <a:cs typeface="Roboto Lt"/>
              </a:rPr>
              <a:t>c</a:t>
            </a:r>
            <a:r>
              <a:rPr sz="900" spc="-20" dirty="0">
                <a:solidFill>
                  <a:srgbClr val="333333"/>
                </a:solidFill>
                <a:latin typeface="Roboto Lt"/>
                <a:cs typeface="Roboto Lt"/>
              </a:rPr>
              <a:t>r</a:t>
            </a:r>
            <a:r>
              <a:rPr sz="900" spc="-5" dirty="0">
                <a:solidFill>
                  <a:srgbClr val="333333"/>
                </a:solidFill>
                <a:latin typeface="Roboto Lt"/>
                <a:cs typeface="Roboto Lt"/>
              </a:rPr>
              <a:t>e</a:t>
            </a:r>
            <a:r>
              <a:rPr sz="900" spc="-15" dirty="0">
                <a:solidFill>
                  <a:srgbClr val="333333"/>
                </a:solidFill>
                <a:latin typeface="Roboto Lt"/>
                <a:cs typeface="Roboto Lt"/>
              </a:rPr>
              <a:t>asing</a:t>
            </a:r>
            <a:r>
              <a:rPr sz="900" spc="-10" dirty="0">
                <a:solidFill>
                  <a:srgbClr val="333333"/>
                </a:solidFill>
                <a:latin typeface="Roboto Lt"/>
                <a:cs typeface="Roboto Lt"/>
              </a:rPr>
              <a:t>l</a:t>
            </a:r>
            <a:r>
              <a:rPr sz="900" spc="-15" dirty="0">
                <a:solidFill>
                  <a:srgbClr val="333333"/>
                </a:solidFill>
                <a:latin typeface="Roboto Lt"/>
                <a:cs typeface="Roboto Lt"/>
              </a:rPr>
              <a:t>y</a:t>
            </a:r>
            <a:r>
              <a:rPr sz="900" spc="-30" dirty="0">
                <a:solidFill>
                  <a:srgbClr val="333333"/>
                </a:solidFill>
                <a:latin typeface="Roboto Lt"/>
                <a:cs typeface="Roboto Lt"/>
              </a:rPr>
              <a:t> </a:t>
            </a:r>
            <a:r>
              <a:rPr sz="900" spc="-10" dirty="0">
                <a:solidFill>
                  <a:srgbClr val="333333"/>
                </a:solidFill>
                <a:latin typeface="Roboto Lt"/>
                <a:cs typeface="Roboto Lt"/>
              </a:rPr>
              <a:t>i</a:t>
            </a:r>
            <a:r>
              <a:rPr sz="900" spc="-5" dirty="0">
                <a:solidFill>
                  <a:srgbClr val="333333"/>
                </a:solidFill>
                <a:latin typeface="Roboto Lt"/>
                <a:cs typeface="Roboto Lt"/>
              </a:rPr>
              <a:t>mp</a:t>
            </a:r>
            <a:r>
              <a:rPr sz="900" spc="-10" dirty="0">
                <a:solidFill>
                  <a:srgbClr val="333333"/>
                </a:solidFill>
                <a:latin typeface="Roboto Lt"/>
                <a:cs typeface="Roboto Lt"/>
              </a:rPr>
              <a:t>o</a:t>
            </a:r>
            <a:r>
              <a:rPr sz="900" spc="20" dirty="0">
                <a:solidFill>
                  <a:srgbClr val="333333"/>
                </a:solidFill>
                <a:latin typeface="Roboto Lt"/>
                <a:cs typeface="Roboto Lt"/>
              </a:rPr>
              <a:t>r</a:t>
            </a:r>
            <a:r>
              <a:rPr sz="900" spc="-15" dirty="0">
                <a:solidFill>
                  <a:srgbClr val="333333"/>
                </a:solidFill>
                <a:latin typeface="Roboto Lt"/>
                <a:cs typeface="Roboto Lt"/>
              </a:rPr>
              <a:t>ta</a:t>
            </a:r>
            <a:r>
              <a:rPr sz="900" spc="-20" dirty="0">
                <a:solidFill>
                  <a:srgbClr val="333333"/>
                </a:solidFill>
                <a:latin typeface="Roboto Lt"/>
                <a:cs typeface="Roboto Lt"/>
              </a:rPr>
              <a:t>n</a:t>
            </a:r>
            <a:r>
              <a:rPr sz="900" spc="-5" dirty="0">
                <a:solidFill>
                  <a:srgbClr val="333333"/>
                </a:solidFill>
                <a:latin typeface="Roboto Lt"/>
                <a:cs typeface="Roboto Lt"/>
              </a:rPr>
              <a:t>t  </a:t>
            </a:r>
            <a:r>
              <a:rPr sz="900" spc="-15" dirty="0">
                <a:solidFill>
                  <a:srgbClr val="333333"/>
                </a:solidFill>
                <a:latin typeface="Roboto Lt"/>
                <a:cs typeface="Roboto Lt"/>
              </a:rPr>
              <a:t>to </a:t>
            </a:r>
            <a:r>
              <a:rPr sz="900" spc="-10" dirty="0">
                <a:solidFill>
                  <a:srgbClr val="333333"/>
                </a:solidFill>
                <a:latin typeface="Roboto Lt"/>
                <a:cs typeface="Roboto Lt"/>
              </a:rPr>
              <a:t>use cloud storage </a:t>
            </a:r>
            <a:r>
              <a:rPr sz="900" spc="-5" dirty="0">
                <a:solidFill>
                  <a:srgbClr val="333333"/>
                </a:solidFill>
                <a:latin typeface="Roboto Lt"/>
                <a:cs typeface="Roboto Lt"/>
              </a:rPr>
              <a:t> services </a:t>
            </a:r>
            <a:r>
              <a:rPr sz="900" spc="-15" dirty="0">
                <a:solidFill>
                  <a:srgbClr val="333333"/>
                </a:solidFill>
                <a:latin typeface="Roboto Lt"/>
                <a:cs typeface="Roboto Lt"/>
              </a:rPr>
              <a:t>like </a:t>
            </a:r>
            <a:r>
              <a:rPr sz="900" spc="-10" dirty="0">
                <a:solidFill>
                  <a:srgbClr val="333333"/>
                </a:solidFill>
                <a:latin typeface="Roboto Lt"/>
                <a:cs typeface="Roboto Lt"/>
              </a:rPr>
              <a:t>Dropbox, </a:t>
            </a:r>
            <a:r>
              <a:rPr sz="900" spc="-5" dirty="0">
                <a:solidFill>
                  <a:srgbClr val="333333"/>
                </a:solidFill>
                <a:latin typeface="Roboto Lt"/>
                <a:cs typeface="Roboto Lt"/>
              </a:rPr>
              <a:t> Google </a:t>
            </a:r>
            <a:r>
              <a:rPr sz="900" spc="-10" dirty="0">
                <a:solidFill>
                  <a:srgbClr val="333333"/>
                </a:solidFill>
                <a:latin typeface="Roboto Lt"/>
                <a:cs typeface="Roboto Lt"/>
              </a:rPr>
              <a:t>Drive, </a:t>
            </a:r>
            <a:r>
              <a:rPr sz="900" spc="-5" dirty="0">
                <a:solidFill>
                  <a:srgbClr val="333333"/>
                </a:solidFill>
                <a:latin typeface="Roboto Lt"/>
                <a:cs typeface="Roboto Lt"/>
              </a:rPr>
              <a:t>Box, or </a:t>
            </a:r>
            <a:r>
              <a:rPr sz="900" dirty="0">
                <a:solidFill>
                  <a:srgbClr val="333333"/>
                </a:solidFill>
                <a:latin typeface="Roboto Lt"/>
                <a:cs typeface="Roboto Lt"/>
              </a:rPr>
              <a:t> </a:t>
            </a:r>
            <a:r>
              <a:rPr sz="900" spc="-10" dirty="0">
                <a:solidFill>
                  <a:srgbClr val="333333"/>
                </a:solidFill>
                <a:latin typeface="Roboto Lt"/>
                <a:cs typeface="Roboto Lt"/>
              </a:rPr>
              <a:t>OneDrive for project </a:t>
            </a:r>
            <a:r>
              <a:rPr sz="900" spc="-5" dirty="0">
                <a:solidFill>
                  <a:srgbClr val="333333"/>
                </a:solidFill>
                <a:latin typeface="Roboto Lt"/>
                <a:cs typeface="Roboto Lt"/>
              </a:rPr>
              <a:t> </a:t>
            </a:r>
            <a:r>
              <a:rPr sz="900" spc="-10" dirty="0">
                <a:solidFill>
                  <a:srgbClr val="333333"/>
                </a:solidFill>
                <a:latin typeface="Roboto Lt"/>
                <a:cs typeface="Roboto Lt"/>
              </a:rPr>
              <a:t>documentation storage. </a:t>
            </a:r>
            <a:r>
              <a:rPr sz="900" spc="-5" dirty="0">
                <a:solidFill>
                  <a:srgbClr val="333333"/>
                </a:solidFill>
                <a:latin typeface="Roboto Lt"/>
                <a:cs typeface="Roboto Lt"/>
              </a:rPr>
              <a:t> </a:t>
            </a:r>
            <a:r>
              <a:rPr sz="900" spc="-15" dirty="0">
                <a:solidFill>
                  <a:srgbClr val="333333"/>
                </a:solidFill>
                <a:latin typeface="Roboto Lt"/>
                <a:cs typeface="Roboto Lt"/>
              </a:rPr>
              <a:t>Whatever</a:t>
            </a:r>
            <a:r>
              <a:rPr sz="900" spc="185" dirty="0">
                <a:solidFill>
                  <a:srgbClr val="333333"/>
                </a:solidFill>
                <a:latin typeface="Roboto Lt"/>
                <a:cs typeface="Roboto Lt"/>
              </a:rPr>
              <a:t> </a:t>
            </a:r>
            <a:r>
              <a:rPr sz="900" spc="-5" dirty="0">
                <a:solidFill>
                  <a:srgbClr val="333333"/>
                </a:solidFill>
                <a:latin typeface="Roboto Lt"/>
                <a:cs typeface="Roboto Lt"/>
              </a:rPr>
              <a:t>service</a:t>
            </a:r>
            <a:r>
              <a:rPr sz="900" spc="210" dirty="0">
                <a:solidFill>
                  <a:srgbClr val="333333"/>
                </a:solidFill>
                <a:latin typeface="Roboto Lt"/>
                <a:cs typeface="Roboto Lt"/>
              </a:rPr>
              <a:t> </a:t>
            </a:r>
            <a:r>
              <a:rPr sz="900" spc="-15" dirty="0">
                <a:solidFill>
                  <a:srgbClr val="333333"/>
                </a:solidFill>
                <a:latin typeface="Roboto Lt"/>
                <a:cs typeface="Roboto Lt"/>
              </a:rPr>
              <a:t>you </a:t>
            </a:r>
            <a:r>
              <a:rPr sz="900" spc="-10" dirty="0">
                <a:solidFill>
                  <a:srgbClr val="333333"/>
                </a:solidFill>
                <a:latin typeface="Roboto Lt"/>
                <a:cs typeface="Roboto Lt"/>
              </a:rPr>
              <a:t> use, </a:t>
            </a:r>
            <a:r>
              <a:rPr sz="900" spc="-15" dirty="0">
                <a:solidFill>
                  <a:srgbClr val="333333"/>
                </a:solidFill>
                <a:latin typeface="Roboto Lt"/>
                <a:cs typeface="Roboto Lt"/>
              </a:rPr>
              <a:t>make sure your </a:t>
            </a:r>
            <a:r>
              <a:rPr sz="900" spc="-10" dirty="0">
                <a:solidFill>
                  <a:srgbClr val="333333"/>
                </a:solidFill>
                <a:latin typeface="Roboto Lt"/>
                <a:cs typeface="Roboto Lt"/>
              </a:rPr>
              <a:t>Agile </a:t>
            </a:r>
            <a:r>
              <a:rPr sz="900" spc="-204" dirty="0">
                <a:solidFill>
                  <a:srgbClr val="333333"/>
                </a:solidFill>
                <a:latin typeface="Roboto Lt"/>
                <a:cs typeface="Roboto Lt"/>
              </a:rPr>
              <a:t> </a:t>
            </a:r>
            <a:r>
              <a:rPr sz="900" spc="-10" dirty="0">
                <a:solidFill>
                  <a:srgbClr val="333333"/>
                </a:solidFill>
                <a:latin typeface="Roboto Lt"/>
                <a:cs typeface="Roboto Lt"/>
              </a:rPr>
              <a:t>tool can seamlessly </a:t>
            </a:r>
            <a:r>
              <a:rPr sz="900" spc="-5" dirty="0">
                <a:solidFill>
                  <a:srgbClr val="333333"/>
                </a:solidFill>
                <a:latin typeface="Roboto Lt"/>
                <a:cs typeface="Roboto Lt"/>
              </a:rPr>
              <a:t> connect </a:t>
            </a:r>
            <a:r>
              <a:rPr sz="900" spc="-10" dirty="0">
                <a:solidFill>
                  <a:srgbClr val="333333"/>
                </a:solidFill>
                <a:latin typeface="Roboto Lt"/>
                <a:cs typeface="Roboto Lt"/>
              </a:rPr>
              <a:t>with them </a:t>
            </a:r>
            <a:r>
              <a:rPr sz="900" spc="-15" dirty="0">
                <a:solidFill>
                  <a:srgbClr val="333333"/>
                </a:solidFill>
                <a:latin typeface="Roboto Lt"/>
                <a:cs typeface="Roboto Lt"/>
              </a:rPr>
              <a:t>to </a:t>
            </a:r>
            <a:r>
              <a:rPr sz="900" spc="-10" dirty="0">
                <a:solidFill>
                  <a:srgbClr val="333333"/>
                </a:solidFill>
                <a:latin typeface="Roboto Lt"/>
                <a:cs typeface="Roboto Lt"/>
              </a:rPr>
              <a:t> </a:t>
            </a:r>
            <a:r>
              <a:rPr sz="900" spc="-15" dirty="0">
                <a:solidFill>
                  <a:srgbClr val="333333"/>
                </a:solidFill>
                <a:latin typeface="Roboto Lt"/>
                <a:cs typeface="Roboto Lt"/>
              </a:rPr>
              <a:t>store</a:t>
            </a:r>
            <a:r>
              <a:rPr sz="900" spc="-25" dirty="0">
                <a:solidFill>
                  <a:srgbClr val="333333"/>
                </a:solidFill>
                <a:latin typeface="Roboto Lt"/>
                <a:cs typeface="Roboto Lt"/>
              </a:rPr>
              <a:t> </a:t>
            </a:r>
            <a:r>
              <a:rPr sz="900" spc="-10" dirty="0">
                <a:solidFill>
                  <a:srgbClr val="333333"/>
                </a:solidFill>
                <a:latin typeface="Roboto Lt"/>
                <a:cs typeface="Roboto Lt"/>
              </a:rPr>
              <a:t>vital</a:t>
            </a:r>
            <a:r>
              <a:rPr sz="900" spc="-25" dirty="0">
                <a:solidFill>
                  <a:srgbClr val="333333"/>
                </a:solidFill>
                <a:latin typeface="Roboto Lt"/>
                <a:cs typeface="Roboto Lt"/>
              </a:rPr>
              <a:t> </a:t>
            </a:r>
            <a:r>
              <a:rPr sz="900" spc="-10" dirty="0">
                <a:solidFill>
                  <a:srgbClr val="333333"/>
                </a:solidFill>
                <a:latin typeface="Roboto Lt"/>
                <a:cs typeface="Roboto Lt"/>
              </a:rPr>
              <a:t>assets.</a:t>
            </a:r>
            <a:endParaRPr sz="900">
              <a:latin typeface="Roboto Lt"/>
              <a:cs typeface="Roboto Lt"/>
            </a:endParaRPr>
          </a:p>
        </p:txBody>
      </p:sp>
      <p:sp>
        <p:nvSpPr>
          <p:cNvPr id="15" name="object 15"/>
          <p:cNvSpPr txBox="1"/>
          <p:nvPr/>
        </p:nvSpPr>
        <p:spPr>
          <a:xfrm>
            <a:off x="5571573" y="2662166"/>
            <a:ext cx="1338580" cy="2171700"/>
          </a:xfrm>
          <a:prstGeom prst="rect">
            <a:avLst/>
          </a:prstGeom>
        </p:spPr>
        <p:txBody>
          <a:bodyPr vert="horz" wrap="square" lIns="0" tIns="59690" rIns="0" bIns="0" rtlCol="0">
            <a:spAutoFit/>
          </a:bodyPr>
          <a:lstStyle/>
          <a:p>
            <a:pPr marL="12700" marR="662940">
              <a:lnSpc>
                <a:spcPts val="1500"/>
              </a:lnSpc>
              <a:spcBef>
                <a:spcPts val="470"/>
              </a:spcBef>
            </a:pPr>
            <a:r>
              <a:rPr sz="1550" b="1" spc="55" dirty="0">
                <a:solidFill>
                  <a:srgbClr val="333333"/>
                </a:solidFill>
                <a:latin typeface="Arial"/>
                <a:cs typeface="Arial"/>
              </a:rPr>
              <a:t>Mo</a:t>
            </a:r>
            <a:r>
              <a:rPr sz="1550" b="1" spc="40" dirty="0">
                <a:solidFill>
                  <a:srgbClr val="333333"/>
                </a:solidFill>
                <a:latin typeface="Arial"/>
                <a:cs typeface="Arial"/>
              </a:rPr>
              <a:t>b</a:t>
            </a:r>
            <a:r>
              <a:rPr sz="1550" b="1" spc="15" dirty="0">
                <a:solidFill>
                  <a:srgbClr val="333333"/>
                </a:solidFill>
                <a:latin typeface="Arial"/>
                <a:cs typeface="Arial"/>
              </a:rPr>
              <a:t>i</a:t>
            </a:r>
            <a:r>
              <a:rPr sz="1550" b="1" spc="10" dirty="0">
                <a:solidFill>
                  <a:srgbClr val="333333"/>
                </a:solidFill>
                <a:latin typeface="Arial"/>
                <a:cs typeface="Arial"/>
              </a:rPr>
              <a:t>le  </a:t>
            </a:r>
            <a:r>
              <a:rPr sz="1550" b="1" spc="15" dirty="0">
                <a:solidFill>
                  <a:srgbClr val="333333"/>
                </a:solidFill>
                <a:latin typeface="Arial"/>
                <a:cs typeface="Arial"/>
              </a:rPr>
              <a:t>Ready</a:t>
            </a:r>
            <a:endParaRPr sz="1550">
              <a:latin typeface="Arial"/>
              <a:cs typeface="Arial"/>
            </a:endParaRPr>
          </a:p>
          <a:p>
            <a:pPr marL="12700" marR="5080">
              <a:lnSpc>
                <a:spcPct val="111100"/>
              </a:lnSpc>
              <a:spcBef>
                <a:spcPts val="325"/>
              </a:spcBef>
            </a:pPr>
            <a:r>
              <a:rPr sz="900" spc="-5" dirty="0">
                <a:solidFill>
                  <a:srgbClr val="333333"/>
                </a:solidFill>
                <a:latin typeface="Roboto Lt"/>
                <a:cs typeface="Roboto Lt"/>
              </a:rPr>
              <a:t>The modern </a:t>
            </a:r>
            <a:r>
              <a:rPr sz="900" spc="-10" dirty="0">
                <a:solidFill>
                  <a:srgbClr val="333333"/>
                </a:solidFill>
                <a:latin typeface="Roboto Lt"/>
                <a:cs typeface="Roboto Lt"/>
              </a:rPr>
              <a:t>worker relies </a:t>
            </a:r>
            <a:r>
              <a:rPr sz="900" spc="-5" dirty="0">
                <a:solidFill>
                  <a:srgbClr val="333333"/>
                </a:solidFill>
                <a:latin typeface="Roboto Lt"/>
                <a:cs typeface="Roboto Lt"/>
              </a:rPr>
              <a:t> on</a:t>
            </a:r>
            <a:r>
              <a:rPr sz="900" dirty="0">
                <a:solidFill>
                  <a:srgbClr val="333333"/>
                </a:solidFill>
                <a:latin typeface="Roboto Lt"/>
                <a:cs typeface="Roboto Lt"/>
              </a:rPr>
              <a:t> </a:t>
            </a:r>
            <a:r>
              <a:rPr sz="900" spc="-10" dirty="0">
                <a:solidFill>
                  <a:srgbClr val="333333"/>
                </a:solidFill>
                <a:latin typeface="Roboto Lt"/>
                <a:cs typeface="Roboto Lt"/>
              </a:rPr>
              <a:t>their</a:t>
            </a:r>
            <a:r>
              <a:rPr sz="900" spc="195" dirty="0">
                <a:solidFill>
                  <a:srgbClr val="333333"/>
                </a:solidFill>
                <a:latin typeface="Roboto Lt"/>
                <a:cs typeface="Roboto Lt"/>
              </a:rPr>
              <a:t> </a:t>
            </a:r>
            <a:r>
              <a:rPr sz="900" spc="-5" dirty="0">
                <a:solidFill>
                  <a:srgbClr val="333333"/>
                </a:solidFill>
                <a:latin typeface="Roboto Lt"/>
                <a:cs typeface="Roboto Lt"/>
              </a:rPr>
              <a:t>smartphone, </a:t>
            </a:r>
            <a:r>
              <a:rPr sz="900" dirty="0">
                <a:solidFill>
                  <a:srgbClr val="333333"/>
                </a:solidFill>
                <a:latin typeface="Roboto Lt"/>
                <a:cs typeface="Roboto Lt"/>
              </a:rPr>
              <a:t> </a:t>
            </a:r>
            <a:r>
              <a:rPr sz="900" spc="-10" dirty="0">
                <a:solidFill>
                  <a:srgbClr val="333333"/>
                </a:solidFill>
                <a:latin typeface="Roboto Lt"/>
                <a:cs typeface="Roboto Lt"/>
              </a:rPr>
              <a:t>tablet and other mobile </a:t>
            </a:r>
            <a:r>
              <a:rPr sz="900" spc="-5" dirty="0">
                <a:solidFill>
                  <a:srgbClr val="333333"/>
                </a:solidFill>
                <a:latin typeface="Roboto Lt"/>
                <a:cs typeface="Roboto Lt"/>
              </a:rPr>
              <a:t> </a:t>
            </a:r>
            <a:r>
              <a:rPr sz="900" spc="-10" dirty="0">
                <a:solidFill>
                  <a:srgbClr val="333333"/>
                </a:solidFill>
                <a:latin typeface="Roboto Lt"/>
                <a:cs typeface="Roboto Lt"/>
              </a:rPr>
              <a:t>devices </a:t>
            </a:r>
            <a:r>
              <a:rPr sz="900" spc="-15" dirty="0">
                <a:solidFill>
                  <a:srgbClr val="333333"/>
                </a:solidFill>
                <a:latin typeface="Roboto Lt"/>
                <a:cs typeface="Roboto Lt"/>
              </a:rPr>
              <a:t>to </a:t>
            </a:r>
            <a:r>
              <a:rPr sz="900" spc="-5" dirty="0">
                <a:solidFill>
                  <a:srgbClr val="333333"/>
                </a:solidFill>
                <a:latin typeface="Roboto Lt"/>
                <a:cs typeface="Roboto Lt"/>
              </a:rPr>
              <a:t>get </a:t>
            </a:r>
            <a:r>
              <a:rPr sz="900" spc="-10" dirty="0">
                <a:solidFill>
                  <a:srgbClr val="333333"/>
                </a:solidFill>
                <a:latin typeface="Roboto Lt"/>
                <a:cs typeface="Roboto Lt"/>
              </a:rPr>
              <a:t>work </a:t>
            </a:r>
            <a:r>
              <a:rPr sz="900" spc="-5" dirty="0">
                <a:solidFill>
                  <a:srgbClr val="333333"/>
                </a:solidFill>
                <a:latin typeface="Roboto Lt"/>
                <a:cs typeface="Roboto Lt"/>
              </a:rPr>
              <a:t>done. </a:t>
            </a:r>
            <a:r>
              <a:rPr sz="900" dirty="0">
                <a:solidFill>
                  <a:srgbClr val="333333"/>
                </a:solidFill>
                <a:latin typeface="Roboto Lt"/>
                <a:cs typeface="Roboto Lt"/>
              </a:rPr>
              <a:t> And</a:t>
            </a:r>
            <a:r>
              <a:rPr sz="900" spc="-35" dirty="0">
                <a:solidFill>
                  <a:srgbClr val="333333"/>
                </a:solidFill>
                <a:latin typeface="Roboto Lt"/>
                <a:cs typeface="Roboto Lt"/>
              </a:rPr>
              <a:t> </a:t>
            </a:r>
            <a:r>
              <a:rPr sz="900" spc="-15" dirty="0">
                <a:solidFill>
                  <a:srgbClr val="333333"/>
                </a:solidFill>
                <a:latin typeface="Roboto Lt"/>
                <a:cs typeface="Roboto Lt"/>
              </a:rPr>
              <a:t>many</a:t>
            </a:r>
            <a:r>
              <a:rPr sz="900" spc="-35" dirty="0">
                <a:solidFill>
                  <a:srgbClr val="333333"/>
                </a:solidFill>
                <a:latin typeface="Roboto Lt"/>
                <a:cs typeface="Roboto Lt"/>
              </a:rPr>
              <a:t> </a:t>
            </a:r>
            <a:r>
              <a:rPr sz="900" spc="-10" dirty="0">
                <a:solidFill>
                  <a:srgbClr val="333333"/>
                </a:solidFill>
                <a:latin typeface="Roboto Lt"/>
                <a:cs typeface="Roboto Lt"/>
              </a:rPr>
              <a:t>workers</a:t>
            </a:r>
            <a:r>
              <a:rPr sz="900" spc="-35" dirty="0">
                <a:solidFill>
                  <a:srgbClr val="333333"/>
                </a:solidFill>
                <a:latin typeface="Roboto Lt"/>
                <a:cs typeface="Roboto Lt"/>
              </a:rPr>
              <a:t> </a:t>
            </a:r>
            <a:r>
              <a:rPr sz="900" spc="-15" dirty="0">
                <a:solidFill>
                  <a:srgbClr val="333333"/>
                </a:solidFill>
                <a:latin typeface="Roboto Lt"/>
                <a:cs typeface="Roboto Lt"/>
              </a:rPr>
              <a:t>want</a:t>
            </a:r>
            <a:r>
              <a:rPr sz="900" spc="-35" dirty="0">
                <a:solidFill>
                  <a:srgbClr val="333333"/>
                </a:solidFill>
                <a:latin typeface="Roboto Lt"/>
                <a:cs typeface="Roboto Lt"/>
              </a:rPr>
              <a:t> </a:t>
            </a:r>
            <a:r>
              <a:rPr sz="900" spc="-15" dirty="0">
                <a:solidFill>
                  <a:srgbClr val="333333"/>
                </a:solidFill>
                <a:latin typeface="Roboto Lt"/>
                <a:cs typeface="Roboto Lt"/>
              </a:rPr>
              <a:t>to </a:t>
            </a:r>
            <a:r>
              <a:rPr sz="900" spc="-204" dirty="0">
                <a:solidFill>
                  <a:srgbClr val="333333"/>
                </a:solidFill>
                <a:latin typeface="Roboto Lt"/>
                <a:cs typeface="Roboto Lt"/>
              </a:rPr>
              <a:t> </a:t>
            </a:r>
            <a:r>
              <a:rPr sz="900" spc="-5" dirty="0">
                <a:solidFill>
                  <a:srgbClr val="333333"/>
                </a:solidFill>
                <a:latin typeface="Roboto Lt"/>
                <a:cs typeface="Roboto Lt"/>
              </a:rPr>
              <a:t>access parts of </a:t>
            </a:r>
            <a:r>
              <a:rPr sz="900" spc="-10" dirty="0">
                <a:solidFill>
                  <a:srgbClr val="333333"/>
                </a:solidFill>
                <a:latin typeface="Roboto Lt"/>
                <a:cs typeface="Roboto Lt"/>
              </a:rPr>
              <a:t>their </a:t>
            </a:r>
            <a:r>
              <a:rPr sz="900" spc="-5" dirty="0">
                <a:solidFill>
                  <a:srgbClr val="333333"/>
                </a:solidFill>
                <a:latin typeface="Roboto Lt"/>
                <a:cs typeface="Roboto Lt"/>
              </a:rPr>
              <a:t> </a:t>
            </a:r>
            <a:r>
              <a:rPr sz="900" spc="-10" dirty="0">
                <a:solidFill>
                  <a:srgbClr val="333333"/>
                </a:solidFill>
                <a:latin typeface="Roboto Lt"/>
                <a:cs typeface="Roboto Lt"/>
              </a:rPr>
              <a:t>project management </a:t>
            </a:r>
            <a:r>
              <a:rPr sz="900" spc="-5" dirty="0">
                <a:solidFill>
                  <a:srgbClr val="333333"/>
                </a:solidFill>
                <a:latin typeface="Roboto Lt"/>
                <a:cs typeface="Roboto Lt"/>
              </a:rPr>
              <a:t> </a:t>
            </a:r>
            <a:r>
              <a:rPr sz="900" spc="-10" dirty="0">
                <a:solidFill>
                  <a:srgbClr val="333333"/>
                </a:solidFill>
                <a:latin typeface="Roboto Lt"/>
                <a:cs typeface="Roboto Lt"/>
              </a:rPr>
              <a:t>software while </a:t>
            </a:r>
            <a:r>
              <a:rPr sz="900" spc="-15" dirty="0">
                <a:solidFill>
                  <a:srgbClr val="333333"/>
                </a:solidFill>
                <a:latin typeface="Roboto Lt"/>
                <a:cs typeface="Roboto Lt"/>
              </a:rPr>
              <a:t>they </a:t>
            </a:r>
            <a:r>
              <a:rPr sz="900" spc="-10" dirty="0">
                <a:solidFill>
                  <a:srgbClr val="333333"/>
                </a:solidFill>
                <a:latin typeface="Roboto Lt"/>
                <a:cs typeface="Roboto Lt"/>
              </a:rPr>
              <a:t>are </a:t>
            </a:r>
            <a:r>
              <a:rPr sz="900" spc="-5" dirty="0">
                <a:solidFill>
                  <a:srgbClr val="333333"/>
                </a:solidFill>
                <a:latin typeface="Roboto Lt"/>
                <a:cs typeface="Roboto Lt"/>
              </a:rPr>
              <a:t>on </a:t>
            </a:r>
            <a:r>
              <a:rPr sz="900" spc="-204" dirty="0">
                <a:solidFill>
                  <a:srgbClr val="333333"/>
                </a:solidFill>
                <a:latin typeface="Roboto Lt"/>
                <a:cs typeface="Roboto Lt"/>
              </a:rPr>
              <a:t> </a:t>
            </a:r>
            <a:r>
              <a:rPr sz="900" spc="-10" dirty="0">
                <a:solidFill>
                  <a:srgbClr val="333333"/>
                </a:solidFill>
                <a:latin typeface="Roboto Lt"/>
                <a:cs typeface="Roboto Lt"/>
              </a:rPr>
              <a:t>the </a:t>
            </a:r>
            <a:r>
              <a:rPr sz="900" spc="-5" dirty="0">
                <a:solidFill>
                  <a:srgbClr val="333333"/>
                </a:solidFill>
                <a:latin typeface="Roboto Lt"/>
                <a:cs typeface="Roboto Lt"/>
              </a:rPr>
              <a:t>go. </a:t>
            </a:r>
            <a:r>
              <a:rPr sz="900" dirty="0">
                <a:solidFill>
                  <a:srgbClr val="333333"/>
                </a:solidFill>
                <a:latin typeface="Roboto Lt"/>
                <a:cs typeface="Roboto Lt"/>
              </a:rPr>
              <a:t>Be </a:t>
            </a:r>
            <a:r>
              <a:rPr sz="900" spc="-15" dirty="0">
                <a:solidFill>
                  <a:srgbClr val="333333"/>
                </a:solidFill>
                <a:latin typeface="Roboto Lt"/>
                <a:cs typeface="Roboto Lt"/>
              </a:rPr>
              <a:t>sure to evaluate </a:t>
            </a:r>
            <a:r>
              <a:rPr sz="900" spc="-204" dirty="0">
                <a:solidFill>
                  <a:srgbClr val="333333"/>
                </a:solidFill>
                <a:latin typeface="Roboto Lt"/>
                <a:cs typeface="Roboto Lt"/>
              </a:rPr>
              <a:t> </a:t>
            </a:r>
            <a:r>
              <a:rPr sz="900" spc="-10" dirty="0">
                <a:solidFill>
                  <a:srgbClr val="333333"/>
                </a:solidFill>
                <a:latin typeface="Roboto Lt"/>
                <a:cs typeface="Roboto Lt"/>
              </a:rPr>
              <a:t>all the mobile options </a:t>
            </a:r>
            <a:r>
              <a:rPr sz="900" spc="-5" dirty="0">
                <a:solidFill>
                  <a:srgbClr val="333333"/>
                </a:solidFill>
                <a:latin typeface="Roboto Lt"/>
                <a:cs typeface="Roboto Lt"/>
              </a:rPr>
              <a:t>a </a:t>
            </a:r>
            <a:r>
              <a:rPr sz="900" dirty="0">
                <a:solidFill>
                  <a:srgbClr val="333333"/>
                </a:solidFill>
                <a:latin typeface="Roboto Lt"/>
                <a:cs typeface="Roboto Lt"/>
              </a:rPr>
              <a:t> </a:t>
            </a:r>
            <a:r>
              <a:rPr sz="900" spc="-10" dirty="0">
                <a:solidFill>
                  <a:srgbClr val="333333"/>
                </a:solidFill>
                <a:latin typeface="Roboto Lt"/>
                <a:cs typeface="Roboto Lt"/>
              </a:rPr>
              <a:t>tool</a:t>
            </a:r>
            <a:r>
              <a:rPr sz="900" spc="-25" dirty="0">
                <a:solidFill>
                  <a:srgbClr val="333333"/>
                </a:solidFill>
                <a:latin typeface="Roboto Lt"/>
                <a:cs typeface="Roboto Lt"/>
              </a:rPr>
              <a:t> </a:t>
            </a:r>
            <a:r>
              <a:rPr sz="900" spc="-15" dirty="0">
                <a:solidFill>
                  <a:srgbClr val="333333"/>
                </a:solidFill>
                <a:latin typeface="Roboto Lt"/>
                <a:cs typeface="Roboto Lt"/>
              </a:rPr>
              <a:t>has</a:t>
            </a:r>
            <a:r>
              <a:rPr sz="900" spc="-20" dirty="0">
                <a:solidFill>
                  <a:srgbClr val="333333"/>
                </a:solidFill>
                <a:latin typeface="Roboto Lt"/>
                <a:cs typeface="Roboto Lt"/>
              </a:rPr>
              <a:t> </a:t>
            </a:r>
            <a:r>
              <a:rPr sz="900" spc="-15" dirty="0">
                <a:solidFill>
                  <a:srgbClr val="333333"/>
                </a:solidFill>
                <a:latin typeface="Roboto Lt"/>
                <a:cs typeface="Roboto Lt"/>
              </a:rPr>
              <a:t>to</a:t>
            </a:r>
            <a:r>
              <a:rPr sz="900" spc="-25" dirty="0">
                <a:solidFill>
                  <a:srgbClr val="333333"/>
                </a:solidFill>
                <a:latin typeface="Roboto Lt"/>
                <a:cs typeface="Roboto Lt"/>
              </a:rPr>
              <a:t> </a:t>
            </a:r>
            <a:r>
              <a:rPr sz="900" spc="-15" dirty="0">
                <a:solidFill>
                  <a:srgbClr val="333333"/>
                </a:solidFill>
                <a:latin typeface="Roboto Lt"/>
                <a:cs typeface="Roboto Lt"/>
              </a:rPr>
              <a:t>offer.</a:t>
            </a:r>
            <a:endParaRPr sz="900">
              <a:latin typeface="Roboto Lt"/>
              <a:cs typeface="Roboto Lt"/>
            </a:endParaRPr>
          </a:p>
        </p:txBody>
      </p:sp>
      <p:sp>
        <p:nvSpPr>
          <p:cNvPr id="16" name="object 16"/>
          <p:cNvSpPr txBox="1"/>
          <p:nvPr/>
        </p:nvSpPr>
        <p:spPr>
          <a:xfrm>
            <a:off x="7251189" y="2662166"/>
            <a:ext cx="1344295" cy="2476500"/>
          </a:xfrm>
          <a:prstGeom prst="rect">
            <a:avLst/>
          </a:prstGeom>
        </p:spPr>
        <p:txBody>
          <a:bodyPr vert="horz" wrap="square" lIns="0" tIns="59690" rIns="0" bIns="0" rtlCol="0">
            <a:spAutoFit/>
          </a:bodyPr>
          <a:lstStyle/>
          <a:p>
            <a:pPr marL="12700" marR="72390">
              <a:lnSpc>
                <a:spcPts val="1500"/>
              </a:lnSpc>
              <a:spcBef>
                <a:spcPts val="470"/>
              </a:spcBef>
            </a:pPr>
            <a:r>
              <a:rPr sz="1550" b="1" spc="75" dirty="0">
                <a:solidFill>
                  <a:srgbClr val="333333"/>
                </a:solidFill>
                <a:latin typeface="Arial"/>
                <a:cs typeface="Arial"/>
              </a:rPr>
              <a:t>Work </a:t>
            </a:r>
            <a:r>
              <a:rPr sz="1550" b="1" spc="80" dirty="0">
                <a:solidFill>
                  <a:srgbClr val="333333"/>
                </a:solidFill>
                <a:latin typeface="Arial"/>
                <a:cs typeface="Arial"/>
              </a:rPr>
              <a:t> </a:t>
            </a:r>
            <a:r>
              <a:rPr sz="1550" b="1" spc="10" dirty="0">
                <a:solidFill>
                  <a:srgbClr val="333333"/>
                </a:solidFill>
                <a:latin typeface="Arial"/>
                <a:cs typeface="Arial"/>
              </a:rPr>
              <a:t>V</a:t>
            </a:r>
            <a:r>
              <a:rPr sz="1550" b="1" spc="-55" dirty="0">
                <a:solidFill>
                  <a:srgbClr val="333333"/>
                </a:solidFill>
                <a:latin typeface="Arial"/>
                <a:cs typeface="Arial"/>
              </a:rPr>
              <a:t>i</a:t>
            </a:r>
            <a:r>
              <a:rPr sz="1550" b="1" spc="-30" dirty="0">
                <a:solidFill>
                  <a:srgbClr val="333333"/>
                </a:solidFill>
                <a:latin typeface="Arial"/>
                <a:cs typeface="Arial"/>
              </a:rPr>
              <a:t>s</a:t>
            </a:r>
            <a:r>
              <a:rPr sz="1550" b="1" spc="45" dirty="0">
                <a:solidFill>
                  <a:srgbClr val="333333"/>
                </a:solidFill>
                <a:latin typeface="Arial"/>
                <a:cs typeface="Arial"/>
              </a:rPr>
              <a:t>ua</a:t>
            </a:r>
            <a:r>
              <a:rPr sz="1550" b="1" spc="10" dirty="0">
                <a:solidFill>
                  <a:srgbClr val="333333"/>
                </a:solidFill>
                <a:latin typeface="Arial"/>
                <a:cs typeface="Arial"/>
              </a:rPr>
              <a:t>l</a:t>
            </a:r>
            <a:r>
              <a:rPr sz="1550" b="1" spc="25" dirty="0">
                <a:solidFill>
                  <a:srgbClr val="333333"/>
                </a:solidFill>
                <a:latin typeface="Arial"/>
                <a:cs typeface="Arial"/>
              </a:rPr>
              <a:t>i</a:t>
            </a:r>
            <a:r>
              <a:rPr sz="1550" b="1" spc="-30" dirty="0">
                <a:solidFill>
                  <a:srgbClr val="333333"/>
                </a:solidFill>
                <a:latin typeface="Arial"/>
                <a:cs typeface="Arial"/>
              </a:rPr>
              <a:t>z</a:t>
            </a:r>
            <a:r>
              <a:rPr sz="1550" b="1" spc="40" dirty="0">
                <a:solidFill>
                  <a:srgbClr val="333333"/>
                </a:solidFill>
                <a:latin typeface="Arial"/>
                <a:cs typeface="Arial"/>
              </a:rPr>
              <a:t>a</a:t>
            </a:r>
            <a:r>
              <a:rPr sz="1550" b="1" spc="155" dirty="0">
                <a:solidFill>
                  <a:srgbClr val="333333"/>
                </a:solidFill>
                <a:latin typeface="Arial"/>
                <a:cs typeface="Arial"/>
              </a:rPr>
              <a:t>t</a:t>
            </a:r>
            <a:r>
              <a:rPr sz="1550" b="1" spc="10" dirty="0">
                <a:solidFill>
                  <a:srgbClr val="333333"/>
                </a:solidFill>
                <a:latin typeface="Arial"/>
                <a:cs typeface="Arial"/>
              </a:rPr>
              <a:t>i</a:t>
            </a:r>
            <a:r>
              <a:rPr sz="1550" b="1" spc="-10" dirty="0">
                <a:solidFill>
                  <a:srgbClr val="333333"/>
                </a:solidFill>
                <a:latin typeface="Arial"/>
                <a:cs typeface="Arial"/>
              </a:rPr>
              <a:t>o</a:t>
            </a:r>
            <a:r>
              <a:rPr sz="1550" b="1" spc="105" dirty="0">
                <a:solidFill>
                  <a:srgbClr val="333333"/>
                </a:solidFill>
                <a:latin typeface="Arial"/>
                <a:cs typeface="Arial"/>
              </a:rPr>
              <a:t>n</a:t>
            </a:r>
            <a:endParaRPr sz="1550">
              <a:latin typeface="Arial"/>
              <a:cs typeface="Arial"/>
            </a:endParaRPr>
          </a:p>
          <a:p>
            <a:pPr marL="12700" marR="5080">
              <a:lnSpc>
                <a:spcPct val="111100"/>
              </a:lnSpc>
              <a:spcBef>
                <a:spcPts val="325"/>
              </a:spcBef>
            </a:pPr>
            <a:r>
              <a:rPr sz="900" spc="-30" dirty="0">
                <a:solidFill>
                  <a:srgbClr val="333333"/>
                </a:solidFill>
                <a:latin typeface="Roboto Lt"/>
                <a:cs typeface="Roboto Lt"/>
              </a:rPr>
              <a:t>Today, </a:t>
            </a:r>
            <a:r>
              <a:rPr sz="900" spc="-10" dirty="0">
                <a:solidFill>
                  <a:srgbClr val="333333"/>
                </a:solidFill>
                <a:latin typeface="Roboto Lt"/>
                <a:cs typeface="Roboto Lt"/>
              </a:rPr>
              <a:t>work design </a:t>
            </a:r>
            <a:r>
              <a:rPr sz="900" spc="-15" dirty="0">
                <a:solidFill>
                  <a:srgbClr val="333333"/>
                </a:solidFill>
                <a:latin typeface="Roboto Lt"/>
                <a:cs typeface="Roboto Lt"/>
              </a:rPr>
              <a:t>is </a:t>
            </a:r>
            <a:r>
              <a:rPr sz="900" spc="-10" dirty="0">
                <a:solidFill>
                  <a:srgbClr val="333333"/>
                </a:solidFill>
                <a:latin typeface="Roboto Lt"/>
                <a:cs typeface="Roboto Lt"/>
              </a:rPr>
              <a:t> </a:t>
            </a:r>
            <a:r>
              <a:rPr sz="900" spc="-15" dirty="0">
                <a:solidFill>
                  <a:srgbClr val="333333"/>
                </a:solidFill>
                <a:latin typeface="Roboto Lt"/>
                <a:cs typeface="Roboto Lt"/>
              </a:rPr>
              <a:t>infinitely </a:t>
            </a:r>
            <a:r>
              <a:rPr sz="900" spc="-5" dirty="0">
                <a:solidFill>
                  <a:srgbClr val="333333"/>
                </a:solidFill>
                <a:latin typeface="Roboto Lt"/>
                <a:cs typeface="Roboto Lt"/>
              </a:rPr>
              <a:t>different. The </a:t>
            </a:r>
            <a:r>
              <a:rPr sz="900" dirty="0">
                <a:solidFill>
                  <a:srgbClr val="333333"/>
                </a:solidFill>
                <a:latin typeface="Roboto Lt"/>
                <a:cs typeface="Roboto Lt"/>
              </a:rPr>
              <a:t> </a:t>
            </a:r>
            <a:r>
              <a:rPr sz="900" spc="-30" dirty="0">
                <a:solidFill>
                  <a:srgbClr val="333333"/>
                </a:solidFill>
                <a:latin typeface="Roboto Lt"/>
                <a:cs typeface="Roboto Lt"/>
              </a:rPr>
              <a:t>“one-size-fits-all”</a:t>
            </a:r>
            <a:r>
              <a:rPr sz="900" spc="-20" dirty="0">
                <a:solidFill>
                  <a:srgbClr val="333333"/>
                </a:solidFill>
                <a:latin typeface="Roboto Lt"/>
                <a:cs typeface="Roboto Lt"/>
              </a:rPr>
              <a:t> </a:t>
            </a:r>
            <a:r>
              <a:rPr sz="900" spc="-10" dirty="0">
                <a:solidFill>
                  <a:srgbClr val="333333"/>
                </a:solidFill>
                <a:latin typeface="Roboto Lt"/>
                <a:cs typeface="Roboto Lt"/>
              </a:rPr>
              <a:t>approach </a:t>
            </a:r>
            <a:r>
              <a:rPr sz="900" spc="-204" dirty="0">
                <a:solidFill>
                  <a:srgbClr val="333333"/>
                </a:solidFill>
                <a:latin typeface="Roboto Lt"/>
                <a:cs typeface="Roboto Lt"/>
              </a:rPr>
              <a:t> </a:t>
            </a:r>
            <a:r>
              <a:rPr sz="900" spc="-15" dirty="0">
                <a:solidFill>
                  <a:srgbClr val="333333"/>
                </a:solidFill>
                <a:latin typeface="Roboto Lt"/>
                <a:cs typeface="Roboto Lt"/>
              </a:rPr>
              <a:t>to </a:t>
            </a:r>
            <a:r>
              <a:rPr sz="900" spc="-10" dirty="0">
                <a:solidFill>
                  <a:srgbClr val="333333"/>
                </a:solidFill>
                <a:latin typeface="Roboto Lt"/>
                <a:cs typeface="Roboto Lt"/>
              </a:rPr>
              <a:t>project management </a:t>
            </a:r>
            <a:r>
              <a:rPr sz="900" spc="-5" dirty="0">
                <a:solidFill>
                  <a:srgbClr val="333333"/>
                </a:solidFill>
                <a:latin typeface="Roboto Lt"/>
                <a:cs typeface="Roboto Lt"/>
              </a:rPr>
              <a:t>no </a:t>
            </a:r>
            <a:r>
              <a:rPr sz="900" spc="-204" dirty="0">
                <a:solidFill>
                  <a:srgbClr val="333333"/>
                </a:solidFill>
                <a:latin typeface="Roboto Lt"/>
                <a:cs typeface="Roboto Lt"/>
              </a:rPr>
              <a:t> </a:t>
            </a:r>
            <a:r>
              <a:rPr sz="900" spc="-10" dirty="0">
                <a:solidFill>
                  <a:srgbClr val="333333"/>
                </a:solidFill>
                <a:latin typeface="Roboto Lt"/>
                <a:cs typeface="Roboto Lt"/>
              </a:rPr>
              <a:t>longer works. </a:t>
            </a:r>
            <a:r>
              <a:rPr sz="900" spc="-5" dirty="0">
                <a:solidFill>
                  <a:srgbClr val="333333"/>
                </a:solidFill>
                <a:latin typeface="Roboto Lt"/>
                <a:cs typeface="Roboto Lt"/>
              </a:rPr>
              <a:t>Find a </a:t>
            </a:r>
            <a:r>
              <a:rPr sz="900" spc="-10" dirty="0">
                <a:solidFill>
                  <a:srgbClr val="333333"/>
                </a:solidFill>
                <a:latin typeface="Roboto Lt"/>
                <a:cs typeface="Roboto Lt"/>
              </a:rPr>
              <a:t>tool </a:t>
            </a:r>
            <a:r>
              <a:rPr sz="900" spc="-5" dirty="0">
                <a:solidFill>
                  <a:srgbClr val="333333"/>
                </a:solidFill>
                <a:latin typeface="Roboto Lt"/>
                <a:cs typeface="Roboto Lt"/>
              </a:rPr>
              <a:t> </a:t>
            </a:r>
            <a:r>
              <a:rPr sz="900" spc="-15" dirty="0">
                <a:solidFill>
                  <a:srgbClr val="333333"/>
                </a:solidFill>
                <a:latin typeface="Roboto Lt"/>
                <a:cs typeface="Roboto Lt"/>
              </a:rPr>
              <a:t>that</a:t>
            </a:r>
            <a:r>
              <a:rPr sz="900" spc="-10" dirty="0">
                <a:solidFill>
                  <a:srgbClr val="333333"/>
                </a:solidFill>
                <a:latin typeface="Roboto Lt"/>
                <a:cs typeface="Roboto Lt"/>
              </a:rPr>
              <a:t> includes</a:t>
            </a:r>
            <a:r>
              <a:rPr sz="900" spc="195" dirty="0">
                <a:solidFill>
                  <a:srgbClr val="333333"/>
                </a:solidFill>
                <a:latin typeface="Roboto Lt"/>
                <a:cs typeface="Roboto Lt"/>
              </a:rPr>
              <a:t> </a:t>
            </a:r>
            <a:r>
              <a:rPr sz="900" spc="-10" dirty="0">
                <a:solidFill>
                  <a:srgbClr val="333333"/>
                </a:solidFill>
                <a:latin typeface="Roboto Lt"/>
                <a:cs typeface="Roboto Lt"/>
              </a:rPr>
              <a:t>multiple </a:t>
            </a:r>
            <a:r>
              <a:rPr sz="900" spc="-5" dirty="0">
                <a:solidFill>
                  <a:srgbClr val="333333"/>
                </a:solidFill>
                <a:latin typeface="Roboto Lt"/>
                <a:cs typeface="Roboto Lt"/>
              </a:rPr>
              <a:t> </a:t>
            </a:r>
            <a:r>
              <a:rPr sz="900" spc="-20" dirty="0">
                <a:solidFill>
                  <a:srgbClr val="333333"/>
                </a:solidFill>
                <a:latin typeface="Roboto Lt"/>
                <a:cs typeface="Roboto Lt"/>
              </a:rPr>
              <a:t>ways </a:t>
            </a:r>
            <a:r>
              <a:rPr sz="900" spc="-15" dirty="0">
                <a:solidFill>
                  <a:srgbClr val="333333"/>
                </a:solidFill>
                <a:latin typeface="Roboto Lt"/>
                <a:cs typeface="Roboto Lt"/>
              </a:rPr>
              <a:t>to visualize </a:t>
            </a:r>
            <a:r>
              <a:rPr sz="900" spc="-10" dirty="0">
                <a:solidFill>
                  <a:srgbClr val="333333"/>
                </a:solidFill>
                <a:latin typeface="Roboto Lt"/>
                <a:cs typeface="Roboto Lt"/>
              </a:rPr>
              <a:t>and </a:t>
            </a:r>
            <a:r>
              <a:rPr sz="900" spc="-5" dirty="0">
                <a:solidFill>
                  <a:srgbClr val="333333"/>
                </a:solidFill>
                <a:latin typeface="Roboto Lt"/>
                <a:cs typeface="Roboto Lt"/>
              </a:rPr>
              <a:t> </a:t>
            </a:r>
            <a:r>
              <a:rPr sz="900" spc="-10" dirty="0">
                <a:solidFill>
                  <a:srgbClr val="333333"/>
                </a:solidFill>
                <a:latin typeface="Roboto Lt"/>
                <a:cs typeface="Roboto Lt"/>
              </a:rPr>
              <a:t>manage </a:t>
            </a:r>
            <a:r>
              <a:rPr sz="900" spc="-15" dirty="0">
                <a:solidFill>
                  <a:srgbClr val="333333"/>
                </a:solidFill>
                <a:latin typeface="Roboto Lt"/>
                <a:cs typeface="Roboto Lt"/>
              </a:rPr>
              <a:t>your </a:t>
            </a:r>
            <a:r>
              <a:rPr sz="900" spc="-10" dirty="0">
                <a:solidFill>
                  <a:srgbClr val="333333"/>
                </a:solidFill>
                <a:latin typeface="Roboto Lt"/>
                <a:cs typeface="Roboto Lt"/>
              </a:rPr>
              <a:t>work </a:t>
            </a:r>
            <a:r>
              <a:rPr sz="900" spc="-125" dirty="0">
                <a:solidFill>
                  <a:srgbClr val="333333"/>
                </a:solidFill>
                <a:latin typeface="Roboto Lt"/>
                <a:cs typeface="Roboto Lt"/>
              </a:rPr>
              <a:t>- </a:t>
            </a:r>
            <a:r>
              <a:rPr sz="900" spc="-120" dirty="0">
                <a:solidFill>
                  <a:srgbClr val="333333"/>
                </a:solidFill>
                <a:latin typeface="Roboto Lt"/>
                <a:cs typeface="Roboto Lt"/>
              </a:rPr>
              <a:t> </a:t>
            </a:r>
            <a:r>
              <a:rPr sz="900" spc="-10" dirty="0">
                <a:solidFill>
                  <a:srgbClr val="333333"/>
                </a:solidFill>
                <a:latin typeface="Roboto Lt"/>
                <a:cs typeface="Roboto Lt"/>
              </a:rPr>
              <a:t>whether </a:t>
            </a:r>
            <a:r>
              <a:rPr sz="900" spc="-5" dirty="0">
                <a:solidFill>
                  <a:srgbClr val="333333"/>
                </a:solidFill>
                <a:latin typeface="Roboto Lt"/>
                <a:cs typeface="Roboto Lt"/>
              </a:rPr>
              <a:t>it be </a:t>
            </a:r>
            <a:r>
              <a:rPr sz="900" spc="-10" dirty="0">
                <a:solidFill>
                  <a:srgbClr val="333333"/>
                </a:solidFill>
                <a:latin typeface="Roboto Lt"/>
                <a:cs typeface="Roboto Lt"/>
              </a:rPr>
              <a:t>waterfall </a:t>
            </a:r>
            <a:r>
              <a:rPr sz="900" spc="-5" dirty="0">
                <a:solidFill>
                  <a:srgbClr val="333333"/>
                </a:solidFill>
                <a:latin typeface="Roboto Lt"/>
                <a:cs typeface="Roboto Lt"/>
              </a:rPr>
              <a:t>or </a:t>
            </a:r>
            <a:r>
              <a:rPr sz="900" dirty="0">
                <a:solidFill>
                  <a:srgbClr val="333333"/>
                </a:solidFill>
                <a:latin typeface="Roboto Lt"/>
                <a:cs typeface="Roboto Lt"/>
              </a:rPr>
              <a:t> </a:t>
            </a:r>
            <a:r>
              <a:rPr sz="900" spc="-15" dirty="0">
                <a:solidFill>
                  <a:srgbClr val="333333"/>
                </a:solidFill>
                <a:latin typeface="Roboto Lt"/>
                <a:cs typeface="Roboto Lt"/>
              </a:rPr>
              <a:t>agi</a:t>
            </a:r>
            <a:r>
              <a:rPr sz="900" spc="-10" dirty="0">
                <a:solidFill>
                  <a:srgbClr val="333333"/>
                </a:solidFill>
                <a:latin typeface="Roboto Lt"/>
                <a:cs typeface="Roboto Lt"/>
              </a:rPr>
              <a:t>l</a:t>
            </a:r>
            <a:r>
              <a:rPr sz="900" dirty="0">
                <a:solidFill>
                  <a:srgbClr val="333333"/>
                </a:solidFill>
                <a:latin typeface="Roboto Lt"/>
                <a:cs typeface="Roboto Lt"/>
              </a:rPr>
              <a:t>e</a:t>
            </a:r>
            <a:r>
              <a:rPr sz="900" spc="-20" dirty="0">
                <a:solidFill>
                  <a:srgbClr val="333333"/>
                </a:solidFill>
                <a:latin typeface="Roboto Lt"/>
                <a:cs typeface="Roboto Lt"/>
              </a:rPr>
              <a:t> </a:t>
            </a:r>
            <a:r>
              <a:rPr sz="900" spc="-125" dirty="0">
                <a:solidFill>
                  <a:srgbClr val="333333"/>
                </a:solidFill>
                <a:latin typeface="Roboto Lt"/>
                <a:cs typeface="Roboto Lt"/>
              </a:rPr>
              <a:t>-</a:t>
            </a:r>
            <a:r>
              <a:rPr sz="900" spc="-20" dirty="0">
                <a:solidFill>
                  <a:srgbClr val="333333"/>
                </a:solidFill>
                <a:latin typeface="Roboto Lt"/>
                <a:cs typeface="Roboto Lt"/>
              </a:rPr>
              <a:t> </a:t>
            </a:r>
            <a:r>
              <a:rPr sz="900" spc="-15" dirty="0">
                <a:solidFill>
                  <a:srgbClr val="333333"/>
                </a:solidFill>
                <a:latin typeface="Roboto Lt"/>
                <a:cs typeface="Roboto Lt"/>
              </a:rPr>
              <a:t>w</a:t>
            </a:r>
            <a:r>
              <a:rPr sz="900" spc="-5" dirty="0">
                <a:solidFill>
                  <a:srgbClr val="333333"/>
                </a:solidFill>
                <a:latin typeface="Roboto Lt"/>
                <a:cs typeface="Roboto Lt"/>
              </a:rPr>
              <a:t>i</a:t>
            </a:r>
            <a:r>
              <a:rPr sz="900" spc="-15" dirty="0">
                <a:solidFill>
                  <a:srgbClr val="333333"/>
                </a:solidFill>
                <a:latin typeface="Roboto Lt"/>
                <a:cs typeface="Roboto Lt"/>
              </a:rPr>
              <a:t>t</a:t>
            </a:r>
            <a:r>
              <a:rPr sz="900" spc="-10" dirty="0">
                <a:solidFill>
                  <a:srgbClr val="333333"/>
                </a:solidFill>
                <a:latin typeface="Roboto Lt"/>
                <a:cs typeface="Roboto Lt"/>
              </a:rPr>
              <a:t>h</a:t>
            </a:r>
            <a:r>
              <a:rPr sz="900" spc="-20" dirty="0">
                <a:solidFill>
                  <a:srgbClr val="333333"/>
                </a:solidFill>
                <a:latin typeface="Roboto Lt"/>
                <a:cs typeface="Roboto Lt"/>
              </a:rPr>
              <a:t> </a:t>
            </a:r>
            <a:r>
              <a:rPr sz="900" spc="-10" dirty="0">
                <a:solidFill>
                  <a:srgbClr val="333333"/>
                </a:solidFill>
                <a:latin typeface="Roboto Lt"/>
                <a:cs typeface="Roboto Lt"/>
              </a:rPr>
              <a:t>G</a:t>
            </a:r>
            <a:r>
              <a:rPr sz="900" spc="-15" dirty="0">
                <a:solidFill>
                  <a:srgbClr val="333333"/>
                </a:solidFill>
                <a:latin typeface="Roboto Lt"/>
                <a:cs typeface="Roboto Lt"/>
              </a:rPr>
              <a:t>a</a:t>
            </a:r>
            <a:r>
              <a:rPr sz="900" spc="-20" dirty="0">
                <a:solidFill>
                  <a:srgbClr val="333333"/>
                </a:solidFill>
                <a:latin typeface="Roboto Lt"/>
                <a:cs typeface="Roboto Lt"/>
              </a:rPr>
              <a:t>n</a:t>
            </a:r>
            <a:r>
              <a:rPr sz="900" spc="10" dirty="0">
                <a:solidFill>
                  <a:srgbClr val="333333"/>
                </a:solidFill>
                <a:latin typeface="Roboto Lt"/>
                <a:cs typeface="Roboto Lt"/>
              </a:rPr>
              <a:t>t</a:t>
            </a:r>
            <a:r>
              <a:rPr sz="900" spc="-5" dirty="0">
                <a:solidFill>
                  <a:srgbClr val="333333"/>
                </a:solidFill>
                <a:latin typeface="Roboto Lt"/>
                <a:cs typeface="Roboto Lt"/>
              </a:rPr>
              <a:t>t</a:t>
            </a:r>
            <a:r>
              <a:rPr sz="900" spc="-20" dirty="0">
                <a:solidFill>
                  <a:srgbClr val="333333"/>
                </a:solidFill>
                <a:latin typeface="Roboto Lt"/>
                <a:cs typeface="Roboto Lt"/>
              </a:rPr>
              <a:t> </a:t>
            </a:r>
            <a:r>
              <a:rPr sz="900" dirty="0">
                <a:solidFill>
                  <a:srgbClr val="333333"/>
                </a:solidFill>
                <a:latin typeface="Roboto Lt"/>
                <a:cs typeface="Roboto Lt"/>
              </a:rPr>
              <a:t>c</a:t>
            </a:r>
            <a:r>
              <a:rPr sz="900" spc="-20" dirty="0">
                <a:solidFill>
                  <a:srgbClr val="333333"/>
                </a:solidFill>
                <a:latin typeface="Roboto Lt"/>
                <a:cs typeface="Roboto Lt"/>
              </a:rPr>
              <a:t>h</a:t>
            </a:r>
            <a:r>
              <a:rPr sz="900" spc="-15" dirty="0">
                <a:solidFill>
                  <a:srgbClr val="333333"/>
                </a:solidFill>
                <a:latin typeface="Roboto Lt"/>
                <a:cs typeface="Roboto Lt"/>
              </a:rPr>
              <a:t>a</a:t>
            </a:r>
            <a:r>
              <a:rPr sz="900" spc="20" dirty="0">
                <a:solidFill>
                  <a:srgbClr val="333333"/>
                </a:solidFill>
                <a:latin typeface="Roboto Lt"/>
                <a:cs typeface="Roboto Lt"/>
              </a:rPr>
              <a:t>r</a:t>
            </a:r>
            <a:r>
              <a:rPr sz="900" spc="-20" dirty="0">
                <a:solidFill>
                  <a:srgbClr val="333333"/>
                </a:solidFill>
                <a:latin typeface="Roboto Lt"/>
                <a:cs typeface="Roboto Lt"/>
              </a:rPr>
              <a:t>t</a:t>
            </a:r>
            <a:r>
              <a:rPr sz="900" spc="-5" dirty="0">
                <a:solidFill>
                  <a:srgbClr val="333333"/>
                </a:solidFill>
                <a:latin typeface="Roboto Lt"/>
                <a:cs typeface="Roboto Lt"/>
              </a:rPr>
              <a:t>s</a:t>
            </a:r>
            <a:r>
              <a:rPr sz="900" dirty="0">
                <a:solidFill>
                  <a:srgbClr val="333333"/>
                </a:solidFill>
                <a:latin typeface="Roboto Lt"/>
                <a:cs typeface="Roboto Lt"/>
              </a:rPr>
              <a:t>,  </a:t>
            </a:r>
            <a:r>
              <a:rPr sz="900" spc="-10" dirty="0">
                <a:solidFill>
                  <a:srgbClr val="333333"/>
                </a:solidFill>
                <a:latin typeface="Roboto Lt"/>
                <a:cs typeface="Roboto Lt"/>
              </a:rPr>
              <a:t>spreadsheet, kanban </a:t>
            </a:r>
            <a:r>
              <a:rPr sz="900" spc="-5" dirty="0">
                <a:solidFill>
                  <a:srgbClr val="333333"/>
                </a:solidFill>
                <a:latin typeface="Roboto Lt"/>
                <a:cs typeface="Roboto Lt"/>
              </a:rPr>
              <a:t> </a:t>
            </a:r>
            <a:r>
              <a:rPr sz="900" spc="-10" dirty="0">
                <a:solidFill>
                  <a:srgbClr val="333333"/>
                </a:solidFill>
                <a:latin typeface="Roboto Lt"/>
                <a:cs typeface="Roboto Lt"/>
              </a:rPr>
              <a:t>boards, calendars, </a:t>
            </a:r>
            <a:r>
              <a:rPr sz="900" spc="-5" dirty="0">
                <a:solidFill>
                  <a:srgbClr val="333333"/>
                </a:solidFill>
                <a:latin typeface="Roboto Lt"/>
                <a:cs typeface="Roboto Lt"/>
              </a:rPr>
              <a:t>reports, </a:t>
            </a:r>
            <a:r>
              <a:rPr sz="900" spc="-204" dirty="0">
                <a:solidFill>
                  <a:srgbClr val="333333"/>
                </a:solidFill>
                <a:latin typeface="Roboto Lt"/>
                <a:cs typeface="Roboto Lt"/>
              </a:rPr>
              <a:t> </a:t>
            </a:r>
            <a:r>
              <a:rPr sz="900" spc="-10" dirty="0">
                <a:solidFill>
                  <a:srgbClr val="333333"/>
                </a:solidFill>
                <a:latin typeface="Roboto Lt"/>
                <a:cs typeface="Roboto Lt"/>
              </a:rPr>
              <a:t>and</a:t>
            </a:r>
            <a:r>
              <a:rPr sz="900" spc="-25" dirty="0">
                <a:solidFill>
                  <a:srgbClr val="333333"/>
                </a:solidFill>
                <a:latin typeface="Roboto Lt"/>
                <a:cs typeface="Roboto Lt"/>
              </a:rPr>
              <a:t> </a:t>
            </a:r>
            <a:r>
              <a:rPr sz="900" spc="-10" dirty="0">
                <a:solidFill>
                  <a:srgbClr val="333333"/>
                </a:solidFill>
                <a:latin typeface="Roboto Lt"/>
                <a:cs typeface="Roboto Lt"/>
              </a:rPr>
              <a:t>dashboards.</a:t>
            </a:r>
            <a:endParaRPr sz="900">
              <a:latin typeface="Roboto Lt"/>
              <a:cs typeface="Roboto Lt"/>
            </a:endParaRPr>
          </a:p>
        </p:txBody>
      </p:sp>
      <p:grpSp>
        <p:nvGrpSpPr>
          <p:cNvPr id="17" name="object 17"/>
          <p:cNvGrpSpPr/>
          <p:nvPr/>
        </p:nvGrpSpPr>
        <p:grpSpPr>
          <a:xfrm>
            <a:off x="588515" y="2111263"/>
            <a:ext cx="7166609" cy="431800"/>
            <a:chOff x="588515" y="2111263"/>
            <a:chExt cx="7166609" cy="431800"/>
          </a:xfrm>
        </p:grpSpPr>
        <p:sp>
          <p:nvSpPr>
            <p:cNvPr id="18" name="object 18"/>
            <p:cNvSpPr/>
            <p:nvPr/>
          </p:nvSpPr>
          <p:spPr>
            <a:xfrm>
              <a:off x="588515" y="2111263"/>
              <a:ext cx="432434" cy="431800"/>
            </a:xfrm>
            <a:custGeom>
              <a:avLst/>
              <a:gdLst/>
              <a:ahLst/>
              <a:cxnLst/>
              <a:rect l="l" t="t" r="r" b="b"/>
              <a:pathLst>
                <a:path w="432434" h="431800">
                  <a:moveTo>
                    <a:pt x="8763" y="0"/>
                  </a:moveTo>
                  <a:lnTo>
                    <a:pt x="7213" y="0"/>
                  </a:lnTo>
                  <a:lnTo>
                    <a:pt x="1981" y="1714"/>
                  </a:lnTo>
                  <a:lnTo>
                    <a:pt x="0" y="5702"/>
                  </a:lnTo>
                  <a:lnTo>
                    <a:pt x="140589" y="425615"/>
                  </a:lnTo>
                  <a:lnTo>
                    <a:pt x="141147" y="427240"/>
                  </a:lnTo>
                  <a:lnTo>
                    <a:pt x="142303" y="428701"/>
                  </a:lnTo>
                  <a:lnTo>
                    <a:pt x="143941" y="429564"/>
                  </a:lnTo>
                  <a:lnTo>
                    <a:pt x="147320" y="431406"/>
                  </a:lnTo>
                  <a:lnTo>
                    <a:pt x="151612" y="430161"/>
                  </a:lnTo>
                  <a:lnTo>
                    <a:pt x="153466" y="426720"/>
                  </a:lnTo>
                  <a:lnTo>
                    <a:pt x="164897" y="405701"/>
                  </a:lnTo>
                  <a:lnTo>
                    <a:pt x="148831" y="405701"/>
                  </a:lnTo>
                  <a:lnTo>
                    <a:pt x="19062" y="18364"/>
                  </a:lnTo>
                  <a:lnTo>
                    <a:pt x="63264" y="18364"/>
                  </a:lnTo>
                  <a:lnTo>
                    <a:pt x="10083" y="508"/>
                  </a:lnTo>
                  <a:lnTo>
                    <a:pt x="8763" y="0"/>
                  </a:lnTo>
                  <a:close/>
                </a:path>
                <a:path w="432434" h="431800">
                  <a:moveTo>
                    <a:pt x="246149" y="293141"/>
                  </a:moveTo>
                  <a:lnTo>
                    <a:pt x="226110" y="293141"/>
                  </a:lnTo>
                  <a:lnTo>
                    <a:pt x="341820" y="408914"/>
                  </a:lnTo>
                  <a:lnTo>
                    <a:pt x="346265" y="408914"/>
                  </a:lnTo>
                  <a:lnTo>
                    <a:pt x="349059" y="406209"/>
                  </a:lnTo>
                  <a:lnTo>
                    <a:pt x="364125" y="391160"/>
                  </a:lnTo>
                  <a:lnTo>
                    <a:pt x="344081" y="391160"/>
                  </a:lnTo>
                  <a:lnTo>
                    <a:pt x="246149" y="293141"/>
                  </a:lnTo>
                  <a:close/>
                </a:path>
                <a:path w="432434" h="431800">
                  <a:moveTo>
                    <a:pt x="226669" y="273697"/>
                  </a:moveTo>
                  <a:lnTo>
                    <a:pt x="222250" y="273697"/>
                  </a:lnTo>
                  <a:lnTo>
                    <a:pt x="219456" y="276440"/>
                  </a:lnTo>
                  <a:lnTo>
                    <a:pt x="218909" y="276999"/>
                  </a:lnTo>
                  <a:lnTo>
                    <a:pt x="218427" y="277596"/>
                  </a:lnTo>
                  <a:lnTo>
                    <a:pt x="218135" y="278333"/>
                  </a:lnTo>
                  <a:lnTo>
                    <a:pt x="148831" y="405701"/>
                  </a:lnTo>
                  <a:lnTo>
                    <a:pt x="164897" y="405701"/>
                  </a:lnTo>
                  <a:lnTo>
                    <a:pt x="226110" y="293141"/>
                  </a:lnTo>
                  <a:lnTo>
                    <a:pt x="246149" y="293141"/>
                  </a:lnTo>
                  <a:lnTo>
                    <a:pt x="229463" y="276440"/>
                  </a:lnTo>
                  <a:lnTo>
                    <a:pt x="226669" y="273697"/>
                  </a:lnTo>
                  <a:close/>
                </a:path>
                <a:path w="432434" h="431800">
                  <a:moveTo>
                    <a:pt x="63264" y="18364"/>
                  </a:moveTo>
                  <a:lnTo>
                    <a:pt x="19062" y="18364"/>
                  </a:lnTo>
                  <a:lnTo>
                    <a:pt x="406349" y="148475"/>
                  </a:lnTo>
                  <a:lnTo>
                    <a:pt x="278638" y="217741"/>
                  </a:lnTo>
                  <a:lnTo>
                    <a:pt x="275170" y="219583"/>
                  </a:lnTo>
                  <a:lnTo>
                    <a:pt x="273926" y="223875"/>
                  </a:lnTo>
                  <a:lnTo>
                    <a:pt x="276199" y="228079"/>
                  </a:lnTo>
                  <a:lnTo>
                    <a:pt x="276758" y="228765"/>
                  </a:lnTo>
                  <a:lnTo>
                    <a:pt x="277355" y="229323"/>
                  </a:lnTo>
                  <a:lnTo>
                    <a:pt x="391680" y="343649"/>
                  </a:lnTo>
                  <a:lnTo>
                    <a:pt x="344081" y="391160"/>
                  </a:lnTo>
                  <a:lnTo>
                    <a:pt x="364125" y="391160"/>
                  </a:lnTo>
                  <a:lnTo>
                    <a:pt x="406615" y="348716"/>
                  </a:lnTo>
                  <a:lnTo>
                    <a:pt x="409359" y="345922"/>
                  </a:lnTo>
                  <a:lnTo>
                    <a:pt x="409359" y="341503"/>
                  </a:lnTo>
                  <a:lnTo>
                    <a:pt x="406654" y="338709"/>
                  </a:lnTo>
                  <a:lnTo>
                    <a:pt x="293712" y="225640"/>
                  </a:lnTo>
                  <a:lnTo>
                    <a:pt x="427329" y="153073"/>
                  </a:lnTo>
                  <a:lnTo>
                    <a:pt x="428879" y="152298"/>
                  </a:lnTo>
                  <a:lnTo>
                    <a:pt x="430123" y="150926"/>
                  </a:lnTo>
                  <a:lnTo>
                    <a:pt x="430682" y="149161"/>
                  </a:lnTo>
                  <a:lnTo>
                    <a:pt x="431927" y="145427"/>
                  </a:lnTo>
                  <a:lnTo>
                    <a:pt x="429958" y="141439"/>
                  </a:lnTo>
                  <a:lnTo>
                    <a:pt x="426224" y="140233"/>
                  </a:lnTo>
                  <a:lnTo>
                    <a:pt x="63264" y="18364"/>
                  </a:lnTo>
                  <a:close/>
                </a:path>
              </a:pathLst>
            </a:custGeom>
            <a:solidFill>
              <a:srgbClr val="00BC31"/>
            </a:solidFill>
          </p:spPr>
          <p:txBody>
            <a:bodyPr wrap="square" lIns="0" tIns="0" rIns="0" bIns="0" rtlCol="0"/>
            <a:lstStyle/>
            <a:p>
              <a:endParaRPr/>
            </a:p>
          </p:txBody>
        </p:sp>
        <p:pic>
          <p:nvPicPr>
            <p:cNvPr id="19" name="object 19"/>
            <p:cNvPicPr/>
            <p:nvPr/>
          </p:nvPicPr>
          <p:blipFill>
            <a:blip r:embed="rId2" cstate="print"/>
            <a:stretch>
              <a:fillRect/>
            </a:stretch>
          </p:blipFill>
          <p:spPr>
            <a:xfrm>
              <a:off x="2257774" y="2306358"/>
              <a:ext cx="134467" cy="147905"/>
            </a:xfrm>
            <a:prstGeom prst="rect">
              <a:avLst/>
            </a:prstGeom>
          </p:spPr>
        </p:pic>
        <p:sp>
          <p:nvSpPr>
            <p:cNvPr id="20" name="object 20"/>
            <p:cNvSpPr/>
            <p:nvPr/>
          </p:nvSpPr>
          <p:spPr>
            <a:xfrm>
              <a:off x="2230891" y="2279456"/>
              <a:ext cx="188595" cy="255904"/>
            </a:xfrm>
            <a:custGeom>
              <a:avLst/>
              <a:gdLst/>
              <a:ahLst/>
              <a:cxnLst/>
              <a:rect l="l" t="t" r="r" b="b"/>
              <a:pathLst>
                <a:path w="188594" h="255905">
                  <a:moveTo>
                    <a:pt x="168071" y="0"/>
                  </a:moveTo>
                  <a:lnTo>
                    <a:pt x="20167" y="0"/>
                  </a:lnTo>
                  <a:lnTo>
                    <a:pt x="12322" y="1586"/>
                  </a:lnTo>
                  <a:lnTo>
                    <a:pt x="5911" y="5911"/>
                  </a:lnTo>
                  <a:lnTo>
                    <a:pt x="1586" y="12322"/>
                  </a:lnTo>
                  <a:lnTo>
                    <a:pt x="0" y="20167"/>
                  </a:lnTo>
                  <a:lnTo>
                    <a:pt x="0" y="181533"/>
                  </a:lnTo>
                  <a:lnTo>
                    <a:pt x="1586" y="189373"/>
                  </a:lnTo>
                  <a:lnTo>
                    <a:pt x="5911" y="195784"/>
                  </a:lnTo>
                  <a:lnTo>
                    <a:pt x="12322" y="200112"/>
                  </a:lnTo>
                  <a:lnTo>
                    <a:pt x="20167" y="201701"/>
                  </a:lnTo>
                  <a:lnTo>
                    <a:pt x="52197" y="201701"/>
                  </a:lnTo>
                  <a:lnTo>
                    <a:pt x="159308" y="255257"/>
                  </a:lnTo>
                  <a:lnTo>
                    <a:pt x="160324" y="255485"/>
                  </a:lnTo>
                  <a:lnTo>
                    <a:pt x="163093" y="255485"/>
                  </a:lnTo>
                  <a:lnTo>
                    <a:pt x="164807" y="254812"/>
                  </a:lnTo>
                  <a:lnTo>
                    <a:pt x="168160" y="251472"/>
                  </a:lnTo>
                  <a:lnTo>
                    <a:pt x="168656" y="248348"/>
                  </a:lnTo>
                  <a:lnTo>
                    <a:pt x="161349" y="233730"/>
                  </a:lnTo>
                  <a:lnTo>
                    <a:pt x="146316" y="233730"/>
                  </a:lnTo>
                  <a:lnTo>
                    <a:pt x="55854" y="188493"/>
                  </a:lnTo>
                  <a:lnTo>
                    <a:pt x="54825" y="188252"/>
                  </a:lnTo>
                  <a:lnTo>
                    <a:pt x="16459" y="188252"/>
                  </a:lnTo>
                  <a:lnTo>
                    <a:pt x="13436" y="185242"/>
                  </a:lnTo>
                  <a:lnTo>
                    <a:pt x="13436" y="16459"/>
                  </a:lnTo>
                  <a:lnTo>
                    <a:pt x="16459" y="13449"/>
                  </a:lnTo>
                  <a:lnTo>
                    <a:pt x="186891" y="13449"/>
                  </a:lnTo>
                  <a:lnTo>
                    <a:pt x="186663" y="12322"/>
                  </a:lnTo>
                  <a:lnTo>
                    <a:pt x="182333" y="5911"/>
                  </a:lnTo>
                  <a:lnTo>
                    <a:pt x="175918" y="1586"/>
                  </a:lnTo>
                  <a:lnTo>
                    <a:pt x="168071" y="0"/>
                  </a:lnTo>
                  <a:close/>
                </a:path>
                <a:path w="188594" h="255905">
                  <a:moveTo>
                    <a:pt x="186891" y="13449"/>
                  </a:moveTo>
                  <a:lnTo>
                    <a:pt x="171792" y="13449"/>
                  </a:lnTo>
                  <a:lnTo>
                    <a:pt x="174802" y="16459"/>
                  </a:lnTo>
                  <a:lnTo>
                    <a:pt x="174802" y="185242"/>
                  </a:lnTo>
                  <a:lnTo>
                    <a:pt x="171792" y="188252"/>
                  </a:lnTo>
                  <a:lnTo>
                    <a:pt x="132130" y="188252"/>
                  </a:lnTo>
                  <a:lnTo>
                    <a:pt x="129971" y="189458"/>
                  </a:lnTo>
                  <a:lnTo>
                    <a:pt x="127508" y="193421"/>
                  </a:lnTo>
                  <a:lnTo>
                    <a:pt x="127406" y="195897"/>
                  </a:lnTo>
                  <a:lnTo>
                    <a:pt x="146316" y="233730"/>
                  </a:lnTo>
                  <a:lnTo>
                    <a:pt x="161349" y="233730"/>
                  </a:lnTo>
                  <a:lnTo>
                    <a:pt x="145338" y="201701"/>
                  </a:lnTo>
                  <a:lnTo>
                    <a:pt x="168071" y="201701"/>
                  </a:lnTo>
                  <a:lnTo>
                    <a:pt x="175918" y="200112"/>
                  </a:lnTo>
                  <a:lnTo>
                    <a:pt x="182333" y="195784"/>
                  </a:lnTo>
                  <a:lnTo>
                    <a:pt x="186663" y="189373"/>
                  </a:lnTo>
                  <a:lnTo>
                    <a:pt x="188252" y="181533"/>
                  </a:lnTo>
                  <a:lnTo>
                    <a:pt x="188252" y="20167"/>
                  </a:lnTo>
                  <a:lnTo>
                    <a:pt x="186891" y="13449"/>
                  </a:lnTo>
                  <a:close/>
                </a:path>
              </a:pathLst>
            </a:custGeom>
            <a:solidFill>
              <a:srgbClr val="00BC31"/>
            </a:solidFill>
          </p:spPr>
          <p:txBody>
            <a:bodyPr wrap="square" lIns="0" tIns="0" rIns="0" bIns="0" rtlCol="0"/>
            <a:lstStyle/>
            <a:p>
              <a:endParaRPr/>
            </a:p>
          </p:txBody>
        </p:sp>
        <p:pic>
          <p:nvPicPr>
            <p:cNvPr id="21" name="object 21"/>
            <p:cNvPicPr/>
            <p:nvPr/>
          </p:nvPicPr>
          <p:blipFill>
            <a:blip r:embed="rId3" cstate="print"/>
            <a:stretch>
              <a:fillRect/>
            </a:stretch>
          </p:blipFill>
          <p:spPr>
            <a:xfrm>
              <a:off x="2499812" y="2239125"/>
              <a:ext cx="134467" cy="147905"/>
            </a:xfrm>
            <a:prstGeom prst="rect">
              <a:avLst/>
            </a:prstGeom>
          </p:spPr>
        </p:pic>
        <p:sp>
          <p:nvSpPr>
            <p:cNvPr id="22" name="object 22"/>
            <p:cNvSpPr/>
            <p:nvPr/>
          </p:nvSpPr>
          <p:spPr>
            <a:xfrm>
              <a:off x="2472918" y="2212224"/>
              <a:ext cx="188595" cy="255904"/>
            </a:xfrm>
            <a:custGeom>
              <a:avLst/>
              <a:gdLst/>
              <a:ahLst/>
              <a:cxnLst/>
              <a:rect l="l" t="t" r="r" b="b"/>
              <a:pathLst>
                <a:path w="188594" h="255905">
                  <a:moveTo>
                    <a:pt x="168084" y="0"/>
                  </a:moveTo>
                  <a:lnTo>
                    <a:pt x="53797" y="0"/>
                  </a:lnTo>
                  <a:lnTo>
                    <a:pt x="53797" y="13449"/>
                  </a:lnTo>
                  <a:lnTo>
                    <a:pt x="171792" y="13449"/>
                  </a:lnTo>
                  <a:lnTo>
                    <a:pt x="174815" y="16459"/>
                  </a:lnTo>
                  <a:lnTo>
                    <a:pt x="174815" y="185242"/>
                  </a:lnTo>
                  <a:lnTo>
                    <a:pt x="171792" y="188252"/>
                  </a:lnTo>
                  <a:lnTo>
                    <a:pt x="134467" y="188252"/>
                  </a:lnTo>
                  <a:lnTo>
                    <a:pt x="132397" y="188493"/>
                  </a:lnTo>
                  <a:lnTo>
                    <a:pt x="41935" y="233730"/>
                  </a:lnTo>
                  <a:lnTo>
                    <a:pt x="60845" y="195897"/>
                  </a:lnTo>
                  <a:lnTo>
                    <a:pt x="60744" y="193421"/>
                  </a:lnTo>
                  <a:lnTo>
                    <a:pt x="58280" y="189458"/>
                  </a:lnTo>
                  <a:lnTo>
                    <a:pt x="56121" y="188252"/>
                  </a:lnTo>
                  <a:lnTo>
                    <a:pt x="16459" y="188252"/>
                  </a:lnTo>
                  <a:lnTo>
                    <a:pt x="13449" y="185242"/>
                  </a:lnTo>
                  <a:lnTo>
                    <a:pt x="13449" y="121018"/>
                  </a:lnTo>
                  <a:lnTo>
                    <a:pt x="0" y="121018"/>
                  </a:lnTo>
                  <a:lnTo>
                    <a:pt x="0" y="181533"/>
                  </a:lnTo>
                  <a:lnTo>
                    <a:pt x="1588" y="189373"/>
                  </a:lnTo>
                  <a:lnTo>
                    <a:pt x="5918" y="195784"/>
                  </a:lnTo>
                  <a:lnTo>
                    <a:pt x="12333" y="200112"/>
                  </a:lnTo>
                  <a:lnTo>
                    <a:pt x="20180" y="201701"/>
                  </a:lnTo>
                  <a:lnTo>
                    <a:pt x="42913" y="201701"/>
                  </a:lnTo>
                  <a:lnTo>
                    <a:pt x="19596" y="248348"/>
                  </a:lnTo>
                  <a:lnTo>
                    <a:pt x="20091" y="251472"/>
                  </a:lnTo>
                  <a:lnTo>
                    <a:pt x="23444" y="254812"/>
                  </a:lnTo>
                  <a:lnTo>
                    <a:pt x="25158" y="255485"/>
                  </a:lnTo>
                  <a:lnTo>
                    <a:pt x="26898" y="255485"/>
                  </a:lnTo>
                  <a:lnTo>
                    <a:pt x="28943" y="255257"/>
                  </a:lnTo>
                  <a:lnTo>
                    <a:pt x="136055" y="201701"/>
                  </a:lnTo>
                  <a:lnTo>
                    <a:pt x="168084" y="201701"/>
                  </a:lnTo>
                  <a:lnTo>
                    <a:pt x="175929" y="200112"/>
                  </a:lnTo>
                  <a:lnTo>
                    <a:pt x="182340" y="195784"/>
                  </a:lnTo>
                  <a:lnTo>
                    <a:pt x="186665" y="189373"/>
                  </a:lnTo>
                  <a:lnTo>
                    <a:pt x="188252" y="181533"/>
                  </a:lnTo>
                  <a:lnTo>
                    <a:pt x="188252" y="20167"/>
                  </a:lnTo>
                  <a:lnTo>
                    <a:pt x="186665" y="12328"/>
                  </a:lnTo>
                  <a:lnTo>
                    <a:pt x="182340" y="5916"/>
                  </a:lnTo>
                  <a:lnTo>
                    <a:pt x="175929" y="1588"/>
                  </a:lnTo>
                  <a:lnTo>
                    <a:pt x="168084" y="0"/>
                  </a:lnTo>
                  <a:close/>
                </a:path>
              </a:pathLst>
            </a:custGeom>
            <a:solidFill>
              <a:srgbClr val="00BC31"/>
            </a:solidFill>
          </p:spPr>
          <p:txBody>
            <a:bodyPr wrap="square" lIns="0" tIns="0" rIns="0" bIns="0" rtlCol="0"/>
            <a:lstStyle/>
            <a:p>
              <a:endParaRPr/>
            </a:p>
          </p:txBody>
        </p:sp>
        <p:pic>
          <p:nvPicPr>
            <p:cNvPr id="23" name="object 23"/>
            <p:cNvPicPr/>
            <p:nvPr/>
          </p:nvPicPr>
          <p:blipFill>
            <a:blip r:embed="rId4" cstate="print"/>
            <a:stretch>
              <a:fillRect/>
            </a:stretch>
          </p:blipFill>
          <p:spPr>
            <a:xfrm>
              <a:off x="2325014" y="2118098"/>
              <a:ext cx="188252" cy="239052"/>
            </a:xfrm>
            <a:prstGeom prst="rect">
              <a:avLst/>
            </a:prstGeom>
          </p:spPr>
        </p:pic>
        <p:sp>
          <p:nvSpPr>
            <p:cNvPr id="24" name="object 24"/>
            <p:cNvSpPr/>
            <p:nvPr/>
          </p:nvSpPr>
          <p:spPr>
            <a:xfrm>
              <a:off x="2439301" y="2111374"/>
              <a:ext cx="5316220" cy="430530"/>
            </a:xfrm>
            <a:custGeom>
              <a:avLst/>
              <a:gdLst/>
              <a:ahLst/>
              <a:cxnLst/>
              <a:rect l="l" t="t" r="r" b="b"/>
              <a:pathLst>
                <a:path w="5316220" h="430530">
                  <a:moveTo>
                    <a:pt x="13449" y="383222"/>
                  </a:moveTo>
                  <a:lnTo>
                    <a:pt x="0" y="383222"/>
                  </a:lnTo>
                  <a:lnTo>
                    <a:pt x="0" y="396671"/>
                  </a:lnTo>
                  <a:lnTo>
                    <a:pt x="13449" y="396671"/>
                  </a:lnTo>
                  <a:lnTo>
                    <a:pt x="13449" y="383222"/>
                  </a:lnTo>
                  <a:close/>
                </a:path>
                <a:path w="5316220" h="430530">
                  <a:moveTo>
                    <a:pt x="40347" y="383222"/>
                  </a:moveTo>
                  <a:lnTo>
                    <a:pt x="26898" y="383222"/>
                  </a:lnTo>
                  <a:lnTo>
                    <a:pt x="26898" y="396671"/>
                  </a:lnTo>
                  <a:lnTo>
                    <a:pt x="40347" y="396671"/>
                  </a:lnTo>
                  <a:lnTo>
                    <a:pt x="40347" y="383222"/>
                  </a:lnTo>
                  <a:close/>
                </a:path>
                <a:path w="5316220" h="430530">
                  <a:moveTo>
                    <a:pt x="67233" y="383222"/>
                  </a:moveTo>
                  <a:lnTo>
                    <a:pt x="53784" y="383222"/>
                  </a:lnTo>
                  <a:lnTo>
                    <a:pt x="53784" y="396671"/>
                  </a:lnTo>
                  <a:lnTo>
                    <a:pt x="67233" y="396671"/>
                  </a:lnTo>
                  <a:lnTo>
                    <a:pt x="67233" y="383222"/>
                  </a:lnTo>
                  <a:close/>
                </a:path>
                <a:path w="5316220" h="430530">
                  <a:moveTo>
                    <a:pt x="94132" y="383222"/>
                  </a:moveTo>
                  <a:lnTo>
                    <a:pt x="80683" y="383222"/>
                  </a:lnTo>
                  <a:lnTo>
                    <a:pt x="80683" y="396671"/>
                  </a:lnTo>
                  <a:lnTo>
                    <a:pt x="94132" y="396671"/>
                  </a:lnTo>
                  <a:lnTo>
                    <a:pt x="94132" y="383222"/>
                  </a:lnTo>
                  <a:close/>
                </a:path>
                <a:path w="5316220" h="430530">
                  <a:moveTo>
                    <a:pt x="1865871" y="354799"/>
                  </a:moveTo>
                  <a:lnTo>
                    <a:pt x="1863191" y="352158"/>
                  </a:lnTo>
                  <a:lnTo>
                    <a:pt x="1853907" y="352158"/>
                  </a:lnTo>
                  <a:lnTo>
                    <a:pt x="1853907" y="364121"/>
                  </a:lnTo>
                  <a:lnTo>
                    <a:pt x="1853907" y="393039"/>
                  </a:lnTo>
                  <a:lnTo>
                    <a:pt x="1825028" y="393039"/>
                  </a:lnTo>
                  <a:lnTo>
                    <a:pt x="1825028" y="364121"/>
                  </a:lnTo>
                  <a:lnTo>
                    <a:pt x="1853907" y="364121"/>
                  </a:lnTo>
                  <a:lnTo>
                    <a:pt x="1853907" y="352158"/>
                  </a:lnTo>
                  <a:lnTo>
                    <a:pt x="1815693" y="352158"/>
                  </a:lnTo>
                  <a:lnTo>
                    <a:pt x="1812975" y="354799"/>
                  </a:lnTo>
                  <a:lnTo>
                    <a:pt x="1812975" y="402336"/>
                  </a:lnTo>
                  <a:lnTo>
                    <a:pt x="1815693" y="404939"/>
                  </a:lnTo>
                  <a:lnTo>
                    <a:pt x="1863191" y="404939"/>
                  </a:lnTo>
                  <a:lnTo>
                    <a:pt x="1865871" y="402336"/>
                  </a:lnTo>
                  <a:lnTo>
                    <a:pt x="1865871" y="393039"/>
                  </a:lnTo>
                  <a:lnTo>
                    <a:pt x="1865871" y="364121"/>
                  </a:lnTo>
                  <a:lnTo>
                    <a:pt x="1865871" y="354799"/>
                  </a:lnTo>
                  <a:close/>
                </a:path>
                <a:path w="5316220" h="430530">
                  <a:moveTo>
                    <a:pt x="1865871" y="200101"/>
                  </a:moveTo>
                  <a:lnTo>
                    <a:pt x="1863191" y="197396"/>
                  </a:lnTo>
                  <a:lnTo>
                    <a:pt x="1853907" y="197396"/>
                  </a:lnTo>
                  <a:lnTo>
                    <a:pt x="1853907" y="209397"/>
                  </a:lnTo>
                  <a:lnTo>
                    <a:pt x="1853907" y="238277"/>
                  </a:lnTo>
                  <a:lnTo>
                    <a:pt x="1825028" y="238277"/>
                  </a:lnTo>
                  <a:lnTo>
                    <a:pt x="1825028" y="209397"/>
                  </a:lnTo>
                  <a:lnTo>
                    <a:pt x="1853907" y="209397"/>
                  </a:lnTo>
                  <a:lnTo>
                    <a:pt x="1853907" y="197396"/>
                  </a:lnTo>
                  <a:lnTo>
                    <a:pt x="1815693" y="197396"/>
                  </a:lnTo>
                  <a:lnTo>
                    <a:pt x="1812975" y="200101"/>
                  </a:lnTo>
                  <a:lnTo>
                    <a:pt x="1812975" y="247561"/>
                  </a:lnTo>
                  <a:lnTo>
                    <a:pt x="1815693" y="250240"/>
                  </a:lnTo>
                  <a:lnTo>
                    <a:pt x="1863191" y="250240"/>
                  </a:lnTo>
                  <a:lnTo>
                    <a:pt x="1865871" y="247561"/>
                  </a:lnTo>
                  <a:lnTo>
                    <a:pt x="1865871" y="238277"/>
                  </a:lnTo>
                  <a:lnTo>
                    <a:pt x="1865871" y="209397"/>
                  </a:lnTo>
                  <a:lnTo>
                    <a:pt x="1865871" y="200101"/>
                  </a:lnTo>
                  <a:close/>
                </a:path>
                <a:path w="5316220" h="430530">
                  <a:moveTo>
                    <a:pt x="1865871" y="45339"/>
                  </a:moveTo>
                  <a:lnTo>
                    <a:pt x="1863191" y="42659"/>
                  </a:lnTo>
                  <a:lnTo>
                    <a:pt x="1853907" y="42659"/>
                  </a:lnTo>
                  <a:lnTo>
                    <a:pt x="1853907" y="54660"/>
                  </a:lnTo>
                  <a:lnTo>
                    <a:pt x="1853907" y="83540"/>
                  </a:lnTo>
                  <a:lnTo>
                    <a:pt x="1825028" y="83540"/>
                  </a:lnTo>
                  <a:lnTo>
                    <a:pt x="1825028" y="54660"/>
                  </a:lnTo>
                  <a:lnTo>
                    <a:pt x="1853907" y="54660"/>
                  </a:lnTo>
                  <a:lnTo>
                    <a:pt x="1853907" y="42659"/>
                  </a:lnTo>
                  <a:lnTo>
                    <a:pt x="1815693" y="42659"/>
                  </a:lnTo>
                  <a:lnTo>
                    <a:pt x="1812975" y="45339"/>
                  </a:lnTo>
                  <a:lnTo>
                    <a:pt x="1812975" y="92837"/>
                  </a:lnTo>
                  <a:lnTo>
                    <a:pt x="1815693" y="95516"/>
                  </a:lnTo>
                  <a:lnTo>
                    <a:pt x="1863191" y="95516"/>
                  </a:lnTo>
                  <a:lnTo>
                    <a:pt x="1865871" y="92837"/>
                  </a:lnTo>
                  <a:lnTo>
                    <a:pt x="1865871" y="83540"/>
                  </a:lnTo>
                  <a:lnTo>
                    <a:pt x="1865871" y="54660"/>
                  </a:lnTo>
                  <a:lnTo>
                    <a:pt x="1865871" y="45339"/>
                  </a:lnTo>
                  <a:close/>
                </a:path>
                <a:path w="5316220" h="430530">
                  <a:moveTo>
                    <a:pt x="1893150" y="324726"/>
                  </a:moveTo>
                  <a:lnTo>
                    <a:pt x="1891690" y="321525"/>
                  </a:lnTo>
                  <a:lnTo>
                    <a:pt x="1890776" y="319519"/>
                  </a:lnTo>
                  <a:lnTo>
                    <a:pt x="1883194" y="311861"/>
                  </a:lnTo>
                  <a:lnTo>
                    <a:pt x="1881149" y="310972"/>
                  </a:lnTo>
                  <a:lnTo>
                    <a:pt x="1881149" y="328041"/>
                  </a:lnTo>
                  <a:lnTo>
                    <a:pt x="1881149" y="411810"/>
                  </a:lnTo>
                  <a:lnTo>
                    <a:pt x="1880146" y="414108"/>
                  </a:lnTo>
                  <a:lnTo>
                    <a:pt x="1876907" y="417271"/>
                  </a:lnTo>
                  <a:lnTo>
                    <a:pt x="1874685" y="418312"/>
                  </a:lnTo>
                  <a:lnTo>
                    <a:pt x="1552689" y="418312"/>
                  </a:lnTo>
                  <a:lnTo>
                    <a:pt x="1550504" y="417347"/>
                  </a:lnTo>
                  <a:lnTo>
                    <a:pt x="1548904" y="415899"/>
                  </a:lnTo>
                  <a:lnTo>
                    <a:pt x="1547012" y="414108"/>
                  </a:lnTo>
                  <a:lnTo>
                    <a:pt x="1546047" y="411810"/>
                  </a:lnTo>
                  <a:lnTo>
                    <a:pt x="1546047" y="328041"/>
                  </a:lnTo>
                  <a:lnTo>
                    <a:pt x="1547012" y="325805"/>
                  </a:lnTo>
                  <a:lnTo>
                    <a:pt x="1550314" y="322567"/>
                  </a:lnTo>
                  <a:lnTo>
                    <a:pt x="1552587" y="321525"/>
                  </a:lnTo>
                  <a:lnTo>
                    <a:pt x="1874685" y="321525"/>
                  </a:lnTo>
                  <a:lnTo>
                    <a:pt x="1876869" y="322567"/>
                  </a:lnTo>
                  <a:lnTo>
                    <a:pt x="1878545" y="324167"/>
                  </a:lnTo>
                  <a:lnTo>
                    <a:pt x="1880146" y="325805"/>
                  </a:lnTo>
                  <a:lnTo>
                    <a:pt x="1881149" y="328041"/>
                  </a:lnTo>
                  <a:lnTo>
                    <a:pt x="1881149" y="310972"/>
                  </a:lnTo>
                  <a:lnTo>
                    <a:pt x="1877910" y="309562"/>
                  </a:lnTo>
                  <a:lnTo>
                    <a:pt x="1549273" y="309562"/>
                  </a:lnTo>
                  <a:lnTo>
                    <a:pt x="1544002" y="311861"/>
                  </a:lnTo>
                  <a:lnTo>
                    <a:pt x="1536420" y="319519"/>
                  </a:lnTo>
                  <a:lnTo>
                    <a:pt x="1534071" y="324726"/>
                  </a:lnTo>
                  <a:lnTo>
                    <a:pt x="1534071" y="415124"/>
                  </a:lnTo>
                  <a:lnTo>
                    <a:pt x="1536420" y="420319"/>
                  </a:lnTo>
                  <a:lnTo>
                    <a:pt x="1540319" y="424256"/>
                  </a:lnTo>
                  <a:lnTo>
                    <a:pt x="1540395" y="424408"/>
                  </a:lnTo>
                  <a:lnTo>
                    <a:pt x="1540586" y="424522"/>
                  </a:lnTo>
                  <a:lnTo>
                    <a:pt x="1544370" y="428053"/>
                  </a:lnTo>
                  <a:lnTo>
                    <a:pt x="1549463" y="430288"/>
                  </a:lnTo>
                  <a:lnTo>
                    <a:pt x="1877910" y="430288"/>
                  </a:lnTo>
                  <a:lnTo>
                    <a:pt x="1883156" y="427977"/>
                  </a:lnTo>
                  <a:lnTo>
                    <a:pt x="1886978" y="424154"/>
                  </a:lnTo>
                  <a:lnTo>
                    <a:pt x="1890776" y="420319"/>
                  </a:lnTo>
                  <a:lnTo>
                    <a:pt x="1891690" y="418312"/>
                  </a:lnTo>
                  <a:lnTo>
                    <a:pt x="1893150" y="415124"/>
                  </a:lnTo>
                  <a:lnTo>
                    <a:pt x="1893150" y="324726"/>
                  </a:lnTo>
                  <a:close/>
                </a:path>
                <a:path w="5316220" h="430530">
                  <a:moveTo>
                    <a:pt x="1893150" y="170002"/>
                  </a:moveTo>
                  <a:lnTo>
                    <a:pt x="1891690" y="166763"/>
                  </a:lnTo>
                  <a:lnTo>
                    <a:pt x="1890776" y="164719"/>
                  </a:lnTo>
                  <a:lnTo>
                    <a:pt x="1883194" y="157137"/>
                  </a:lnTo>
                  <a:lnTo>
                    <a:pt x="1881149" y="156235"/>
                  </a:lnTo>
                  <a:lnTo>
                    <a:pt x="1881149" y="173266"/>
                  </a:lnTo>
                  <a:lnTo>
                    <a:pt x="1881149" y="257048"/>
                  </a:lnTo>
                  <a:lnTo>
                    <a:pt x="1880146" y="259308"/>
                  </a:lnTo>
                  <a:lnTo>
                    <a:pt x="1878545" y="260908"/>
                  </a:lnTo>
                  <a:lnTo>
                    <a:pt x="1876907" y="262509"/>
                  </a:lnTo>
                  <a:lnTo>
                    <a:pt x="1874685" y="263550"/>
                  </a:lnTo>
                  <a:lnTo>
                    <a:pt x="1552689" y="263550"/>
                  </a:lnTo>
                  <a:lnTo>
                    <a:pt x="1550504" y="262661"/>
                  </a:lnTo>
                  <a:lnTo>
                    <a:pt x="1548904" y="261137"/>
                  </a:lnTo>
                  <a:lnTo>
                    <a:pt x="1547012" y="259232"/>
                  </a:lnTo>
                  <a:lnTo>
                    <a:pt x="1546047" y="257048"/>
                  </a:lnTo>
                  <a:lnTo>
                    <a:pt x="1546047" y="173266"/>
                  </a:lnTo>
                  <a:lnTo>
                    <a:pt x="1547012" y="171043"/>
                  </a:lnTo>
                  <a:lnTo>
                    <a:pt x="1550314" y="167805"/>
                  </a:lnTo>
                  <a:lnTo>
                    <a:pt x="1552587" y="166763"/>
                  </a:lnTo>
                  <a:lnTo>
                    <a:pt x="1874685" y="166763"/>
                  </a:lnTo>
                  <a:lnTo>
                    <a:pt x="1876869" y="167805"/>
                  </a:lnTo>
                  <a:lnTo>
                    <a:pt x="1878545" y="169405"/>
                  </a:lnTo>
                  <a:lnTo>
                    <a:pt x="1880146" y="171043"/>
                  </a:lnTo>
                  <a:lnTo>
                    <a:pt x="1881149" y="173266"/>
                  </a:lnTo>
                  <a:lnTo>
                    <a:pt x="1881149" y="156235"/>
                  </a:lnTo>
                  <a:lnTo>
                    <a:pt x="1877910" y="154800"/>
                  </a:lnTo>
                  <a:lnTo>
                    <a:pt x="1549273" y="154800"/>
                  </a:lnTo>
                  <a:lnTo>
                    <a:pt x="1544002" y="157137"/>
                  </a:lnTo>
                  <a:lnTo>
                    <a:pt x="1536420" y="164719"/>
                  </a:lnTo>
                  <a:lnTo>
                    <a:pt x="1534071" y="170002"/>
                  </a:lnTo>
                  <a:lnTo>
                    <a:pt x="1534071" y="260350"/>
                  </a:lnTo>
                  <a:lnTo>
                    <a:pt x="1536420" y="265557"/>
                  </a:lnTo>
                  <a:lnTo>
                    <a:pt x="1540319" y="269494"/>
                  </a:lnTo>
                  <a:lnTo>
                    <a:pt x="1540395" y="269646"/>
                  </a:lnTo>
                  <a:lnTo>
                    <a:pt x="1540586" y="269760"/>
                  </a:lnTo>
                  <a:lnTo>
                    <a:pt x="1544370" y="273329"/>
                  </a:lnTo>
                  <a:lnTo>
                    <a:pt x="1549463" y="275551"/>
                  </a:lnTo>
                  <a:lnTo>
                    <a:pt x="1877910" y="275551"/>
                  </a:lnTo>
                  <a:lnTo>
                    <a:pt x="1883156" y="273177"/>
                  </a:lnTo>
                  <a:lnTo>
                    <a:pt x="1886978" y="269379"/>
                  </a:lnTo>
                  <a:lnTo>
                    <a:pt x="1890776" y="265557"/>
                  </a:lnTo>
                  <a:lnTo>
                    <a:pt x="1891690" y="263550"/>
                  </a:lnTo>
                  <a:lnTo>
                    <a:pt x="1893150" y="260350"/>
                  </a:lnTo>
                  <a:lnTo>
                    <a:pt x="1893150" y="170002"/>
                  </a:lnTo>
                  <a:close/>
                </a:path>
                <a:path w="5316220" h="430530">
                  <a:moveTo>
                    <a:pt x="1893150" y="15227"/>
                  </a:moveTo>
                  <a:lnTo>
                    <a:pt x="1891703" y="12039"/>
                  </a:lnTo>
                  <a:lnTo>
                    <a:pt x="1890776" y="9994"/>
                  </a:lnTo>
                  <a:lnTo>
                    <a:pt x="1883156" y="2413"/>
                  </a:lnTo>
                  <a:lnTo>
                    <a:pt x="1881149" y="1511"/>
                  </a:lnTo>
                  <a:lnTo>
                    <a:pt x="1881149" y="18542"/>
                  </a:lnTo>
                  <a:lnTo>
                    <a:pt x="1881149" y="102311"/>
                  </a:lnTo>
                  <a:lnTo>
                    <a:pt x="1880146" y="104584"/>
                  </a:lnTo>
                  <a:lnTo>
                    <a:pt x="1878545" y="106184"/>
                  </a:lnTo>
                  <a:lnTo>
                    <a:pt x="1876869" y="107823"/>
                  </a:lnTo>
                  <a:lnTo>
                    <a:pt x="1874685" y="108851"/>
                  </a:lnTo>
                  <a:lnTo>
                    <a:pt x="1552587" y="108851"/>
                  </a:lnTo>
                  <a:lnTo>
                    <a:pt x="1546047" y="18542"/>
                  </a:lnTo>
                  <a:lnTo>
                    <a:pt x="1547012" y="16306"/>
                  </a:lnTo>
                  <a:lnTo>
                    <a:pt x="1548676" y="14681"/>
                  </a:lnTo>
                  <a:lnTo>
                    <a:pt x="1550314" y="13042"/>
                  </a:lnTo>
                  <a:lnTo>
                    <a:pt x="1552587" y="12039"/>
                  </a:lnTo>
                  <a:lnTo>
                    <a:pt x="1874685" y="12039"/>
                  </a:lnTo>
                  <a:lnTo>
                    <a:pt x="1876907" y="13042"/>
                  </a:lnTo>
                  <a:lnTo>
                    <a:pt x="1880146" y="16306"/>
                  </a:lnTo>
                  <a:lnTo>
                    <a:pt x="1881149" y="18542"/>
                  </a:lnTo>
                  <a:lnTo>
                    <a:pt x="1881149" y="1511"/>
                  </a:lnTo>
                  <a:lnTo>
                    <a:pt x="1877910" y="25"/>
                  </a:lnTo>
                  <a:lnTo>
                    <a:pt x="1549273" y="25"/>
                  </a:lnTo>
                  <a:lnTo>
                    <a:pt x="1544002" y="2413"/>
                  </a:lnTo>
                  <a:lnTo>
                    <a:pt x="1536420" y="9994"/>
                  </a:lnTo>
                  <a:lnTo>
                    <a:pt x="1534071" y="15227"/>
                  </a:lnTo>
                  <a:lnTo>
                    <a:pt x="1534172" y="105625"/>
                  </a:lnTo>
                  <a:lnTo>
                    <a:pt x="1536268" y="110528"/>
                  </a:lnTo>
                  <a:lnTo>
                    <a:pt x="1539875" y="114287"/>
                  </a:lnTo>
                  <a:lnTo>
                    <a:pt x="1540205" y="114655"/>
                  </a:lnTo>
                  <a:lnTo>
                    <a:pt x="1544002" y="118440"/>
                  </a:lnTo>
                  <a:lnTo>
                    <a:pt x="1549273" y="120789"/>
                  </a:lnTo>
                  <a:lnTo>
                    <a:pt x="1877910" y="120789"/>
                  </a:lnTo>
                  <a:lnTo>
                    <a:pt x="1883194" y="118440"/>
                  </a:lnTo>
                  <a:lnTo>
                    <a:pt x="1886978" y="114655"/>
                  </a:lnTo>
                  <a:lnTo>
                    <a:pt x="1890776" y="110832"/>
                  </a:lnTo>
                  <a:lnTo>
                    <a:pt x="1891677" y="108851"/>
                  </a:lnTo>
                  <a:lnTo>
                    <a:pt x="1893150" y="105625"/>
                  </a:lnTo>
                  <a:lnTo>
                    <a:pt x="1893150" y="15227"/>
                  </a:lnTo>
                  <a:close/>
                </a:path>
                <a:path w="5316220" h="430530">
                  <a:moveTo>
                    <a:pt x="3310115" y="389242"/>
                  </a:moveTo>
                  <a:lnTo>
                    <a:pt x="3307867" y="386981"/>
                  </a:lnTo>
                  <a:lnTo>
                    <a:pt x="3247440" y="386981"/>
                  </a:lnTo>
                  <a:lnTo>
                    <a:pt x="3245167" y="389242"/>
                  </a:lnTo>
                  <a:lnTo>
                    <a:pt x="3245167" y="394804"/>
                  </a:lnTo>
                  <a:lnTo>
                    <a:pt x="3247440" y="397090"/>
                  </a:lnTo>
                  <a:lnTo>
                    <a:pt x="3307867" y="397090"/>
                  </a:lnTo>
                  <a:lnTo>
                    <a:pt x="3310115" y="394804"/>
                  </a:lnTo>
                  <a:lnTo>
                    <a:pt x="3310115" y="389242"/>
                  </a:lnTo>
                  <a:close/>
                </a:path>
                <a:path w="5316220" h="430530">
                  <a:moveTo>
                    <a:pt x="3384524" y="43268"/>
                  </a:moveTo>
                  <a:lnTo>
                    <a:pt x="3382276" y="40995"/>
                  </a:lnTo>
                  <a:lnTo>
                    <a:pt x="3374453" y="40995"/>
                  </a:lnTo>
                  <a:lnTo>
                    <a:pt x="3374453" y="51092"/>
                  </a:lnTo>
                  <a:lnTo>
                    <a:pt x="3374453" y="359117"/>
                  </a:lnTo>
                  <a:lnTo>
                    <a:pt x="3180740" y="359117"/>
                  </a:lnTo>
                  <a:lnTo>
                    <a:pt x="3180740" y="51092"/>
                  </a:lnTo>
                  <a:lnTo>
                    <a:pt x="3374453" y="51092"/>
                  </a:lnTo>
                  <a:lnTo>
                    <a:pt x="3374453" y="40995"/>
                  </a:lnTo>
                  <a:lnTo>
                    <a:pt x="3172917" y="40995"/>
                  </a:lnTo>
                  <a:lnTo>
                    <a:pt x="3170669" y="43268"/>
                  </a:lnTo>
                  <a:lnTo>
                    <a:pt x="3170669" y="366941"/>
                  </a:lnTo>
                  <a:lnTo>
                    <a:pt x="3172917" y="369189"/>
                  </a:lnTo>
                  <a:lnTo>
                    <a:pt x="3382276" y="369189"/>
                  </a:lnTo>
                  <a:lnTo>
                    <a:pt x="3384524" y="366941"/>
                  </a:lnTo>
                  <a:lnTo>
                    <a:pt x="3384524" y="359117"/>
                  </a:lnTo>
                  <a:lnTo>
                    <a:pt x="3384524" y="51092"/>
                  </a:lnTo>
                  <a:lnTo>
                    <a:pt x="3384524" y="43268"/>
                  </a:lnTo>
                  <a:close/>
                </a:path>
                <a:path w="5316220" h="430530">
                  <a:moveTo>
                    <a:pt x="3410166" y="408343"/>
                  </a:moveTo>
                  <a:lnTo>
                    <a:pt x="3410140" y="21907"/>
                  </a:lnTo>
                  <a:lnTo>
                    <a:pt x="3406762" y="14376"/>
                  </a:lnTo>
                  <a:lnTo>
                    <a:pt x="3402558" y="10121"/>
                  </a:lnTo>
                  <a:lnTo>
                    <a:pt x="3401352" y="8902"/>
                  </a:lnTo>
                  <a:lnTo>
                    <a:pt x="3400133" y="7747"/>
                  </a:lnTo>
                  <a:lnTo>
                    <a:pt x="3400133" y="24701"/>
                  </a:lnTo>
                  <a:lnTo>
                    <a:pt x="3400133" y="405625"/>
                  </a:lnTo>
                  <a:lnTo>
                    <a:pt x="3397847" y="410629"/>
                  </a:lnTo>
                  <a:lnTo>
                    <a:pt x="3394189" y="414286"/>
                  </a:lnTo>
                  <a:lnTo>
                    <a:pt x="3390531" y="417944"/>
                  </a:lnTo>
                  <a:lnTo>
                    <a:pt x="3385489" y="420204"/>
                  </a:lnTo>
                  <a:lnTo>
                    <a:pt x="3169666" y="420204"/>
                  </a:lnTo>
                  <a:lnTo>
                    <a:pt x="3164662" y="417944"/>
                  </a:lnTo>
                  <a:lnTo>
                    <a:pt x="3157347" y="410629"/>
                  </a:lnTo>
                  <a:lnTo>
                    <a:pt x="3155086" y="405625"/>
                  </a:lnTo>
                  <a:lnTo>
                    <a:pt x="3155086" y="24701"/>
                  </a:lnTo>
                  <a:lnTo>
                    <a:pt x="3157347" y="19659"/>
                  </a:lnTo>
                  <a:lnTo>
                    <a:pt x="3164662" y="12369"/>
                  </a:lnTo>
                  <a:lnTo>
                    <a:pt x="3169666" y="10121"/>
                  </a:lnTo>
                  <a:lnTo>
                    <a:pt x="3385489" y="10121"/>
                  </a:lnTo>
                  <a:lnTo>
                    <a:pt x="3390531" y="12369"/>
                  </a:lnTo>
                  <a:lnTo>
                    <a:pt x="3397847" y="19659"/>
                  </a:lnTo>
                  <a:lnTo>
                    <a:pt x="3400133" y="24701"/>
                  </a:lnTo>
                  <a:lnTo>
                    <a:pt x="3400133" y="7747"/>
                  </a:lnTo>
                  <a:lnTo>
                    <a:pt x="3395815" y="3429"/>
                  </a:lnTo>
                  <a:lnTo>
                    <a:pt x="3388271" y="25"/>
                  </a:lnTo>
                  <a:lnTo>
                    <a:pt x="3166910" y="25"/>
                  </a:lnTo>
                  <a:lnTo>
                    <a:pt x="3159341" y="3429"/>
                  </a:lnTo>
                  <a:lnTo>
                    <a:pt x="3148431" y="14338"/>
                  </a:lnTo>
                  <a:lnTo>
                    <a:pt x="3144990" y="21907"/>
                  </a:lnTo>
                  <a:lnTo>
                    <a:pt x="3144990" y="408343"/>
                  </a:lnTo>
                  <a:lnTo>
                    <a:pt x="3148431" y="415950"/>
                  </a:lnTo>
                  <a:lnTo>
                    <a:pt x="3159341" y="426897"/>
                  </a:lnTo>
                  <a:lnTo>
                    <a:pt x="3166910" y="430301"/>
                  </a:lnTo>
                  <a:lnTo>
                    <a:pt x="3388271" y="430301"/>
                  </a:lnTo>
                  <a:lnTo>
                    <a:pt x="3395815" y="426897"/>
                  </a:lnTo>
                  <a:lnTo>
                    <a:pt x="3402507" y="420204"/>
                  </a:lnTo>
                  <a:lnTo>
                    <a:pt x="3406762" y="415950"/>
                  </a:lnTo>
                  <a:lnTo>
                    <a:pt x="3410166" y="408343"/>
                  </a:lnTo>
                  <a:close/>
                </a:path>
                <a:path w="5316220" h="430530">
                  <a:moveTo>
                    <a:pt x="4876673" y="365112"/>
                  </a:moveTo>
                  <a:lnTo>
                    <a:pt x="4859934" y="365112"/>
                  </a:lnTo>
                  <a:lnTo>
                    <a:pt x="4859934" y="383552"/>
                  </a:lnTo>
                  <a:lnTo>
                    <a:pt x="4876673" y="383552"/>
                  </a:lnTo>
                  <a:lnTo>
                    <a:pt x="4876673" y="365112"/>
                  </a:lnTo>
                  <a:close/>
                </a:path>
                <a:path w="5316220" h="430530">
                  <a:moveTo>
                    <a:pt x="4876673" y="307200"/>
                  </a:moveTo>
                  <a:lnTo>
                    <a:pt x="4859934" y="307200"/>
                  </a:lnTo>
                  <a:lnTo>
                    <a:pt x="4859934" y="325653"/>
                  </a:lnTo>
                  <a:lnTo>
                    <a:pt x="4876673" y="325653"/>
                  </a:lnTo>
                  <a:lnTo>
                    <a:pt x="4876673" y="307200"/>
                  </a:lnTo>
                  <a:close/>
                </a:path>
                <a:path w="5316220" h="430530">
                  <a:moveTo>
                    <a:pt x="4876673" y="249313"/>
                  </a:moveTo>
                  <a:lnTo>
                    <a:pt x="4859934" y="249313"/>
                  </a:lnTo>
                  <a:lnTo>
                    <a:pt x="4859934" y="267754"/>
                  </a:lnTo>
                  <a:lnTo>
                    <a:pt x="4876673" y="267754"/>
                  </a:lnTo>
                  <a:lnTo>
                    <a:pt x="4876673" y="249313"/>
                  </a:lnTo>
                  <a:close/>
                </a:path>
                <a:path w="5316220" h="430530">
                  <a:moveTo>
                    <a:pt x="4876673" y="197142"/>
                  </a:moveTo>
                  <a:lnTo>
                    <a:pt x="4859934" y="197142"/>
                  </a:lnTo>
                  <a:lnTo>
                    <a:pt x="4859934" y="215582"/>
                  </a:lnTo>
                  <a:lnTo>
                    <a:pt x="4876673" y="215582"/>
                  </a:lnTo>
                  <a:lnTo>
                    <a:pt x="4876673" y="197142"/>
                  </a:lnTo>
                  <a:close/>
                </a:path>
                <a:path w="5316220" h="430530">
                  <a:moveTo>
                    <a:pt x="4876673" y="139242"/>
                  </a:moveTo>
                  <a:lnTo>
                    <a:pt x="4859934" y="139242"/>
                  </a:lnTo>
                  <a:lnTo>
                    <a:pt x="4859934" y="157695"/>
                  </a:lnTo>
                  <a:lnTo>
                    <a:pt x="4876673" y="157695"/>
                  </a:lnTo>
                  <a:lnTo>
                    <a:pt x="4876673" y="139242"/>
                  </a:lnTo>
                  <a:close/>
                </a:path>
                <a:path w="5316220" h="430530">
                  <a:moveTo>
                    <a:pt x="4876673" y="87058"/>
                  </a:moveTo>
                  <a:lnTo>
                    <a:pt x="4859934" y="87058"/>
                  </a:lnTo>
                  <a:lnTo>
                    <a:pt x="4859934" y="105511"/>
                  </a:lnTo>
                  <a:lnTo>
                    <a:pt x="4876673" y="105511"/>
                  </a:lnTo>
                  <a:lnTo>
                    <a:pt x="4876673" y="87058"/>
                  </a:lnTo>
                  <a:close/>
                </a:path>
                <a:path w="5316220" h="430530">
                  <a:moveTo>
                    <a:pt x="4938979" y="37820"/>
                  </a:moveTo>
                  <a:lnTo>
                    <a:pt x="4920526" y="37820"/>
                  </a:lnTo>
                  <a:lnTo>
                    <a:pt x="4920526" y="54546"/>
                  </a:lnTo>
                  <a:lnTo>
                    <a:pt x="4938979" y="54546"/>
                  </a:lnTo>
                  <a:lnTo>
                    <a:pt x="4938979" y="37820"/>
                  </a:lnTo>
                  <a:close/>
                </a:path>
                <a:path w="5316220" h="430530">
                  <a:moveTo>
                    <a:pt x="4953241" y="100126"/>
                  </a:moveTo>
                  <a:lnTo>
                    <a:pt x="4925707" y="100126"/>
                  </a:lnTo>
                  <a:lnTo>
                    <a:pt x="4925707" y="118567"/>
                  </a:lnTo>
                  <a:lnTo>
                    <a:pt x="4953241" y="118567"/>
                  </a:lnTo>
                  <a:lnTo>
                    <a:pt x="4953241" y="100126"/>
                  </a:lnTo>
                  <a:close/>
                </a:path>
                <a:path w="5316220" h="430530">
                  <a:moveTo>
                    <a:pt x="4985410" y="37820"/>
                  </a:moveTo>
                  <a:lnTo>
                    <a:pt x="4966957" y="37820"/>
                  </a:lnTo>
                  <a:lnTo>
                    <a:pt x="4966957" y="54546"/>
                  </a:lnTo>
                  <a:lnTo>
                    <a:pt x="4985410" y="54546"/>
                  </a:lnTo>
                  <a:lnTo>
                    <a:pt x="4985410" y="37820"/>
                  </a:lnTo>
                  <a:close/>
                </a:path>
                <a:path w="5316220" h="430530">
                  <a:moveTo>
                    <a:pt x="5008397" y="134442"/>
                  </a:moveTo>
                  <a:lnTo>
                    <a:pt x="4939474" y="134442"/>
                  </a:lnTo>
                  <a:lnTo>
                    <a:pt x="4939474" y="152882"/>
                  </a:lnTo>
                  <a:lnTo>
                    <a:pt x="5008397" y="152882"/>
                  </a:lnTo>
                  <a:lnTo>
                    <a:pt x="5008397" y="134442"/>
                  </a:lnTo>
                  <a:close/>
                </a:path>
                <a:path w="5316220" h="430530">
                  <a:moveTo>
                    <a:pt x="5031854" y="37820"/>
                  </a:moveTo>
                  <a:lnTo>
                    <a:pt x="5013401" y="37820"/>
                  </a:lnTo>
                  <a:lnTo>
                    <a:pt x="5013401" y="54546"/>
                  </a:lnTo>
                  <a:lnTo>
                    <a:pt x="5031854" y="54546"/>
                  </a:lnTo>
                  <a:lnTo>
                    <a:pt x="5031854" y="37820"/>
                  </a:lnTo>
                  <a:close/>
                </a:path>
                <a:path w="5316220" h="430530">
                  <a:moveTo>
                    <a:pt x="5078298" y="37820"/>
                  </a:moveTo>
                  <a:lnTo>
                    <a:pt x="5059845" y="37820"/>
                  </a:lnTo>
                  <a:lnTo>
                    <a:pt x="5059845" y="54546"/>
                  </a:lnTo>
                  <a:lnTo>
                    <a:pt x="5078298" y="54546"/>
                  </a:lnTo>
                  <a:lnTo>
                    <a:pt x="5078298" y="37820"/>
                  </a:lnTo>
                  <a:close/>
                </a:path>
                <a:path w="5316220" h="430530">
                  <a:moveTo>
                    <a:pt x="5114595" y="168757"/>
                  </a:moveTo>
                  <a:lnTo>
                    <a:pt x="4973917" y="168757"/>
                  </a:lnTo>
                  <a:lnTo>
                    <a:pt x="4973917" y="187198"/>
                  </a:lnTo>
                  <a:lnTo>
                    <a:pt x="5114595" y="187198"/>
                  </a:lnTo>
                  <a:lnTo>
                    <a:pt x="5114595" y="168757"/>
                  </a:lnTo>
                  <a:close/>
                </a:path>
                <a:path w="5316220" h="430530">
                  <a:moveTo>
                    <a:pt x="5124729" y="37820"/>
                  </a:moveTo>
                  <a:lnTo>
                    <a:pt x="5106276" y="37820"/>
                  </a:lnTo>
                  <a:lnTo>
                    <a:pt x="5106276" y="54546"/>
                  </a:lnTo>
                  <a:lnTo>
                    <a:pt x="5124729" y="54546"/>
                  </a:lnTo>
                  <a:lnTo>
                    <a:pt x="5124729" y="37820"/>
                  </a:lnTo>
                  <a:close/>
                </a:path>
                <a:path w="5316220" h="430530">
                  <a:moveTo>
                    <a:pt x="5125529" y="271665"/>
                  </a:moveTo>
                  <a:lnTo>
                    <a:pt x="5057114" y="271665"/>
                  </a:lnTo>
                  <a:lnTo>
                    <a:pt x="5057114" y="290118"/>
                  </a:lnTo>
                  <a:lnTo>
                    <a:pt x="5125529" y="290118"/>
                  </a:lnTo>
                  <a:lnTo>
                    <a:pt x="5125529" y="271665"/>
                  </a:lnTo>
                  <a:close/>
                </a:path>
                <a:path w="5316220" h="430530">
                  <a:moveTo>
                    <a:pt x="5133060" y="203073"/>
                  </a:moveTo>
                  <a:lnTo>
                    <a:pt x="5097094" y="203073"/>
                  </a:lnTo>
                  <a:lnTo>
                    <a:pt x="5097094" y="221513"/>
                  </a:lnTo>
                  <a:lnTo>
                    <a:pt x="5133060" y="221513"/>
                  </a:lnTo>
                  <a:lnTo>
                    <a:pt x="5133060" y="203073"/>
                  </a:lnTo>
                  <a:close/>
                </a:path>
                <a:path w="5316220" h="430530">
                  <a:moveTo>
                    <a:pt x="5161940" y="237363"/>
                  </a:moveTo>
                  <a:lnTo>
                    <a:pt x="4981892" y="237363"/>
                  </a:lnTo>
                  <a:lnTo>
                    <a:pt x="4981892" y="255816"/>
                  </a:lnTo>
                  <a:lnTo>
                    <a:pt x="5161940" y="255816"/>
                  </a:lnTo>
                  <a:lnTo>
                    <a:pt x="5161940" y="237363"/>
                  </a:lnTo>
                  <a:close/>
                </a:path>
                <a:path w="5316220" h="430530">
                  <a:moveTo>
                    <a:pt x="5171173" y="37820"/>
                  </a:moveTo>
                  <a:lnTo>
                    <a:pt x="5152720" y="37820"/>
                  </a:lnTo>
                  <a:lnTo>
                    <a:pt x="5152720" y="54546"/>
                  </a:lnTo>
                  <a:lnTo>
                    <a:pt x="5171173" y="54546"/>
                  </a:lnTo>
                  <a:lnTo>
                    <a:pt x="5171173" y="37820"/>
                  </a:lnTo>
                  <a:close/>
                </a:path>
                <a:path w="5316220" h="430530">
                  <a:moveTo>
                    <a:pt x="5174297" y="134442"/>
                  </a:moveTo>
                  <a:lnTo>
                    <a:pt x="5033022" y="134442"/>
                  </a:lnTo>
                  <a:lnTo>
                    <a:pt x="5033022" y="152882"/>
                  </a:lnTo>
                  <a:lnTo>
                    <a:pt x="5174297" y="152882"/>
                  </a:lnTo>
                  <a:lnTo>
                    <a:pt x="5174297" y="134442"/>
                  </a:lnTo>
                  <a:close/>
                </a:path>
                <a:path w="5316220" h="430530">
                  <a:moveTo>
                    <a:pt x="5176507" y="271665"/>
                  </a:moveTo>
                  <a:lnTo>
                    <a:pt x="5140553" y="271665"/>
                  </a:lnTo>
                  <a:lnTo>
                    <a:pt x="5140553" y="290118"/>
                  </a:lnTo>
                  <a:lnTo>
                    <a:pt x="5176507" y="290118"/>
                  </a:lnTo>
                  <a:lnTo>
                    <a:pt x="5176507" y="271665"/>
                  </a:lnTo>
                  <a:close/>
                </a:path>
                <a:path w="5316220" h="430530">
                  <a:moveTo>
                    <a:pt x="5210429" y="306006"/>
                  </a:moveTo>
                  <a:lnTo>
                    <a:pt x="4953432" y="306006"/>
                  </a:lnTo>
                  <a:lnTo>
                    <a:pt x="4953432" y="324446"/>
                  </a:lnTo>
                  <a:lnTo>
                    <a:pt x="5210429" y="324446"/>
                  </a:lnTo>
                  <a:lnTo>
                    <a:pt x="5210429" y="306006"/>
                  </a:lnTo>
                  <a:close/>
                </a:path>
                <a:path w="5316220" h="430530">
                  <a:moveTo>
                    <a:pt x="5216728" y="37820"/>
                  </a:moveTo>
                  <a:lnTo>
                    <a:pt x="5198275" y="37820"/>
                  </a:lnTo>
                  <a:lnTo>
                    <a:pt x="5198275" y="54546"/>
                  </a:lnTo>
                  <a:lnTo>
                    <a:pt x="5216728" y="54546"/>
                  </a:lnTo>
                  <a:lnTo>
                    <a:pt x="5216728" y="37820"/>
                  </a:lnTo>
                  <a:close/>
                </a:path>
                <a:path w="5316220" h="430530">
                  <a:moveTo>
                    <a:pt x="5218696" y="203073"/>
                  </a:moveTo>
                  <a:lnTo>
                    <a:pt x="5150078" y="203073"/>
                  </a:lnTo>
                  <a:lnTo>
                    <a:pt x="5150078" y="221513"/>
                  </a:lnTo>
                  <a:lnTo>
                    <a:pt x="5218696" y="221513"/>
                  </a:lnTo>
                  <a:lnTo>
                    <a:pt x="5218696" y="203073"/>
                  </a:lnTo>
                  <a:close/>
                </a:path>
                <a:path w="5316220" h="430530">
                  <a:moveTo>
                    <a:pt x="5241607" y="340296"/>
                  </a:moveTo>
                  <a:lnTo>
                    <a:pt x="5161940" y="340296"/>
                  </a:lnTo>
                  <a:lnTo>
                    <a:pt x="5161940" y="358749"/>
                  </a:lnTo>
                  <a:lnTo>
                    <a:pt x="5241607" y="358749"/>
                  </a:lnTo>
                  <a:lnTo>
                    <a:pt x="5241607" y="340296"/>
                  </a:lnTo>
                  <a:close/>
                </a:path>
                <a:path w="5316220" h="430530">
                  <a:moveTo>
                    <a:pt x="5263172" y="37820"/>
                  </a:moveTo>
                  <a:lnTo>
                    <a:pt x="5244719" y="37820"/>
                  </a:lnTo>
                  <a:lnTo>
                    <a:pt x="5244719" y="54546"/>
                  </a:lnTo>
                  <a:lnTo>
                    <a:pt x="5263172" y="54546"/>
                  </a:lnTo>
                  <a:lnTo>
                    <a:pt x="5263172" y="37820"/>
                  </a:lnTo>
                  <a:close/>
                </a:path>
                <a:path w="5316220" h="430530">
                  <a:moveTo>
                    <a:pt x="5268493" y="374611"/>
                  </a:moveTo>
                  <a:lnTo>
                    <a:pt x="5214721" y="374611"/>
                  </a:lnTo>
                  <a:lnTo>
                    <a:pt x="5214721" y="393052"/>
                  </a:lnTo>
                  <a:lnTo>
                    <a:pt x="5268493" y="393052"/>
                  </a:lnTo>
                  <a:lnTo>
                    <a:pt x="5268493" y="374611"/>
                  </a:lnTo>
                  <a:close/>
                </a:path>
                <a:path w="5316220" h="430530">
                  <a:moveTo>
                    <a:pt x="5268493" y="67703"/>
                  </a:moveTo>
                  <a:lnTo>
                    <a:pt x="4894046" y="67703"/>
                  </a:lnTo>
                  <a:lnTo>
                    <a:pt x="4894046" y="86753"/>
                  </a:lnTo>
                  <a:lnTo>
                    <a:pt x="4894046" y="391553"/>
                  </a:lnTo>
                  <a:lnTo>
                    <a:pt x="4912499" y="391553"/>
                  </a:lnTo>
                  <a:lnTo>
                    <a:pt x="4912499" y="86753"/>
                  </a:lnTo>
                  <a:lnTo>
                    <a:pt x="5268493" y="86753"/>
                  </a:lnTo>
                  <a:lnTo>
                    <a:pt x="5268493" y="67703"/>
                  </a:lnTo>
                  <a:close/>
                </a:path>
                <a:path w="5316220" h="430530">
                  <a:moveTo>
                    <a:pt x="5315686" y="0"/>
                  </a:moveTo>
                  <a:lnTo>
                    <a:pt x="5297246" y="0"/>
                  </a:lnTo>
                  <a:lnTo>
                    <a:pt x="5297246" y="19050"/>
                  </a:lnTo>
                  <a:lnTo>
                    <a:pt x="5297246" y="411480"/>
                  </a:lnTo>
                  <a:lnTo>
                    <a:pt x="4841087" y="411480"/>
                  </a:lnTo>
                  <a:lnTo>
                    <a:pt x="4841087" y="19050"/>
                  </a:lnTo>
                  <a:lnTo>
                    <a:pt x="5297246" y="19050"/>
                  </a:lnTo>
                  <a:lnTo>
                    <a:pt x="5297246" y="0"/>
                  </a:lnTo>
                  <a:lnTo>
                    <a:pt x="4822622" y="0"/>
                  </a:lnTo>
                  <a:lnTo>
                    <a:pt x="4822622" y="19050"/>
                  </a:lnTo>
                  <a:lnTo>
                    <a:pt x="4822622" y="411480"/>
                  </a:lnTo>
                  <a:lnTo>
                    <a:pt x="4822622" y="429260"/>
                  </a:lnTo>
                  <a:lnTo>
                    <a:pt x="4822622" y="430530"/>
                  </a:lnTo>
                  <a:lnTo>
                    <a:pt x="5259336" y="430530"/>
                  </a:lnTo>
                  <a:lnTo>
                    <a:pt x="5259336" y="429260"/>
                  </a:lnTo>
                  <a:lnTo>
                    <a:pt x="5315686" y="429260"/>
                  </a:lnTo>
                  <a:lnTo>
                    <a:pt x="5315686" y="411480"/>
                  </a:lnTo>
                  <a:lnTo>
                    <a:pt x="5315686" y="19050"/>
                  </a:lnTo>
                  <a:lnTo>
                    <a:pt x="5315686" y="0"/>
                  </a:lnTo>
                  <a:close/>
                </a:path>
              </a:pathLst>
            </a:custGeom>
            <a:solidFill>
              <a:srgbClr val="00BC31"/>
            </a:solidFill>
          </p:spPr>
          <p:txBody>
            <a:bodyPr wrap="square" lIns="0" tIns="0" rIns="0" bIns="0" rtlCol="0"/>
            <a:lstStyle/>
            <a:p>
              <a:endParaRPr/>
            </a:p>
          </p:txBody>
        </p:sp>
      </p:grpSp>
      <p:sp>
        <p:nvSpPr>
          <p:cNvPr id="25" name="object 25"/>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42</a:t>
            </a:r>
            <a:endParaRPr spc="35" dirty="0"/>
          </a:p>
        </p:txBody>
      </p:sp>
      <p:sp>
        <p:nvSpPr>
          <p:cNvPr id="26" name="object 26"/>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dirty="0"/>
              <a:t>Agile Methodology</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4241800" cy="5943600"/>
          </a:xfrm>
          <a:custGeom>
            <a:avLst/>
            <a:gdLst/>
            <a:ahLst/>
            <a:cxnLst/>
            <a:rect l="l" t="t" r="r" b="b"/>
            <a:pathLst>
              <a:path w="4241800" h="5943600">
                <a:moveTo>
                  <a:pt x="4241800" y="0"/>
                </a:moveTo>
                <a:lnTo>
                  <a:pt x="0" y="0"/>
                </a:lnTo>
                <a:lnTo>
                  <a:pt x="0" y="5943600"/>
                </a:lnTo>
                <a:lnTo>
                  <a:pt x="4241800" y="5943600"/>
                </a:lnTo>
                <a:lnTo>
                  <a:pt x="4241800" y="0"/>
                </a:lnTo>
                <a:close/>
              </a:path>
            </a:pathLst>
          </a:custGeom>
          <a:solidFill>
            <a:srgbClr val="FF9A2A"/>
          </a:solidFill>
        </p:spPr>
        <p:txBody>
          <a:bodyPr wrap="square" lIns="0" tIns="0" rIns="0" bIns="0" rtlCol="0"/>
          <a:lstStyle/>
          <a:p>
            <a:endParaRPr/>
          </a:p>
        </p:txBody>
      </p:sp>
      <p:sp>
        <p:nvSpPr>
          <p:cNvPr id="3" name="object 3"/>
          <p:cNvSpPr txBox="1"/>
          <p:nvPr/>
        </p:nvSpPr>
        <p:spPr>
          <a:xfrm>
            <a:off x="4787900" y="615151"/>
            <a:ext cx="3747770" cy="749300"/>
          </a:xfrm>
          <a:prstGeom prst="rect">
            <a:avLst/>
          </a:prstGeom>
        </p:spPr>
        <p:txBody>
          <a:bodyPr vert="horz" wrap="square" lIns="0" tIns="12700" rIns="0" bIns="0" rtlCol="0">
            <a:spAutoFit/>
          </a:bodyPr>
          <a:lstStyle/>
          <a:p>
            <a:pPr marL="12700" marR="5080">
              <a:lnSpc>
                <a:spcPct val="121800"/>
              </a:lnSpc>
              <a:spcBef>
                <a:spcPts val="100"/>
              </a:spcBef>
            </a:pPr>
            <a:r>
              <a:rPr sz="1300" spc="-15" dirty="0">
                <a:solidFill>
                  <a:srgbClr val="333333"/>
                </a:solidFill>
                <a:latin typeface="Roboto Lt"/>
                <a:cs typeface="Roboto Lt"/>
              </a:rPr>
              <a:t>With </a:t>
            </a:r>
            <a:r>
              <a:rPr sz="1300" spc="-30" dirty="0">
                <a:solidFill>
                  <a:srgbClr val="333333"/>
                </a:solidFill>
                <a:latin typeface="Roboto Lt"/>
                <a:cs typeface="Roboto Lt"/>
              </a:rPr>
              <a:t>fewer than </a:t>
            </a:r>
            <a:r>
              <a:rPr sz="1300" spc="-45" dirty="0">
                <a:solidFill>
                  <a:srgbClr val="333333"/>
                </a:solidFill>
                <a:latin typeface="Roboto Lt"/>
                <a:cs typeface="Roboto Lt"/>
              </a:rPr>
              <a:t>one-third </a:t>
            </a:r>
            <a:r>
              <a:rPr sz="1300" spc="-15" dirty="0">
                <a:solidFill>
                  <a:srgbClr val="333333"/>
                </a:solidFill>
                <a:latin typeface="Roboto Lt"/>
                <a:cs typeface="Roboto Lt"/>
              </a:rPr>
              <a:t>of </a:t>
            </a:r>
            <a:r>
              <a:rPr sz="1300" spc="-30" dirty="0">
                <a:solidFill>
                  <a:srgbClr val="333333"/>
                </a:solidFill>
                <a:latin typeface="Roboto Lt"/>
                <a:cs typeface="Roboto Lt"/>
              </a:rPr>
              <a:t>all projects </a:t>
            </a:r>
            <a:r>
              <a:rPr sz="1300" spc="-25" dirty="0">
                <a:solidFill>
                  <a:srgbClr val="333333"/>
                </a:solidFill>
                <a:latin typeface="Roboto Lt"/>
                <a:cs typeface="Roboto Lt"/>
              </a:rPr>
              <a:t>completed </a:t>
            </a:r>
            <a:r>
              <a:rPr sz="1300" spc="-15" dirty="0">
                <a:solidFill>
                  <a:srgbClr val="333333"/>
                </a:solidFill>
                <a:latin typeface="Roboto Lt"/>
                <a:cs typeface="Roboto Lt"/>
              </a:rPr>
              <a:t>on </a:t>
            </a:r>
            <a:r>
              <a:rPr sz="1300" spc="-305" dirty="0">
                <a:solidFill>
                  <a:srgbClr val="333333"/>
                </a:solidFill>
                <a:latin typeface="Roboto Lt"/>
                <a:cs typeface="Roboto Lt"/>
              </a:rPr>
              <a:t> </a:t>
            </a:r>
            <a:r>
              <a:rPr sz="1300" spc="-25" dirty="0">
                <a:solidFill>
                  <a:srgbClr val="333333"/>
                </a:solidFill>
                <a:latin typeface="Roboto Lt"/>
                <a:cs typeface="Roboto Lt"/>
              </a:rPr>
              <a:t>time and </a:t>
            </a:r>
            <a:r>
              <a:rPr sz="1300" spc="-15" dirty="0">
                <a:solidFill>
                  <a:srgbClr val="333333"/>
                </a:solidFill>
                <a:latin typeface="Roboto Lt"/>
                <a:cs typeface="Roboto Lt"/>
              </a:rPr>
              <a:t>on </a:t>
            </a:r>
            <a:r>
              <a:rPr sz="1300" spc="-25" dirty="0">
                <a:solidFill>
                  <a:srgbClr val="333333"/>
                </a:solidFill>
                <a:latin typeface="Roboto Lt"/>
                <a:cs typeface="Roboto Lt"/>
              </a:rPr>
              <a:t>budget, </a:t>
            </a:r>
            <a:r>
              <a:rPr sz="1300" spc="-15" dirty="0">
                <a:solidFill>
                  <a:srgbClr val="333333"/>
                </a:solidFill>
                <a:latin typeface="Roboto Lt"/>
                <a:cs typeface="Roboto Lt"/>
              </a:rPr>
              <a:t>it </a:t>
            </a:r>
            <a:r>
              <a:rPr sz="1300" spc="-20" dirty="0">
                <a:solidFill>
                  <a:srgbClr val="333333"/>
                </a:solidFill>
                <a:latin typeface="Roboto Lt"/>
                <a:cs typeface="Roboto Lt"/>
              </a:rPr>
              <a:t>can </a:t>
            </a:r>
            <a:r>
              <a:rPr sz="1300" spc="-25" dirty="0">
                <a:solidFill>
                  <a:srgbClr val="333333"/>
                </a:solidFill>
                <a:latin typeface="Roboto Lt"/>
                <a:cs typeface="Roboto Lt"/>
              </a:rPr>
              <a:t>sometimes </a:t>
            </a:r>
            <a:r>
              <a:rPr sz="1300" spc="-15" dirty="0">
                <a:solidFill>
                  <a:srgbClr val="333333"/>
                </a:solidFill>
                <a:latin typeface="Roboto Lt"/>
                <a:cs typeface="Roboto Lt"/>
              </a:rPr>
              <a:t>seem </a:t>
            </a:r>
            <a:r>
              <a:rPr sz="1300" spc="-10" dirty="0">
                <a:solidFill>
                  <a:srgbClr val="333333"/>
                </a:solidFill>
                <a:latin typeface="Roboto Lt"/>
                <a:cs typeface="Roboto Lt"/>
              </a:rPr>
              <a:t> </a:t>
            </a:r>
            <a:r>
              <a:rPr sz="1300" spc="-30" dirty="0">
                <a:solidFill>
                  <a:srgbClr val="333333"/>
                </a:solidFill>
                <a:latin typeface="Roboto Lt"/>
                <a:cs typeface="Roboto Lt"/>
              </a:rPr>
              <a:t>impossible to </a:t>
            </a:r>
            <a:r>
              <a:rPr sz="1300" spc="-25" dirty="0">
                <a:solidFill>
                  <a:srgbClr val="333333"/>
                </a:solidFill>
                <a:latin typeface="Roboto Lt"/>
                <a:cs typeface="Roboto Lt"/>
              </a:rPr>
              <a:t>lead</a:t>
            </a:r>
            <a:r>
              <a:rPr sz="1300" spc="-30" dirty="0">
                <a:solidFill>
                  <a:srgbClr val="333333"/>
                </a:solidFill>
                <a:latin typeface="Roboto Lt"/>
                <a:cs typeface="Roboto Lt"/>
              </a:rPr>
              <a:t> </a:t>
            </a:r>
            <a:r>
              <a:rPr sz="1300" spc="-25" dirty="0">
                <a:solidFill>
                  <a:srgbClr val="333333"/>
                </a:solidFill>
                <a:latin typeface="Roboto Lt"/>
                <a:cs typeface="Roboto Lt"/>
              </a:rPr>
              <a:t>new</a:t>
            </a:r>
            <a:r>
              <a:rPr sz="1300" spc="-30" dirty="0">
                <a:solidFill>
                  <a:srgbClr val="333333"/>
                </a:solidFill>
                <a:latin typeface="Roboto Lt"/>
                <a:cs typeface="Roboto Lt"/>
              </a:rPr>
              <a:t> projects</a:t>
            </a:r>
            <a:r>
              <a:rPr sz="1300" spc="-25" dirty="0">
                <a:solidFill>
                  <a:srgbClr val="333333"/>
                </a:solidFill>
                <a:latin typeface="Roboto Lt"/>
                <a:cs typeface="Roboto Lt"/>
              </a:rPr>
              <a:t> </a:t>
            </a:r>
            <a:r>
              <a:rPr sz="1300" spc="-30" dirty="0">
                <a:solidFill>
                  <a:srgbClr val="333333"/>
                </a:solidFill>
                <a:latin typeface="Roboto Lt"/>
                <a:cs typeface="Roboto Lt"/>
              </a:rPr>
              <a:t>to </a:t>
            </a:r>
            <a:r>
              <a:rPr sz="1300" spc="-25" dirty="0">
                <a:solidFill>
                  <a:srgbClr val="333333"/>
                </a:solidFill>
                <a:latin typeface="Roboto Lt"/>
                <a:cs typeface="Roboto Lt"/>
              </a:rPr>
              <a:t>success.</a:t>
            </a:r>
            <a:endParaRPr sz="1300">
              <a:latin typeface="Roboto Lt"/>
              <a:cs typeface="Roboto Lt"/>
            </a:endParaRPr>
          </a:p>
        </p:txBody>
      </p:sp>
      <p:sp>
        <p:nvSpPr>
          <p:cNvPr id="4" name="object 4"/>
          <p:cNvSpPr txBox="1"/>
          <p:nvPr/>
        </p:nvSpPr>
        <p:spPr>
          <a:xfrm>
            <a:off x="4787900" y="1510501"/>
            <a:ext cx="3678554" cy="1714500"/>
          </a:xfrm>
          <a:prstGeom prst="rect">
            <a:avLst/>
          </a:prstGeom>
        </p:spPr>
        <p:txBody>
          <a:bodyPr vert="horz" wrap="square" lIns="0" tIns="12700" rIns="0" bIns="0" rtlCol="0">
            <a:spAutoFit/>
          </a:bodyPr>
          <a:lstStyle/>
          <a:p>
            <a:pPr marL="12700" marR="5080">
              <a:lnSpc>
                <a:spcPct val="121800"/>
              </a:lnSpc>
              <a:spcBef>
                <a:spcPts val="100"/>
              </a:spcBef>
            </a:pPr>
            <a:r>
              <a:rPr sz="1300" spc="-40" dirty="0">
                <a:solidFill>
                  <a:srgbClr val="333333"/>
                </a:solidFill>
                <a:latin typeface="Roboto Lt"/>
                <a:cs typeface="Roboto Lt"/>
              </a:rPr>
              <a:t>That’s why </a:t>
            </a:r>
            <a:r>
              <a:rPr sz="1300" spc="-25" dirty="0">
                <a:solidFill>
                  <a:srgbClr val="333333"/>
                </a:solidFill>
                <a:latin typeface="Roboto Lt"/>
                <a:cs typeface="Roboto Lt"/>
              </a:rPr>
              <a:t>finding the </a:t>
            </a:r>
            <a:r>
              <a:rPr sz="1300" spc="-20" dirty="0">
                <a:solidFill>
                  <a:srgbClr val="333333"/>
                </a:solidFill>
                <a:latin typeface="Roboto Lt"/>
                <a:cs typeface="Roboto Lt"/>
              </a:rPr>
              <a:t>best </a:t>
            </a:r>
            <a:r>
              <a:rPr sz="1300" spc="-25" dirty="0">
                <a:solidFill>
                  <a:srgbClr val="333333"/>
                </a:solidFill>
                <a:latin typeface="Roboto Lt"/>
                <a:cs typeface="Roboto Lt"/>
              </a:rPr>
              <a:t>project </a:t>
            </a:r>
            <a:r>
              <a:rPr sz="1300" spc="-30" dirty="0">
                <a:solidFill>
                  <a:srgbClr val="333333"/>
                </a:solidFill>
                <a:latin typeface="Roboto Lt"/>
                <a:cs typeface="Roboto Lt"/>
              </a:rPr>
              <a:t>management </a:t>
            </a:r>
            <a:r>
              <a:rPr sz="1300" spc="-25" dirty="0">
                <a:solidFill>
                  <a:srgbClr val="333333"/>
                </a:solidFill>
                <a:latin typeface="Roboto Lt"/>
                <a:cs typeface="Roboto Lt"/>
              </a:rPr>
              <a:t> method is important </a:t>
            </a:r>
            <a:r>
              <a:rPr sz="1300" spc="-30" dirty="0">
                <a:solidFill>
                  <a:srgbClr val="333333"/>
                </a:solidFill>
                <a:latin typeface="Roboto Lt"/>
                <a:cs typeface="Roboto Lt"/>
              </a:rPr>
              <a:t>to</a:t>
            </a:r>
            <a:r>
              <a:rPr sz="1300" spc="-25" dirty="0">
                <a:solidFill>
                  <a:srgbClr val="333333"/>
                </a:solidFill>
                <a:latin typeface="Roboto Lt"/>
                <a:cs typeface="Roboto Lt"/>
              </a:rPr>
              <a:t> the success </a:t>
            </a:r>
            <a:r>
              <a:rPr sz="1300" spc="-15" dirty="0">
                <a:solidFill>
                  <a:srgbClr val="333333"/>
                </a:solidFill>
                <a:latin typeface="Roboto Lt"/>
                <a:cs typeface="Roboto Lt"/>
              </a:rPr>
              <a:t>of</a:t>
            </a:r>
            <a:r>
              <a:rPr sz="1300" spc="-25" dirty="0">
                <a:solidFill>
                  <a:srgbClr val="333333"/>
                </a:solidFill>
                <a:latin typeface="Roboto Lt"/>
                <a:cs typeface="Roboto Lt"/>
              </a:rPr>
              <a:t> </a:t>
            </a:r>
            <a:r>
              <a:rPr sz="1300" spc="-30" dirty="0">
                <a:solidFill>
                  <a:srgbClr val="333333"/>
                </a:solidFill>
                <a:latin typeface="Roboto Lt"/>
                <a:cs typeface="Roboto Lt"/>
              </a:rPr>
              <a:t>your</a:t>
            </a:r>
            <a:r>
              <a:rPr sz="1300" spc="-25" dirty="0">
                <a:solidFill>
                  <a:srgbClr val="333333"/>
                </a:solidFill>
                <a:latin typeface="Roboto Lt"/>
                <a:cs typeface="Roboto Lt"/>
              </a:rPr>
              <a:t> </a:t>
            </a:r>
            <a:r>
              <a:rPr sz="1300" spc="-30" dirty="0">
                <a:solidFill>
                  <a:srgbClr val="333333"/>
                </a:solidFill>
                <a:latin typeface="Roboto Lt"/>
                <a:cs typeface="Roboto Lt"/>
              </a:rPr>
              <a:t>projects. </a:t>
            </a:r>
            <a:r>
              <a:rPr sz="1300" spc="-300" dirty="0">
                <a:solidFill>
                  <a:srgbClr val="333333"/>
                </a:solidFill>
                <a:latin typeface="Roboto Lt"/>
                <a:cs typeface="Roboto Lt"/>
              </a:rPr>
              <a:t> </a:t>
            </a:r>
            <a:r>
              <a:rPr sz="1300" spc="-25" dirty="0">
                <a:solidFill>
                  <a:srgbClr val="333333"/>
                </a:solidFill>
                <a:latin typeface="Roboto Lt"/>
                <a:cs typeface="Roboto Lt"/>
              </a:rPr>
              <a:t>Whether </a:t>
            </a:r>
            <a:r>
              <a:rPr sz="1300" spc="-30" dirty="0">
                <a:solidFill>
                  <a:srgbClr val="333333"/>
                </a:solidFill>
                <a:latin typeface="Roboto Lt"/>
                <a:cs typeface="Roboto Lt"/>
              </a:rPr>
              <a:t>you </a:t>
            </a:r>
            <a:r>
              <a:rPr sz="1300" spc="-20" dirty="0">
                <a:solidFill>
                  <a:srgbClr val="333333"/>
                </a:solidFill>
                <a:latin typeface="Roboto Lt"/>
                <a:cs typeface="Roboto Lt"/>
              </a:rPr>
              <a:t>decide </a:t>
            </a:r>
            <a:r>
              <a:rPr sz="1300" spc="-30" dirty="0">
                <a:solidFill>
                  <a:srgbClr val="333333"/>
                </a:solidFill>
                <a:latin typeface="Roboto Lt"/>
                <a:cs typeface="Roboto Lt"/>
              </a:rPr>
              <a:t>to </a:t>
            </a:r>
            <a:r>
              <a:rPr sz="1300" spc="-10" dirty="0">
                <a:solidFill>
                  <a:srgbClr val="333333"/>
                </a:solidFill>
                <a:latin typeface="Roboto Lt"/>
                <a:cs typeface="Roboto Lt"/>
              </a:rPr>
              <a:t>go </a:t>
            </a:r>
            <a:r>
              <a:rPr sz="1300" spc="-30" dirty="0">
                <a:solidFill>
                  <a:srgbClr val="333333"/>
                </a:solidFill>
                <a:latin typeface="Roboto Lt"/>
                <a:cs typeface="Roboto Lt"/>
              </a:rPr>
              <a:t>with </a:t>
            </a:r>
            <a:r>
              <a:rPr sz="1300" spc="-25" dirty="0">
                <a:solidFill>
                  <a:srgbClr val="333333"/>
                </a:solidFill>
                <a:latin typeface="Roboto Lt"/>
                <a:cs typeface="Roboto Lt"/>
              </a:rPr>
              <a:t>Agile, </a:t>
            </a:r>
            <a:r>
              <a:rPr sz="1300" spc="-20" dirty="0">
                <a:solidFill>
                  <a:srgbClr val="333333"/>
                </a:solidFill>
                <a:latin typeface="Roboto Lt"/>
                <a:cs typeface="Roboto Lt"/>
              </a:rPr>
              <a:t>Scrum, </a:t>
            </a:r>
            <a:r>
              <a:rPr sz="1300" spc="-30" dirty="0">
                <a:solidFill>
                  <a:srgbClr val="333333"/>
                </a:solidFill>
                <a:latin typeface="Roboto Lt"/>
                <a:cs typeface="Roboto Lt"/>
              </a:rPr>
              <a:t>Kanban, </a:t>
            </a:r>
            <a:r>
              <a:rPr sz="1300" spc="-305" dirty="0">
                <a:solidFill>
                  <a:srgbClr val="333333"/>
                </a:solidFill>
                <a:latin typeface="Roboto Lt"/>
                <a:cs typeface="Roboto Lt"/>
              </a:rPr>
              <a:t> </a:t>
            </a:r>
            <a:r>
              <a:rPr sz="1300" spc="-15" dirty="0">
                <a:solidFill>
                  <a:srgbClr val="333333"/>
                </a:solidFill>
                <a:latin typeface="Roboto Lt"/>
                <a:cs typeface="Roboto Lt"/>
              </a:rPr>
              <a:t>or </a:t>
            </a:r>
            <a:r>
              <a:rPr sz="1300" spc="-30" dirty="0">
                <a:solidFill>
                  <a:srgbClr val="333333"/>
                </a:solidFill>
                <a:latin typeface="Roboto Lt"/>
                <a:cs typeface="Roboto Lt"/>
              </a:rPr>
              <a:t>even </a:t>
            </a:r>
            <a:r>
              <a:rPr sz="1300" spc="-5" dirty="0">
                <a:solidFill>
                  <a:srgbClr val="333333"/>
                </a:solidFill>
                <a:latin typeface="Roboto Lt"/>
                <a:cs typeface="Roboto Lt"/>
              </a:rPr>
              <a:t>a </a:t>
            </a:r>
            <a:r>
              <a:rPr sz="1300" spc="-35" dirty="0">
                <a:solidFill>
                  <a:srgbClr val="333333"/>
                </a:solidFill>
                <a:latin typeface="Roboto Lt"/>
                <a:cs typeface="Roboto Lt"/>
              </a:rPr>
              <a:t>hybrid </a:t>
            </a:r>
            <a:r>
              <a:rPr sz="1300" spc="-15" dirty="0">
                <a:solidFill>
                  <a:srgbClr val="333333"/>
                </a:solidFill>
                <a:latin typeface="Roboto Lt"/>
                <a:cs typeface="Roboto Lt"/>
              </a:rPr>
              <a:t>of </a:t>
            </a:r>
            <a:r>
              <a:rPr sz="1300" spc="-30" dirty="0">
                <a:solidFill>
                  <a:srgbClr val="333333"/>
                </a:solidFill>
                <a:latin typeface="Roboto Lt"/>
                <a:cs typeface="Roboto Lt"/>
              </a:rPr>
              <a:t>multiple </a:t>
            </a:r>
            <a:r>
              <a:rPr sz="1300" spc="-25" dirty="0">
                <a:solidFill>
                  <a:srgbClr val="333333"/>
                </a:solidFill>
                <a:latin typeface="Roboto Lt"/>
                <a:cs typeface="Roboto Lt"/>
              </a:rPr>
              <a:t>methods, deciding </a:t>
            </a:r>
            <a:r>
              <a:rPr sz="1300" spc="-15" dirty="0">
                <a:solidFill>
                  <a:srgbClr val="333333"/>
                </a:solidFill>
                <a:latin typeface="Roboto Lt"/>
                <a:cs typeface="Roboto Lt"/>
              </a:rPr>
              <a:t>on </a:t>
            </a:r>
            <a:r>
              <a:rPr sz="1300" spc="-5" dirty="0">
                <a:solidFill>
                  <a:srgbClr val="333333"/>
                </a:solidFill>
                <a:latin typeface="Roboto Lt"/>
                <a:cs typeface="Roboto Lt"/>
              </a:rPr>
              <a:t>a </a:t>
            </a:r>
            <a:r>
              <a:rPr sz="1300" dirty="0">
                <a:solidFill>
                  <a:srgbClr val="333333"/>
                </a:solidFill>
                <a:latin typeface="Roboto Lt"/>
                <a:cs typeface="Roboto Lt"/>
              </a:rPr>
              <a:t> </a:t>
            </a:r>
            <a:r>
              <a:rPr sz="1300" spc="-30" dirty="0">
                <a:solidFill>
                  <a:srgbClr val="333333"/>
                </a:solidFill>
                <a:latin typeface="Roboto Lt"/>
                <a:cs typeface="Roboto Lt"/>
              </a:rPr>
              <a:t>standard</a:t>
            </a:r>
            <a:r>
              <a:rPr sz="1300" spc="-35" dirty="0">
                <a:solidFill>
                  <a:srgbClr val="333333"/>
                </a:solidFill>
                <a:latin typeface="Roboto Lt"/>
                <a:cs typeface="Roboto Lt"/>
              </a:rPr>
              <a:t> </a:t>
            </a:r>
            <a:r>
              <a:rPr sz="1300" spc="-40" dirty="0">
                <a:solidFill>
                  <a:srgbClr val="333333"/>
                </a:solidFill>
                <a:latin typeface="Roboto Lt"/>
                <a:cs typeface="Roboto Lt"/>
              </a:rPr>
              <a:t>way</a:t>
            </a:r>
            <a:r>
              <a:rPr sz="1300" spc="-30" dirty="0">
                <a:solidFill>
                  <a:srgbClr val="333333"/>
                </a:solidFill>
                <a:latin typeface="Roboto Lt"/>
                <a:cs typeface="Roboto Lt"/>
              </a:rPr>
              <a:t> to </a:t>
            </a:r>
            <a:r>
              <a:rPr sz="1300" spc="-25" dirty="0">
                <a:solidFill>
                  <a:srgbClr val="333333"/>
                </a:solidFill>
                <a:latin typeface="Roboto Lt"/>
                <a:cs typeface="Roboto Lt"/>
              </a:rPr>
              <a:t>manage</a:t>
            </a:r>
            <a:r>
              <a:rPr sz="1300" spc="-30" dirty="0">
                <a:solidFill>
                  <a:srgbClr val="333333"/>
                </a:solidFill>
                <a:latin typeface="Roboto Lt"/>
                <a:cs typeface="Roboto Lt"/>
              </a:rPr>
              <a:t> projects </a:t>
            </a:r>
            <a:r>
              <a:rPr sz="1300" spc="-35" dirty="0">
                <a:solidFill>
                  <a:srgbClr val="333333"/>
                </a:solidFill>
                <a:latin typeface="Roboto Lt"/>
                <a:cs typeface="Roboto Lt"/>
              </a:rPr>
              <a:t>will</a:t>
            </a:r>
            <a:r>
              <a:rPr sz="1300" spc="-30" dirty="0">
                <a:solidFill>
                  <a:srgbClr val="333333"/>
                </a:solidFill>
                <a:latin typeface="Roboto Lt"/>
                <a:cs typeface="Roboto Lt"/>
              </a:rPr>
              <a:t> </a:t>
            </a:r>
            <a:r>
              <a:rPr sz="1300" spc="-25" dirty="0">
                <a:solidFill>
                  <a:srgbClr val="333333"/>
                </a:solidFill>
                <a:latin typeface="Roboto Lt"/>
                <a:cs typeface="Roboto Lt"/>
              </a:rPr>
              <a:t>help</a:t>
            </a:r>
            <a:r>
              <a:rPr sz="1300" spc="-30" dirty="0">
                <a:solidFill>
                  <a:srgbClr val="333333"/>
                </a:solidFill>
                <a:latin typeface="Roboto Lt"/>
                <a:cs typeface="Roboto Lt"/>
              </a:rPr>
              <a:t> to </a:t>
            </a:r>
            <a:r>
              <a:rPr sz="1300" spc="-25" dirty="0">
                <a:solidFill>
                  <a:srgbClr val="333333"/>
                </a:solidFill>
                <a:latin typeface="Roboto Lt"/>
                <a:cs typeface="Roboto Lt"/>
              </a:rPr>
              <a:t> </a:t>
            </a:r>
            <a:r>
              <a:rPr sz="1300" spc="-30" dirty="0">
                <a:solidFill>
                  <a:srgbClr val="333333"/>
                </a:solidFill>
                <a:latin typeface="Roboto Lt"/>
                <a:cs typeface="Roboto Lt"/>
              </a:rPr>
              <a:t>streamline </a:t>
            </a:r>
            <a:r>
              <a:rPr sz="1300" spc="-25" dirty="0">
                <a:solidFill>
                  <a:srgbClr val="333333"/>
                </a:solidFill>
                <a:latin typeface="Roboto Lt"/>
                <a:cs typeface="Roboto Lt"/>
              </a:rPr>
              <a:t>the process, </a:t>
            </a:r>
            <a:r>
              <a:rPr sz="1300" spc="-30" dirty="0">
                <a:solidFill>
                  <a:srgbClr val="333333"/>
                </a:solidFill>
                <a:latin typeface="Roboto Lt"/>
                <a:cs typeface="Roboto Lt"/>
              </a:rPr>
              <a:t>increase team </a:t>
            </a:r>
            <a:r>
              <a:rPr sz="1300" spc="-25" dirty="0">
                <a:solidFill>
                  <a:srgbClr val="333333"/>
                </a:solidFill>
                <a:latin typeface="Roboto Lt"/>
                <a:cs typeface="Roboto Lt"/>
              </a:rPr>
              <a:t>output, and </a:t>
            </a:r>
            <a:r>
              <a:rPr sz="1300" spc="-20" dirty="0">
                <a:solidFill>
                  <a:srgbClr val="333333"/>
                </a:solidFill>
                <a:latin typeface="Roboto Lt"/>
                <a:cs typeface="Roboto Lt"/>
              </a:rPr>
              <a:t> </a:t>
            </a:r>
            <a:r>
              <a:rPr sz="1300" spc="-25" dirty="0">
                <a:solidFill>
                  <a:srgbClr val="333333"/>
                </a:solidFill>
                <a:latin typeface="Roboto Lt"/>
                <a:cs typeface="Roboto Lt"/>
              </a:rPr>
              <a:t>keep</a:t>
            </a:r>
            <a:r>
              <a:rPr sz="1300" spc="-35" dirty="0">
                <a:solidFill>
                  <a:srgbClr val="333333"/>
                </a:solidFill>
                <a:latin typeface="Roboto Lt"/>
                <a:cs typeface="Roboto Lt"/>
              </a:rPr>
              <a:t> </a:t>
            </a:r>
            <a:r>
              <a:rPr sz="1300" spc="-30" dirty="0">
                <a:solidFill>
                  <a:srgbClr val="333333"/>
                </a:solidFill>
                <a:latin typeface="Roboto Lt"/>
                <a:cs typeface="Roboto Lt"/>
              </a:rPr>
              <a:t>projects </a:t>
            </a:r>
            <a:r>
              <a:rPr sz="1300" spc="-15" dirty="0">
                <a:solidFill>
                  <a:srgbClr val="333333"/>
                </a:solidFill>
                <a:latin typeface="Roboto Lt"/>
                <a:cs typeface="Roboto Lt"/>
              </a:rPr>
              <a:t>on</a:t>
            </a:r>
            <a:r>
              <a:rPr sz="1300" spc="-30" dirty="0">
                <a:solidFill>
                  <a:srgbClr val="333333"/>
                </a:solidFill>
                <a:latin typeface="Roboto Lt"/>
                <a:cs typeface="Roboto Lt"/>
              </a:rPr>
              <a:t> </a:t>
            </a:r>
            <a:r>
              <a:rPr sz="1300" spc="-20" dirty="0">
                <a:solidFill>
                  <a:srgbClr val="333333"/>
                </a:solidFill>
                <a:latin typeface="Roboto Lt"/>
                <a:cs typeface="Roboto Lt"/>
              </a:rPr>
              <a:t>track.</a:t>
            </a:r>
            <a:endParaRPr sz="1300">
              <a:latin typeface="Roboto Lt"/>
              <a:cs typeface="Roboto Lt"/>
            </a:endParaRPr>
          </a:p>
        </p:txBody>
      </p:sp>
      <p:sp>
        <p:nvSpPr>
          <p:cNvPr id="5" name="object 5"/>
          <p:cNvSpPr txBox="1"/>
          <p:nvPr/>
        </p:nvSpPr>
        <p:spPr>
          <a:xfrm>
            <a:off x="4787900" y="3371051"/>
            <a:ext cx="3761740" cy="990600"/>
          </a:xfrm>
          <a:prstGeom prst="rect">
            <a:avLst/>
          </a:prstGeom>
        </p:spPr>
        <p:txBody>
          <a:bodyPr vert="horz" wrap="square" lIns="0" tIns="12700" rIns="0" bIns="0" rtlCol="0">
            <a:spAutoFit/>
          </a:bodyPr>
          <a:lstStyle/>
          <a:p>
            <a:pPr marL="12700" marR="5080">
              <a:lnSpc>
                <a:spcPct val="121800"/>
              </a:lnSpc>
              <a:spcBef>
                <a:spcPts val="100"/>
              </a:spcBef>
            </a:pPr>
            <a:r>
              <a:rPr sz="1300" spc="-25" dirty="0">
                <a:solidFill>
                  <a:srgbClr val="333333"/>
                </a:solidFill>
                <a:latin typeface="Roboto Lt"/>
                <a:cs typeface="Roboto Lt"/>
              </a:rPr>
              <a:t>Plus, </a:t>
            </a:r>
            <a:r>
              <a:rPr sz="1300" spc="-20" dirty="0">
                <a:solidFill>
                  <a:srgbClr val="333333"/>
                </a:solidFill>
                <a:latin typeface="Roboto Lt"/>
                <a:cs typeface="Roboto Lt"/>
              </a:rPr>
              <a:t>once </a:t>
            </a:r>
            <a:r>
              <a:rPr sz="1300" spc="-45" dirty="0">
                <a:solidFill>
                  <a:srgbClr val="333333"/>
                </a:solidFill>
                <a:latin typeface="Roboto Lt"/>
                <a:cs typeface="Roboto Lt"/>
              </a:rPr>
              <a:t>you’ve </a:t>
            </a:r>
            <a:r>
              <a:rPr sz="1300" spc="-30" dirty="0">
                <a:solidFill>
                  <a:srgbClr val="333333"/>
                </a:solidFill>
                <a:latin typeface="Roboto Lt"/>
                <a:cs typeface="Roboto Lt"/>
              </a:rPr>
              <a:t>picked </a:t>
            </a:r>
            <a:r>
              <a:rPr sz="1300" spc="-25" dirty="0">
                <a:solidFill>
                  <a:srgbClr val="333333"/>
                </a:solidFill>
                <a:latin typeface="Roboto Lt"/>
                <a:cs typeface="Roboto Lt"/>
              </a:rPr>
              <a:t>the </a:t>
            </a:r>
            <a:r>
              <a:rPr sz="1300" spc="-20" dirty="0">
                <a:solidFill>
                  <a:srgbClr val="333333"/>
                </a:solidFill>
                <a:latin typeface="Roboto Lt"/>
                <a:cs typeface="Roboto Lt"/>
              </a:rPr>
              <a:t>best </a:t>
            </a:r>
            <a:r>
              <a:rPr sz="1300" spc="-25" dirty="0">
                <a:solidFill>
                  <a:srgbClr val="333333"/>
                </a:solidFill>
                <a:latin typeface="Roboto Lt"/>
                <a:cs typeface="Roboto Lt"/>
              </a:rPr>
              <a:t>method </a:t>
            </a:r>
            <a:r>
              <a:rPr sz="1300" spc="-20" dirty="0">
                <a:solidFill>
                  <a:srgbClr val="333333"/>
                </a:solidFill>
                <a:latin typeface="Roboto Lt"/>
                <a:cs typeface="Roboto Lt"/>
              </a:rPr>
              <a:t>for </a:t>
            </a:r>
            <a:r>
              <a:rPr sz="1300" spc="-30" dirty="0">
                <a:solidFill>
                  <a:srgbClr val="333333"/>
                </a:solidFill>
                <a:latin typeface="Roboto Lt"/>
                <a:cs typeface="Roboto Lt"/>
              </a:rPr>
              <a:t>your </a:t>
            </a:r>
            <a:r>
              <a:rPr sz="1300" spc="-25" dirty="0">
                <a:solidFill>
                  <a:srgbClr val="333333"/>
                </a:solidFill>
                <a:latin typeface="Roboto Lt"/>
                <a:cs typeface="Roboto Lt"/>
              </a:rPr>
              <a:t> team, finding the </a:t>
            </a:r>
            <a:r>
              <a:rPr sz="1300" spc="-30" dirty="0">
                <a:solidFill>
                  <a:srgbClr val="333333"/>
                </a:solidFill>
                <a:latin typeface="Roboto Lt"/>
                <a:cs typeface="Roboto Lt"/>
              </a:rPr>
              <a:t>right agile </a:t>
            </a:r>
            <a:r>
              <a:rPr sz="1300" spc="-25" dirty="0">
                <a:solidFill>
                  <a:srgbClr val="333333"/>
                </a:solidFill>
                <a:latin typeface="Roboto Lt"/>
                <a:cs typeface="Roboto Lt"/>
              </a:rPr>
              <a:t>project </a:t>
            </a:r>
            <a:r>
              <a:rPr sz="1300" spc="-30" dirty="0">
                <a:solidFill>
                  <a:srgbClr val="333333"/>
                </a:solidFill>
                <a:latin typeface="Roboto Lt"/>
                <a:cs typeface="Roboto Lt"/>
              </a:rPr>
              <a:t>management </a:t>
            </a:r>
            <a:r>
              <a:rPr sz="1300" spc="-25" dirty="0">
                <a:solidFill>
                  <a:srgbClr val="333333"/>
                </a:solidFill>
                <a:latin typeface="Roboto Lt"/>
                <a:cs typeface="Roboto Lt"/>
              </a:rPr>
              <a:t>tool </a:t>
            </a:r>
            <a:r>
              <a:rPr sz="1300" spc="-20" dirty="0">
                <a:solidFill>
                  <a:srgbClr val="333333"/>
                </a:solidFill>
                <a:latin typeface="Roboto Lt"/>
                <a:cs typeface="Roboto Lt"/>
              </a:rPr>
              <a:t> can </a:t>
            </a:r>
            <a:r>
              <a:rPr sz="1300" spc="-25" dirty="0">
                <a:solidFill>
                  <a:srgbClr val="333333"/>
                </a:solidFill>
                <a:latin typeface="Roboto Lt"/>
                <a:cs typeface="Roboto Lt"/>
              </a:rPr>
              <a:t>help implement and track the process and </a:t>
            </a:r>
            <a:r>
              <a:rPr sz="1300" spc="-30" dirty="0">
                <a:solidFill>
                  <a:srgbClr val="333333"/>
                </a:solidFill>
                <a:latin typeface="Roboto Lt"/>
                <a:cs typeface="Roboto Lt"/>
              </a:rPr>
              <a:t>ensure </a:t>
            </a:r>
            <a:r>
              <a:rPr sz="1300" spc="-305" dirty="0">
                <a:solidFill>
                  <a:srgbClr val="333333"/>
                </a:solidFill>
                <a:latin typeface="Roboto Lt"/>
                <a:cs typeface="Roboto Lt"/>
              </a:rPr>
              <a:t> </a:t>
            </a:r>
            <a:r>
              <a:rPr sz="1300" spc="-15" dirty="0">
                <a:solidFill>
                  <a:srgbClr val="333333"/>
                </a:solidFill>
                <a:latin typeface="Roboto Lt"/>
                <a:cs typeface="Roboto Lt"/>
              </a:rPr>
              <a:t>no</a:t>
            </a:r>
            <a:r>
              <a:rPr sz="1300" spc="-35" dirty="0">
                <a:solidFill>
                  <a:srgbClr val="333333"/>
                </a:solidFill>
                <a:latin typeface="Roboto Lt"/>
                <a:cs typeface="Roboto Lt"/>
              </a:rPr>
              <a:t> </a:t>
            </a:r>
            <a:r>
              <a:rPr sz="1300" spc="-30" dirty="0">
                <a:solidFill>
                  <a:srgbClr val="333333"/>
                </a:solidFill>
                <a:latin typeface="Roboto Lt"/>
                <a:cs typeface="Roboto Lt"/>
              </a:rPr>
              <a:t>detail </a:t>
            </a:r>
            <a:r>
              <a:rPr sz="1300" spc="-25" dirty="0">
                <a:solidFill>
                  <a:srgbClr val="333333"/>
                </a:solidFill>
                <a:latin typeface="Roboto Lt"/>
                <a:cs typeface="Roboto Lt"/>
              </a:rPr>
              <a:t>is</a:t>
            </a:r>
            <a:r>
              <a:rPr sz="1300" spc="-30" dirty="0">
                <a:solidFill>
                  <a:srgbClr val="333333"/>
                </a:solidFill>
                <a:latin typeface="Roboto Lt"/>
                <a:cs typeface="Roboto Lt"/>
              </a:rPr>
              <a:t> </a:t>
            </a:r>
            <a:r>
              <a:rPr sz="1300" spc="-25" dirty="0">
                <a:solidFill>
                  <a:srgbClr val="333333"/>
                </a:solidFill>
                <a:latin typeface="Roboto Lt"/>
                <a:cs typeface="Roboto Lt"/>
              </a:rPr>
              <a:t>missed.</a:t>
            </a:r>
            <a:endParaRPr sz="1300">
              <a:latin typeface="Roboto Lt"/>
              <a:cs typeface="Roboto Lt"/>
            </a:endParaRPr>
          </a:p>
        </p:txBody>
      </p:sp>
      <p:sp>
        <p:nvSpPr>
          <p:cNvPr id="6" name="object 6"/>
          <p:cNvSpPr txBox="1">
            <a:spLocks noGrp="1"/>
          </p:cNvSpPr>
          <p:nvPr>
            <p:ph type="title"/>
          </p:nvPr>
        </p:nvSpPr>
        <p:spPr>
          <a:xfrm>
            <a:off x="526368" y="510301"/>
            <a:ext cx="2867025" cy="2501900"/>
          </a:xfrm>
          <a:prstGeom prst="rect">
            <a:avLst/>
          </a:prstGeom>
        </p:spPr>
        <p:txBody>
          <a:bodyPr vert="horz" wrap="square" lIns="0" tIns="106680" rIns="0" bIns="0" rtlCol="0">
            <a:spAutoFit/>
          </a:bodyPr>
          <a:lstStyle/>
          <a:p>
            <a:pPr marL="12700" marR="30480">
              <a:lnSpc>
                <a:spcPts val="4700"/>
              </a:lnSpc>
              <a:spcBef>
                <a:spcPts val="840"/>
              </a:spcBef>
            </a:pPr>
            <a:r>
              <a:rPr spc="15" dirty="0"/>
              <a:t>A</a:t>
            </a:r>
            <a:r>
              <a:rPr spc="-535" dirty="0"/>
              <a:t> </a:t>
            </a:r>
            <a:r>
              <a:rPr spc="95" dirty="0"/>
              <a:t>Mo</a:t>
            </a:r>
            <a:r>
              <a:rPr spc="100" dirty="0"/>
              <a:t>r</a:t>
            </a:r>
            <a:r>
              <a:rPr spc="185" dirty="0"/>
              <a:t>e  </a:t>
            </a:r>
            <a:r>
              <a:rPr spc="-150" dirty="0"/>
              <a:t>A</a:t>
            </a:r>
            <a:r>
              <a:rPr spc="-280" dirty="0"/>
              <a:t>g</a:t>
            </a:r>
            <a:r>
              <a:rPr spc="-55" dirty="0"/>
              <a:t>i</a:t>
            </a:r>
            <a:r>
              <a:rPr spc="-70" dirty="0"/>
              <a:t>l</a:t>
            </a:r>
            <a:r>
              <a:rPr spc="275" dirty="0"/>
              <a:t>e</a:t>
            </a:r>
            <a:r>
              <a:rPr spc="-535" dirty="0"/>
              <a:t> </a:t>
            </a:r>
            <a:r>
              <a:rPr spc="50" dirty="0"/>
              <a:t>W</a:t>
            </a:r>
            <a:r>
              <a:rPr spc="-70" dirty="0"/>
              <a:t>a</a:t>
            </a:r>
            <a:r>
              <a:rPr spc="160" dirty="0"/>
              <a:t>y  </a:t>
            </a:r>
            <a:r>
              <a:rPr spc="300" dirty="0"/>
              <a:t>t</a:t>
            </a:r>
            <a:r>
              <a:rPr spc="114" dirty="0"/>
              <a:t>o</a:t>
            </a:r>
            <a:r>
              <a:rPr spc="-535" dirty="0"/>
              <a:t> </a:t>
            </a:r>
            <a:r>
              <a:rPr spc="330" dirty="0"/>
              <a:t>M</a:t>
            </a:r>
            <a:r>
              <a:rPr spc="40" dirty="0"/>
              <a:t>a</a:t>
            </a:r>
            <a:r>
              <a:rPr spc="-20" dirty="0"/>
              <a:t>n</a:t>
            </a:r>
            <a:r>
              <a:rPr spc="5" dirty="0"/>
              <a:t>a</a:t>
            </a:r>
            <a:r>
              <a:rPr spc="-215" dirty="0"/>
              <a:t>ge  </a:t>
            </a:r>
            <a:r>
              <a:rPr spc="114" dirty="0"/>
              <a:t>Work</a:t>
            </a:r>
          </a:p>
        </p:txBody>
      </p:sp>
      <p:sp>
        <p:nvSpPr>
          <p:cNvPr id="7" name="object 7"/>
          <p:cNvSpPr/>
          <p:nvPr/>
        </p:nvSpPr>
        <p:spPr>
          <a:xfrm>
            <a:off x="660387" y="3449332"/>
            <a:ext cx="2800350" cy="1788160"/>
          </a:xfrm>
          <a:custGeom>
            <a:avLst/>
            <a:gdLst/>
            <a:ahLst/>
            <a:cxnLst/>
            <a:rect l="l" t="t" r="r" b="b"/>
            <a:pathLst>
              <a:path w="2800350" h="1788160">
                <a:moveTo>
                  <a:pt x="1682343" y="866114"/>
                </a:moveTo>
                <a:lnTo>
                  <a:pt x="1626463" y="866114"/>
                </a:lnTo>
                <a:lnTo>
                  <a:pt x="1626463" y="921994"/>
                </a:lnTo>
                <a:lnTo>
                  <a:pt x="1682343" y="921994"/>
                </a:lnTo>
                <a:lnTo>
                  <a:pt x="1682343" y="866114"/>
                </a:lnTo>
                <a:close/>
              </a:path>
              <a:path w="2800350" h="1788160">
                <a:moveTo>
                  <a:pt x="1773301" y="179692"/>
                </a:moveTo>
                <a:lnTo>
                  <a:pt x="1763153" y="124739"/>
                </a:lnTo>
                <a:lnTo>
                  <a:pt x="1715401" y="135089"/>
                </a:lnTo>
                <a:lnTo>
                  <a:pt x="1668894" y="148221"/>
                </a:lnTo>
                <a:lnTo>
                  <a:pt x="1623695" y="164058"/>
                </a:lnTo>
                <a:lnTo>
                  <a:pt x="1579892" y="182486"/>
                </a:lnTo>
                <a:lnTo>
                  <a:pt x="1537576" y="203415"/>
                </a:lnTo>
                <a:lnTo>
                  <a:pt x="1496822" y="226745"/>
                </a:lnTo>
                <a:lnTo>
                  <a:pt x="1457718" y="252374"/>
                </a:lnTo>
                <a:lnTo>
                  <a:pt x="1420355" y="280200"/>
                </a:lnTo>
                <a:lnTo>
                  <a:pt x="1384795" y="310134"/>
                </a:lnTo>
                <a:lnTo>
                  <a:pt x="1351127" y="342061"/>
                </a:lnTo>
                <a:lnTo>
                  <a:pt x="1319441" y="375894"/>
                </a:lnTo>
                <a:lnTo>
                  <a:pt x="1289812" y="411518"/>
                </a:lnTo>
                <a:lnTo>
                  <a:pt x="1262329" y="448856"/>
                </a:lnTo>
                <a:lnTo>
                  <a:pt x="1237068" y="487807"/>
                </a:lnTo>
                <a:lnTo>
                  <a:pt x="1214120" y="528243"/>
                </a:lnTo>
                <a:lnTo>
                  <a:pt x="1193571" y="570103"/>
                </a:lnTo>
                <a:lnTo>
                  <a:pt x="1175486" y="613257"/>
                </a:lnTo>
                <a:lnTo>
                  <a:pt x="1159954" y="657631"/>
                </a:lnTo>
                <a:lnTo>
                  <a:pt x="1147064" y="703097"/>
                </a:lnTo>
                <a:lnTo>
                  <a:pt x="1136891" y="749579"/>
                </a:lnTo>
                <a:lnTo>
                  <a:pt x="1129525" y="796975"/>
                </a:lnTo>
                <a:lnTo>
                  <a:pt x="1125042" y="845172"/>
                </a:lnTo>
                <a:lnTo>
                  <a:pt x="1123530" y="894080"/>
                </a:lnTo>
                <a:lnTo>
                  <a:pt x="1124978" y="942454"/>
                </a:lnTo>
                <a:lnTo>
                  <a:pt x="1129309" y="990180"/>
                </a:lnTo>
                <a:lnTo>
                  <a:pt x="1136434" y="1037196"/>
                </a:lnTo>
                <a:lnTo>
                  <a:pt x="1146327" y="1083373"/>
                </a:lnTo>
                <a:lnTo>
                  <a:pt x="1158925" y="1128623"/>
                </a:lnTo>
                <a:lnTo>
                  <a:pt x="1174153" y="1172857"/>
                </a:lnTo>
                <a:lnTo>
                  <a:pt x="1191983" y="1215961"/>
                </a:lnTo>
                <a:lnTo>
                  <a:pt x="1212342" y="1257833"/>
                </a:lnTo>
                <a:lnTo>
                  <a:pt x="1235176" y="1298384"/>
                </a:lnTo>
                <a:lnTo>
                  <a:pt x="1260424" y="1337513"/>
                </a:lnTo>
                <a:lnTo>
                  <a:pt x="1288046" y="1375130"/>
                </a:lnTo>
                <a:lnTo>
                  <a:pt x="1317967" y="1411109"/>
                </a:lnTo>
                <a:lnTo>
                  <a:pt x="1350149" y="1445374"/>
                </a:lnTo>
                <a:lnTo>
                  <a:pt x="1384528" y="1477822"/>
                </a:lnTo>
                <a:lnTo>
                  <a:pt x="1421053" y="1508340"/>
                </a:lnTo>
                <a:lnTo>
                  <a:pt x="1459661" y="1536852"/>
                </a:lnTo>
                <a:lnTo>
                  <a:pt x="1500289" y="1563230"/>
                </a:lnTo>
                <a:lnTo>
                  <a:pt x="1529321" y="1515478"/>
                </a:lnTo>
                <a:lnTo>
                  <a:pt x="1486687" y="1487563"/>
                </a:lnTo>
                <a:lnTo>
                  <a:pt x="1446491" y="1457134"/>
                </a:lnTo>
                <a:lnTo>
                  <a:pt x="1408798" y="1424317"/>
                </a:lnTo>
                <a:lnTo>
                  <a:pt x="1373682" y="1389265"/>
                </a:lnTo>
                <a:lnTo>
                  <a:pt x="1341221" y="1352105"/>
                </a:lnTo>
                <a:lnTo>
                  <a:pt x="1311503" y="1312976"/>
                </a:lnTo>
                <a:lnTo>
                  <a:pt x="1284592" y="1271993"/>
                </a:lnTo>
                <a:lnTo>
                  <a:pt x="1260551" y="1229321"/>
                </a:lnTo>
                <a:lnTo>
                  <a:pt x="1239481" y="1185062"/>
                </a:lnTo>
                <a:lnTo>
                  <a:pt x="1221435" y="1139380"/>
                </a:lnTo>
                <a:lnTo>
                  <a:pt x="1206512" y="1092390"/>
                </a:lnTo>
                <a:lnTo>
                  <a:pt x="1194765" y="1044232"/>
                </a:lnTo>
                <a:lnTo>
                  <a:pt x="1186281" y="995032"/>
                </a:lnTo>
                <a:lnTo>
                  <a:pt x="1181138" y="944943"/>
                </a:lnTo>
                <a:lnTo>
                  <a:pt x="1179410" y="894080"/>
                </a:lnTo>
                <a:lnTo>
                  <a:pt x="1181100" y="844372"/>
                </a:lnTo>
                <a:lnTo>
                  <a:pt x="1186078" y="795464"/>
                </a:lnTo>
                <a:lnTo>
                  <a:pt x="1194257" y="747471"/>
                </a:lnTo>
                <a:lnTo>
                  <a:pt x="1205522" y="700532"/>
                </a:lnTo>
                <a:lnTo>
                  <a:pt x="1219796" y="654761"/>
                </a:lnTo>
                <a:lnTo>
                  <a:pt x="1236954" y="610273"/>
                </a:lnTo>
                <a:lnTo>
                  <a:pt x="1256919" y="567182"/>
                </a:lnTo>
                <a:lnTo>
                  <a:pt x="1279563" y="525640"/>
                </a:lnTo>
                <a:lnTo>
                  <a:pt x="1304810" y="485736"/>
                </a:lnTo>
                <a:lnTo>
                  <a:pt x="1332547" y="447598"/>
                </a:lnTo>
                <a:lnTo>
                  <a:pt x="1362671" y="411365"/>
                </a:lnTo>
                <a:lnTo>
                  <a:pt x="1395082" y="377139"/>
                </a:lnTo>
                <a:lnTo>
                  <a:pt x="1429689" y="345046"/>
                </a:lnTo>
                <a:lnTo>
                  <a:pt x="1466392" y="315214"/>
                </a:lnTo>
                <a:lnTo>
                  <a:pt x="1505077" y="287756"/>
                </a:lnTo>
                <a:lnTo>
                  <a:pt x="1545640" y="262788"/>
                </a:lnTo>
                <a:lnTo>
                  <a:pt x="1588008" y="240449"/>
                </a:lnTo>
                <a:lnTo>
                  <a:pt x="1632051" y="220853"/>
                </a:lnTo>
                <a:lnTo>
                  <a:pt x="1677682" y="204101"/>
                </a:lnTo>
                <a:lnTo>
                  <a:pt x="1724799" y="190347"/>
                </a:lnTo>
                <a:lnTo>
                  <a:pt x="1773301" y="179692"/>
                </a:lnTo>
                <a:close/>
              </a:path>
              <a:path w="2800350" h="1788160">
                <a:moveTo>
                  <a:pt x="1933803" y="1117574"/>
                </a:moveTo>
                <a:lnTo>
                  <a:pt x="1877923" y="1117574"/>
                </a:lnTo>
                <a:lnTo>
                  <a:pt x="1877923" y="1173454"/>
                </a:lnTo>
                <a:lnTo>
                  <a:pt x="1933803" y="1173454"/>
                </a:lnTo>
                <a:lnTo>
                  <a:pt x="1933803" y="1117574"/>
                </a:lnTo>
                <a:close/>
              </a:path>
              <a:path w="2800350" h="1788160">
                <a:moveTo>
                  <a:pt x="1933803" y="614654"/>
                </a:moveTo>
                <a:lnTo>
                  <a:pt x="1877923" y="614654"/>
                </a:lnTo>
                <a:lnTo>
                  <a:pt x="1877923" y="670534"/>
                </a:lnTo>
                <a:lnTo>
                  <a:pt x="1933803" y="670534"/>
                </a:lnTo>
                <a:lnTo>
                  <a:pt x="1933803" y="614654"/>
                </a:lnTo>
                <a:close/>
              </a:path>
              <a:path w="2800350" h="1788160">
                <a:moveTo>
                  <a:pt x="2121192" y="718248"/>
                </a:moveTo>
                <a:lnTo>
                  <a:pt x="2081682" y="678738"/>
                </a:lnTo>
                <a:lnTo>
                  <a:pt x="1961730" y="798690"/>
                </a:lnTo>
                <a:lnTo>
                  <a:pt x="1961730" y="894080"/>
                </a:lnTo>
                <a:lnTo>
                  <a:pt x="1957336" y="915809"/>
                </a:lnTo>
                <a:lnTo>
                  <a:pt x="1945347" y="933564"/>
                </a:lnTo>
                <a:lnTo>
                  <a:pt x="1927580" y="945553"/>
                </a:lnTo>
                <a:lnTo>
                  <a:pt x="1905850" y="949947"/>
                </a:lnTo>
                <a:lnTo>
                  <a:pt x="1884133" y="945553"/>
                </a:lnTo>
                <a:lnTo>
                  <a:pt x="1866366" y="933564"/>
                </a:lnTo>
                <a:lnTo>
                  <a:pt x="1854377" y="915809"/>
                </a:lnTo>
                <a:lnTo>
                  <a:pt x="1849970" y="894080"/>
                </a:lnTo>
                <a:lnTo>
                  <a:pt x="1854377" y="872337"/>
                </a:lnTo>
                <a:lnTo>
                  <a:pt x="1866366" y="854583"/>
                </a:lnTo>
                <a:lnTo>
                  <a:pt x="1884133" y="842594"/>
                </a:lnTo>
                <a:lnTo>
                  <a:pt x="1905850" y="838200"/>
                </a:lnTo>
                <a:lnTo>
                  <a:pt x="1927580" y="842594"/>
                </a:lnTo>
                <a:lnTo>
                  <a:pt x="1945347" y="854583"/>
                </a:lnTo>
                <a:lnTo>
                  <a:pt x="1957336" y="872337"/>
                </a:lnTo>
                <a:lnTo>
                  <a:pt x="1961730" y="894080"/>
                </a:lnTo>
                <a:lnTo>
                  <a:pt x="1961730" y="798690"/>
                </a:lnTo>
                <a:lnTo>
                  <a:pt x="1961248" y="799172"/>
                </a:lnTo>
                <a:lnTo>
                  <a:pt x="1949323" y="791108"/>
                </a:lnTo>
                <a:lnTo>
                  <a:pt x="1905850" y="782320"/>
                </a:lnTo>
                <a:lnTo>
                  <a:pt x="1862391" y="791108"/>
                </a:lnTo>
                <a:lnTo>
                  <a:pt x="1826869" y="815086"/>
                </a:lnTo>
                <a:lnTo>
                  <a:pt x="1802892" y="850620"/>
                </a:lnTo>
                <a:lnTo>
                  <a:pt x="1794090" y="894080"/>
                </a:lnTo>
                <a:lnTo>
                  <a:pt x="1802892" y="937539"/>
                </a:lnTo>
                <a:lnTo>
                  <a:pt x="1826869" y="973061"/>
                </a:lnTo>
                <a:lnTo>
                  <a:pt x="1862391" y="997026"/>
                </a:lnTo>
                <a:lnTo>
                  <a:pt x="1905850" y="1005827"/>
                </a:lnTo>
                <a:lnTo>
                  <a:pt x="1949323" y="997026"/>
                </a:lnTo>
                <a:lnTo>
                  <a:pt x="1984857" y="973061"/>
                </a:lnTo>
                <a:lnTo>
                  <a:pt x="2000453" y="949947"/>
                </a:lnTo>
                <a:lnTo>
                  <a:pt x="2008822" y="937539"/>
                </a:lnTo>
                <a:lnTo>
                  <a:pt x="2017610" y="894080"/>
                </a:lnTo>
                <a:lnTo>
                  <a:pt x="2008822" y="850620"/>
                </a:lnTo>
                <a:lnTo>
                  <a:pt x="2000758" y="838682"/>
                </a:lnTo>
                <a:lnTo>
                  <a:pt x="2121192" y="718248"/>
                </a:lnTo>
                <a:close/>
              </a:path>
              <a:path w="2800350" h="1788160">
                <a:moveTo>
                  <a:pt x="2185263" y="866114"/>
                </a:moveTo>
                <a:lnTo>
                  <a:pt x="2129383" y="866114"/>
                </a:lnTo>
                <a:lnTo>
                  <a:pt x="2129383" y="921994"/>
                </a:lnTo>
                <a:lnTo>
                  <a:pt x="2185263" y="921994"/>
                </a:lnTo>
                <a:lnTo>
                  <a:pt x="2185263" y="866114"/>
                </a:lnTo>
                <a:close/>
              </a:path>
              <a:path w="2800350" h="1788160">
                <a:moveTo>
                  <a:pt x="2297011" y="894080"/>
                </a:moveTo>
                <a:lnTo>
                  <a:pt x="2293963" y="845083"/>
                </a:lnTo>
                <a:lnTo>
                  <a:pt x="2285047" y="797877"/>
                </a:lnTo>
                <a:lnTo>
                  <a:pt x="2270645" y="752843"/>
                </a:lnTo>
                <a:lnTo>
                  <a:pt x="2251113" y="710349"/>
                </a:lnTo>
                <a:lnTo>
                  <a:pt x="2241131" y="694067"/>
                </a:lnTo>
                <a:lnTo>
                  <a:pt x="2241131" y="894080"/>
                </a:lnTo>
                <a:lnTo>
                  <a:pt x="2237498" y="943559"/>
                </a:lnTo>
                <a:lnTo>
                  <a:pt x="2226919" y="990803"/>
                </a:lnTo>
                <a:lnTo>
                  <a:pt x="2209927" y="1035304"/>
                </a:lnTo>
                <a:lnTo>
                  <a:pt x="2187054" y="1076502"/>
                </a:lnTo>
                <a:lnTo>
                  <a:pt x="2158796" y="1113917"/>
                </a:lnTo>
                <a:lnTo>
                  <a:pt x="2125713" y="1147013"/>
                </a:lnTo>
                <a:lnTo>
                  <a:pt x="2088299" y="1175258"/>
                </a:lnTo>
                <a:lnTo>
                  <a:pt x="2047074" y="1198143"/>
                </a:lnTo>
                <a:lnTo>
                  <a:pt x="2002586" y="1215123"/>
                </a:lnTo>
                <a:lnTo>
                  <a:pt x="1955342" y="1225702"/>
                </a:lnTo>
                <a:lnTo>
                  <a:pt x="1905850" y="1229347"/>
                </a:lnTo>
                <a:lnTo>
                  <a:pt x="1856371" y="1225702"/>
                </a:lnTo>
                <a:lnTo>
                  <a:pt x="1809127" y="1215123"/>
                </a:lnTo>
                <a:lnTo>
                  <a:pt x="1764626" y="1198143"/>
                </a:lnTo>
                <a:lnTo>
                  <a:pt x="1723415" y="1175258"/>
                </a:lnTo>
                <a:lnTo>
                  <a:pt x="1686001" y="1147013"/>
                </a:lnTo>
                <a:lnTo>
                  <a:pt x="1652905" y="1113917"/>
                </a:lnTo>
                <a:lnTo>
                  <a:pt x="1624660" y="1076502"/>
                </a:lnTo>
                <a:lnTo>
                  <a:pt x="1601787" y="1035291"/>
                </a:lnTo>
                <a:lnTo>
                  <a:pt x="1584794" y="990803"/>
                </a:lnTo>
                <a:lnTo>
                  <a:pt x="1574215" y="943559"/>
                </a:lnTo>
                <a:lnTo>
                  <a:pt x="1570570" y="894080"/>
                </a:lnTo>
                <a:lnTo>
                  <a:pt x="1574215" y="844600"/>
                </a:lnTo>
                <a:lnTo>
                  <a:pt x="1584794" y="797356"/>
                </a:lnTo>
                <a:lnTo>
                  <a:pt x="1601787" y="752843"/>
                </a:lnTo>
                <a:lnTo>
                  <a:pt x="1624660" y="711644"/>
                </a:lnTo>
                <a:lnTo>
                  <a:pt x="1652905" y="674230"/>
                </a:lnTo>
                <a:lnTo>
                  <a:pt x="1686001" y="641134"/>
                </a:lnTo>
                <a:lnTo>
                  <a:pt x="1723415" y="612889"/>
                </a:lnTo>
                <a:lnTo>
                  <a:pt x="1764626" y="590003"/>
                </a:lnTo>
                <a:lnTo>
                  <a:pt x="1809127" y="573011"/>
                </a:lnTo>
                <a:lnTo>
                  <a:pt x="1856371" y="562444"/>
                </a:lnTo>
                <a:lnTo>
                  <a:pt x="1905850" y="558800"/>
                </a:lnTo>
                <a:lnTo>
                  <a:pt x="1955342" y="562444"/>
                </a:lnTo>
                <a:lnTo>
                  <a:pt x="2002586" y="573011"/>
                </a:lnTo>
                <a:lnTo>
                  <a:pt x="2047074" y="590003"/>
                </a:lnTo>
                <a:lnTo>
                  <a:pt x="2088299" y="612889"/>
                </a:lnTo>
                <a:lnTo>
                  <a:pt x="2125713" y="641134"/>
                </a:lnTo>
                <a:lnTo>
                  <a:pt x="2158796" y="674230"/>
                </a:lnTo>
                <a:lnTo>
                  <a:pt x="2187054" y="711644"/>
                </a:lnTo>
                <a:lnTo>
                  <a:pt x="2209927" y="752856"/>
                </a:lnTo>
                <a:lnTo>
                  <a:pt x="2226919" y="797356"/>
                </a:lnTo>
                <a:lnTo>
                  <a:pt x="2237498" y="844600"/>
                </a:lnTo>
                <a:lnTo>
                  <a:pt x="2241131" y="894080"/>
                </a:lnTo>
                <a:lnTo>
                  <a:pt x="2241131" y="694067"/>
                </a:lnTo>
                <a:lnTo>
                  <a:pt x="2198179" y="634428"/>
                </a:lnTo>
                <a:lnTo>
                  <a:pt x="2165502" y="601751"/>
                </a:lnTo>
                <a:lnTo>
                  <a:pt x="2129180" y="573100"/>
                </a:lnTo>
                <a:lnTo>
                  <a:pt x="2105863" y="558800"/>
                </a:lnTo>
                <a:lnTo>
                  <a:pt x="2089594" y="548817"/>
                </a:lnTo>
                <a:lnTo>
                  <a:pt x="2047087" y="529285"/>
                </a:lnTo>
                <a:lnTo>
                  <a:pt x="2002053" y="514883"/>
                </a:lnTo>
                <a:lnTo>
                  <a:pt x="1954860" y="505968"/>
                </a:lnTo>
                <a:lnTo>
                  <a:pt x="1933803" y="504659"/>
                </a:lnTo>
                <a:lnTo>
                  <a:pt x="1933803" y="447014"/>
                </a:lnTo>
                <a:lnTo>
                  <a:pt x="1989683" y="447014"/>
                </a:lnTo>
                <a:lnTo>
                  <a:pt x="1989683" y="391134"/>
                </a:lnTo>
                <a:lnTo>
                  <a:pt x="1822043" y="391134"/>
                </a:lnTo>
                <a:lnTo>
                  <a:pt x="1822043" y="447014"/>
                </a:lnTo>
                <a:lnTo>
                  <a:pt x="1877923" y="447014"/>
                </a:lnTo>
                <a:lnTo>
                  <a:pt x="1877923" y="504659"/>
                </a:lnTo>
                <a:lnTo>
                  <a:pt x="1809661" y="514883"/>
                </a:lnTo>
                <a:lnTo>
                  <a:pt x="1764626" y="529285"/>
                </a:lnTo>
                <a:lnTo>
                  <a:pt x="1722120" y="548817"/>
                </a:lnTo>
                <a:lnTo>
                  <a:pt x="1682534" y="573100"/>
                </a:lnTo>
                <a:lnTo>
                  <a:pt x="1646212" y="601751"/>
                </a:lnTo>
                <a:lnTo>
                  <a:pt x="1613535" y="634428"/>
                </a:lnTo>
                <a:lnTo>
                  <a:pt x="1584871" y="670750"/>
                </a:lnTo>
                <a:lnTo>
                  <a:pt x="1560588" y="710349"/>
                </a:lnTo>
                <a:lnTo>
                  <a:pt x="1541068" y="752856"/>
                </a:lnTo>
                <a:lnTo>
                  <a:pt x="1526667" y="797877"/>
                </a:lnTo>
                <a:lnTo>
                  <a:pt x="1517751" y="845083"/>
                </a:lnTo>
                <a:lnTo>
                  <a:pt x="1514690" y="894080"/>
                </a:lnTo>
                <a:lnTo>
                  <a:pt x="1517751" y="943076"/>
                </a:lnTo>
                <a:lnTo>
                  <a:pt x="1526667" y="990269"/>
                </a:lnTo>
                <a:lnTo>
                  <a:pt x="1541068" y="1035304"/>
                </a:lnTo>
                <a:lnTo>
                  <a:pt x="1560588" y="1077798"/>
                </a:lnTo>
                <a:lnTo>
                  <a:pt x="1584871" y="1117396"/>
                </a:lnTo>
                <a:lnTo>
                  <a:pt x="1613535" y="1153706"/>
                </a:lnTo>
                <a:lnTo>
                  <a:pt x="1646212" y="1186383"/>
                </a:lnTo>
                <a:lnTo>
                  <a:pt x="1682534" y="1215047"/>
                </a:lnTo>
                <a:lnTo>
                  <a:pt x="1722120" y="1239329"/>
                </a:lnTo>
                <a:lnTo>
                  <a:pt x="1764626" y="1258849"/>
                </a:lnTo>
                <a:lnTo>
                  <a:pt x="1809661" y="1273251"/>
                </a:lnTo>
                <a:lnTo>
                  <a:pt x="1856854" y="1282166"/>
                </a:lnTo>
                <a:lnTo>
                  <a:pt x="1905850" y="1285227"/>
                </a:lnTo>
                <a:lnTo>
                  <a:pt x="1954860" y="1282166"/>
                </a:lnTo>
                <a:lnTo>
                  <a:pt x="2002053" y="1273251"/>
                </a:lnTo>
                <a:lnTo>
                  <a:pt x="2047087" y="1258849"/>
                </a:lnTo>
                <a:lnTo>
                  <a:pt x="2089594" y="1239329"/>
                </a:lnTo>
                <a:lnTo>
                  <a:pt x="2105863" y="1229347"/>
                </a:lnTo>
                <a:lnTo>
                  <a:pt x="2129180" y="1215047"/>
                </a:lnTo>
                <a:lnTo>
                  <a:pt x="2165502" y="1186383"/>
                </a:lnTo>
                <a:lnTo>
                  <a:pt x="2198179" y="1153706"/>
                </a:lnTo>
                <a:lnTo>
                  <a:pt x="2226843" y="1117396"/>
                </a:lnTo>
                <a:lnTo>
                  <a:pt x="2251113" y="1077798"/>
                </a:lnTo>
                <a:lnTo>
                  <a:pt x="2270645" y="1035291"/>
                </a:lnTo>
                <a:lnTo>
                  <a:pt x="2285047" y="990269"/>
                </a:lnTo>
                <a:lnTo>
                  <a:pt x="2293963" y="943076"/>
                </a:lnTo>
                <a:lnTo>
                  <a:pt x="2297011" y="894080"/>
                </a:lnTo>
                <a:close/>
              </a:path>
              <a:path w="2800350" h="1788160">
                <a:moveTo>
                  <a:pt x="2408771" y="894080"/>
                </a:moveTo>
                <a:lnTo>
                  <a:pt x="2406485" y="846429"/>
                </a:lnTo>
                <a:lnTo>
                  <a:pt x="2399728" y="799731"/>
                </a:lnTo>
                <a:lnTo>
                  <a:pt x="2388705" y="754227"/>
                </a:lnTo>
                <a:lnTo>
                  <a:pt x="2373579" y="710184"/>
                </a:lnTo>
                <a:lnTo>
                  <a:pt x="2354542" y="667867"/>
                </a:lnTo>
                <a:lnTo>
                  <a:pt x="2331770" y="627557"/>
                </a:lnTo>
                <a:lnTo>
                  <a:pt x="2305469" y="589495"/>
                </a:lnTo>
                <a:lnTo>
                  <a:pt x="2280196" y="559244"/>
                </a:lnTo>
                <a:lnTo>
                  <a:pt x="2344712" y="494728"/>
                </a:lnTo>
                <a:lnTo>
                  <a:pt x="2305202" y="455218"/>
                </a:lnTo>
                <a:lnTo>
                  <a:pt x="2240889" y="519531"/>
                </a:lnTo>
                <a:lnTo>
                  <a:pt x="2207069" y="491515"/>
                </a:lnTo>
                <a:lnTo>
                  <a:pt x="2168398" y="465137"/>
                </a:lnTo>
                <a:lnTo>
                  <a:pt x="2127097" y="442341"/>
                </a:lnTo>
                <a:lnTo>
                  <a:pt x="2083333" y="423379"/>
                </a:lnTo>
                <a:lnTo>
                  <a:pt x="2063648" y="475665"/>
                </a:lnTo>
                <a:lnTo>
                  <a:pt x="2109381" y="495947"/>
                </a:lnTo>
                <a:lnTo>
                  <a:pt x="2152040" y="520954"/>
                </a:lnTo>
                <a:lnTo>
                  <a:pt x="2191334" y="550278"/>
                </a:lnTo>
                <a:lnTo>
                  <a:pt x="2227008" y="583552"/>
                </a:lnTo>
                <a:lnTo>
                  <a:pt x="2258796" y="620369"/>
                </a:lnTo>
                <a:lnTo>
                  <a:pt x="2286431" y="660336"/>
                </a:lnTo>
                <a:lnTo>
                  <a:pt x="2309647" y="703097"/>
                </a:lnTo>
                <a:lnTo>
                  <a:pt x="2328164" y="748233"/>
                </a:lnTo>
                <a:lnTo>
                  <a:pt x="2341727" y="795362"/>
                </a:lnTo>
                <a:lnTo>
                  <a:pt x="2350058" y="844105"/>
                </a:lnTo>
                <a:lnTo>
                  <a:pt x="2352891" y="894080"/>
                </a:lnTo>
                <a:lnTo>
                  <a:pt x="2350262" y="942721"/>
                </a:lnTo>
                <a:lnTo>
                  <a:pt x="2342565" y="989850"/>
                </a:lnTo>
                <a:lnTo>
                  <a:pt x="2330069" y="1035215"/>
                </a:lnTo>
                <a:lnTo>
                  <a:pt x="2313038" y="1078534"/>
                </a:lnTo>
                <a:lnTo>
                  <a:pt x="2291778" y="1119530"/>
                </a:lnTo>
                <a:lnTo>
                  <a:pt x="2266531" y="1157909"/>
                </a:lnTo>
                <a:lnTo>
                  <a:pt x="2237587" y="1193431"/>
                </a:lnTo>
                <a:lnTo>
                  <a:pt x="2205215" y="1225804"/>
                </a:lnTo>
                <a:lnTo>
                  <a:pt x="2169693" y="1254734"/>
                </a:lnTo>
                <a:lnTo>
                  <a:pt x="2131314" y="1279982"/>
                </a:lnTo>
                <a:lnTo>
                  <a:pt x="2090318" y="1301254"/>
                </a:lnTo>
                <a:lnTo>
                  <a:pt x="2046998" y="1318272"/>
                </a:lnTo>
                <a:lnTo>
                  <a:pt x="2001634" y="1330769"/>
                </a:lnTo>
                <a:lnTo>
                  <a:pt x="1954491" y="1338478"/>
                </a:lnTo>
                <a:lnTo>
                  <a:pt x="1905850" y="1341107"/>
                </a:lnTo>
                <a:lnTo>
                  <a:pt x="1857209" y="1338478"/>
                </a:lnTo>
                <a:lnTo>
                  <a:pt x="1810080" y="1330769"/>
                </a:lnTo>
                <a:lnTo>
                  <a:pt x="1764715" y="1318272"/>
                </a:lnTo>
                <a:lnTo>
                  <a:pt x="1721396" y="1301254"/>
                </a:lnTo>
                <a:lnTo>
                  <a:pt x="1680400" y="1279982"/>
                </a:lnTo>
                <a:lnTo>
                  <a:pt x="1642008" y="1254734"/>
                </a:lnTo>
                <a:lnTo>
                  <a:pt x="1606499" y="1225804"/>
                </a:lnTo>
                <a:lnTo>
                  <a:pt x="1574126" y="1193431"/>
                </a:lnTo>
                <a:lnTo>
                  <a:pt x="1545183" y="1157909"/>
                </a:lnTo>
                <a:lnTo>
                  <a:pt x="1519936" y="1119530"/>
                </a:lnTo>
                <a:lnTo>
                  <a:pt x="1498663" y="1078534"/>
                </a:lnTo>
                <a:lnTo>
                  <a:pt x="1481645" y="1035215"/>
                </a:lnTo>
                <a:lnTo>
                  <a:pt x="1469148" y="989850"/>
                </a:lnTo>
                <a:lnTo>
                  <a:pt x="1461439" y="942721"/>
                </a:lnTo>
                <a:lnTo>
                  <a:pt x="1458810" y="894080"/>
                </a:lnTo>
                <a:lnTo>
                  <a:pt x="1461655" y="844118"/>
                </a:lnTo>
                <a:lnTo>
                  <a:pt x="1469986" y="795375"/>
                </a:lnTo>
                <a:lnTo>
                  <a:pt x="1483550" y="748245"/>
                </a:lnTo>
                <a:lnTo>
                  <a:pt x="1502067" y="703110"/>
                </a:lnTo>
                <a:lnTo>
                  <a:pt x="1525282" y="660361"/>
                </a:lnTo>
                <a:lnTo>
                  <a:pt x="1552917" y="620382"/>
                </a:lnTo>
                <a:lnTo>
                  <a:pt x="1584706" y="583565"/>
                </a:lnTo>
                <a:lnTo>
                  <a:pt x="1620393" y="550303"/>
                </a:lnTo>
                <a:lnTo>
                  <a:pt x="1659686" y="520979"/>
                </a:lnTo>
                <a:lnTo>
                  <a:pt x="1702333" y="495973"/>
                </a:lnTo>
                <a:lnTo>
                  <a:pt x="1748066" y="475691"/>
                </a:lnTo>
                <a:lnTo>
                  <a:pt x="1728368" y="423418"/>
                </a:lnTo>
                <a:lnTo>
                  <a:pt x="1684616" y="442366"/>
                </a:lnTo>
                <a:lnTo>
                  <a:pt x="1643316" y="465175"/>
                </a:lnTo>
                <a:lnTo>
                  <a:pt x="1604645" y="491553"/>
                </a:lnTo>
                <a:lnTo>
                  <a:pt x="1570824" y="519544"/>
                </a:lnTo>
                <a:lnTo>
                  <a:pt x="1506512" y="455218"/>
                </a:lnTo>
                <a:lnTo>
                  <a:pt x="1467002" y="494728"/>
                </a:lnTo>
                <a:lnTo>
                  <a:pt x="1531518" y="559257"/>
                </a:lnTo>
                <a:lnTo>
                  <a:pt x="1506245" y="589521"/>
                </a:lnTo>
                <a:lnTo>
                  <a:pt x="1479931" y="627583"/>
                </a:lnTo>
                <a:lnTo>
                  <a:pt x="1457172" y="667893"/>
                </a:lnTo>
                <a:lnTo>
                  <a:pt x="1438135" y="710196"/>
                </a:lnTo>
                <a:lnTo>
                  <a:pt x="1423009" y="754240"/>
                </a:lnTo>
                <a:lnTo>
                  <a:pt x="1411973" y="799731"/>
                </a:lnTo>
                <a:lnTo>
                  <a:pt x="1405229" y="846442"/>
                </a:lnTo>
                <a:lnTo>
                  <a:pt x="1402930" y="894080"/>
                </a:lnTo>
                <a:lnTo>
                  <a:pt x="1405242" y="942441"/>
                </a:lnTo>
                <a:lnTo>
                  <a:pt x="1412024" y="989520"/>
                </a:lnTo>
                <a:lnTo>
                  <a:pt x="1423060" y="1035100"/>
                </a:lnTo>
                <a:lnTo>
                  <a:pt x="1438148" y="1078966"/>
                </a:lnTo>
                <a:lnTo>
                  <a:pt x="1457058" y="1120914"/>
                </a:lnTo>
                <a:lnTo>
                  <a:pt x="1479600" y="1160729"/>
                </a:lnTo>
                <a:lnTo>
                  <a:pt x="1505559" y="1198194"/>
                </a:lnTo>
                <a:lnTo>
                  <a:pt x="1534706" y="1233093"/>
                </a:lnTo>
                <a:lnTo>
                  <a:pt x="1566837" y="1265224"/>
                </a:lnTo>
                <a:lnTo>
                  <a:pt x="1601749" y="1294371"/>
                </a:lnTo>
                <a:lnTo>
                  <a:pt x="1639214" y="1320317"/>
                </a:lnTo>
                <a:lnTo>
                  <a:pt x="1679016" y="1342859"/>
                </a:lnTo>
                <a:lnTo>
                  <a:pt x="1720964" y="1361782"/>
                </a:lnTo>
                <a:lnTo>
                  <a:pt x="1764842" y="1376857"/>
                </a:lnTo>
                <a:lnTo>
                  <a:pt x="1810423" y="1387894"/>
                </a:lnTo>
                <a:lnTo>
                  <a:pt x="1857489" y="1394675"/>
                </a:lnTo>
                <a:lnTo>
                  <a:pt x="1905850" y="1396987"/>
                </a:lnTo>
                <a:lnTo>
                  <a:pt x="1954225" y="1394675"/>
                </a:lnTo>
                <a:lnTo>
                  <a:pt x="2001304" y="1387894"/>
                </a:lnTo>
                <a:lnTo>
                  <a:pt x="2046884" y="1376857"/>
                </a:lnTo>
                <a:lnTo>
                  <a:pt x="2090750" y="1361782"/>
                </a:lnTo>
                <a:lnTo>
                  <a:pt x="2132698" y="1342859"/>
                </a:lnTo>
                <a:lnTo>
                  <a:pt x="2172512" y="1320317"/>
                </a:lnTo>
                <a:lnTo>
                  <a:pt x="2209977" y="1294371"/>
                </a:lnTo>
                <a:lnTo>
                  <a:pt x="2244877" y="1265224"/>
                </a:lnTo>
                <a:lnTo>
                  <a:pt x="2277008" y="1233093"/>
                </a:lnTo>
                <a:lnTo>
                  <a:pt x="2306155" y="1198194"/>
                </a:lnTo>
                <a:lnTo>
                  <a:pt x="2332113" y="1160729"/>
                </a:lnTo>
                <a:lnTo>
                  <a:pt x="2354656" y="1120914"/>
                </a:lnTo>
                <a:lnTo>
                  <a:pt x="2373566" y="1078966"/>
                </a:lnTo>
                <a:lnTo>
                  <a:pt x="2388654" y="1035100"/>
                </a:lnTo>
                <a:lnTo>
                  <a:pt x="2399690" y="989520"/>
                </a:lnTo>
                <a:lnTo>
                  <a:pt x="2406472" y="942441"/>
                </a:lnTo>
                <a:lnTo>
                  <a:pt x="2408771" y="894080"/>
                </a:lnTo>
                <a:close/>
              </a:path>
              <a:path w="2800350" h="1788160">
                <a:moveTo>
                  <a:pt x="2688171" y="894080"/>
                </a:moveTo>
                <a:lnTo>
                  <a:pt x="2686748" y="846493"/>
                </a:lnTo>
                <a:lnTo>
                  <a:pt x="2682506" y="799642"/>
                </a:lnTo>
                <a:lnTo>
                  <a:pt x="2675547" y="753630"/>
                </a:lnTo>
                <a:lnTo>
                  <a:pt x="2665946" y="708533"/>
                </a:lnTo>
                <a:lnTo>
                  <a:pt x="2653792" y="664413"/>
                </a:lnTo>
                <a:lnTo>
                  <a:pt x="2639149" y="621372"/>
                </a:lnTo>
                <a:lnTo>
                  <a:pt x="2622118" y="579488"/>
                </a:lnTo>
                <a:lnTo>
                  <a:pt x="2602788" y="538848"/>
                </a:lnTo>
                <a:lnTo>
                  <a:pt x="2581211" y="499529"/>
                </a:lnTo>
                <a:lnTo>
                  <a:pt x="2557500" y="461606"/>
                </a:lnTo>
                <a:lnTo>
                  <a:pt x="2531719" y="425183"/>
                </a:lnTo>
                <a:lnTo>
                  <a:pt x="2503957" y="390321"/>
                </a:lnTo>
                <a:lnTo>
                  <a:pt x="2474303" y="357111"/>
                </a:lnTo>
                <a:lnTo>
                  <a:pt x="2442819" y="325628"/>
                </a:lnTo>
                <a:lnTo>
                  <a:pt x="2409609" y="295973"/>
                </a:lnTo>
                <a:lnTo>
                  <a:pt x="2374747" y="268211"/>
                </a:lnTo>
                <a:lnTo>
                  <a:pt x="2338324" y="242430"/>
                </a:lnTo>
                <a:lnTo>
                  <a:pt x="2300401" y="218719"/>
                </a:lnTo>
                <a:lnTo>
                  <a:pt x="2261082" y="197142"/>
                </a:lnTo>
                <a:lnTo>
                  <a:pt x="2220442" y="177812"/>
                </a:lnTo>
                <a:lnTo>
                  <a:pt x="2178558" y="160782"/>
                </a:lnTo>
                <a:lnTo>
                  <a:pt x="2135517" y="146138"/>
                </a:lnTo>
                <a:lnTo>
                  <a:pt x="2091410" y="133985"/>
                </a:lnTo>
                <a:lnTo>
                  <a:pt x="2046300" y="124383"/>
                </a:lnTo>
                <a:lnTo>
                  <a:pt x="2000288" y="117424"/>
                </a:lnTo>
                <a:lnTo>
                  <a:pt x="1970341" y="114719"/>
                </a:lnTo>
                <a:lnTo>
                  <a:pt x="2037359" y="47688"/>
                </a:lnTo>
                <a:lnTo>
                  <a:pt x="2043506" y="38442"/>
                </a:lnTo>
                <a:lnTo>
                  <a:pt x="2045550" y="27940"/>
                </a:lnTo>
                <a:lnTo>
                  <a:pt x="2043506" y="17424"/>
                </a:lnTo>
                <a:lnTo>
                  <a:pt x="2037359" y="8191"/>
                </a:lnTo>
                <a:lnTo>
                  <a:pt x="2028126" y="2044"/>
                </a:lnTo>
                <a:lnTo>
                  <a:pt x="2017610" y="0"/>
                </a:lnTo>
                <a:lnTo>
                  <a:pt x="2007108" y="2044"/>
                </a:lnTo>
                <a:lnTo>
                  <a:pt x="1997862" y="8191"/>
                </a:lnTo>
                <a:lnTo>
                  <a:pt x="1886102" y="119951"/>
                </a:lnTo>
                <a:lnTo>
                  <a:pt x="1879968" y="129184"/>
                </a:lnTo>
                <a:lnTo>
                  <a:pt x="1877910" y="139700"/>
                </a:lnTo>
                <a:lnTo>
                  <a:pt x="1879968" y="150202"/>
                </a:lnTo>
                <a:lnTo>
                  <a:pt x="1886102" y="159448"/>
                </a:lnTo>
                <a:lnTo>
                  <a:pt x="2003310" y="276669"/>
                </a:lnTo>
                <a:lnTo>
                  <a:pt x="2010460" y="279400"/>
                </a:lnTo>
                <a:lnTo>
                  <a:pt x="2017610" y="279400"/>
                </a:lnTo>
                <a:lnTo>
                  <a:pt x="2024761" y="279400"/>
                </a:lnTo>
                <a:lnTo>
                  <a:pt x="2031911" y="276669"/>
                </a:lnTo>
                <a:lnTo>
                  <a:pt x="2037359" y="271208"/>
                </a:lnTo>
                <a:lnTo>
                  <a:pt x="2043506" y="261962"/>
                </a:lnTo>
                <a:lnTo>
                  <a:pt x="2045550" y="251460"/>
                </a:lnTo>
                <a:lnTo>
                  <a:pt x="2043506" y="240944"/>
                </a:lnTo>
                <a:lnTo>
                  <a:pt x="2037359" y="231711"/>
                </a:lnTo>
                <a:lnTo>
                  <a:pt x="1977136" y="171500"/>
                </a:lnTo>
                <a:lnTo>
                  <a:pt x="2000427" y="173761"/>
                </a:lnTo>
                <a:lnTo>
                  <a:pt x="2046401" y="181279"/>
                </a:lnTo>
                <a:lnTo>
                  <a:pt x="2091359" y="191630"/>
                </a:lnTo>
                <a:lnTo>
                  <a:pt x="2135225" y="204736"/>
                </a:lnTo>
                <a:lnTo>
                  <a:pt x="2177885" y="220472"/>
                </a:lnTo>
                <a:lnTo>
                  <a:pt x="2219248" y="238772"/>
                </a:lnTo>
                <a:lnTo>
                  <a:pt x="2259228" y="259511"/>
                </a:lnTo>
                <a:lnTo>
                  <a:pt x="2297709" y="282613"/>
                </a:lnTo>
                <a:lnTo>
                  <a:pt x="2334615" y="307987"/>
                </a:lnTo>
                <a:lnTo>
                  <a:pt x="2369832" y="335508"/>
                </a:lnTo>
                <a:lnTo>
                  <a:pt x="2403271" y="365099"/>
                </a:lnTo>
                <a:lnTo>
                  <a:pt x="2434831" y="396671"/>
                </a:lnTo>
                <a:lnTo>
                  <a:pt x="2464422" y="430110"/>
                </a:lnTo>
                <a:lnTo>
                  <a:pt x="2491956" y="465328"/>
                </a:lnTo>
                <a:lnTo>
                  <a:pt x="2517317" y="502221"/>
                </a:lnTo>
                <a:lnTo>
                  <a:pt x="2540419" y="540715"/>
                </a:lnTo>
                <a:lnTo>
                  <a:pt x="2561171" y="580682"/>
                </a:lnTo>
                <a:lnTo>
                  <a:pt x="2579459" y="622046"/>
                </a:lnTo>
                <a:lnTo>
                  <a:pt x="2595207" y="664718"/>
                </a:lnTo>
                <a:lnTo>
                  <a:pt x="2608300" y="708571"/>
                </a:lnTo>
                <a:lnTo>
                  <a:pt x="2618651" y="753529"/>
                </a:lnTo>
                <a:lnTo>
                  <a:pt x="2626169" y="799503"/>
                </a:lnTo>
                <a:lnTo>
                  <a:pt x="2630754" y="846378"/>
                </a:lnTo>
                <a:lnTo>
                  <a:pt x="2632291" y="894080"/>
                </a:lnTo>
                <a:lnTo>
                  <a:pt x="2630754" y="941768"/>
                </a:lnTo>
                <a:lnTo>
                  <a:pt x="2626169" y="988644"/>
                </a:lnTo>
                <a:lnTo>
                  <a:pt x="2618651" y="1034618"/>
                </a:lnTo>
                <a:lnTo>
                  <a:pt x="2608300" y="1079576"/>
                </a:lnTo>
                <a:lnTo>
                  <a:pt x="2595207" y="1123442"/>
                </a:lnTo>
                <a:lnTo>
                  <a:pt x="2579459" y="1166101"/>
                </a:lnTo>
                <a:lnTo>
                  <a:pt x="2561171" y="1207465"/>
                </a:lnTo>
                <a:lnTo>
                  <a:pt x="2540419" y="1247432"/>
                </a:lnTo>
                <a:lnTo>
                  <a:pt x="2517317" y="1285925"/>
                </a:lnTo>
                <a:lnTo>
                  <a:pt x="2491956" y="1322819"/>
                </a:lnTo>
                <a:lnTo>
                  <a:pt x="2464422" y="1358036"/>
                </a:lnTo>
                <a:lnTo>
                  <a:pt x="2434831" y="1391475"/>
                </a:lnTo>
                <a:lnTo>
                  <a:pt x="2403271" y="1423035"/>
                </a:lnTo>
                <a:lnTo>
                  <a:pt x="2369832" y="1452638"/>
                </a:lnTo>
                <a:lnTo>
                  <a:pt x="2334615" y="1480159"/>
                </a:lnTo>
                <a:lnTo>
                  <a:pt x="2297709" y="1505521"/>
                </a:lnTo>
                <a:lnTo>
                  <a:pt x="2259228" y="1528622"/>
                </a:lnTo>
                <a:lnTo>
                  <a:pt x="2219248" y="1549374"/>
                </a:lnTo>
                <a:lnTo>
                  <a:pt x="2177885" y="1567662"/>
                </a:lnTo>
                <a:lnTo>
                  <a:pt x="2135225" y="1583410"/>
                </a:lnTo>
                <a:lnTo>
                  <a:pt x="2091359" y="1596504"/>
                </a:lnTo>
                <a:lnTo>
                  <a:pt x="2046401" y="1606854"/>
                </a:lnTo>
                <a:lnTo>
                  <a:pt x="2000427" y="1614373"/>
                </a:lnTo>
                <a:lnTo>
                  <a:pt x="1953552" y="1618957"/>
                </a:lnTo>
                <a:lnTo>
                  <a:pt x="1905850" y="1620507"/>
                </a:lnTo>
                <a:lnTo>
                  <a:pt x="0" y="1620507"/>
                </a:lnTo>
                <a:lnTo>
                  <a:pt x="0" y="1676387"/>
                </a:lnTo>
                <a:lnTo>
                  <a:pt x="1905850" y="1676387"/>
                </a:lnTo>
                <a:lnTo>
                  <a:pt x="1953437" y="1674952"/>
                </a:lnTo>
                <a:lnTo>
                  <a:pt x="2000288" y="1670710"/>
                </a:lnTo>
                <a:lnTo>
                  <a:pt x="2046300" y="1663750"/>
                </a:lnTo>
                <a:lnTo>
                  <a:pt x="2091410" y="1654162"/>
                </a:lnTo>
                <a:lnTo>
                  <a:pt x="2135517" y="1641995"/>
                </a:lnTo>
                <a:lnTo>
                  <a:pt x="2178558" y="1627365"/>
                </a:lnTo>
                <a:lnTo>
                  <a:pt x="2220442" y="1610334"/>
                </a:lnTo>
                <a:lnTo>
                  <a:pt x="2261082" y="1590992"/>
                </a:lnTo>
                <a:lnTo>
                  <a:pt x="2300401" y="1569427"/>
                </a:lnTo>
                <a:lnTo>
                  <a:pt x="2338324" y="1545704"/>
                </a:lnTo>
                <a:lnTo>
                  <a:pt x="2374747" y="1519923"/>
                </a:lnTo>
                <a:lnTo>
                  <a:pt x="2409609" y="1492173"/>
                </a:lnTo>
                <a:lnTo>
                  <a:pt x="2442819" y="1462506"/>
                </a:lnTo>
                <a:lnTo>
                  <a:pt x="2474303" y="1431036"/>
                </a:lnTo>
                <a:lnTo>
                  <a:pt x="2503957" y="1397825"/>
                </a:lnTo>
                <a:lnTo>
                  <a:pt x="2531719" y="1362964"/>
                </a:lnTo>
                <a:lnTo>
                  <a:pt x="2557500" y="1326527"/>
                </a:lnTo>
                <a:lnTo>
                  <a:pt x="2581211" y="1288618"/>
                </a:lnTo>
                <a:lnTo>
                  <a:pt x="2602788" y="1249299"/>
                </a:lnTo>
                <a:lnTo>
                  <a:pt x="2622118" y="1208646"/>
                </a:lnTo>
                <a:lnTo>
                  <a:pt x="2639149" y="1166774"/>
                </a:lnTo>
                <a:lnTo>
                  <a:pt x="2653792" y="1123734"/>
                </a:lnTo>
                <a:lnTo>
                  <a:pt x="2665946" y="1079614"/>
                </a:lnTo>
                <a:lnTo>
                  <a:pt x="2675547" y="1034516"/>
                </a:lnTo>
                <a:lnTo>
                  <a:pt x="2682506" y="988504"/>
                </a:lnTo>
                <a:lnTo>
                  <a:pt x="2686748" y="941666"/>
                </a:lnTo>
                <a:lnTo>
                  <a:pt x="2688171" y="894080"/>
                </a:lnTo>
                <a:close/>
              </a:path>
              <a:path w="2800350" h="1788160">
                <a:moveTo>
                  <a:pt x="2799931" y="1648447"/>
                </a:moveTo>
                <a:lnTo>
                  <a:pt x="2679979" y="1516938"/>
                </a:lnTo>
                <a:lnTo>
                  <a:pt x="2660231" y="1508747"/>
                </a:lnTo>
                <a:lnTo>
                  <a:pt x="2649728" y="1510792"/>
                </a:lnTo>
                <a:lnTo>
                  <a:pt x="2640482" y="1516938"/>
                </a:lnTo>
                <a:lnTo>
                  <a:pt x="2634348" y="1526171"/>
                </a:lnTo>
                <a:lnTo>
                  <a:pt x="2632291" y="1536687"/>
                </a:lnTo>
                <a:lnTo>
                  <a:pt x="2634348" y="1547190"/>
                </a:lnTo>
                <a:lnTo>
                  <a:pt x="2640482" y="1556435"/>
                </a:lnTo>
                <a:lnTo>
                  <a:pt x="2704528" y="1620494"/>
                </a:lnTo>
                <a:lnTo>
                  <a:pt x="2324963" y="1620494"/>
                </a:lnTo>
                <a:lnTo>
                  <a:pt x="2324963" y="1676387"/>
                </a:lnTo>
                <a:lnTo>
                  <a:pt x="2704541" y="1676387"/>
                </a:lnTo>
                <a:lnTo>
                  <a:pt x="2640482" y="1740458"/>
                </a:lnTo>
                <a:lnTo>
                  <a:pt x="2634348" y="1749691"/>
                </a:lnTo>
                <a:lnTo>
                  <a:pt x="2632291" y="1760207"/>
                </a:lnTo>
                <a:lnTo>
                  <a:pt x="2634348" y="1770710"/>
                </a:lnTo>
                <a:lnTo>
                  <a:pt x="2640482" y="1779955"/>
                </a:lnTo>
                <a:lnTo>
                  <a:pt x="2645930" y="1785416"/>
                </a:lnTo>
                <a:lnTo>
                  <a:pt x="2653080" y="1788147"/>
                </a:lnTo>
                <a:lnTo>
                  <a:pt x="2660231" y="1788147"/>
                </a:lnTo>
                <a:lnTo>
                  <a:pt x="2667381" y="1788147"/>
                </a:lnTo>
                <a:lnTo>
                  <a:pt x="2674531" y="1785416"/>
                </a:lnTo>
                <a:lnTo>
                  <a:pt x="2791739" y="1668195"/>
                </a:lnTo>
                <a:lnTo>
                  <a:pt x="2797886" y="1658950"/>
                </a:lnTo>
                <a:lnTo>
                  <a:pt x="2799931" y="1648447"/>
                </a:lnTo>
                <a:close/>
              </a:path>
            </a:pathLst>
          </a:custGeom>
          <a:solidFill>
            <a:srgbClr val="FFB35F"/>
          </a:solidFill>
        </p:spPr>
        <p:txBody>
          <a:bodyPr wrap="square" lIns="0" tIns="0" rIns="0" bIns="0" rtlCol="0"/>
          <a:lstStyle/>
          <a:p>
            <a:endParaRPr/>
          </a:p>
        </p:txBody>
      </p:sp>
      <p:sp>
        <p:nvSpPr>
          <p:cNvPr id="8" name="object 8"/>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43</a:t>
            </a:r>
            <a:endParaRPr spc="35" dirty="0"/>
          </a:p>
        </p:txBody>
      </p:sp>
      <p:sp>
        <p:nvSpPr>
          <p:cNvPr id="9" name="object 9"/>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a:t>Agile Methodology</a:t>
            </a:r>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C2D61-4DDF-CE30-1BFE-E0386531FDD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ED4575D-0355-D3E4-531F-A0CBFF5326C2}"/>
              </a:ext>
            </a:extLst>
          </p:cNvPr>
          <p:cNvSpPr/>
          <p:nvPr/>
        </p:nvSpPr>
        <p:spPr>
          <a:xfrm>
            <a:off x="0" y="0"/>
            <a:ext cx="4572000" cy="5943600"/>
          </a:xfrm>
          <a:custGeom>
            <a:avLst/>
            <a:gdLst/>
            <a:ahLst/>
            <a:cxnLst/>
            <a:rect l="l" t="t" r="r" b="b"/>
            <a:pathLst>
              <a:path w="4241800" h="5943600">
                <a:moveTo>
                  <a:pt x="4241800" y="0"/>
                </a:moveTo>
                <a:lnTo>
                  <a:pt x="0" y="0"/>
                </a:lnTo>
                <a:lnTo>
                  <a:pt x="0" y="5943600"/>
                </a:lnTo>
                <a:lnTo>
                  <a:pt x="4241800" y="5943600"/>
                </a:lnTo>
                <a:lnTo>
                  <a:pt x="4241800" y="0"/>
                </a:lnTo>
                <a:close/>
              </a:path>
            </a:pathLst>
          </a:custGeom>
          <a:solidFill>
            <a:srgbClr val="FF9A2A"/>
          </a:solidFill>
        </p:spPr>
        <p:txBody>
          <a:bodyPr wrap="square" lIns="0" tIns="0" rIns="0" bIns="0" rtlCol="0"/>
          <a:lstStyle/>
          <a:p>
            <a:endParaRPr/>
          </a:p>
        </p:txBody>
      </p:sp>
      <p:sp>
        <p:nvSpPr>
          <p:cNvPr id="3" name="object 3">
            <a:extLst>
              <a:ext uri="{FF2B5EF4-FFF2-40B4-BE49-F238E27FC236}">
                <a16:creationId xmlns:a16="http://schemas.microsoft.com/office/drawing/2014/main" id="{3996A16A-A15D-26AF-70E8-33BFDF2A1042}"/>
              </a:ext>
            </a:extLst>
          </p:cNvPr>
          <p:cNvSpPr txBox="1"/>
          <p:nvPr/>
        </p:nvSpPr>
        <p:spPr>
          <a:xfrm>
            <a:off x="5098368" y="615151"/>
            <a:ext cx="3437302" cy="3432030"/>
          </a:xfrm>
          <a:prstGeom prst="rect">
            <a:avLst/>
          </a:prstGeom>
        </p:spPr>
        <p:txBody>
          <a:bodyPr vert="horz" wrap="square" lIns="0" tIns="12700" rIns="0" bIns="0" rtlCol="0">
            <a:spAutoFit/>
          </a:bodyPr>
          <a:lstStyle/>
          <a:p>
            <a:pPr marL="12700" marR="5080">
              <a:lnSpc>
                <a:spcPct val="121800"/>
              </a:lnSpc>
              <a:spcBef>
                <a:spcPts val="100"/>
              </a:spcBef>
            </a:pPr>
            <a:r>
              <a:rPr lang="en-US" sz="1300" spc="-15" dirty="0">
                <a:solidFill>
                  <a:srgbClr val="333333"/>
                </a:solidFill>
                <a:latin typeface="Roboto Lt"/>
                <a:cs typeface="Roboto Lt"/>
              </a:rPr>
              <a:t>Next week, we will be conducting a hands-on lab using Trello as a project management tool. In this session, we will specifically implement a Scrum board to develop a simple software application. We will simulate various software development scenarios to explore how Trello can assist in managing the project.</a:t>
            </a:r>
          </a:p>
          <a:p>
            <a:pPr marL="12700" marR="5080">
              <a:lnSpc>
                <a:spcPct val="121800"/>
              </a:lnSpc>
              <a:spcBef>
                <a:spcPts val="100"/>
              </a:spcBef>
            </a:pPr>
            <a:endParaRPr lang="en-US" sz="1300" spc="-15" dirty="0">
              <a:solidFill>
                <a:srgbClr val="333333"/>
              </a:solidFill>
              <a:latin typeface="Roboto Lt"/>
              <a:cs typeface="Roboto Lt"/>
            </a:endParaRPr>
          </a:p>
          <a:p>
            <a:pPr marL="12700" marR="5080">
              <a:lnSpc>
                <a:spcPct val="121800"/>
              </a:lnSpc>
              <a:spcBef>
                <a:spcPts val="100"/>
              </a:spcBef>
            </a:pPr>
            <a:r>
              <a:rPr lang="en-US" sz="1300" spc="-15" dirty="0">
                <a:solidFill>
                  <a:srgbClr val="333333"/>
                </a:solidFill>
                <a:latin typeface="Roboto Lt"/>
                <a:cs typeface="Roboto Lt"/>
              </a:rPr>
              <a:t>Please make sure to register for a Trello account at www.trello.com beforehand. During the lab, we will dive directly into creating a board and its components. If you encounter any issues with registering, feel free to reach out in the WhatsApp group for assistance.</a:t>
            </a:r>
            <a:endParaRPr sz="1300" dirty="0">
              <a:latin typeface="Roboto Lt"/>
              <a:cs typeface="Roboto Lt"/>
            </a:endParaRPr>
          </a:p>
        </p:txBody>
      </p:sp>
      <p:sp>
        <p:nvSpPr>
          <p:cNvPr id="6" name="object 6">
            <a:extLst>
              <a:ext uri="{FF2B5EF4-FFF2-40B4-BE49-F238E27FC236}">
                <a16:creationId xmlns:a16="http://schemas.microsoft.com/office/drawing/2014/main" id="{70379CDE-C83F-04BF-A9C1-48AE13C9940E}"/>
              </a:ext>
            </a:extLst>
          </p:cNvPr>
          <p:cNvSpPr txBox="1">
            <a:spLocks noGrp="1"/>
          </p:cNvSpPr>
          <p:nvPr>
            <p:ph type="title"/>
          </p:nvPr>
        </p:nvSpPr>
        <p:spPr>
          <a:xfrm>
            <a:off x="526368" y="510301"/>
            <a:ext cx="3588432" cy="2518638"/>
          </a:xfrm>
          <a:prstGeom prst="rect">
            <a:avLst/>
          </a:prstGeom>
        </p:spPr>
        <p:txBody>
          <a:bodyPr vert="horz" wrap="square" lIns="0" tIns="106680" rIns="0" bIns="0" rtlCol="0">
            <a:spAutoFit/>
          </a:bodyPr>
          <a:lstStyle/>
          <a:p>
            <a:pPr marL="12700" marR="30480">
              <a:lnSpc>
                <a:spcPts val="4700"/>
              </a:lnSpc>
              <a:spcBef>
                <a:spcPts val="840"/>
              </a:spcBef>
            </a:pPr>
            <a:r>
              <a:rPr lang="en-US" spc="15" dirty="0"/>
              <a:t>Trello as</a:t>
            </a:r>
            <a:br>
              <a:rPr lang="en-US" spc="15" dirty="0"/>
            </a:br>
            <a:r>
              <a:rPr lang="en-US" spc="15" dirty="0"/>
              <a:t>Agile Project Management Tool</a:t>
            </a:r>
            <a:endParaRPr spc="114" dirty="0"/>
          </a:p>
        </p:txBody>
      </p:sp>
      <p:sp>
        <p:nvSpPr>
          <p:cNvPr id="8" name="object 8">
            <a:extLst>
              <a:ext uri="{FF2B5EF4-FFF2-40B4-BE49-F238E27FC236}">
                <a16:creationId xmlns:a16="http://schemas.microsoft.com/office/drawing/2014/main" id="{D92B6BA4-EE82-B78B-9AD0-5E2D8631D7DB}"/>
              </a:ext>
            </a:extLst>
          </p:cNvPr>
          <p:cNvSpPr txBox="1">
            <a:spLocks noGrp="1"/>
          </p:cNvSpPr>
          <p:nvPr>
            <p:ph type="sldNum" sz="quarter" idx="7"/>
          </p:nvPr>
        </p:nvSpPr>
        <p:spPr>
          <a:xfrm>
            <a:off x="8501148" y="5526986"/>
            <a:ext cx="262254" cy="224420"/>
          </a:xfrm>
          <a:prstGeom prst="rect">
            <a:avLst/>
          </a:prstGeom>
        </p:spPr>
        <p:txBody>
          <a:bodyPr vert="horz" wrap="square" lIns="0" tIns="24130" rIns="0" bIns="0" rtlCol="0">
            <a:spAutoFit/>
          </a:bodyPr>
          <a:lstStyle/>
          <a:p>
            <a:pPr marL="38100">
              <a:lnSpc>
                <a:spcPct val="100000"/>
              </a:lnSpc>
              <a:spcBef>
                <a:spcPts val="190"/>
              </a:spcBef>
            </a:pPr>
            <a:r>
              <a:rPr lang="en-US" spc="35" dirty="0"/>
              <a:t>44</a:t>
            </a:r>
            <a:endParaRPr spc="35" dirty="0"/>
          </a:p>
        </p:txBody>
      </p:sp>
      <p:sp>
        <p:nvSpPr>
          <p:cNvPr id="9" name="object 9">
            <a:extLst>
              <a:ext uri="{FF2B5EF4-FFF2-40B4-BE49-F238E27FC236}">
                <a16:creationId xmlns:a16="http://schemas.microsoft.com/office/drawing/2014/main" id="{830C9936-744C-B42C-1842-1B225B452FAB}"/>
              </a:ext>
            </a:extLst>
          </p:cNvPr>
          <p:cNvSpPr txBox="1">
            <a:spLocks noGrp="1"/>
          </p:cNvSpPr>
          <p:nvPr>
            <p:ph type="ftr" sz="quarter" idx="5"/>
          </p:nvPr>
        </p:nvSpPr>
        <p:spPr>
          <a:xfrm>
            <a:off x="6634705" y="5571421"/>
            <a:ext cx="1627504" cy="157094"/>
          </a:xfrm>
          <a:prstGeom prst="rect">
            <a:avLst/>
          </a:prstGeom>
        </p:spPr>
        <p:txBody>
          <a:bodyPr vert="horz" wrap="square" lIns="0" tIns="3175" rIns="0" bIns="0" rtlCol="0">
            <a:spAutoFit/>
          </a:bodyPr>
          <a:lstStyle/>
          <a:p>
            <a:pPr marL="12700" algn="r">
              <a:lnSpc>
                <a:spcPct val="100000"/>
              </a:lnSpc>
              <a:spcBef>
                <a:spcPts val="25"/>
              </a:spcBef>
            </a:pPr>
            <a:r>
              <a:rPr lang="en-MY" spc="-25"/>
              <a:t>Agile Methodology</a:t>
            </a:r>
            <a:endParaRPr dirty="0"/>
          </a:p>
        </p:txBody>
      </p:sp>
      <p:pic>
        <p:nvPicPr>
          <p:cNvPr id="10" name="object 5">
            <a:extLst>
              <a:ext uri="{FF2B5EF4-FFF2-40B4-BE49-F238E27FC236}">
                <a16:creationId xmlns:a16="http://schemas.microsoft.com/office/drawing/2014/main" id="{66DBEE21-E16E-762A-7E5D-23615C6B3F8C}"/>
              </a:ext>
            </a:extLst>
          </p:cNvPr>
          <p:cNvPicPr/>
          <p:nvPr/>
        </p:nvPicPr>
        <p:blipFill>
          <a:blip r:embed="rId2" cstate="print">
            <a:duotone>
              <a:schemeClr val="accent6">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a:off x="1458268" y="3504071"/>
            <a:ext cx="1724631" cy="1511290"/>
          </a:xfrm>
          <a:prstGeom prst="rect">
            <a:avLst/>
          </a:prstGeom>
          <a:ln>
            <a:noFill/>
          </a:ln>
        </p:spPr>
      </p:pic>
    </p:spTree>
    <p:extLst>
      <p:ext uri="{BB962C8B-B14F-4D97-AF65-F5344CB8AC3E}">
        <p14:creationId xmlns:p14="http://schemas.microsoft.com/office/powerpoint/2010/main" val="18762562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A2D92-886F-8723-101A-3633D3B13B0F}"/>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B1D6847F-54FE-F229-7912-75D7A5658E39}"/>
              </a:ext>
            </a:extLst>
          </p:cNvPr>
          <p:cNvPicPr/>
          <p:nvPr/>
        </p:nvPicPr>
        <p:blipFill>
          <a:blip r:embed="rId2" cstate="print"/>
          <a:stretch>
            <a:fillRect/>
          </a:stretch>
        </p:blipFill>
        <p:spPr>
          <a:xfrm>
            <a:off x="0" y="0"/>
            <a:ext cx="9144000" cy="5943600"/>
          </a:xfrm>
          <a:prstGeom prst="rect">
            <a:avLst/>
          </a:prstGeom>
        </p:spPr>
      </p:pic>
      <p:sp>
        <p:nvSpPr>
          <p:cNvPr id="3" name="object 3">
            <a:extLst>
              <a:ext uri="{FF2B5EF4-FFF2-40B4-BE49-F238E27FC236}">
                <a16:creationId xmlns:a16="http://schemas.microsoft.com/office/drawing/2014/main" id="{67CC353A-F6EF-ABA8-8093-DC11F1B1BD0E}"/>
              </a:ext>
            </a:extLst>
          </p:cNvPr>
          <p:cNvSpPr/>
          <p:nvPr/>
        </p:nvSpPr>
        <p:spPr>
          <a:xfrm>
            <a:off x="0" y="0"/>
            <a:ext cx="9144000" cy="5943600"/>
          </a:xfrm>
          <a:custGeom>
            <a:avLst/>
            <a:gdLst/>
            <a:ahLst/>
            <a:cxnLst/>
            <a:rect l="l" t="t" r="r" b="b"/>
            <a:pathLst>
              <a:path w="9144000" h="5943600">
                <a:moveTo>
                  <a:pt x="9144000" y="0"/>
                </a:moveTo>
                <a:lnTo>
                  <a:pt x="0" y="0"/>
                </a:lnTo>
                <a:lnTo>
                  <a:pt x="0" y="5943600"/>
                </a:lnTo>
                <a:lnTo>
                  <a:pt x="9144000" y="5943600"/>
                </a:lnTo>
                <a:lnTo>
                  <a:pt x="9144000" y="0"/>
                </a:lnTo>
                <a:close/>
              </a:path>
            </a:pathLst>
          </a:custGeom>
          <a:solidFill>
            <a:srgbClr val="033057">
              <a:alpha val="50000"/>
            </a:srgbClr>
          </a:solidFill>
        </p:spPr>
        <p:txBody>
          <a:bodyPr wrap="square" lIns="0" tIns="0" rIns="0" bIns="0" rtlCol="0"/>
          <a:lstStyle/>
          <a:p>
            <a:endParaRPr/>
          </a:p>
        </p:txBody>
      </p:sp>
      <p:sp>
        <p:nvSpPr>
          <p:cNvPr id="4" name="object 4">
            <a:extLst>
              <a:ext uri="{FF2B5EF4-FFF2-40B4-BE49-F238E27FC236}">
                <a16:creationId xmlns:a16="http://schemas.microsoft.com/office/drawing/2014/main" id="{F4380446-2E10-6DBB-E75F-4B1F5D0D571E}"/>
              </a:ext>
            </a:extLst>
          </p:cNvPr>
          <p:cNvSpPr txBox="1"/>
          <p:nvPr/>
        </p:nvSpPr>
        <p:spPr>
          <a:xfrm>
            <a:off x="152400" y="2555019"/>
            <a:ext cx="7696200" cy="833562"/>
          </a:xfrm>
          <a:prstGeom prst="rect">
            <a:avLst/>
          </a:prstGeom>
        </p:spPr>
        <p:txBody>
          <a:bodyPr vert="horz" wrap="square" lIns="0" tIns="127000" rIns="0" bIns="0" rtlCol="0">
            <a:spAutoFit/>
          </a:bodyPr>
          <a:lstStyle/>
          <a:p>
            <a:pPr marL="12700" marR="5080" indent="1608455" algn="ctr">
              <a:lnSpc>
                <a:spcPts val="5500"/>
              </a:lnSpc>
              <a:spcBef>
                <a:spcPts val="1000"/>
              </a:spcBef>
            </a:pPr>
            <a:r>
              <a:rPr lang="en-US" sz="5300" b="1" dirty="0">
                <a:solidFill>
                  <a:srgbClr val="FFFFFF"/>
                </a:solidFill>
                <a:latin typeface="Arial"/>
                <a:cs typeface="Arial"/>
              </a:rPr>
              <a:t>Thank you</a:t>
            </a:r>
            <a:endParaRPr sz="5300" dirty="0">
              <a:latin typeface="Arial"/>
              <a:cs typeface="Arial"/>
            </a:endParaRPr>
          </a:p>
        </p:txBody>
      </p:sp>
      <p:sp>
        <p:nvSpPr>
          <p:cNvPr id="8" name="Footer Placeholder 7">
            <a:extLst>
              <a:ext uri="{FF2B5EF4-FFF2-40B4-BE49-F238E27FC236}">
                <a16:creationId xmlns:a16="http://schemas.microsoft.com/office/drawing/2014/main" id="{4638BAB0-41FE-8EAA-05D9-7B73DADBEB1B}"/>
              </a:ext>
            </a:extLst>
          </p:cNvPr>
          <p:cNvSpPr>
            <a:spLocks noGrp="1"/>
          </p:cNvSpPr>
          <p:nvPr>
            <p:ph type="ftr" sz="quarter" idx="5"/>
          </p:nvPr>
        </p:nvSpPr>
        <p:spPr>
          <a:xfrm>
            <a:off x="6634705" y="5571421"/>
            <a:ext cx="1627504" cy="153888"/>
          </a:xfrm>
        </p:spPr>
        <p:txBody>
          <a:bodyPr/>
          <a:lstStyle/>
          <a:p>
            <a:pPr marL="12700" algn="r">
              <a:lnSpc>
                <a:spcPct val="100000"/>
              </a:lnSpc>
              <a:spcBef>
                <a:spcPts val="25"/>
              </a:spcBef>
            </a:pPr>
            <a:r>
              <a:rPr lang="en-MY" spc="-25" dirty="0"/>
              <a:t>Agile Methodology</a:t>
            </a:r>
            <a:endParaRPr lang="en-MY" dirty="0"/>
          </a:p>
        </p:txBody>
      </p:sp>
      <p:sp>
        <p:nvSpPr>
          <p:cNvPr id="9" name="Slide Number Placeholder 8">
            <a:extLst>
              <a:ext uri="{FF2B5EF4-FFF2-40B4-BE49-F238E27FC236}">
                <a16:creationId xmlns:a16="http://schemas.microsoft.com/office/drawing/2014/main" id="{253AF468-82C2-18BF-ED06-22AC55A5EFE0}"/>
              </a:ext>
            </a:extLst>
          </p:cNvPr>
          <p:cNvSpPr>
            <a:spLocks noGrp="1"/>
          </p:cNvSpPr>
          <p:nvPr>
            <p:ph type="sldNum" sz="quarter" idx="7"/>
          </p:nvPr>
        </p:nvSpPr>
        <p:spPr/>
        <p:txBody>
          <a:bodyPr/>
          <a:lstStyle/>
          <a:p>
            <a:pPr marL="38100">
              <a:lnSpc>
                <a:spcPct val="100000"/>
              </a:lnSpc>
              <a:spcBef>
                <a:spcPts val="190"/>
              </a:spcBef>
            </a:pPr>
            <a:fld id="{81D60167-4931-47E6-BA6A-407CBD079E47}" type="slidenum">
              <a:rPr lang="en-MY" spc="35" smtClean="0"/>
              <a:t>45</a:t>
            </a:fld>
            <a:endParaRPr lang="en-MY" spc="35" dirty="0"/>
          </a:p>
        </p:txBody>
      </p:sp>
    </p:spTree>
    <p:extLst>
      <p:ext uri="{BB962C8B-B14F-4D97-AF65-F5344CB8AC3E}">
        <p14:creationId xmlns:p14="http://schemas.microsoft.com/office/powerpoint/2010/main" val="4035663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67544"/>
            <a:ext cx="8229600" cy="857250"/>
          </a:xfrm>
        </p:spPr>
        <p:txBody>
          <a:bodyPr>
            <a:noAutofit/>
          </a:bodyPr>
          <a:lstStyle/>
          <a:p>
            <a:r>
              <a:rPr lang="en-US" sz="3200" dirty="0">
                <a:solidFill>
                  <a:schemeClr val="tx1"/>
                </a:solidFill>
                <a:latin typeface="Aptos Display" panose="020B0004020202020204" pitchFamily="34" charset="0"/>
                <a:cs typeface="Aptos Serif" panose="020B0502040204020203" pitchFamily="18" charset="0"/>
              </a:rPr>
              <a:t>References</a:t>
            </a:r>
          </a:p>
        </p:txBody>
      </p:sp>
      <p:sp>
        <p:nvSpPr>
          <p:cNvPr id="5" name="Content Placeholder 4"/>
          <p:cNvSpPr>
            <a:spLocks noGrp="1"/>
          </p:cNvSpPr>
          <p:nvPr>
            <p:ph idx="1"/>
          </p:nvPr>
        </p:nvSpPr>
        <p:spPr>
          <a:xfrm>
            <a:off x="323528" y="1747664"/>
            <a:ext cx="8363272" cy="3394472"/>
          </a:xfrm>
        </p:spPr>
        <p:txBody>
          <a:bodyPr>
            <a:noAutofit/>
          </a:bodyPr>
          <a:lstStyle/>
          <a:p>
            <a:pPr marL="252000" indent="-252000">
              <a:spcBef>
                <a:spcPts val="600"/>
              </a:spcBef>
            </a:pPr>
            <a:r>
              <a:rPr lang="en-US" sz="1400" dirty="0">
                <a:latin typeface="Aptos Light" panose="020B0004020202020204" pitchFamily="34" charset="0"/>
                <a:ea typeface="Lato Light" pitchFamily="34" charset="0"/>
                <a:cs typeface="Lato Light" pitchFamily="34" charset="0"/>
              </a:rPr>
              <a:t>Patel, R. (2022, October 26). Agile vs Waterfall - A Detailed Comparison Guide. Space-O Technologies (Canada). https://www.spaceo.ca/blog/agile-vs-waterfall/</a:t>
            </a:r>
          </a:p>
          <a:p>
            <a:pPr marL="252000" indent="-252000">
              <a:spcBef>
                <a:spcPts val="600"/>
              </a:spcBef>
            </a:pPr>
            <a:r>
              <a:rPr lang="en-US" sz="1400" dirty="0">
                <a:latin typeface="Aptos Light" panose="020B0004020202020204" pitchFamily="34" charset="0"/>
                <a:ea typeface="Lato Light" pitchFamily="34" charset="0"/>
                <a:cs typeface="Lato Light" pitchFamily="34" charset="0"/>
              </a:rPr>
              <a:t>Patel, R. (2023, June 23). What is the Agile Manifesto? [Key Agile Values and Principles]. Space-O Technologies (Canada). https://www.spaceo.ca/blog/agile-manifesto/</a:t>
            </a:r>
          </a:p>
          <a:p>
            <a:pPr marL="252000" indent="-252000">
              <a:spcBef>
                <a:spcPts val="600"/>
              </a:spcBef>
            </a:pPr>
            <a:r>
              <a:rPr lang="en-US" sz="1400" dirty="0">
                <a:latin typeface="Aptos Light" panose="020B0004020202020204" pitchFamily="34" charset="0"/>
                <a:ea typeface="Lato Light" pitchFamily="34" charset="0"/>
                <a:cs typeface="Lato Light" pitchFamily="34" charset="0"/>
              </a:rPr>
              <a:t>The history of Agile. (2019, November 21). Planview. https://www.planview.com/resources/guide/agile-methodologies-a-beginners-guide/history-of-agile/</a:t>
            </a:r>
          </a:p>
          <a:p>
            <a:pPr marL="252000" indent="-252000">
              <a:spcBef>
                <a:spcPts val="600"/>
              </a:spcBef>
            </a:pPr>
            <a:r>
              <a:rPr lang="en-US" sz="1400" dirty="0">
                <a:latin typeface="Aptos Light" panose="020B0004020202020204" pitchFamily="34" charset="0"/>
                <a:ea typeface="Lato Light" pitchFamily="34" charset="0"/>
                <a:cs typeface="Lato Light" pitchFamily="34" charset="0"/>
              </a:rPr>
              <a:t>Richter, L. (n.d.). Real-Life agile project management &amp; famous success stories. Smartsheet. https://www.smartsheet.com/content/agile-project-management-examples#real-life-agile-project-examples-from-large-companies</a:t>
            </a:r>
          </a:p>
          <a:p>
            <a:pPr marL="252000" indent="-252000">
              <a:spcBef>
                <a:spcPts val="600"/>
              </a:spcBef>
            </a:pPr>
            <a:endParaRPr lang="en-US" sz="1400" dirty="0">
              <a:latin typeface="Aptos Light" panose="020B0004020202020204" pitchFamily="34" charset="0"/>
              <a:ea typeface="Lato Light" pitchFamily="34" charset="0"/>
              <a:cs typeface="Lato Light" pitchFamily="34" charset="0"/>
            </a:endParaRPr>
          </a:p>
        </p:txBody>
      </p:sp>
    </p:spTree>
    <p:extLst>
      <p:ext uri="{BB962C8B-B14F-4D97-AF65-F5344CB8AC3E}">
        <p14:creationId xmlns:p14="http://schemas.microsoft.com/office/powerpoint/2010/main" val="2648738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72EB"/>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4020</TotalTime>
  <Words>6383</Words>
  <Application>Microsoft Office PowerPoint</Application>
  <PresentationFormat>Custom</PresentationFormat>
  <Paragraphs>527</Paragraphs>
  <Slides>46</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Aptos</vt:lpstr>
      <vt:lpstr>Aptos Display</vt:lpstr>
      <vt:lpstr>Aptos Light</vt:lpstr>
      <vt:lpstr>Arial</vt:lpstr>
      <vt:lpstr>Calibri</vt:lpstr>
      <vt:lpstr>Roboto</vt:lpstr>
      <vt:lpstr>Roboto Lt</vt:lpstr>
      <vt:lpstr>Office Theme</vt:lpstr>
      <vt:lpstr>PowerPoint Presentation</vt:lpstr>
      <vt:lpstr>Contents</vt:lpstr>
      <vt:lpstr>Everyone  manages  projects  Whether they’re a certified project manager or not.</vt:lpstr>
      <vt:lpstr>Facts Breakdown of software development methodologies practiced in 2022.</vt:lpstr>
      <vt:lpstr>Agile  Overview</vt:lpstr>
      <vt:lpstr>12 Agile Principles</vt:lpstr>
      <vt:lpstr>12 Agile Principles</vt:lpstr>
      <vt:lpstr>Lets discuss</vt:lpstr>
      <vt:lpstr>Agile Development Cycle The phases in the Agile development cycle may not happen in succession; they are flexible and always evolving,  with many happening in parallel.</vt:lpstr>
      <vt:lpstr>Advantages of Agile Agile evolved from different development approaches in the 1990s and is a response to some project managers’  dislike of the rigid, linear Waterfall methodology. It focuses on flexibility, continuous improvement, and speed.</vt:lpstr>
      <vt:lpstr>Disadvantages of Agile While flexibility in Agile is usually a positive, it also comes with some trade-offs. It can be hard to establish a solid  delivery date, documentation can be neglected, or the final product can be very different than originally intended.</vt:lpstr>
      <vt:lpstr>Lets discuss</vt:lpstr>
      <vt:lpstr>Scrum</vt:lpstr>
      <vt:lpstr>Scrum  Methodology</vt:lpstr>
      <vt:lpstr>Roles in Scrum</vt:lpstr>
      <vt:lpstr>Steps in the Scrum Process</vt:lpstr>
      <vt:lpstr>Steps in the Scrum Process</vt:lpstr>
      <vt:lpstr>Lets discuss</vt:lpstr>
      <vt:lpstr>Tools and Artifacts in Scrum In addition to roles and ceremonies, Scrum projects also include certain tools and “artifacts”. For example, the team  uses a Scrum board to visualize the backlog or a burndown chart to show outstanding work. The most common are:</vt:lpstr>
      <vt:lpstr>Example of a Scrum Board</vt:lpstr>
      <vt:lpstr>User Story</vt:lpstr>
      <vt:lpstr>Burndown  chart</vt:lpstr>
      <vt:lpstr>Example of Burndown Chart</vt:lpstr>
      <vt:lpstr>Benefits and Limitations of Burndown Chart</vt:lpstr>
      <vt:lpstr>Agile Velocity</vt:lpstr>
      <vt:lpstr>Example of Agile Velocity</vt:lpstr>
      <vt:lpstr>Insights from Burndown Chart and its Limitations</vt:lpstr>
      <vt:lpstr>Lets discuss</vt:lpstr>
      <vt:lpstr>Advantages of Scrum Scrum is a highly prescriptive framework with specific roles and ceremonies. While it can be a lot to learn,  these rules have multiple advantages:</vt:lpstr>
      <vt:lpstr>Disadvantages of Scrum While Scrum offers some concrete benefits, it also has some downsides. Scrum requires a high level of experience  and commitment from the team and projects can be at risk of scope creep:</vt:lpstr>
      <vt:lpstr>Lets discuss</vt:lpstr>
      <vt:lpstr>Kanban  Methodology</vt:lpstr>
      <vt:lpstr>About the  Kanban  Board</vt:lpstr>
      <vt:lpstr>Core Practices and</vt:lpstr>
      <vt:lpstr>PowerPoint Presentation</vt:lpstr>
      <vt:lpstr>Advantages of Kanban Kanban’s visual nature offers a unique advantage when implementing Agile. The Kanban board is easy to learn and  understand, it improves flow of work, and minimizes cycle time:</vt:lpstr>
      <vt:lpstr>Disadvantages of Kanban Many of the disadvantages associated with Kanban come with misuse or mishandling of the Kanban board.  An outdated or overcomplicated board can lead to confusion, inaccuracies, or miscommunication:</vt:lpstr>
      <vt:lpstr>Lets discuss</vt:lpstr>
      <vt:lpstr>Other Agile Methodologies</vt:lpstr>
      <vt:lpstr>How to Get Started  with Agile</vt:lpstr>
      <vt:lpstr>3 Ways to Implement</vt:lpstr>
      <vt:lpstr>Finding the</vt:lpstr>
      <vt:lpstr>A More  Agile Way  to Manage  Work</vt:lpstr>
      <vt:lpstr>Trello as Agile Project Management Tool</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MOHAMMAD FAIDZUL BIN NASRUDIN</dc:creator>
  <cp:lastModifiedBy>MOHAMMAD FAIDZUL BIN NASRUDIN</cp:lastModifiedBy>
  <cp:revision>20</cp:revision>
  <dcterms:created xsi:type="dcterms:W3CDTF">2024-10-14T03:21:48Z</dcterms:created>
  <dcterms:modified xsi:type="dcterms:W3CDTF">2024-11-18T05:26:37Z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2018-11-29T00:00:00Z</vt:filetime>
  </property>
  <property fmtid="{D5CDD505-2E9C-101B-9397-08002B2CF9AE}" pid="3" name="Creator">
    <vt:lpwstr>Adobe InDesign CS6 (Macintosh)</vt:lpwstr>
  </property>
  <property fmtid="{D5CDD505-2E9C-101B-9397-08002B2CF9AE}" pid="4" name="LastSaved">
    <vt:filetime>2024-10-14T00:00:00Z</vt:filetime>
  </property>
</Properties>
</file>