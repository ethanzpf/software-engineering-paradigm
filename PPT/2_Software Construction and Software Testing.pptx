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57" r:id="rId3"/>
    <p:sldId id="258" r:id="rId4"/>
    <p:sldId id="260" r:id="rId5"/>
    <p:sldId id="261" r:id="rId6"/>
    <p:sldId id="263" r:id="rId7"/>
    <p:sldId id="264" r:id="rId8"/>
    <p:sldId id="265" r:id="rId9"/>
    <p:sldId id="266" r:id="rId10"/>
    <p:sldId id="267" r:id="rId11"/>
    <p:sldId id="268" r:id="rId12"/>
    <p:sldId id="269" r:id="rId13"/>
    <p:sldId id="270" r:id="rId14"/>
    <p:sldId id="271" r:id="rId15"/>
    <p:sldId id="272" r:id="rId16"/>
    <p:sldId id="262" r:id="rId17"/>
    <p:sldId id="273" r:id="rId18"/>
    <p:sldId id="274" r:id="rId19"/>
    <p:sldId id="275" r:id="rId20"/>
    <p:sldId id="276" r:id="rId21"/>
    <p:sldId id="277" r:id="rId22"/>
    <p:sldId id="278" r:id="rId23"/>
    <p:sldId id="279" r:id="rId24"/>
    <p:sldId id="280" r:id="rId25"/>
    <p:sldId id="282" r:id="rId26"/>
    <p:sldId id="281" r:id="rId27"/>
    <p:sldId id="283" r:id="rId28"/>
    <p:sldId id="284" r:id="rId29"/>
    <p:sldId id="25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28"/>
  </p:normalViewPr>
  <p:slideViewPr>
    <p:cSldViewPr snapToGrid="0">
      <p:cViewPr varScale="1">
        <p:scale>
          <a:sx n="98" d="100"/>
          <a:sy n="98"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10/21/24</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2565916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7991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53789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2051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403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9261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892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1971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481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9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10/21/24</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6934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10/21/24</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Tree>
    <p:extLst>
      <p:ext uri="{BB962C8B-B14F-4D97-AF65-F5344CB8AC3E}">
        <p14:creationId xmlns:p14="http://schemas.microsoft.com/office/powerpoint/2010/main" val="3073607824"/>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91E46D-0383-154E-42D7-0ACEB1E5F075}"/>
              </a:ext>
            </a:extLst>
          </p:cNvPr>
          <p:cNvSpPr>
            <a:spLocks noGrp="1"/>
          </p:cNvSpPr>
          <p:nvPr>
            <p:ph type="ctrTitle"/>
          </p:nvPr>
        </p:nvSpPr>
        <p:spPr>
          <a:xfrm>
            <a:off x="569469" y="1247140"/>
            <a:ext cx="3608208" cy="3450844"/>
          </a:xfrm>
        </p:spPr>
        <p:txBody>
          <a:bodyPr>
            <a:normAutofit/>
          </a:bodyPr>
          <a:lstStyle/>
          <a:p>
            <a:r>
              <a:rPr lang="en-US" sz="4000" dirty="0"/>
              <a:t>Software Construction and Software Testing</a:t>
            </a:r>
            <a:br>
              <a:rPr lang="en-US" sz="4000" dirty="0"/>
            </a:br>
            <a:endParaRPr lang="en-US" sz="4000" dirty="0"/>
          </a:p>
        </p:txBody>
      </p:sp>
      <p:sp>
        <p:nvSpPr>
          <p:cNvPr id="3" name="Subtitle 2">
            <a:extLst>
              <a:ext uri="{FF2B5EF4-FFF2-40B4-BE49-F238E27FC236}">
                <a16:creationId xmlns:a16="http://schemas.microsoft.com/office/drawing/2014/main" id="{652863FC-E4A9-7DE6-2FDF-CCF136B736A5}"/>
              </a:ext>
            </a:extLst>
          </p:cNvPr>
          <p:cNvSpPr>
            <a:spLocks noGrp="1"/>
          </p:cNvSpPr>
          <p:nvPr>
            <p:ph type="subTitle" idx="1"/>
          </p:nvPr>
        </p:nvSpPr>
        <p:spPr>
          <a:xfrm>
            <a:off x="569469" y="4818126"/>
            <a:ext cx="3608208" cy="1268984"/>
          </a:xfrm>
        </p:spPr>
        <p:txBody>
          <a:bodyPr>
            <a:normAutofit fontScale="92500" lnSpcReduction="10000"/>
          </a:bodyPr>
          <a:lstStyle/>
          <a:p>
            <a:pPr algn="ctr"/>
            <a:r>
              <a:rPr lang="en-US" dirty="0"/>
              <a:t>TTTE6104 </a:t>
            </a:r>
          </a:p>
          <a:p>
            <a:pPr algn="ctr"/>
            <a:r>
              <a:rPr lang="en-US" dirty="0"/>
              <a:t>Software Engineering Paradigm </a:t>
            </a:r>
          </a:p>
        </p:txBody>
      </p:sp>
      <p:pic>
        <p:nvPicPr>
          <p:cNvPr id="4" name="Picture 3" descr="A blue and white curved wall&#10;&#10;Description automatically generated with medium confidence">
            <a:extLst>
              <a:ext uri="{FF2B5EF4-FFF2-40B4-BE49-F238E27FC236}">
                <a16:creationId xmlns:a16="http://schemas.microsoft.com/office/drawing/2014/main" id="{6B314AD5-A343-A6A8-C03F-CB9D36352F17}"/>
              </a:ext>
            </a:extLst>
          </p:cNvPr>
          <p:cNvPicPr>
            <a:picLocks noChangeAspect="1"/>
          </p:cNvPicPr>
          <p:nvPr/>
        </p:nvPicPr>
        <p:blipFill>
          <a:blip r:embed="rId2"/>
          <a:srcRect l="11416" r="7039"/>
          <a:stretch/>
        </p:blipFill>
        <p:spPr>
          <a:xfrm>
            <a:off x="4735487" y="10"/>
            <a:ext cx="7456513" cy="6857990"/>
          </a:xfrm>
          <a:prstGeom prst="rect">
            <a:avLst/>
          </a:prstGeom>
        </p:spPr>
      </p:pic>
      <p:sp>
        <p:nvSpPr>
          <p:cNvPr id="11" name="Rectangle 10">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529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3" name="Rectangle 12">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529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374522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3F62-DBD0-0C00-2553-E479C3264677}"/>
              </a:ext>
            </a:extLst>
          </p:cNvPr>
          <p:cNvSpPr>
            <a:spLocks noGrp="1"/>
          </p:cNvSpPr>
          <p:nvPr>
            <p:ph type="title"/>
          </p:nvPr>
        </p:nvSpPr>
        <p:spPr/>
        <p:txBody>
          <a:bodyPr/>
          <a:lstStyle/>
          <a:p>
            <a:r>
              <a:rPr lang="en-US" dirty="0"/>
              <a:t>Objectives </a:t>
            </a:r>
          </a:p>
        </p:txBody>
      </p:sp>
      <p:sp>
        <p:nvSpPr>
          <p:cNvPr id="3" name="Content Placeholder 2">
            <a:extLst>
              <a:ext uri="{FF2B5EF4-FFF2-40B4-BE49-F238E27FC236}">
                <a16:creationId xmlns:a16="http://schemas.microsoft.com/office/drawing/2014/main" id="{D27D8BB1-715F-C3BE-6FE9-8E4404B8516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94515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2E6FF-16D8-93E6-90DB-ED2569E3CDF4}"/>
              </a:ext>
            </a:extLst>
          </p:cNvPr>
          <p:cNvSpPr>
            <a:spLocks noGrp="1"/>
          </p:cNvSpPr>
          <p:nvPr>
            <p:ph type="title"/>
          </p:nvPr>
        </p:nvSpPr>
        <p:spPr/>
        <p:txBody>
          <a:bodyPr/>
          <a:lstStyle/>
          <a:p>
            <a:r>
              <a:rPr lang="en-US" dirty="0"/>
              <a:t>Contents </a:t>
            </a:r>
          </a:p>
        </p:txBody>
      </p:sp>
      <p:sp>
        <p:nvSpPr>
          <p:cNvPr id="3" name="Content Placeholder 2">
            <a:extLst>
              <a:ext uri="{FF2B5EF4-FFF2-40B4-BE49-F238E27FC236}">
                <a16:creationId xmlns:a16="http://schemas.microsoft.com/office/drawing/2014/main" id="{9062D401-BB48-97D2-A606-02DAE54AB5B5}"/>
              </a:ext>
            </a:extLst>
          </p:cNvPr>
          <p:cNvSpPr>
            <a:spLocks noGrp="1"/>
          </p:cNvSpPr>
          <p:nvPr>
            <p:ph idx="1"/>
          </p:nvPr>
        </p:nvSpPr>
        <p:spPr/>
        <p:txBody>
          <a:bodyPr/>
          <a:lstStyle/>
          <a:p>
            <a:r>
              <a:rPr lang="en-US" dirty="0"/>
              <a:t>Introduction to Software Construction</a:t>
            </a:r>
          </a:p>
          <a:p>
            <a:r>
              <a:rPr lang="en-US" dirty="0"/>
              <a:t>System Design</a:t>
            </a:r>
          </a:p>
          <a:p>
            <a:r>
              <a:rPr lang="en-US" dirty="0"/>
              <a:t>Programming</a:t>
            </a:r>
          </a:p>
          <a:p>
            <a:r>
              <a:rPr lang="en-US" dirty="0"/>
              <a:t>System Testing</a:t>
            </a:r>
          </a:p>
          <a:p>
            <a:endParaRPr lang="en-US" dirty="0"/>
          </a:p>
        </p:txBody>
      </p:sp>
    </p:spTree>
    <p:extLst>
      <p:ext uri="{BB962C8B-B14F-4D97-AF65-F5344CB8AC3E}">
        <p14:creationId xmlns:p14="http://schemas.microsoft.com/office/powerpoint/2010/main" val="810269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6409-E50B-DCF0-9B7B-5A955F53A038}"/>
              </a:ext>
            </a:extLst>
          </p:cNvPr>
          <p:cNvSpPr>
            <a:spLocks noGrp="1"/>
          </p:cNvSpPr>
          <p:nvPr>
            <p:ph type="title"/>
          </p:nvPr>
        </p:nvSpPr>
        <p:spPr/>
        <p:txBody>
          <a:bodyPr/>
          <a:lstStyle/>
          <a:p>
            <a:r>
              <a:rPr lang="en-US" dirty="0"/>
              <a:t>Introduction to Software Construction</a:t>
            </a:r>
          </a:p>
        </p:txBody>
      </p:sp>
      <p:sp>
        <p:nvSpPr>
          <p:cNvPr id="3" name="Content Placeholder 2">
            <a:extLst>
              <a:ext uri="{FF2B5EF4-FFF2-40B4-BE49-F238E27FC236}">
                <a16:creationId xmlns:a16="http://schemas.microsoft.com/office/drawing/2014/main" id="{83AB6C4C-7ED0-B9EF-24FA-3FB2C0CB8F81}"/>
              </a:ext>
            </a:extLst>
          </p:cNvPr>
          <p:cNvSpPr>
            <a:spLocks noGrp="1"/>
          </p:cNvSpPr>
          <p:nvPr>
            <p:ph idx="1"/>
          </p:nvPr>
        </p:nvSpPr>
        <p:spPr/>
        <p:txBody>
          <a:bodyPr>
            <a:normAutofit/>
          </a:bodyPr>
          <a:lstStyle/>
          <a:p>
            <a:r>
              <a:rPr lang="en-US" dirty="0"/>
              <a:t>The Construction Phase in the Rational Unified Process includes:</a:t>
            </a:r>
          </a:p>
          <a:p>
            <a:pPr lvl="1"/>
            <a:r>
              <a:rPr lang="en-US" dirty="0"/>
              <a:t>System design, programming, and testing.</a:t>
            </a:r>
          </a:p>
          <a:p>
            <a:pPr lvl="1"/>
            <a:r>
              <a:rPr lang="en-US" dirty="0"/>
              <a:t>Development of different parts of the system in parallel.</a:t>
            </a:r>
          </a:p>
          <a:p>
            <a:pPr lvl="1"/>
            <a:r>
              <a:rPr lang="en-US" dirty="0"/>
              <a:t>Integration of system components during this phase.</a:t>
            </a:r>
          </a:p>
          <a:p>
            <a:r>
              <a:rPr lang="en-US" dirty="0"/>
              <a:t>On completion of the Construction Phase:</a:t>
            </a:r>
          </a:p>
          <a:p>
            <a:pPr lvl="1"/>
            <a:r>
              <a:rPr lang="en-US" dirty="0"/>
              <a:t>A working software system is produced.</a:t>
            </a:r>
          </a:p>
          <a:p>
            <a:pPr lvl="1"/>
            <a:r>
              <a:rPr lang="en-US" dirty="0"/>
              <a:t>Associated documentation is prepared.</a:t>
            </a:r>
          </a:p>
          <a:p>
            <a:pPr lvl="1"/>
            <a:r>
              <a:rPr lang="en-US" dirty="0"/>
              <a:t>The system is ready for delivery to users.</a:t>
            </a:r>
          </a:p>
          <a:p>
            <a:endParaRPr lang="en-US" dirty="0"/>
          </a:p>
        </p:txBody>
      </p:sp>
    </p:spTree>
    <p:extLst>
      <p:ext uri="{BB962C8B-B14F-4D97-AF65-F5344CB8AC3E}">
        <p14:creationId xmlns:p14="http://schemas.microsoft.com/office/powerpoint/2010/main" val="220138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4481-6CC2-391F-06B6-B475F7C3BAB6}"/>
              </a:ext>
            </a:extLst>
          </p:cNvPr>
          <p:cNvSpPr>
            <a:spLocks noGrp="1"/>
          </p:cNvSpPr>
          <p:nvPr>
            <p:ph type="title"/>
          </p:nvPr>
        </p:nvSpPr>
        <p:spPr/>
        <p:txBody>
          <a:bodyPr/>
          <a:lstStyle/>
          <a:p>
            <a:r>
              <a:rPr lang="en-US" dirty="0"/>
              <a:t>System Design</a:t>
            </a:r>
          </a:p>
        </p:txBody>
      </p:sp>
      <p:sp>
        <p:nvSpPr>
          <p:cNvPr id="3" name="Content Placeholder 2">
            <a:extLst>
              <a:ext uri="{FF2B5EF4-FFF2-40B4-BE49-F238E27FC236}">
                <a16:creationId xmlns:a16="http://schemas.microsoft.com/office/drawing/2014/main" id="{13A28F97-A037-4D6B-5D7A-2D369A4FD2E3}"/>
              </a:ext>
            </a:extLst>
          </p:cNvPr>
          <p:cNvSpPr>
            <a:spLocks noGrp="1"/>
          </p:cNvSpPr>
          <p:nvPr>
            <p:ph idx="1"/>
          </p:nvPr>
        </p:nvSpPr>
        <p:spPr/>
        <p:txBody>
          <a:bodyPr>
            <a:normAutofit fontScale="62500" lnSpcReduction="20000"/>
          </a:bodyPr>
          <a:lstStyle/>
          <a:p>
            <a:r>
              <a:rPr lang="en-US" sz="2300" dirty="0"/>
              <a:t>Architectural Design</a:t>
            </a:r>
          </a:p>
          <a:p>
            <a:pPr lvl="1"/>
            <a:r>
              <a:rPr lang="en-US" sz="2300" dirty="0"/>
              <a:t>Defines the high-level structure of the system, identifying major components and how they interact.</a:t>
            </a:r>
          </a:p>
          <a:p>
            <a:pPr lvl="1"/>
            <a:r>
              <a:rPr lang="en-US" sz="2300" dirty="0"/>
              <a:t>Common architectural styles: Client-server, Layered, Microservices, etc.</a:t>
            </a:r>
          </a:p>
          <a:p>
            <a:r>
              <a:rPr lang="en-US" sz="2300" dirty="0"/>
              <a:t>Component Design</a:t>
            </a:r>
          </a:p>
          <a:p>
            <a:pPr lvl="1"/>
            <a:r>
              <a:rPr lang="en-US" sz="2300" dirty="0"/>
              <a:t>Decomposes the system into smaller, independent modules or components.</a:t>
            </a:r>
          </a:p>
          <a:p>
            <a:pPr lvl="1"/>
            <a:r>
              <a:rPr lang="en-US" sz="2300" dirty="0"/>
              <a:t>Defines the responsibilities and interfaces of each component.</a:t>
            </a:r>
          </a:p>
          <a:p>
            <a:r>
              <a:rPr lang="en-US" sz="2300" dirty="0"/>
              <a:t>Data Design</a:t>
            </a:r>
          </a:p>
          <a:p>
            <a:pPr lvl="1"/>
            <a:r>
              <a:rPr lang="en-US" sz="2300" dirty="0"/>
              <a:t>Defines how data will be structured, stored, and accessed.</a:t>
            </a:r>
          </a:p>
          <a:p>
            <a:pPr lvl="1"/>
            <a:r>
              <a:rPr lang="en-US" sz="2300" dirty="0"/>
              <a:t>Includes designing databases, data flows, and data models.</a:t>
            </a:r>
          </a:p>
          <a:p>
            <a:pPr lvl="1"/>
            <a:r>
              <a:rPr lang="en-US" sz="2300" dirty="0"/>
              <a:t>Ensures data integrity, consistency, and security.</a:t>
            </a:r>
          </a:p>
          <a:p>
            <a:r>
              <a:rPr lang="en-US" sz="2300" dirty="0"/>
              <a:t>Interface Design</a:t>
            </a:r>
          </a:p>
          <a:p>
            <a:pPr lvl="1"/>
            <a:r>
              <a:rPr lang="en-US" sz="2300" dirty="0"/>
              <a:t>Defines how system components will communicate with each other.</a:t>
            </a:r>
          </a:p>
          <a:p>
            <a:pPr lvl="1"/>
            <a:r>
              <a:rPr lang="en-US" sz="2300" dirty="0"/>
              <a:t>Ensures seamless integration between system modules and a user-friendly interface.</a:t>
            </a:r>
          </a:p>
          <a:p>
            <a:endParaRPr lang="en-US" dirty="0"/>
          </a:p>
          <a:p>
            <a:endParaRPr lang="en-US" dirty="0"/>
          </a:p>
        </p:txBody>
      </p:sp>
    </p:spTree>
    <p:extLst>
      <p:ext uri="{BB962C8B-B14F-4D97-AF65-F5344CB8AC3E}">
        <p14:creationId xmlns:p14="http://schemas.microsoft.com/office/powerpoint/2010/main" val="3063503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9BCA5-65D0-BD95-465F-12347C7BC3D9}"/>
              </a:ext>
            </a:extLst>
          </p:cNvPr>
          <p:cNvSpPr>
            <a:spLocks noGrp="1"/>
          </p:cNvSpPr>
          <p:nvPr>
            <p:ph type="title"/>
          </p:nvPr>
        </p:nvSpPr>
        <p:spPr/>
        <p:txBody>
          <a:bodyPr/>
          <a:lstStyle/>
          <a:p>
            <a:r>
              <a:rPr lang="en-US" sz="4400" dirty="0"/>
              <a:t>Architectural Design</a:t>
            </a:r>
            <a:endParaRPr lang="en-US" dirty="0"/>
          </a:p>
        </p:txBody>
      </p:sp>
      <p:sp>
        <p:nvSpPr>
          <p:cNvPr id="3" name="Content Placeholder 2">
            <a:extLst>
              <a:ext uri="{FF2B5EF4-FFF2-40B4-BE49-F238E27FC236}">
                <a16:creationId xmlns:a16="http://schemas.microsoft.com/office/drawing/2014/main" id="{0C249A30-4124-AADC-609C-AB740590F3C2}"/>
              </a:ext>
            </a:extLst>
          </p:cNvPr>
          <p:cNvSpPr>
            <a:spLocks noGrp="1"/>
          </p:cNvSpPr>
          <p:nvPr>
            <p:ph idx="1"/>
          </p:nvPr>
        </p:nvSpPr>
        <p:spPr/>
        <p:txBody>
          <a:bodyPr>
            <a:normAutofit fontScale="92500"/>
          </a:bodyPr>
          <a:lstStyle/>
          <a:p>
            <a:r>
              <a:rPr lang="en-US" dirty="0"/>
              <a:t>The first stage in the software design process. </a:t>
            </a:r>
          </a:p>
          <a:p>
            <a:r>
              <a:rPr lang="en-US" dirty="0"/>
              <a:t>Architectural design is concerned with understanding how a system should be organized and designing the overall structure of that system. </a:t>
            </a:r>
          </a:p>
          <a:p>
            <a:r>
              <a:rPr lang="en-US" dirty="0"/>
              <a:t>The output of the architectural design process is an architectural model that describes how the system is organized as a set of communicating components. </a:t>
            </a:r>
          </a:p>
          <a:p>
            <a:r>
              <a:rPr lang="en-US" dirty="0"/>
              <a:t>As part of the requirements engineering process, you might pro- pose an abstract system architecture where you associate groups of system functions or features with large-scale components or sub-systems. </a:t>
            </a:r>
          </a:p>
          <a:p>
            <a:endParaRPr lang="en-US" dirty="0"/>
          </a:p>
          <a:p>
            <a:endParaRPr lang="en-US" dirty="0"/>
          </a:p>
        </p:txBody>
      </p:sp>
    </p:spTree>
    <p:extLst>
      <p:ext uri="{BB962C8B-B14F-4D97-AF65-F5344CB8AC3E}">
        <p14:creationId xmlns:p14="http://schemas.microsoft.com/office/powerpoint/2010/main" val="353452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CE090-485B-657D-434B-50434ABE61E5}"/>
              </a:ext>
            </a:extLst>
          </p:cNvPr>
          <p:cNvSpPr>
            <a:spLocks noGrp="1"/>
          </p:cNvSpPr>
          <p:nvPr>
            <p:ph type="title"/>
          </p:nvPr>
        </p:nvSpPr>
        <p:spPr/>
        <p:txBody>
          <a:bodyPr>
            <a:normAutofit fontScale="90000"/>
          </a:bodyPr>
          <a:lstStyle/>
          <a:p>
            <a:r>
              <a:rPr lang="en-US" dirty="0"/>
              <a:t>Two levels of abstraction software architectures</a:t>
            </a:r>
            <a:br>
              <a:rPr lang="en-US" dirty="0"/>
            </a:br>
            <a:endParaRPr lang="en-US" dirty="0"/>
          </a:p>
        </p:txBody>
      </p:sp>
      <p:sp>
        <p:nvSpPr>
          <p:cNvPr id="3" name="Content Placeholder 2">
            <a:extLst>
              <a:ext uri="{FF2B5EF4-FFF2-40B4-BE49-F238E27FC236}">
                <a16:creationId xmlns:a16="http://schemas.microsoft.com/office/drawing/2014/main" id="{AAF99D05-6F69-3A91-970E-606F0B777AE8}"/>
              </a:ext>
            </a:extLst>
          </p:cNvPr>
          <p:cNvSpPr>
            <a:spLocks noGrp="1"/>
          </p:cNvSpPr>
          <p:nvPr>
            <p:ph idx="1"/>
          </p:nvPr>
        </p:nvSpPr>
        <p:spPr/>
        <p:txBody>
          <a:bodyPr/>
          <a:lstStyle/>
          <a:p>
            <a:r>
              <a:rPr lang="en-US" dirty="0"/>
              <a:t>Architecture in the small</a:t>
            </a:r>
          </a:p>
          <a:p>
            <a:pPr lvl="1"/>
            <a:r>
              <a:rPr lang="en-US" dirty="0"/>
              <a:t>concerned with the architecture of individual programs </a:t>
            </a:r>
          </a:p>
          <a:p>
            <a:pPr lvl="1"/>
            <a:r>
              <a:rPr lang="en-US" dirty="0"/>
              <a:t>concerned with the way that an individual program is decomposed into components </a:t>
            </a:r>
          </a:p>
          <a:p>
            <a:r>
              <a:rPr lang="en-US" dirty="0"/>
              <a:t>Architecture in the large </a:t>
            </a:r>
          </a:p>
          <a:p>
            <a:pPr lvl="1"/>
            <a:r>
              <a:rPr lang="en-US" dirty="0"/>
              <a:t>concerned with the architecture of complex enterprise systems that include other systems, programs, and program components</a:t>
            </a:r>
          </a:p>
          <a:p>
            <a:pPr lvl="1"/>
            <a:endParaRPr lang="en-US" dirty="0"/>
          </a:p>
          <a:p>
            <a:endParaRPr lang="en-US" dirty="0"/>
          </a:p>
        </p:txBody>
      </p:sp>
    </p:spTree>
    <p:extLst>
      <p:ext uri="{BB962C8B-B14F-4D97-AF65-F5344CB8AC3E}">
        <p14:creationId xmlns:p14="http://schemas.microsoft.com/office/powerpoint/2010/main" val="76626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FA04D-3492-5849-8DF9-B9B83AA02AF0}"/>
              </a:ext>
            </a:extLst>
          </p:cNvPr>
          <p:cNvSpPr>
            <a:spLocks noGrp="1"/>
          </p:cNvSpPr>
          <p:nvPr>
            <p:ph type="title"/>
          </p:nvPr>
        </p:nvSpPr>
        <p:spPr/>
        <p:txBody>
          <a:bodyPr>
            <a:normAutofit/>
          </a:bodyPr>
          <a:lstStyle/>
          <a:p>
            <a:r>
              <a:rPr lang="en-US" sz="3600" dirty="0"/>
              <a:t>Advantages of explicitly designing and documenting software architecture</a:t>
            </a:r>
          </a:p>
        </p:txBody>
      </p:sp>
      <p:sp>
        <p:nvSpPr>
          <p:cNvPr id="3" name="Content Placeholder 2">
            <a:extLst>
              <a:ext uri="{FF2B5EF4-FFF2-40B4-BE49-F238E27FC236}">
                <a16:creationId xmlns:a16="http://schemas.microsoft.com/office/drawing/2014/main" id="{857997AD-206A-EA99-AF88-A660A51D8119}"/>
              </a:ext>
            </a:extLst>
          </p:cNvPr>
          <p:cNvSpPr>
            <a:spLocks noGrp="1"/>
          </p:cNvSpPr>
          <p:nvPr>
            <p:ph idx="1"/>
          </p:nvPr>
        </p:nvSpPr>
        <p:spPr/>
        <p:txBody>
          <a:bodyPr>
            <a:normAutofit fontScale="92500"/>
          </a:bodyPr>
          <a:lstStyle/>
          <a:p>
            <a:r>
              <a:rPr lang="en-US" dirty="0"/>
              <a:t>Stakeholder communication - The architecture is a high-level presentation of the system that may be used as a focus for discussion by a range of different stakeholders. </a:t>
            </a:r>
          </a:p>
          <a:p>
            <a:r>
              <a:rPr lang="en-US" dirty="0"/>
              <a:t>System analysis - Making the system architecture explicit at an early stage in the system development requires some analysis. Architectural design decisions have a profound effect on whether or not the system can meet critical requirements such as performance, reliability, and maintainability. </a:t>
            </a:r>
          </a:p>
          <a:p>
            <a:r>
              <a:rPr lang="en-US" dirty="0"/>
              <a:t>Large-scale reuse - A model of a system architecture is a compact, manageable description of how a system is organized and how the components interoperate. </a:t>
            </a:r>
          </a:p>
          <a:p>
            <a:endParaRPr lang="en-US" dirty="0"/>
          </a:p>
        </p:txBody>
      </p:sp>
    </p:spTree>
    <p:extLst>
      <p:ext uri="{BB962C8B-B14F-4D97-AF65-F5344CB8AC3E}">
        <p14:creationId xmlns:p14="http://schemas.microsoft.com/office/powerpoint/2010/main" val="635229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45F05-4AB2-A367-FE29-39E810A47B6E}"/>
              </a:ext>
            </a:extLst>
          </p:cNvPr>
          <p:cNvSpPr>
            <a:spLocks noGrp="1"/>
          </p:cNvSpPr>
          <p:nvPr>
            <p:ph type="title"/>
          </p:nvPr>
        </p:nvSpPr>
        <p:spPr/>
        <p:txBody>
          <a:bodyPr/>
          <a:lstStyle/>
          <a:p>
            <a:r>
              <a:rPr lang="en-US" dirty="0"/>
              <a:t>Architectural views </a:t>
            </a:r>
          </a:p>
        </p:txBody>
      </p:sp>
      <p:sp>
        <p:nvSpPr>
          <p:cNvPr id="3" name="Content Placeholder 2">
            <a:extLst>
              <a:ext uri="{FF2B5EF4-FFF2-40B4-BE49-F238E27FC236}">
                <a16:creationId xmlns:a16="http://schemas.microsoft.com/office/drawing/2014/main" id="{CA2C694C-7878-D89B-7150-5B5F95607C34}"/>
              </a:ext>
            </a:extLst>
          </p:cNvPr>
          <p:cNvSpPr>
            <a:spLocks noGrp="1"/>
          </p:cNvSpPr>
          <p:nvPr>
            <p:ph idx="1"/>
          </p:nvPr>
        </p:nvSpPr>
        <p:spPr/>
        <p:txBody>
          <a:bodyPr>
            <a:normAutofit fontScale="77500" lnSpcReduction="20000"/>
          </a:bodyPr>
          <a:lstStyle/>
          <a:p>
            <a:r>
              <a:rPr lang="en-US" dirty="0"/>
              <a:t>A logical view, which shows the key abstractions in the system as objects or object classes. It should be possible to relate the system requirements to entities in this logical view. </a:t>
            </a:r>
          </a:p>
          <a:p>
            <a:r>
              <a:rPr lang="en-US" dirty="0"/>
              <a:t>A process view, which shows how, at run-time, the system is composed of inter- acting processes. This view is useful for making judgments about non- functional system characteristics such as performance and availability. </a:t>
            </a:r>
          </a:p>
          <a:p>
            <a:r>
              <a:rPr lang="en-US" dirty="0"/>
              <a:t>A development view, which shows how the software is decomposed for development, that is, it shows the breakdown of the software into components that are implemented by a single developer or development team. This view is useful for software managers and programmers. </a:t>
            </a:r>
          </a:p>
          <a:p>
            <a:r>
              <a:rPr lang="en-US" dirty="0"/>
              <a:t>A physical view, which shows the system hardware and how software components are distributed across the processors in the system. This view is useful for systems engineers planning a system deployment.</a:t>
            </a:r>
          </a:p>
        </p:txBody>
      </p:sp>
    </p:spTree>
    <p:extLst>
      <p:ext uri="{BB962C8B-B14F-4D97-AF65-F5344CB8AC3E}">
        <p14:creationId xmlns:p14="http://schemas.microsoft.com/office/powerpoint/2010/main" val="1099454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AB21B-CC69-DE59-2A36-B2AF261CAA96}"/>
              </a:ext>
            </a:extLst>
          </p:cNvPr>
          <p:cNvSpPr>
            <a:spLocks noGrp="1"/>
          </p:cNvSpPr>
          <p:nvPr>
            <p:ph type="title"/>
          </p:nvPr>
        </p:nvSpPr>
        <p:spPr/>
        <p:txBody>
          <a:bodyPr>
            <a:normAutofit/>
          </a:bodyPr>
          <a:lstStyle/>
          <a:p>
            <a:r>
              <a:rPr lang="en-US" dirty="0"/>
              <a:t>The model- view-controller (MVC) pattern</a:t>
            </a:r>
          </a:p>
        </p:txBody>
      </p:sp>
      <p:pic>
        <p:nvPicPr>
          <p:cNvPr id="5" name="Content Placeholder 4" descr="A blue and white text box&#10;&#10;Description automatically generated">
            <a:extLst>
              <a:ext uri="{FF2B5EF4-FFF2-40B4-BE49-F238E27FC236}">
                <a16:creationId xmlns:a16="http://schemas.microsoft.com/office/drawing/2014/main" id="{24DB20E9-D1F5-4301-5732-06386C4227EB}"/>
              </a:ext>
            </a:extLst>
          </p:cNvPr>
          <p:cNvPicPr>
            <a:picLocks noGrp="1" noChangeAspect="1"/>
          </p:cNvPicPr>
          <p:nvPr>
            <p:ph idx="1"/>
          </p:nvPr>
        </p:nvPicPr>
        <p:blipFill>
          <a:blip r:embed="rId2"/>
          <a:stretch>
            <a:fillRect/>
          </a:stretch>
        </p:blipFill>
        <p:spPr>
          <a:xfrm>
            <a:off x="2679298" y="2160588"/>
            <a:ext cx="7303304" cy="3925887"/>
          </a:xfrm>
        </p:spPr>
      </p:pic>
    </p:spTree>
    <p:extLst>
      <p:ext uri="{BB962C8B-B14F-4D97-AF65-F5344CB8AC3E}">
        <p14:creationId xmlns:p14="http://schemas.microsoft.com/office/powerpoint/2010/main" val="2462140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69BC0-8727-F245-C6BB-5B9B60F6B9DF}"/>
              </a:ext>
            </a:extLst>
          </p:cNvPr>
          <p:cNvSpPr>
            <a:spLocks noGrp="1"/>
          </p:cNvSpPr>
          <p:nvPr>
            <p:ph type="title"/>
          </p:nvPr>
        </p:nvSpPr>
        <p:spPr/>
        <p:txBody>
          <a:bodyPr/>
          <a:lstStyle/>
          <a:p>
            <a:r>
              <a:rPr lang="en-US" dirty="0"/>
              <a:t>The layered architecture pattern</a:t>
            </a:r>
          </a:p>
        </p:txBody>
      </p:sp>
      <p:pic>
        <p:nvPicPr>
          <p:cNvPr id="5" name="Content Placeholder 4" descr="A blue and white text box&#10;&#10;Description automatically generated">
            <a:extLst>
              <a:ext uri="{FF2B5EF4-FFF2-40B4-BE49-F238E27FC236}">
                <a16:creationId xmlns:a16="http://schemas.microsoft.com/office/drawing/2014/main" id="{C1E1EDDE-9AFB-2DF4-98E1-CC3B50B9A487}"/>
              </a:ext>
            </a:extLst>
          </p:cNvPr>
          <p:cNvPicPr>
            <a:picLocks noGrp="1" noChangeAspect="1"/>
          </p:cNvPicPr>
          <p:nvPr>
            <p:ph idx="1"/>
          </p:nvPr>
        </p:nvPicPr>
        <p:blipFill>
          <a:blip r:embed="rId2"/>
          <a:stretch>
            <a:fillRect/>
          </a:stretch>
        </p:blipFill>
        <p:spPr>
          <a:xfrm>
            <a:off x="2716492" y="2160588"/>
            <a:ext cx="7228916" cy="3925887"/>
          </a:xfrm>
        </p:spPr>
      </p:pic>
    </p:spTree>
    <p:extLst>
      <p:ext uri="{BB962C8B-B14F-4D97-AF65-F5344CB8AC3E}">
        <p14:creationId xmlns:p14="http://schemas.microsoft.com/office/powerpoint/2010/main" val="2190046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2A39-3B0A-2418-06A1-D8B1F45219A0}"/>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12FB1AFD-F1DC-4458-1193-7118DF5FB8DE}"/>
              </a:ext>
            </a:extLst>
          </p:cNvPr>
          <p:cNvPicPr>
            <a:picLocks noGrp="1" noChangeAspect="1"/>
          </p:cNvPicPr>
          <p:nvPr>
            <p:ph idx="1"/>
          </p:nvPr>
        </p:nvPicPr>
        <p:blipFill>
          <a:blip r:embed="rId2"/>
          <a:stretch>
            <a:fillRect/>
          </a:stretch>
        </p:blipFill>
        <p:spPr>
          <a:xfrm>
            <a:off x="5669280" y="3282121"/>
            <a:ext cx="6254170" cy="3379119"/>
          </a:xfrm>
        </p:spPr>
      </p:pic>
      <p:pic>
        <p:nvPicPr>
          <p:cNvPr id="7" name="Picture 6" descr="A screenshot of a computer&#10;&#10;Description automatically generated">
            <a:extLst>
              <a:ext uri="{FF2B5EF4-FFF2-40B4-BE49-F238E27FC236}">
                <a16:creationId xmlns:a16="http://schemas.microsoft.com/office/drawing/2014/main" id="{20F1CB1D-FD7F-43D9-5D01-F49BB6C7C6E7}"/>
              </a:ext>
            </a:extLst>
          </p:cNvPr>
          <p:cNvPicPr>
            <a:picLocks noChangeAspect="1"/>
          </p:cNvPicPr>
          <p:nvPr/>
        </p:nvPicPr>
        <p:blipFill>
          <a:blip r:embed="rId3"/>
          <a:stretch>
            <a:fillRect/>
          </a:stretch>
        </p:blipFill>
        <p:spPr>
          <a:xfrm>
            <a:off x="1587710" y="455362"/>
            <a:ext cx="6563513" cy="3025522"/>
          </a:xfrm>
          <a:prstGeom prst="rect">
            <a:avLst/>
          </a:prstGeom>
        </p:spPr>
      </p:pic>
    </p:spTree>
    <p:extLst>
      <p:ext uri="{BB962C8B-B14F-4D97-AF65-F5344CB8AC3E}">
        <p14:creationId xmlns:p14="http://schemas.microsoft.com/office/powerpoint/2010/main" val="1681570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8DBE-F49E-611A-AC5A-71915CD179AF}"/>
              </a:ext>
            </a:extLst>
          </p:cNvPr>
          <p:cNvSpPr>
            <a:spLocks noGrp="1"/>
          </p:cNvSpPr>
          <p:nvPr>
            <p:ph type="title"/>
          </p:nvPr>
        </p:nvSpPr>
        <p:spPr/>
        <p:txBody>
          <a:bodyPr/>
          <a:lstStyle/>
          <a:p>
            <a:r>
              <a:rPr lang="en-US" dirty="0"/>
              <a:t>Other Architecture</a:t>
            </a:r>
          </a:p>
        </p:txBody>
      </p:sp>
      <p:sp>
        <p:nvSpPr>
          <p:cNvPr id="3" name="Content Placeholder 2">
            <a:extLst>
              <a:ext uri="{FF2B5EF4-FFF2-40B4-BE49-F238E27FC236}">
                <a16:creationId xmlns:a16="http://schemas.microsoft.com/office/drawing/2014/main" id="{94E2CEC4-25EC-23BC-E6CA-32CF8E0E5BBD}"/>
              </a:ext>
            </a:extLst>
          </p:cNvPr>
          <p:cNvSpPr>
            <a:spLocks noGrp="1"/>
          </p:cNvSpPr>
          <p:nvPr>
            <p:ph idx="1"/>
          </p:nvPr>
        </p:nvSpPr>
        <p:spPr/>
        <p:txBody>
          <a:bodyPr/>
          <a:lstStyle/>
          <a:p>
            <a:r>
              <a:rPr lang="en-US" dirty="0"/>
              <a:t>Repository architecture </a:t>
            </a:r>
          </a:p>
          <a:p>
            <a:r>
              <a:rPr lang="en-US" dirty="0"/>
              <a:t>Client–server architecture </a:t>
            </a:r>
          </a:p>
          <a:p>
            <a:r>
              <a:rPr lang="en-US" dirty="0"/>
              <a:t>Pipe and filter pattern </a:t>
            </a:r>
          </a:p>
          <a:p>
            <a:r>
              <a:rPr lang="en-US" dirty="0"/>
              <a:t>Application architecture</a:t>
            </a:r>
          </a:p>
          <a:p>
            <a:endParaRPr lang="en-US" dirty="0"/>
          </a:p>
          <a:p>
            <a:endParaRPr lang="en-US" dirty="0"/>
          </a:p>
        </p:txBody>
      </p:sp>
    </p:spTree>
    <p:extLst>
      <p:ext uri="{BB962C8B-B14F-4D97-AF65-F5344CB8AC3E}">
        <p14:creationId xmlns:p14="http://schemas.microsoft.com/office/powerpoint/2010/main" val="3092833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835D4-CC8C-5B21-EC08-82757E620C2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461E221-3471-7AE8-67F8-7CB6400041C0}"/>
              </a:ext>
            </a:extLst>
          </p:cNvPr>
          <p:cNvPicPr>
            <a:picLocks noGrp="1" noChangeAspect="1"/>
          </p:cNvPicPr>
          <p:nvPr>
            <p:ph idx="1"/>
          </p:nvPr>
        </p:nvPicPr>
        <p:blipFill>
          <a:blip r:embed="rId2"/>
          <a:stretch>
            <a:fillRect/>
          </a:stretch>
        </p:blipFill>
        <p:spPr>
          <a:xfrm>
            <a:off x="1587500" y="2258692"/>
            <a:ext cx="9486900" cy="3729678"/>
          </a:xfrm>
        </p:spPr>
      </p:pic>
    </p:spTree>
    <p:extLst>
      <p:ext uri="{BB962C8B-B14F-4D97-AF65-F5344CB8AC3E}">
        <p14:creationId xmlns:p14="http://schemas.microsoft.com/office/powerpoint/2010/main" val="3645571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6480-01AD-0305-2EA8-898CB7A2243F}"/>
              </a:ext>
            </a:extLst>
          </p:cNvPr>
          <p:cNvSpPr>
            <a:spLocks noGrp="1"/>
          </p:cNvSpPr>
          <p:nvPr>
            <p:ph type="title"/>
          </p:nvPr>
        </p:nvSpPr>
        <p:spPr/>
        <p:txBody>
          <a:bodyPr>
            <a:normAutofit fontScale="90000"/>
          </a:bodyPr>
          <a:lstStyle/>
          <a:p>
            <a:r>
              <a:rPr lang="en-US" dirty="0"/>
              <a:t>KEY POINTS - Software Architecture </a:t>
            </a:r>
            <a:br>
              <a:rPr lang="en-US" dirty="0"/>
            </a:br>
            <a:br>
              <a:rPr lang="en-US" dirty="0"/>
            </a:br>
            <a:endParaRPr lang="en-US" dirty="0"/>
          </a:p>
        </p:txBody>
      </p:sp>
      <p:sp>
        <p:nvSpPr>
          <p:cNvPr id="3" name="Content Placeholder 2">
            <a:extLst>
              <a:ext uri="{FF2B5EF4-FFF2-40B4-BE49-F238E27FC236}">
                <a16:creationId xmlns:a16="http://schemas.microsoft.com/office/drawing/2014/main" id="{EBE1026A-A084-FEA6-7B6E-E9ACDB44B69B}"/>
              </a:ext>
            </a:extLst>
          </p:cNvPr>
          <p:cNvSpPr>
            <a:spLocks noGrp="1"/>
          </p:cNvSpPr>
          <p:nvPr>
            <p:ph idx="1"/>
          </p:nvPr>
        </p:nvSpPr>
        <p:spPr/>
        <p:txBody>
          <a:bodyPr>
            <a:normAutofit fontScale="70000" lnSpcReduction="20000"/>
          </a:bodyPr>
          <a:lstStyle/>
          <a:p>
            <a:r>
              <a:rPr lang="en-US" dirty="0"/>
              <a:t>A software architecture is a description of how a software system is organized. Properties of a system such as performance, security, and availability are influenced by the architecture used. </a:t>
            </a:r>
          </a:p>
          <a:p>
            <a:r>
              <a:rPr lang="en-US" dirty="0"/>
              <a:t>Architectural design decisions include decisions on the type of application, the distribution of the system, the architectural styles to be used, and the ways in which the architecture should be documented and evaluated. </a:t>
            </a:r>
          </a:p>
          <a:p>
            <a:r>
              <a:rPr lang="en-US" dirty="0"/>
              <a:t>Architectures may be documented from several different perspectives or views. Possible views include a conceptual view, a logical view, a process view, a development view, and a physical view. </a:t>
            </a:r>
          </a:p>
          <a:p>
            <a:r>
              <a:rPr lang="en-US" dirty="0"/>
              <a:t>Architectural patterns are a means of reusing knowledge about generic system architectures. They describe the architecture, explain when it may be used, and discuss its advantages and disadvantages. </a:t>
            </a:r>
          </a:p>
          <a:p>
            <a:r>
              <a:rPr lang="en-US" dirty="0"/>
              <a:t>Commonly used architectural patterns include Model-View-Controller, Layered Architecture, Repository, Client–server, and Pipe and Filter. </a:t>
            </a:r>
          </a:p>
          <a:p>
            <a:r>
              <a:rPr lang="en-US" dirty="0"/>
              <a:t>Generic models of application systems architectures help us understand the operation of applications, compare applications of the same type, validate application system designs, and assess large-scale components for reuse. </a:t>
            </a:r>
          </a:p>
          <a:p>
            <a:endParaRPr lang="en-US" dirty="0"/>
          </a:p>
        </p:txBody>
      </p:sp>
    </p:spTree>
    <p:extLst>
      <p:ext uri="{BB962C8B-B14F-4D97-AF65-F5344CB8AC3E}">
        <p14:creationId xmlns:p14="http://schemas.microsoft.com/office/powerpoint/2010/main" val="4208094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116C-0B41-EC68-532E-F8E3BB1537D1}"/>
              </a:ext>
            </a:extLst>
          </p:cNvPr>
          <p:cNvSpPr>
            <a:spLocks noGrp="1"/>
          </p:cNvSpPr>
          <p:nvPr>
            <p:ph type="title"/>
          </p:nvPr>
        </p:nvSpPr>
        <p:spPr/>
        <p:txBody>
          <a:bodyPr/>
          <a:lstStyle/>
          <a:p>
            <a:r>
              <a:rPr lang="en-US" dirty="0"/>
              <a:t>Activity 1: Collaborative System Design Exercise</a:t>
            </a:r>
          </a:p>
        </p:txBody>
      </p:sp>
      <p:sp>
        <p:nvSpPr>
          <p:cNvPr id="3" name="Content Placeholder 2">
            <a:extLst>
              <a:ext uri="{FF2B5EF4-FFF2-40B4-BE49-F238E27FC236}">
                <a16:creationId xmlns:a16="http://schemas.microsoft.com/office/drawing/2014/main" id="{1B0B0C29-88F4-92C3-52BB-17CC5529C4AB}"/>
              </a:ext>
            </a:extLst>
          </p:cNvPr>
          <p:cNvSpPr>
            <a:spLocks noGrp="1"/>
          </p:cNvSpPr>
          <p:nvPr>
            <p:ph idx="1"/>
          </p:nvPr>
        </p:nvSpPr>
        <p:spPr/>
        <p:txBody>
          <a:bodyPr>
            <a:noAutofit/>
          </a:bodyPr>
          <a:lstStyle/>
          <a:p>
            <a:pPr algn="just"/>
            <a:r>
              <a:rPr lang="en-US" sz="1600" dirty="0"/>
              <a:t>Objective: Apply architectural, component, data, and interface design principles to a real-world problem.</a:t>
            </a:r>
          </a:p>
          <a:p>
            <a:pPr algn="just"/>
            <a:r>
              <a:rPr lang="en-US" sz="1600" dirty="0"/>
              <a:t>Work in the same team during Masjid Tour.</a:t>
            </a:r>
          </a:p>
          <a:p>
            <a:pPr algn="just"/>
            <a:r>
              <a:rPr lang="en-US" sz="1600" dirty="0"/>
              <a:t>Project scenario – Smart Operations Management System for Masjid</a:t>
            </a:r>
          </a:p>
          <a:p>
            <a:pPr algn="just"/>
            <a:r>
              <a:rPr lang="en-US" sz="1600" dirty="0"/>
              <a:t>Work on the following tasks:</a:t>
            </a:r>
          </a:p>
          <a:p>
            <a:pPr lvl="1" algn="just"/>
            <a:r>
              <a:rPr lang="en-US" sz="1300" dirty="0"/>
              <a:t>Architectural Design: Choose an architectural style (e.g., client-server, microservices) and sketch a high-level design.</a:t>
            </a:r>
          </a:p>
          <a:p>
            <a:pPr lvl="1" algn="just"/>
            <a:r>
              <a:rPr lang="en-US" sz="1300" dirty="0"/>
              <a:t>Component Design: Break down the system into major components/modules and define the responsibilities of each.</a:t>
            </a:r>
          </a:p>
          <a:p>
            <a:pPr lvl="1" algn="just"/>
            <a:r>
              <a:rPr lang="en-US" sz="1300" dirty="0"/>
              <a:t>Data Design: Design the data structures, including database schema and data flow diagrams. Ensure they include considerations for data integrity and security.</a:t>
            </a:r>
          </a:p>
          <a:p>
            <a:pPr lvl="1" algn="just"/>
            <a:r>
              <a:rPr lang="en-US" sz="1300" dirty="0"/>
              <a:t>Interface Design: Define how different system components will interact, ensuring smooth communication between modules.</a:t>
            </a:r>
          </a:p>
          <a:p>
            <a:pPr algn="just"/>
            <a:r>
              <a:rPr lang="en-US" sz="1600" dirty="0"/>
              <a:t>Presentation: Teams will present their designs, explaining the rationale behind their architectural and component choices, data structures, and interface communication.</a:t>
            </a:r>
          </a:p>
        </p:txBody>
      </p:sp>
    </p:spTree>
    <p:extLst>
      <p:ext uri="{BB962C8B-B14F-4D97-AF65-F5344CB8AC3E}">
        <p14:creationId xmlns:p14="http://schemas.microsoft.com/office/powerpoint/2010/main" val="1177340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52210-F30D-6B08-FF0E-F37807A97328}"/>
              </a:ext>
            </a:extLst>
          </p:cNvPr>
          <p:cNvSpPr>
            <a:spLocks noGrp="1"/>
          </p:cNvSpPr>
          <p:nvPr>
            <p:ph type="title"/>
          </p:nvPr>
        </p:nvSpPr>
        <p:spPr/>
        <p:txBody>
          <a:bodyPr/>
          <a:lstStyle/>
          <a:p>
            <a:r>
              <a:rPr lang="en-US" dirty="0"/>
              <a:t>Objectives - Software Testing</a:t>
            </a:r>
          </a:p>
        </p:txBody>
      </p:sp>
      <p:sp>
        <p:nvSpPr>
          <p:cNvPr id="3" name="Content Placeholder 2">
            <a:extLst>
              <a:ext uri="{FF2B5EF4-FFF2-40B4-BE49-F238E27FC236}">
                <a16:creationId xmlns:a16="http://schemas.microsoft.com/office/drawing/2014/main" id="{3B1E74ED-FE54-C533-90E4-2C1F92D97755}"/>
              </a:ext>
            </a:extLst>
          </p:cNvPr>
          <p:cNvSpPr>
            <a:spLocks noGrp="1"/>
          </p:cNvSpPr>
          <p:nvPr>
            <p:ph idx="1"/>
          </p:nvPr>
        </p:nvSpPr>
        <p:spPr/>
        <p:txBody>
          <a:bodyPr/>
          <a:lstStyle/>
          <a:p>
            <a:r>
              <a:rPr lang="en-US" dirty="0"/>
              <a:t>understand the stages of testing from testing, during development to acceptance testing by system customers; </a:t>
            </a:r>
          </a:p>
          <a:p>
            <a:r>
              <a:rPr lang="en-US" dirty="0"/>
              <a:t>have been introduced to techniques that help you choose test cases that are geared to discovering program defects; </a:t>
            </a:r>
          </a:p>
          <a:p>
            <a:r>
              <a:rPr lang="en-US" dirty="0"/>
              <a:t>understand test-first development, where you design tests before writing code and run these tests automatically; </a:t>
            </a:r>
          </a:p>
          <a:p>
            <a:r>
              <a:rPr lang="en-US" dirty="0"/>
              <a:t>know the important differences between component, system, and release testing and be aware of user testing processes and techniques. </a:t>
            </a:r>
          </a:p>
          <a:p>
            <a:endParaRPr lang="en-US" dirty="0"/>
          </a:p>
        </p:txBody>
      </p:sp>
    </p:spTree>
    <p:extLst>
      <p:ext uri="{BB962C8B-B14F-4D97-AF65-F5344CB8AC3E}">
        <p14:creationId xmlns:p14="http://schemas.microsoft.com/office/powerpoint/2010/main" val="3506301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419E-3C03-6100-E58E-AC7944C5F004}"/>
              </a:ext>
            </a:extLst>
          </p:cNvPr>
          <p:cNvSpPr>
            <a:spLocks noGrp="1"/>
          </p:cNvSpPr>
          <p:nvPr>
            <p:ph type="title"/>
          </p:nvPr>
        </p:nvSpPr>
        <p:spPr/>
        <p:txBody>
          <a:bodyPr/>
          <a:lstStyle/>
          <a:p>
            <a:r>
              <a:rPr lang="en-US" dirty="0"/>
              <a:t>What is testing?</a:t>
            </a:r>
          </a:p>
        </p:txBody>
      </p:sp>
      <p:sp>
        <p:nvSpPr>
          <p:cNvPr id="3" name="Content Placeholder 2">
            <a:extLst>
              <a:ext uri="{FF2B5EF4-FFF2-40B4-BE49-F238E27FC236}">
                <a16:creationId xmlns:a16="http://schemas.microsoft.com/office/drawing/2014/main" id="{887C3AB2-C2FE-B9D0-8109-DE409D37E8BE}"/>
              </a:ext>
            </a:extLst>
          </p:cNvPr>
          <p:cNvSpPr>
            <a:spLocks noGrp="1"/>
          </p:cNvSpPr>
          <p:nvPr>
            <p:ph idx="1"/>
          </p:nvPr>
        </p:nvSpPr>
        <p:spPr/>
        <p:txBody>
          <a:bodyPr/>
          <a:lstStyle/>
          <a:p>
            <a:r>
              <a:rPr lang="en-US" dirty="0"/>
              <a:t>Testing is intended to show that a program does what it is intended to do and to discover program defects before it is put into use. </a:t>
            </a:r>
          </a:p>
          <a:p>
            <a:r>
              <a:rPr lang="en-US" dirty="0"/>
              <a:t>When you test software, you execute a program using artificial data.</a:t>
            </a:r>
          </a:p>
          <a:p>
            <a:r>
              <a:rPr lang="en-US" dirty="0"/>
              <a:t>You check the results of the test run for errors, anomalies, or information about the program’s non-functional attributes. </a:t>
            </a:r>
          </a:p>
          <a:p>
            <a:endParaRPr lang="en-US" dirty="0"/>
          </a:p>
        </p:txBody>
      </p:sp>
    </p:spTree>
    <p:extLst>
      <p:ext uri="{BB962C8B-B14F-4D97-AF65-F5344CB8AC3E}">
        <p14:creationId xmlns:p14="http://schemas.microsoft.com/office/powerpoint/2010/main" val="140595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D8956-85E3-3F32-97F3-9184EDA917B4}"/>
              </a:ext>
            </a:extLst>
          </p:cNvPr>
          <p:cNvSpPr>
            <a:spLocks noGrp="1"/>
          </p:cNvSpPr>
          <p:nvPr>
            <p:ph type="title"/>
          </p:nvPr>
        </p:nvSpPr>
        <p:spPr/>
        <p:txBody>
          <a:bodyPr>
            <a:normAutofit fontScale="90000"/>
          </a:bodyPr>
          <a:lstStyle/>
          <a:p>
            <a:r>
              <a:rPr lang="en-US" dirty="0"/>
              <a:t>Testing process has two distinct goals: </a:t>
            </a:r>
            <a:br>
              <a:rPr lang="en-US" dirty="0"/>
            </a:br>
            <a:endParaRPr lang="en-US" dirty="0"/>
          </a:p>
        </p:txBody>
      </p:sp>
      <p:sp>
        <p:nvSpPr>
          <p:cNvPr id="3" name="Content Placeholder 2">
            <a:extLst>
              <a:ext uri="{FF2B5EF4-FFF2-40B4-BE49-F238E27FC236}">
                <a16:creationId xmlns:a16="http://schemas.microsoft.com/office/drawing/2014/main" id="{6339A1F9-DF4C-299F-4993-DBD2979E5051}"/>
              </a:ext>
            </a:extLst>
          </p:cNvPr>
          <p:cNvSpPr>
            <a:spLocks noGrp="1"/>
          </p:cNvSpPr>
          <p:nvPr>
            <p:ph idx="1"/>
          </p:nvPr>
        </p:nvSpPr>
        <p:spPr/>
        <p:txBody>
          <a:bodyPr>
            <a:normAutofit fontScale="92500" lnSpcReduction="10000"/>
          </a:bodyPr>
          <a:lstStyle/>
          <a:p>
            <a:r>
              <a:rPr lang="en-US" dirty="0"/>
              <a:t>To demonstrate to the developer and the customer that the software meets its requirements. </a:t>
            </a:r>
          </a:p>
          <a:p>
            <a:pPr lvl="1"/>
            <a:r>
              <a:rPr lang="en-US" dirty="0"/>
              <a:t>For custom software, this means that there should be at least one test for every requirement in the requirements document.</a:t>
            </a:r>
          </a:p>
          <a:p>
            <a:pPr lvl="1"/>
            <a:r>
              <a:rPr lang="en-US" dirty="0"/>
              <a:t>For generic software products, it means that there should be tests for all of the system features, plus combinations of these features, that will be incorporated in the product release. </a:t>
            </a:r>
          </a:p>
          <a:p>
            <a:r>
              <a:rPr lang="en-US" dirty="0"/>
              <a:t>To discover situations in which the behavior of the software is incorrect, undesirable, or does not conform to its specification. </a:t>
            </a:r>
          </a:p>
          <a:p>
            <a:pPr lvl="1"/>
            <a:r>
              <a:rPr lang="en-US" dirty="0"/>
              <a:t>Consequence of software defects:</a:t>
            </a:r>
          </a:p>
          <a:p>
            <a:pPr lvl="2"/>
            <a:r>
              <a:rPr lang="en-US" dirty="0"/>
              <a:t>undesirable system behavior such as system crashes, unwanted interactions with other systems, incorrect computations, and data corruption. </a:t>
            </a:r>
          </a:p>
          <a:p>
            <a:endParaRPr lang="en-US" dirty="0"/>
          </a:p>
        </p:txBody>
      </p:sp>
    </p:spTree>
    <p:extLst>
      <p:ext uri="{BB962C8B-B14F-4D97-AF65-F5344CB8AC3E}">
        <p14:creationId xmlns:p14="http://schemas.microsoft.com/office/powerpoint/2010/main" val="4220489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3CAD1-BF4F-146F-DD60-FE3C0F5652F7}"/>
              </a:ext>
            </a:extLst>
          </p:cNvPr>
          <p:cNvSpPr>
            <a:spLocks noGrp="1"/>
          </p:cNvSpPr>
          <p:nvPr>
            <p:ph type="title"/>
          </p:nvPr>
        </p:nvSpPr>
        <p:spPr/>
        <p:txBody>
          <a:bodyPr>
            <a:normAutofit/>
          </a:bodyPr>
          <a:lstStyle/>
          <a:p>
            <a:r>
              <a:rPr lang="en-US" dirty="0"/>
              <a:t>Verification and validation processes</a:t>
            </a:r>
          </a:p>
        </p:txBody>
      </p:sp>
      <p:sp>
        <p:nvSpPr>
          <p:cNvPr id="3" name="Content Placeholder 2">
            <a:extLst>
              <a:ext uri="{FF2B5EF4-FFF2-40B4-BE49-F238E27FC236}">
                <a16:creationId xmlns:a16="http://schemas.microsoft.com/office/drawing/2014/main" id="{E1338177-9440-4BED-56DB-BB00E41A9CD3}"/>
              </a:ext>
            </a:extLst>
          </p:cNvPr>
          <p:cNvSpPr>
            <a:spLocks noGrp="1"/>
          </p:cNvSpPr>
          <p:nvPr>
            <p:ph idx="1"/>
          </p:nvPr>
        </p:nvSpPr>
        <p:spPr/>
        <p:txBody>
          <a:bodyPr>
            <a:normAutofit fontScale="92500" lnSpcReduction="20000"/>
          </a:bodyPr>
          <a:lstStyle/>
          <a:p>
            <a:r>
              <a:rPr lang="en-US" dirty="0"/>
              <a:t>Verification and validation processes are concerned with checking that software being developed meets its specification and delivers the functionality expected by the users</a:t>
            </a:r>
          </a:p>
          <a:p>
            <a:r>
              <a:rPr lang="en-US" dirty="0"/>
              <a:t>Validation: Are we building the right product?</a:t>
            </a:r>
          </a:p>
          <a:p>
            <a:pPr lvl="1"/>
            <a:r>
              <a:rPr lang="en-US" dirty="0"/>
              <a:t>To check that the software meets its stated functional and non-functional requirements </a:t>
            </a:r>
          </a:p>
          <a:p>
            <a:r>
              <a:rPr lang="en-US" dirty="0"/>
              <a:t>Verification: Are we building the product right?</a:t>
            </a:r>
          </a:p>
          <a:p>
            <a:pPr lvl="1"/>
            <a:r>
              <a:rPr lang="en-US" dirty="0"/>
              <a:t>To ensure that the software meets the customer’s expectations. </a:t>
            </a:r>
          </a:p>
          <a:p>
            <a:r>
              <a:rPr lang="en-US" dirty="0"/>
              <a:t>Involve software inspections and reviews.</a:t>
            </a:r>
          </a:p>
          <a:p>
            <a:pPr lvl="1"/>
            <a:r>
              <a:rPr lang="en-US" dirty="0"/>
              <a:t>Inspections and reviews analyze and check the system requirements, design models, the program source code, and system tests. </a:t>
            </a:r>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2563571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D252E-95C2-60C9-9210-2875659AE3DD}"/>
              </a:ext>
            </a:extLst>
          </p:cNvPr>
          <p:cNvSpPr>
            <a:spLocks noGrp="1"/>
          </p:cNvSpPr>
          <p:nvPr>
            <p:ph type="title"/>
          </p:nvPr>
        </p:nvSpPr>
        <p:spPr/>
        <p:txBody>
          <a:bodyPr/>
          <a:lstStyle/>
          <a:p>
            <a:r>
              <a:rPr lang="en-US"/>
              <a:t>Inspection &amp; Testing</a:t>
            </a:r>
            <a:endParaRPr lang="en-US" dirty="0"/>
          </a:p>
        </p:txBody>
      </p:sp>
      <p:pic>
        <p:nvPicPr>
          <p:cNvPr id="5" name="Content Placeholder 4" descr="A diagram of a software development process&#10;&#10;Description automatically generated">
            <a:extLst>
              <a:ext uri="{FF2B5EF4-FFF2-40B4-BE49-F238E27FC236}">
                <a16:creationId xmlns:a16="http://schemas.microsoft.com/office/drawing/2014/main" id="{33BDEA6D-A7CF-7537-BA4E-6CE8FE0D939D}"/>
              </a:ext>
            </a:extLst>
          </p:cNvPr>
          <p:cNvPicPr>
            <a:picLocks noGrp="1" noChangeAspect="1"/>
          </p:cNvPicPr>
          <p:nvPr>
            <p:ph idx="1"/>
          </p:nvPr>
        </p:nvPicPr>
        <p:blipFill>
          <a:blip r:embed="rId2"/>
          <a:stretch>
            <a:fillRect/>
          </a:stretch>
        </p:blipFill>
        <p:spPr>
          <a:xfrm>
            <a:off x="2349500" y="2599531"/>
            <a:ext cx="7962900" cy="3048000"/>
          </a:xfrm>
        </p:spPr>
      </p:pic>
    </p:spTree>
    <p:extLst>
      <p:ext uri="{BB962C8B-B14F-4D97-AF65-F5344CB8AC3E}">
        <p14:creationId xmlns:p14="http://schemas.microsoft.com/office/powerpoint/2010/main" val="605159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EEED-D439-1E46-288B-E986FEF54501}"/>
              </a:ext>
            </a:extLst>
          </p:cNvPr>
          <p:cNvSpPr>
            <a:spLocks noGrp="1"/>
          </p:cNvSpPr>
          <p:nvPr>
            <p:ph type="title"/>
          </p:nvPr>
        </p:nvSpPr>
        <p:spPr/>
        <p:txBody>
          <a:bodyPr/>
          <a:lstStyle/>
          <a:p>
            <a:r>
              <a:rPr lang="en-US" dirty="0"/>
              <a:t>Three stages of testing </a:t>
            </a:r>
            <a:br>
              <a:rPr lang="en-US" dirty="0"/>
            </a:br>
            <a:endParaRPr lang="en-US" dirty="0"/>
          </a:p>
        </p:txBody>
      </p:sp>
      <p:sp>
        <p:nvSpPr>
          <p:cNvPr id="3" name="Content Placeholder 2">
            <a:extLst>
              <a:ext uri="{FF2B5EF4-FFF2-40B4-BE49-F238E27FC236}">
                <a16:creationId xmlns:a16="http://schemas.microsoft.com/office/drawing/2014/main" id="{7CC20CA1-5144-2D89-60A4-9BC1B374AC56}"/>
              </a:ext>
            </a:extLst>
          </p:cNvPr>
          <p:cNvSpPr>
            <a:spLocks noGrp="1"/>
          </p:cNvSpPr>
          <p:nvPr>
            <p:ph idx="1"/>
          </p:nvPr>
        </p:nvSpPr>
        <p:spPr/>
        <p:txBody>
          <a:bodyPr>
            <a:normAutofit fontScale="92500" lnSpcReduction="20000"/>
          </a:bodyPr>
          <a:lstStyle/>
          <a:p>
            <a:r>
              <a:rPr lang="en-US" dirty="0"/>
              <a:t>Development testing, where the system is tested during development to discover bugs and defects. System designers and programmers are likely to be involved in the testing process. </a:t>
            </a:r>
          </a:p>
          <a:p>
            <a:r>
              <a:rPr lang="en-US" dirty="0"/>
              <a:t>Release testing, where a separate testing team tests a complete version of the system before it is released to users. The aim of release testing is to check that the system meets the requirements of system stakeholders. </a:t>
            </a:r>
          </a:p>
          <a:p>
            <a:r>
              <a:rPr lang="en-US" dirty="0"/>
              <a:t>User testing, where users or potential users of a system test the system in their own environment. For software products, the ‘user’ may be an internal marketing group who decide if the software can be marketed, released, and sold. Acceptance testing is one type of user testing where the customer formally tests a system to decide if it should be accepted from the system supplier or if further development is required.</a:t>
            </a:r>
          </a:p>
        </p:txBody>
      </p:sp>
    </p:spTree>
    <p:extLst>
      <p:ext uri="{BB962C8B-B14F-4D97-AF65-F5344CB8AC3E}">
        <p14:creationId xmlns:p14="http://schemas.microsoft.com/office/powerpoint/2010/main" val="1156152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17CBD-9E5F-145F-AAD7-DC9CCBE08EDB}"/>
              </a:ext>
            </a:extLst>
          </p:cNvPr>
          <p:cNvSpPr>
            <a:spLocks noGrp="1"/>
          </p:cNvSpPr>
          <p:nvPr>
            <p:ph type="title"/>
          </p:nvPr>
        </p:nvSpPr>
        <p:spPr/>
        <p:txBody>
          <a:bodyPr/>
          <a:lstStyle/>
          <a:p>
            <a:r>
              <a:rPr lang="en-US" dirty="0"/>
              <a:t>Development testing</a:t>
            </a:r>
          </a:p>
        </p:txBody>
      </p:sp>
      <p:sp>
        <p:nvSpPr>
          <p:cNvPr id="3" name="Content Placeholder 2">
            <a:extLst>
              <a:ext uri="{FF2B5EF4-FFF2-40B4-BE49-F238E27FC236}">
                <a16:creationId xmlns:a16="http://schemas.microsoft.com/office/drawing/2014/main" id="{A9A3374F-B9BB-5D6B-1A39-3EB99BF53233}"/>
              </a:ext>
            </a:extLst>
          </p:cNvPr>
          <p:cNvSpPr>
            <a:spLocks noGrp="1"/>
          </p:cNvSpPr>
          <p:nvPr>
            <p:ph idx="1"/>
          </p:nvPr>
        </p:nvSpPr>
        <p:spPr/>
        <p:txBody>
          <a:bodyPr/>
          <a:lstStyle/>
          <a:p>
            <a:r>
              <a:rPr lang="en-US" dirty="0"/>
              <a:t>Unit testing, where individual program units or object classes are tested. Unit testing should focus on testing the functionality of objects or methods. </a:t>
            </a:r>
          </a:p>
          <a:p>
            <a:r>
              <a:rPr lang="en-US" dirty="0"/>
              <a:t>Component testing, where several individual units are integrated to create composite components. Component testing should focus on testing component interfaces. </a:t>
            </a:r>
          </a:p>
          <a:p>
            <a:r>
              <a:rPr lang="en-US" dirty="0"/>
              <a:t>System testing, where some or all of the components in a system are integrated and the system is tested as a whole. System testing should focus on testing component interactions. </a:t>
            </a:r>
          </a:p>
        </p:txBody>
      </p:sp>
    </p:spTree>
    <p:extLst>
      <p:ext uri="{BB962C8B-B14F-4D97-AF65-F5344CB8AC3E}">
        <p14:creationId xmlns:p14="http://schemas.microsoft.com/office/powerpoint/2010/main" val="3400579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9D48F-60CD-69F5-E055-D71BBDB5D090}"/>
              </a:ext>
            </a:extLst>
          </p:cNvPr>
          <p:cNvSpPr>
            <a:spLocks noGrp="1"/>
          </p:cNvSpPr>
          <p:nvPr>
            <p:ph type="title"/>
          </p:nvPr>
        </p:nvSpPr>
        <p:spPr/>
        <p:txBody>
          <a:bodyPr/>
          <a:lstStyle/>
          <a:p>
            <a:r>
              <a:rPr lang="en-US" dirty="0"/>
              <a:t>Release testing</a:t>
            </a:r>
          </a:p>
        </p:txBody>
      </p:sp>
      <p:sp>
        <p:nvSpPr>
          <p:cNvPr id="3" name="Content Placeholder 2">
            <a:extLst>
              <a:ext uri="{FF2B5EF4-FFF2-40B4-BE49-F238E27FC236}">
                <a16:creationId xmlns:a16="http://schemas.microsoft.com/office/drawing/2014/main" id="{7B738F0E-DF6D-86B5-75DD-73E76BE8D43A}"/>
              </a:ext>
            </a:extLst>
          </p:cNvPr>
          <p:cNvSpPr>
            <a:spLocks noGrp="1"/>
          </p:cNvSpPr>
          <p:nvPr>
            <p:ph idx="1"/>
          </p:nvPr>
        </p:nvSpPr>
        <p:spPr/>
        <p:txBody>
          <a:bodyPr/>
          <a:lstStyle/>
          <a:p>
            <a:r>
              <a:rPr lang="en-US" dirty="0"/>
              <a:t>The process of testing a particular release of a system that is intended for use outside of the development team. </a:t>
            </a:r>
          </a:p>
          <a:p>
            <a:r>
              <a:rPr lang="en-US" dirty="0"/>
              <a:t>Normally, the system release is for customers and users. </a:t>
            </a:r>
          </a:p>
          <a:p>
            <a:r>
              <a:rPr lang="en-US" dirty="0"/>
              <a:t>In a complex project, however, the release could be for other teams that are developing related systems. </a:t>
            </a:r>
          </a:p>
          <a:p>
            <a:r>
              <a:rPr lang="en-US" dirty="0"/>
              <a:t>For software products, the release could be for product management who then prepare it for sale. </a:t>
            </a:r>
          </a:p>
          <a:p>
            <a:endParaRPr lang="en-US" dirty="0"/>
          </a:p>
          <a:p>
            <a:endParaRPr lang="en-US" dirty="0"/>
          </a:p>
        </p:txBody>
      </p:sp>
    </p:spTree>
    <p:extLst>
      <p:ext uri="{BB962C8B-B14F-4D97-AF65-F5344CB8AC3E}">
        <p14:creationId xmlns:p14="http://schemas.microsoft.com/office/powerpoint/2010/main" val="1849408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E2F5-C70A-056F-BE42-81512EC7D00F}"/>
              </a:ext>
            </a:extLst>
          </p:cNvPr>
          <p:cNvSpPr>
            <a:spLocks noGrp="1"/>
          </p:cNvSpPr>
          <p:nvPr>
            <p:ph type="title"/>
          </p:nvPr>
        </p:nvSpPr>
        <p:spPr/>
        <p:txBody>
          <a:bodyPr/>
          <a:lstStyle/>
          <a:p>
            <a:r>
              <a:rPr lang="en-US" dirty="0"/>
              <a:t>User testing</a:t>
            </a:r>
          </a:p>
        </p:txBody>
      </p:sp>
      <p:sp>
        <p:nvSpPr>
          <p:cNvPr id="3" name="Content Placeholder 2">
            <a:extLst>
              <a:ext uri="{FF2B5EF4-FFF2-40B4-BE49-F238E27FC236}">
                <a16:creationId xmlns:a16="http://schemas.microsoft.com/office/drawing/2014/main" id="{DE6206BF-A1F8-2BCF-D96A-B8AA3B045629}"/>
              </a:ext>
            </a:extLst>
          </p:cNvPr>
          <p:cNvSpPr>
            <a:spLocks noGrp="1"/>
          </p:cNvSpPr>
          <p:nvPr>
            <p:ph idx="1"/>
          </p:nvPr>
        </p:nvSpPr>
        <p:spPr/>
        <p:txBody>
          <a:bodyPr/>
          <a:lstStyle/>
          <a:p>
            <a:r>
              <a:rPr lang="en-US" dirty="0"/>
              <a:t>User / customer testing is a stage in the testing process in which users or customers provide input and advice on system testing. </a:t>
            </a:r>
          </a:p>
          <a:p>
            <a:r>
              <a:rPr lang="en-US" dirty="0"/>
              <a:t>User testing is essential, even when comprehensive system and release testing have been carried out. </a:t>
            </a:r>
          </a:p>
          <a:p>
            <a:r>
              <a:rPr lang="en-US" dirty="0"/>
              <a:t>The reason for this is that influences from the user’s working environment have a major effect on the reliability, performance, usability, and robustness of a system. </a:t>
            </a:r>
          </a:p>
          <a:p>
            <a:endParaRPr lang="en-US" dirty="0"/>
          </a:p>
        </p:txBody>
      </p:sp>
    </p:spTree>
    <p:extLst>
      <p:ext uri="{BB962C8B-B14F-4D97-AF65-F5344CB8AC3E}">
        <p14:creationId xmlns:p14="http://schemas.microsoft.com/office/powerpoint/2010/main" val="1636539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33A41-DEA9-F2B4-F187-C300346887B7}"/>
              </a:ext>
            </a:extLst>
          </p:cNvPr>
          <p:cNvSpPr>
            <a:spLocks noGrp="1"/>
          </p:cNvSpPr>
          <p:nvPr>
            <p:ph type="title"/>
          </p:nvPr>
        </p:nvSpPr>
        <p:spPr/>
        <p:txBody>
          <a:bodyPr>
            <a:normAutofit/>
          </a:bodyPr>
          <a:lstStyle/>
          <a:p>
            <a:r>
              <a:rPr lang="en-US" dirty="0"/>
              <a:t>Three different types of user testing</a:t>
            </a:r>
          </a:p>
        </p:txBody>
      </p:sp>
      <p:sp>
        <p:nvSpPr>
          <p:cNvPr id="3" name="Content Placeholder 2">
            <a:extLst>
              <a:ext uri="{FF2B5EF4-FFF2-40B4-BE49-F238E27FC236}">
                <a16:creationId xmlns:a16="http://schemas.microsoft.com/office/drawing/2014/main" id="{8C24CAC3-FB03-2032-851D-84D4E3385397}"/>
              </a:ext>
            </a:extLst>
          </p:cNvPr>
          <p:cNvSpPr>
            <a:spLocks noGrp="1"/>
          </p:cNvSpPr>
          <p:nvPr>
            <p:ph idx="1"/>
          </p:nvPr>
        </p:nvSpPr>
        <p:spPr/>
        <p:txBody>
          <a:bodyPr/>
          <a:lstStyle/>
          <a:p>
            <a:r>
              <a:rPr lang="en-US" dirty="0"/>
              <a:t>Alpha testing, where users of the software work with the development team to test the software at the developer’s site. </a:t>
            </a:r>
          </a:p>
          <a:p>
            <a:r>
              <a:rPr lang="en-US" dirty="0"/>
              <a:t>Beta testing, where a release of the software is made available to users to allow them to experiment and to raise problems that they discover with the system developers. </a:t>
            </a:r>
          </a:p>
          <a:p>
            <a:r>
              <a:rPr lang="en-US" dirty="0"/>
              <a:t>Acceptance testing, where customers test a system to decide whether or not it is ready to be accepted from the system developers and deployed in the customer environment.</a:t>
            </a:r>
          </a:p>
        </p:txBody>
      </p:sp>
    </p:spTree>
    <p:extLst>
      <p:ext uri="{BB962C8B-B14F-4D97-AF65-F5344CB8AC3E}">
        <p14:creationId xmlns:p14="http://schemas.microsoft.com/office/powerpoint/2010/main" val="532325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Rectangle 20">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22" name="Rectangle 21">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5B0F748-7FA7-4DDF-89A3-7F1D8EE1F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03E872-C07A-4030-B584-D321D40CA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3134E7-7A96-1466-B9B8-BE803B675D46}"/>
              </a:ext>
            </a:extLst>
          </p:cNvPr>
          <p:cNvSpPr>
            <a:spLocks noGrp="1"/>
          </p:cNvSpPr>
          <p:nvPr>
            <p:ph type="title"/>
          </p:nvPr>
        </p:nvSpPr>
        <p:spPr>
          <a:xfrm>
            <a:off x="1777321" y="4309024"/>
            <a:ext cx="9677833" cy="1134452"/>
          </a:xfrm>
        </p:spPr>
        <p:txBody>
          <a:bodyPr vert="horz" lIns="91440" tIns="45720" rIns="91440" bIns="45720" rtlCol="0" anchor="ctr">
            <a:normAutofit/>
          </a:bodyPr>
          <a:lstStyle/>
          <a:p>
            <a:pPr algn="ctr">
              <a:lnSpc>
                <a:spcPct val="90000"/>
              </a:lnSpc>
            </a:pPr>
            <a:r>
              <a:rPr lang="en-US" sz="4700"/>
              <a:t>The acceptance testing process </a:t>
            </a:r>
          </a:p>
        </p:txBody>
      </p:sp>
      <p:pic>
        <p:nvPicPr>
          <p:cNvPr id="5" name="Content Placeholder 4" descr="A diagram of a test&#10;&#10;Description automatically generated">
            <a:extLst>
              <a:ext uri="{FF2B5EF4-FFF2-40B4-BE49-F238E27FC236}">
                <a16:creationId xmlns:a16="http://schemas.microsoft.com/office/drawing/2014/main" id="{6BA680BC-B266-C4D0-8A9B-370ED22A39E2}"/>
              </a:ext>
            </a:extLst>
          </p:cNvPr>
          <p:cNvPicPr>
            <a:picLocks noGrp="1" noChangeAspect="1"/>
          </p:cNvPicPr>
          <p:nvPr>
            <p:ph idx="1"/>
          </p:nvPr>
        </p:nvPicPr>
        <p:blipFill>
          <a:blip r:embed="rId2"/>
          <a:stretch>
            <a:fillRect/>
          </a:stretch>
        </p:blipFill>
        <p:spPr>
          <a:xfrm>
            <a:off x="1777323" y="1170628"/>
            <a:ext cx="9677832" cy="2153317"/>
          </a:xfrm>
          <a:prstGeom prst="rect">
            <a:avLst/>
          </a:prstGeom>
        </p:spPr>
      </p:pic>
    </p:spTree>
    <p:extLst>
      <p:ext uri="{BB962C8B-B14F-4D97-AF65-F5344CB8AC3E}">
        <p14:creationId xmlns:p14="http://schemas.microsoft.com/office/powerpoint/2010/main" val="277095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0523-1325-64D1-8D63-88992AA3AFD5}"/>
              </a:ext>
            </a:extLst>
          </p:cNvPr>
          <p:cNvSpPr>
            <a:spLocks noGrp="1"/>
          </p:cNvSpPr>
          <p:nvPr>
            <p:ph type="title"/>
          </p:nvPr>
        </p:nvSpPr>
        <p:spPr/>
        <p:txBody>
          <a:bodyPr/>
          <a:lstStyle/>
          <a:p>
            <a:r>
              <a:rPr lang="en-US" dirty="0"/>
              <a:t>KEY POINTS – Software Testing</a:t>
            </a:r>
          </a:p>
        </p:txBody>
      </p:sp>
      <p:sp>
        <p:nvSpPr>
          <p:cNvPr id="3" name="Content Placeholder 2">
            <a:extLst>
              <a:ext uri="{FF2B5EF4-FFF2-40B4-BE49-F238E27FC236}">
                <a16:creationId xmlns:a16="http://schemas.microsoft.com/office/drawing/2014/main" id="{56CC1CC3-0384-7CF9-095D-7C82B9D2F635}"/>
              </a:ext>
            </a:extLst>
          </p:cNvPr>
          <p:cNvSpPr>
            <a:spLocks noGrp="1"/>
          </p:cNvSpPr>
          <p:nvPr>
            <p:ph idx="1"/>
          </p:nvPr>
        </p:nvSpPr>
        <p:spPr/>
        <p:txBody>
          <a:bodyPr>
            <a:normAutofit fontScale="55000" lnSpcReduction="20000"/>
          </a:bodyPr>
          <a:lstStyle/>
          <a:p>
            <a:r>
              <a:rPr lang="en-US" dirty="0"/>
              <a:t>Testing can only show the presence of errors in a program. It cannot demonstrate that there are no remaining faults. </a:t>
            </a:r>
          </a:p>
          <a:p>
            <a:r>
              <a:rPr lang="en-US" dirty="0"/>
              <a:t>Development testing is the responsibility of the software development team. A separate team should be responsible for testing a system before it is released to customers. In the user testing process, customers or system users provide test data and check that tests are successful. </a:t>
            </a:r>
          </a:p>
          <a:p>
            <a:r>
              <a:rPr lang="en-US" dirty="0"/>
              <a:t>Development testing includes unit testing, in which you test individual objects and methods; component testing, in which you test related groups of objects; and system testing, in which you test partial or complete systems. </a:t>
            </a:r>
          </a:p>
          <a:p>
            <a:r>
              <a:rPr lang="en-US" dirty="0"/>
              <a:t>When testing software, you should try to ‘break’ the software by using experience and guidelines to choose types of test cases that have been effective in discovering defects in other systems. </a:t>
            </a:r>
          </a:p>
          <a:p>
            <a:r>
              <a:rPr lang="en-US" dirty="0"/>
              <a:t>Wherever possible, you should write automated tests. The tests are embedded in a program that can be run every time a change is made to a system. </a:t>
            </a:r>
          </a:p>
          <a:p>
            <a:r>
              <a:rPr lang="en-US" dirty="0"/>
              <a:t>Test-first development is an approach to development where tests are written before the code to be tested. Small code changes are made and the code is refactored until all tests execute successfully. </a:t>
            </a:r>
          </a:p>
          <a:p>
            <a:r>
              <a:rPr lang="en-US" dirty="0"/>
              <a:t> Scenario testing is useful because it replicates the practical use of the system. It involves inventing a typical usage scenario and using this to derive test cases. </a:t>
            </a:r>
          </a:p>
          <a:p>
            <a:r>
              <a:rPr lang="en-US" dirty="0"/>
              <a:t>Acceptance testing is a user testing process where the aim is to decide if the software is good enough to be deployed and used in its operational environment. </a:t>
            </a:r>
          </a:p>
          <a:p>
            <a:pPr marL="0" indent="0">
              <a:buNone/>
            </a:pPr>
            <a:endParaRPr lang="en-US" dirty="0"/>
          </a:p>
        </p:txBody>
      </p:sp>
    </p:spTree>
    <p:extLst>
      <p:ext uri="{BB962C8B-B14F-4D97-AF65-F5344CB8AC3E}">
        <p14:creationId xmlns:p14="http://schemas.microsoft.com/office/powerpoint/2010/main" val="2808920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D27C-72F4-73EE-3381-50AA2594324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02F606F-6EFF-A7B0-E780-468BC7F6A8D8}"/>
              </a:ext>
            </a:extLst>
          </p:cNvPr>
          <p:cNvSpPr>
            <a:spLocks noGrp="1"/>
          </p:cNvSpPr>
          <p:nvPr>
            <p:ph idx="1"/>
          </p:nvPr>
        </p:nvSpPr>
        <p:spPr/>
        <p:txBody>
          <a:bodyPr/>
          <a:lstStyle/>
          <a:p>
            <a:r>
              <a:rPr lang="en-US" dirty="0"/>
              <a:t>Sommerville, I. (2016). Software engineering. Pearson. </a:t>
            </a:r>
          </a:p>
          <a:p>
            <a:endParaRPr lang="en-US" dirty="0"/>
          </a:p>
        </p:txBody>
      </p:sp>
    </p:spTree>
    <p:extLst>
      <p:ext uri="{BB962C8B-B14F-4D97-AF65-F5344CB8AC3E}">
        <p14:creationId xmlns:p14="http://schemas.microsoft.com/office/powerpoint/2010/main" val="3024776109"/>
      </p:ext>
    </p:extLst>
  </p:cSld>
  <p:clrMapOvr>
    <a:masterClrMapping/>
  </p:clrMapOvr>
</p:sld>
</file>

<file path=ppt/theme/theme1.xml><?xml version="1.0" encoding="utf-8"?>
<a:theme xmlns:a="http://schemas.openxmlformats.org/drawingml/2006/main" name="Interweave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80"/>
      </a:accent3>
      <a:accent4>
        <a:srgbClr val="76AD78"/>
      </a:accent4>
      <a:accent5>
        <a:srgbClr val="81AB94"/>
      </a:accent5>
      <a:accent6>
        <a:srgbClr val="74AAA2"/>
      </a:accent6>
      <a:hlink>
        <a:srgbClr val="6978AE"/>
      </a:hlink>
      <a:folHlink>
        <a:srgbClr val="7F7F7F"/>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otalTime>73</TotalTime>
  <Words>2118</Words>
  <Application>Microsoft Macintosh PowerPoint</Application>
  <PresentationFormat>Widescreen</PresentationFormat>
  <Paragraphs>136</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Neue Haas Grotesk Text Pro</vt:lpstr>
      <vt:lpstr>InterweaveVTI</vt:lpstr>
      <vt:lpstr>Software Construction and Software Testing </vt:lpstr>
      <vt:lpstr>Objectives </vt:lpstr>
      <vt:lpstr>Contents </vt:lpstr>
      <vt:lpstr>Introduction to Software Construction</vt:lpstr>
      <vt:lpstr>System Design</vt:lpstr>
      <vt:lpstr>Architectural Design</vt:lpstr>
      <vt:lpstr>Two levels of abstraction software architectures </vt:lpstr>
      <vt:lpstr>Advantages of explicitly designing and documenting software architecture</vt:lpstr>
      <vt:lpstr>Architectural views </vt:lpstr>
      <vt:lpstr>The model- view-controller (MVC) pattern</vt:lpstr>
      <vt:lpstr>The layered architecture pattern</vt:lpstr>
      <vt:lpstr>PowerPoint Presentation</vt:lpstr>
      <vt:lpstr>Other Architecture</vt:lpstr>
      <vt:lpstr>PowerPoint Presentation</vt:lpstr>
      <vt:lpstr>KEY POINTS - Software Architecture   </vt:lpstr>
      <vt:lpstr>Activity 1: Collaborative System Design Exercise</vt:lpstr>
      <vt:lpstr>Objectives - Software Testing</vt:lpstr>
      <vt:lpstr>What is testing?</vt:lpstr>
      <vt:lpstr>Testing process has two distinct goals:  </vt:lpstr>
      <vt:lpstr>Verification and validation processes</vt:lpstr>
      <vt:lpstr>Inspection &amp; Testing</vt:lpstr>
      <vt:lpstr>Three stages of testing  </vt:lpstr>
      <vt:lpstr>Development testing</vt:lpstr>
      <vt:lpstr>Release testing</vt:lpstr>
      <vt:lpstr>User testing</vt:lpstr>
      <vt:lpstr>Three different types of user testing</vt:lpstr>
      <vt:lpstr>The acceptance testing process </vt:lpstr>
      <vt:lpstr>KEY POINTS – Software Testing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NURHIDAYAH BAHAR</dc:creator>
  <cp:lastModifiedBy>NURHIDAYAH BAHAR</cp:lastModifiedBy>
  <cp:revision>14</cp:revision>
  <dcterms:created xsi:type="dcterms:W3CDTF">2024-10-15T01:56:27Z</dcterms:created>
  <dcterms:modified xsi:type="dcterms:W3CDTF">2024-10-21T13:49:54Z</dcterms:modified>
</cp:coreProperties>
</file>