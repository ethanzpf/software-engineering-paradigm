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70" r:id="rId3"/>
    <p:sldId id="271" r:id="rId4"/>
    <p:sldId id="257" r:id="rId5"/>
    <p:sldId id="258" r:id="rId6"/>
    <p:sldId id="261" r:id="rId7"/>
    <p:sldId id="263" r:id="rId8"/>
    <p:sldId id="260" r:id="rId9"/>
    <p:sldId id="277" r:id="rId10"/>
    <p:sldId id="264" r:id="rId11"/>
    <p:sldId id="262" r:id="rId12"/>
    <p:sldId id="265" r:id="rId13"/>
    <p:sldId id="266" r:id="rId14"/>
    <p:sldId id="267" r:id="rId15"/>
    <p:sldId id="268" r:id="rId16"/>
    <p:sldId id="269" r:id="rId17"/>
    <p:sldId id="272" r:id="rId18"/>
    <p:sldId id="273" r:id="rId19"/>
    <p:sldId id="274" r:id="rId20"/>
    <p:sldId id="275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02"/>
    <p:restoredTop sz="94649"/>
  </p:normalViewPr>
  <p:slideViewPr>
    <p:cSldViewPr snapToGrid="0">
      <p:cViewPr varScale="1">
        <p:scale>
          <a:sx n="83" d="100"/>
          <a:sy n="83" d="100"/>
        </p:scale>
        <p:origin x="232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1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9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9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5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3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61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2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71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81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34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07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o.org/obp/ui/en/#iso:std:iso-iec-ieee:14764:ed-3:v1:e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1E46D-0383-154E-42D7-0ACEB1E5F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469" y="1247140"/>
            <a:ext cx="3608208" cy="345084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Software Maintenance</a:t>
            </a:r>
            <a:br>
              <a:rPr lang="en-US" sz="4000" dirty="0"/>
            </a:br>
            <a:r>
              <a:rPr lang="en-US" sz="4000" dirty="0"/>
              <a:t>&amp;</a:t>
            </a:r>
            <a:br>
              <a:rPr lang="en-US" sz="4000" dirty="0"/>
            </a:br>
            <a:r>
              <a:rPr lang="en-US" sz="4000" dirty="0"/>
              <a:t>Quality Assurance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863FC-E4A9-7DE6-2FDF-CCF136B73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469" y="4818126"/>
            <a:ext cx="3608208" cy="1268984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dirty="0"/>
              <a:t>TTTE6104 </a:t>
            </a:r>
          </a:p>
          <a:p>
            <a:pPr algn="ctr"/>
            <a:r>
              <a:rPr lang="en-US" dirty="0"/>
              <a:t>Software Engineering Paradigm </a:t>
            </a:r>
          </a:p>
        </p:txBody>
      </p:sp>
      <p:pic>
        <p:nvPicPr>
          <p:cNvPr id="4" name="Picture 3" descr="A blue and white curved wall&#10;&#10;Description automatically generated with medium confidence">
            <a:extLst>
              <a:ext uri="{FF2B5EF4-FFF2-40B4-BE49-F238E27FC236}">
                <a16:creationId xmlns:a16="http://schemas.microsoft.com/office/drawing/2014/main" id="{6B314AD5-A343-A6A8-C03F-CB9D3635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16" r="7039"/>
          <a:stretch/>
        </p:blipFill>
        <p:spPr>
          <a:xfrm>
            <a:off x="4735487" y="10"/>
            <a:ext cx="7456513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5290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529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22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E331A-2081-1B3E-1E5C-F5328256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Breakdown of Topic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553E4B-7077-BFDB-8562-F0BE3771F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2430" y="2160588"/>
            <a:ext cx="6917039" cy="3925887"/>
          </a:xfrm>
        </p:spPr>
      </p:pic>
    </p:spTree>
    <p:extLst>
      <p:ext uri="{BB962C8B-B14F-4D97-AF65-F5344CB8AC3E}">
        <p14:creationId xmlns:p14="http://schemas.microsoft.com/office/powerpoint/2010/main" val="327541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1302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8433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EFB07-8D4D-F827-100F-BF68D568C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247140"/>
            <a:ext cx="4386006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100"/>
              <a:t>ACRONYMS</a:t>
            </a:r>
          </a:p>
        </p:txBody>
      </p:sp>
      <p:pic>
        <p:nvPicPr>
          <p:cNvPr id="5" name="Content Placeholder 4" descr="A table of information&#10;&#10;Description automatically generated with medium confidence">
            <a:extLst>
              <a:ext uri="{FF2B5EF4-FFF2-40B4-BE49-F238E27FC236}">
                <a16:creationId xmlns:a16="http://schemas.microsoft.com/office/drawing/2014/main" id="{15227D19-6FDE-246B-BA93-3962CEA50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785" y="765295"/>
            <a:ext cx="3370748" cy="539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04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B3F62-DBD0-0C00-2553-E479C326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maintenance?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D8BB1-715F-C3BE-6FE9-8E4404B85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Maintenance is a technical process in the life cycle of a software product.</a:t>
            </a:r>
          </a:p>
          <a:p>
            <a:r>
              <a:rPr lang="en-US" dirty="0"/>
              <a:t>It contains the activities and tasks of the maintenance organization.</a:t>
            </a:r>
          </a:p>
          <a:p>
            <a:r>
              <a:rPr lang="en-US" dirty="0"/>
              <a:t>During operation of the software, problems may be detected that were not detected during verification, validation and acceptance. Therefore, a maintenance effort is needed to cope with these problems.</a:t>
            </a:r>
          </a:p>
          <a:p>
            <a:r>
              <a:rPr lang="en-US" dirty="0"/>
              <a:t>Needed when upgrading system components.</a:t>
            </a:r>
          </a:p>
          <a:p>
            <a:r>
              <a:rPr lang="en-US" dirty="0"/>
              <a:t>The maintenance phase usually lasts until the software is retired by the disposal process</a:t>
            </a:r>
          </a:p>
        </p:txBody>
      </p:sp>
    </p:spTree>
    <p:extLst>
      <p:ext uri="{BB962C8B-B14F-4D97-AF65-F5344CB8AC3E}">
        <p14:creationId xmlns:p14="http://schemas.microsoft.com/office/powerpoint/2010/main" val="1494515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E6FF-16D8-93E6-90DB-ED2569E3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Software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2D401-BB48-97D2-A606-02DAE54AB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Correct faults and latent defects </a:t>
            </a:r>
          </a:p>
          <a:p>
            <a:r>
              <a:rPr lang="en-US" dirty="0"/>
              <a:t>Improve the design or performance of operational software </a:t>
            </a:r>
          </a:p>
          <a:p>
            <a:r>
              <a:rPr lang="en-US" dirty="0"/>
              <a:t>Implement enhancements </a:t>
            </a:r>
          </a:p>
          <a:p>
            <a:r>
              <a:rPr lang="en-US" dirty="0"/>
              <a:t>Help users understand the software’s functionality </a:t>
            </a:r>
          </a:p>
          <a:p>
            <a:r>
              <a:rPr lang="en-US" dirty="0"/>
              <a:t>Adapt to changes in interfaced systems or infrastructure </a:t>
            </a:r>
          </a:p>
          <a:p>
            <a:r>
              <a:rPr lang="en-US" dirty="0"/>
              <a:t>Prevent security threats </a:t>
            </a:r>
          </a:p>
          <a:p>
            <a:r>
              <a:rPr lang="en-US" dirty="0"/>
              <a:t>Remediate technical obsolescence of system or software elements </a:t>
            </a:r>
          </a:p>
          <a:p>
            <a:r>
              <a:rPr lang="en-US" dirty="0"/>
              <a:t>Retire the software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269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26C3-2F8F-78A7-6068-39685896E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CA599-72A5-E511-B032-C3660C32B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environment (hardware and software). </a:t>
            </a:r>
          </a:p>
          <a:p>
            <a:r>
              <a:rPr lang="en-US" dirty="0"/>
              <a:t>Organizational environment (policies, competition, process, product and personnel).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39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087CD-F9B9-D631-823C-7B2AF2AE1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149AD-826C-C48B-C4B5-5FAA1F37E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Continuing Change</a:t>
            </a:r>
          </a:p>
          <a:p>
            <a:r>
              <a:rPr lang="en-US" dirty="0"/>
              <a:t>Increasing Complexity </a:t>
            </a:r>
          </a:p>
          <a:p>
            <a:r>
              <a:rPr lang="en-US" dirty="0"/>
              <a:t>Self-Regulation </a:t>
            </a:r>
          </a:p>
          <a:p>
            <a:r>
              <a:rPr lang="en-US" dirty="0"/>
              <a:t>Invariant Work Rate </a:t>
            </a:r>
          </a:p>
          <a:p>
            <a:r>
              <a:rPr lang="en-US" dirty="0"/>
              <a:t>Conservation of Familiarity </a:t>
            </a:r>
          </a:p>
          <a:p>
            <a:r>
              <a:rPr lang="en-US" dirty="0"/>
              <a:t>Continuing Growth </a:t>
            </a:r>
          </a:p>
          <a:p>
            <a:r>
              <a:rPr lang="en-US" dirty="0"/>
              <a:t>Declining Quality </a:t>
            </a:r>
          </a:p>
          <a:p>
            <a:r>
              <a:rPr lang="en-US" dirty="0"/>
              <a:t>Feedback System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3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BA1D-E4CB-E0BC-021C-9029DB93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Modification Request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650B3B-2135-EFEA-EDFB-5FCB8ABC48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49" y="1670314"/>
            <a:ext cx="9634362" cy="361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56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35BD-981C-5F0D-3A86-7959EB11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Acitvity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375D6-BD5E-F06A-EA3E-0640CEFAD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665429"/>
            <a:ext cx="9486690" cy="3926152"/>
          </a:xfrm>
        </p:spPr>
        <p:txBody>
          <a:bodyPr>
            <a:normAutofit fontScale="70000" lnSpcReduction="20000"/>
          </a:bodyPr>
          <a:lstStyle/>
          <a:p>
            <a:r>
              <a:rPr lang="en-MY" b="1" dirty="0"/>
              <a:t>Instruction:</a:t>
            </a:r>
            <a:br>
              <a:rPr lang="en-MY" dirty="0"/>
            </a:br>
            <a:r>
              <a:rPr lang="en-MY" dirty="0"/>
              <a:t>Choose </a:t>
            </a:r>
            <a:r>
              <a:rPr lang="en-MY" b="1" dirty="0"/>
              <a:t>one real software system</a:t>
            </a:r>
            <a:r>
              <a:rPr lang="en-MY" dirty="0"/>
              <a:t> that you personally use every day (for example: WhatsApp, Shopee, Maybank2u, Grab, Facebook, Instagram, Google Maps).</a:t>
            </a:r>
          </a:p>
          <a:p>
            <a:r>
              <a:rPr lang="en-MY" dirty="0"/>
              <a:t>Search online / observe app update notes / reflect from your experience and identify at least </a:t>
            </a:r>
            <a:r>
              <a:rPr lang="en-MY" b="1" dirty="0"/>
              <a:t>three</a:t>
            </a:r>
            <a:r>
              <a:rPr lang="en-MY" dirty="0"/>
              <a:t> recent changes or updates that happened to that system.</a:t>
            </a:r>
          </a:p>
          <a:p>
            <a:r>
              <a:rPr lang="en-MY" dirty="0"/>
              <a:t>For each change, classify the type of maintenance:</a:t>
            </a:r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r>
              <a:rPr lang="en-MY" b="1" dirty="0"/>
              <a:t>Deliverable:</a:t>
            </a:r>
            <a:br>
              <a:rPr lang="en-MY" dirty="0"/>
            </a:br>
            <a:r>
              <a:rPr lang="en-MY" dirty="0"/>
              <a:t>Create a simple table summarising your findings. 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26505A-4A14-9C67-BA01-E7C339C2F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786649"/>
              </p:ext>
            </p:extLst>
          </p:nvPr>
        </p:nvGraphicFramePr>
        <p:xfrm>
          <a:off x="1587500" y="3483451"/>
          <a:ext cx="9486900" cy="609600"/>
        </p:xfrm>
        <a:graphic>
          <a:graphicData uri="http://schemas.openxmlformats.org/drawingml/2006/table">
            <a:tbl>
              <a:tblPr/>
              <a:tblGrid>
                <a:gridCol w="3162300">
                  <a:extLst>
                    <a:ext uri="{9D8B030D-6E8A-4147-A177-3AD203B41FA5}">
                      <a16:colId xmlns:a16="http://schemas.microsoft.com/office/drawing/2014/main" val="3177757881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2234715740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1634640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/>
                        <a:t>Change /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/>
                        <a:t>Type of 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/>
                        <a:t>Why you classify it as that type?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248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/>
                        <a:t>e.g., fixing login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/>
                        <a:t>Corrective 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/>
                        <a:t>System failed to login → bug fix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764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319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A455-40F3-5805-90E5-D09E5306A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Categories of Software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85915-8BD9-FB6C-F46B-1BF054966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Five categories (types) of software maintenance have been standardized to classify a maintenance request: corrective, preventive, adaptive, additive and perfective. </a:t>
            </a:r>
          </a:p>
          <a:p>
            <a:r>
              <a:rPr lang="en-US" dirty="0"/>
              <a:t>ISO/IEC/IEEE 14764 [1] also defines a sixth category — emergency maintenance.</a:t>
            </a:r>
          </a:p>
          <a:p>
            <a:pPr marL="2286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69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82B9-7380-9DB1-FE70-DF3858F40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Issues in Software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F2705-A889-C24C-331E-6F4DA3EAC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Technical issues</a:t>
            </a:r>
          </a:p>
          <a:p>
            <a:pPr lvl="1"/>
            <a:r>
              <a:rPr lang="en-US" dirty="0"/>
              <a:t>Limited understanding, testing, impact analysis, maintainability </a:t>
            </a:r>
          </a:p>
          <a:p>
            <a:r>
              <a:rPr lang="en-US" dirty="0"/>
              <a:t>Management issues</a:t>
            </a:r>
          </a:p>
          <a:p>
            <a:pPr lvl="1"/>
            <a:r>
              <a:rPr lang="en-US" dirty="0"/>
              <a:t>Alignment with Organizational Objectives, staffing, process, supplier management, Organizational Aspects of Maintenance </a:t>
            </a:r>
          </a:p>
          <a:p>
            <a:r>
              <a:rPr lang="en-US" dirty="0"/>
              <a:t>Software maintenance costs</a:t>
            </a:r>
          </a:p>
          <a:p>
            <a:pPr lvl="1"/>
            <a:r>
              <a:rPr lang="en-US" dirty="0"/>
              <a:t>Technical Debt Cost Estimation, Maintenance Cost Estimation, </a:t>
            </a:r>
          </a:p>
          <a:p>
            <a:r>
              <a:rPr lang="en-US" dirty="0"/>
              <a:t>Software maintenance measurement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032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BEE0-473B-A50A-765E-47E350B0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Maintenance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D8E53-5BD6-18B0-DF17-DC93888B0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 for maintenance</a:t>
            </a:r>
          </a:p>
          <a:p>
            <a:r>
              <a:rPr lang="en-US" dirty="0"/>
              <a:t>Perform maintenance</a:t>
            </a:r>
          </a:p>
          <a:p>
            <a:r>
              <a:rPr lang="en-US" dirty="0"/>
              <a:t>Perform logistics support</a:t>
            </a:r>
          </a:p>
          <a:p>
            <a:r>
              <a:rPr lang="en-US" dirty="0"/>
              <a:t>Manage results of maintenance and logistics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68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4974-EA17-FF5D-45AF-D0F4BD20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Processes, activities and practices that are specialized to software maintenance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3476-A733-1EBD-C41F-EFD2506FF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382087"/>
            <a:ext cx="9486690" cy="3926152"/>
          </a:xfrm>
        </p:spPr>
        <p:txBody>
          <a:bodyPr/>
          <a:lstStyle/>
          <a:p>
            <a:r>
              <a:rPr lang="en-US" dirty="0"/>
              <a:t>Program understanding </a:t>
            </a:r>
          </a:p>
          <a:p>
            <a:r>
              <a:rPr lang="en-US" dirty="0"/>
              <a:t>Transition </a:t>
            </a:r>
          </a:p>
          <a:p>
            <a:r>
              <a:rPr lang="en-US" dirty="0"/>
              <a:t>MR acceptance/rejection </a:t>
            </a:r>
          </a:p>
          <a:p>
            <a:r>
              <a:rPr lang="en-US" dirty="0"/>
              <a:t>Maintenance help desk </a:t>
            </a:r>
          </a:p>
          <a:p>
            <a:r>
              <a:rPr lang="en-US" dirty="0"/>
              <a:t>Impact analysis </a:t>
            </a:r>
          </a:p>
          <a:p>
            <a:r>
              <a:rPr lang="en-US" dirty="0"/>
              <a:t>Maintenance service-level indicators (SLIs), service-level objectives (SLOs), SLAs, and maintenance software and hardware licenses and contracts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37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8FDD-8016-EE5F-D08F-D2BF53D0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D76E-A0B5-1055-D22C-AE91EECE8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Business planning (organizational level)</a:t>
            </a:r>
          </a:p>
          <a:p>
            <a:r>
              <a:rPr lang="en-US" dirty="0"/>
              <a:t>Maintenance planning (transition level)</a:t>
            </a:r>
          </a:p>
          <a:p>
            <a:r>
              <a:rPr lang="en-US" dirty="0"/>
              <a:t>Release/version planning (software level)</a:t>
            </a:r>
          </a:p>
          <a:p>
            <a:r>
              <a:rPr lang="en-US" dirty="0"/>
              <a:t>MR planning (at individual request level).</a:t>
            </a:r>
          </a:p>
          <a:p>
            <a:pPr lvl="1"/>
            <a:r>
              <a:rPr lang="en-US" dirty="0"/>
              <a:t>Collect the dates of availability of individual requests. </a:t>
            </a:r>
          </a:p>
          <a:p>
            <a:pPr lvl="1"/>
            <a:r>
              <a:rPr lang="en-US" dirty="0"/>
              <a:t>Agree with users on the content of sub- sequent releases/versions. </a:t>
            </a:r>
          </a:p>
          <a:p>
            <a:pPr lvl="1"/>
            <a:r>
              <a:rPr lang="en-US" dirty="0"/>
              <a:t>Identify potential conflicts and develop alternatives. </a:t>
            </a:r>
          </a:p>
          <a:p>
            <a:pPr lvl="1"/>
            <a:r>
              <a:rPr lang="en-US" dirty="0"/>
              <a:t>Assess the risk of a given release and develop a back-out plan in case problems arise </a:t>
            </a:r>
          </a:p>
          <a:p>
            <a:pPr lvl="1"/>
            <a:r>
              <a:rPr lang="en-US" dirty="0"/>
              <a:t>Inform all stakeholders. </a:t>
            </a:r>
          </a:p>
          <a:p>
            <a:pPr marL="2286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20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8EF2-A918-BC78-0DB5-CC218D01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Maintenance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7A7A-76A2-577C-2A3A-ADA143E4B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Comprehension </a:t>
            </a:r>
          </a:p>
          <a:p>
            <a:r>
              <a:rPr lang="en-US" dirty="0"/>
              <a:t>Software Reengineering </a:t>
            </a:r>
          </a:p>
          <a:p>
            <a:r>
              <a:rPr lang="en-US" dirty="0"/>
              <a:t>Reverse Engineering </a:t>
            </a:r>
          </a:p>
          <a:p>
            <a:r>
              <a:rPr lang="en-US" dirty="0"/>
              <a:t>Continuous Integration, Delivery, Testing and Deployment </a:t>
            </a:r>
          </a:p>
          <a:p>
            <a:r>
              <a:rPr lang="en-US" dirty="0"/>
              <a:t>Visualizing Maintenance </a:t>
            </a:r>
          </a:p>
        </p:txBody>
      </p:sp>
    </p:spTree>
    <p:extLst>
      <p:ext uri="{BB962C8B-B14F-4D97-AF65-F5344CB8AC3E}">
        <p14:creationId xmlns:p14="http://schemas.microsoft.com/office/powerpoint/2010/main" val="733814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A6EA-9162-7C8F-35A3-CC58F9AC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Maintenance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CDF64-C65E-E37D-B359-8DD1254F0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Configuration management, code versioning and code review tools</a:t>
            </a:r>
          </a:p>
          <a:p>
            <a:r>
              <a:rPr lang="en-US" dirty="0"/>
              <a:t>software testing tools </a:t>
            </a:r>
          </a:p>
          <a:p>
            <a:r>
              <a:rPr lang="en-US" dirty="0"/>
              <a:t>software quality assessment tools</a:t>
            </a:r>
          </a:p>
          <a:p>
            <a:r>
              <a:rPr lang="en-US" dirty="0"/>
              <a:t>Program slicers</a:t>
            </a:r>
          </a:p>
          <a:p>
            <a:r>
              <a:rPr lang="en-US" dirty="0"/>
              <a:t>Static analyzers</a:t>
            </a:r>
          </a:p>
          <a:p>
            <a:r>
              <a:rPr lang="en-US" dirty="0"/>
              <a:t>Dynamic analyzers</a:t>
            </a:r>
          </a:p>
          <a:p>
            <a:r>
              <a:rPr lang="en-US" dirty="0"/>
              <a:t>Data flow analyzers </a:t>
            </a:r>
          </a:p>
          <a:p>
            <a:r>
              <a:rPr lang="en-US" dirty="0"/>
              <a:t>Cross-</a:t>
            </a:r>
            <a:r>
              <a:rPr lang="en-US" dirty="0" err="1"/>
              <a:t>referencers</a:t>
            </a:r>
            <a:r>
              <a:rPr lang="en-US" dirty="0"/>
              <a:t> </a:t>
            </a:r>
          </a:p>
          <a:p>
            <a:r>
              <a:rPr lang="en-US" dirty="0"/>
              <a:t>Dependency analyzers </a:t>
            </a:r>
          </a:p>
          <a:p>
            <a:r>
              <a:rPr lang="en-US" dirty="0"/>
              <a:t>Remote Access tools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787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DA97320-228E-48F3-BCFA-423F983C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6928"/>
            <a:ext cx="1133856" cy="629107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C9F0975-851A-4FEC-B19A-6EC12C0D5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5072" y="1"/>
            <a:ext cx="566928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33338-F32A-153E-F1BD-0471F347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55613"/>
            <a:ext cx="4767031" cy="1549400"/>
          </a:xfrm>
        </p:spPr>
        <p:txBody>
          <a:bodyPr>
            <a:normAutofit/>
          </a:bodyPr>
          <a:lstStyle/>
          <a:p>
            <a:r>
              <a:rPr lang="en-US" dirty="0"/>
              <a:t>Software Quality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EC65-9BD1-8753-0820-5177C5677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160588"/>
            <a:ext cx="4767031" cy="3925887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MY" dirty="0"/>
              <a:t>A set of activities that ensure processes, procedures as well as standards are suitable for the project and implemented correctly.</a:t>
            </a:r>
          </a:p>
          <a:p>
            <a:pPr>
              <a:lnSpc>
                <a:spcPct val="100000"/>
              </a:lnSpc>
            </a:pPr>
            <a:r>
              <a:rPr lang="en-MY" dirty="0"/>
              <a:t>It focuses on improving the process of development of software - problems can be prevented before they become major issues.</a:t>
            </a:r>
          </a:p>
          <a:p>
            <a:pPr>
              <a:lnSpc>
                <a:spcPct val="100000"/>
              </a:lnSpc>
            </a:pPr>
            <a:r>
              <a:rPr lang="en-MY" dirty="0"/>
              <a:t>The quality of the software is verified by third-party organizations - ISO Standards in Software Engineering</a:t>
            </a:r>
          </a:p>
          <a:p>
            <a:pPr marL="0" indent="0">
              <a:lnSpc>
                <a:spcPct val="100000"/>
              </a:lnSpc>
              <a:buNone/>
            </a:pPr>
            <a:endParaRPr lang="en-MY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0FE45E0E-9C86-2752-EF0E-DA66B9644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6054" y="2601754"/>
            <a:ext cx="4245788" cy="149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045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4F892-4B80-5C0E-D9E8-E946C89F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Elements of Software Quality Assurance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A708E-03F2-7879-D8FD-A4F3EC317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MY" b="1" dirty="0"/>
              <a:t>Standards</a:t>
            </a:r>
          </a:p>
          <a:p>
            <a:r>
              <a:rPr lang="en-MY" b="1" dirty="0"/>
              <a:t>Reviews and audits</a:t>
            </a:r>
          </a:p>
          <a:p>
            <a:r>
              <a:rPr lang="en-MY" b="1" dirty="0"/>
              <a:t>Testing</a:t>
            </a:r>
          </a:p>
          <a:p>
            <a:r>
              <a:rPr lang="en-MY" b="1" dirty="0"/>
              <a:t>Error/defect collection and analysis</a:t>
            </a:r>
          </a:p>
          <a:p>
            <a:r>
              <a:rPr lang="en-MY" b="1" dirty="0"/>
              <a:t>Change management</a:t>
            </a:r>
          </a:p>
          <a:p>
            <a:r>
              <a:rPr lang="en-MY" b="1" dirty="0"/>
              <a:t>Education</a:t>
            </a:r>
          </a:p>
          <a:p>
            <a:r>
              <a:rPr lang="en-MY" b="1" dirty="0"/>
              <a:t>Security management</a:t>
            </a:r>
          </a:p>
          <a:p>
            <a:r>
              <a:rPr lang="en-MY" b="1" dirty="0"/>
              <a:t>Safety</a:t>
            </a:r>
          </a:p>
          <a:p>
            <a:r>
              <a:rPr lang="en-MY" b="1" dirty="0"/>
              <a:t>Risk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546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C152-DF62-F0FD-9669-03AB3062E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Focus of Software Quality Assurance</a:t>
            </a:r>
            <a:endParaRPr lang="en-US" dirty="0"/>
          </a:p>
        </p:txBody>
      </p:sp>
      <p:pic>
        <p:nvPicPr>
          <p:cNvPr id="2050" name="Picture 2" descr="Software-Quality-Assurance-(SQA)-focuses">
            <a:extLst>
              <a:ext uri="{FF2B5EF4-FFF2-40B4-BE49-F238E27FC236}">
                <a16:creationId xmlns:a16="http://schemas.microsoft.com/office/drawing/2014/main" id="{A227151F-A657-971B-749C-05AFD37D58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6" t="8649" r="3045" b="19820"/>
          <a:stretch>
            <a:fillRect/>
          </a:stretch>
        </p:blipFill>
        <p:spPr bwMode="auto">
          <a:xfrm>
            <a:off x="2446637" y="2005781"/>
            <a:ext cx="8007180" cy="446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133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4EDE-438A-5EDA-7631-FB376B38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Major Activities in Software Quality Assurance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5EE3C-CAD6-B4B8-6A05-130101CE6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MY" b="1" dirty="0"/>
              <a:t>SQA Management Plan</a:t>
            </a:r>
          </a:p>
          <a:p>
            <a:r>
              <a:rPr lang="en-MY" b="1" dirty="0"/>
              <a:t>Set The Check Points</a:t>
            </a:r>
          </a:p>
          <a:p>
            <a:r>
              <a:rPr lang="en-MY" b="1" dirty="0"/>
              <a:t>Measure Change Impact</a:t>
            </a:r>
          </a:p>
          <a:p>
            <a:r>
              <a:rPr lang="en-MY" b="1" dirty="0"/>
              <a:t>Multi testing Strategy</a:t>
            </a:r>
          </a:p>
          <a:p>
            <a:r>
              <a:rPr lang="en-MY" b="1" dirty="0"/>
              <a:t>Manage Good Relations</a:t>
            </a:r>
          </a:p>
          <a:p>
            <a:r>
              <a:rPr lang="en-MY" b="1" dirty="0"/>
              <a:t>Maintaining records and reports</a:t>
            </a:r>
          </a:p>
          <a:p>
            <a:endParaRPr lang="en-MY" b="1" dirty="0"/>
          </a:p>
          <a:p>
            <a:r>
              <a:rPr lang="en-MY" b="1" dirty="0"/>
              <a:t>Reviews software engineering activities</a:t>
            </a:r>
          </a:p>
          <a:p>
            <a:r>
              <a:rPr lang="en-MY" b="1" dirty="0"/>
              <a:t>Formalize deviation handling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861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D27C-72F4-73EE-3381-50AA2594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F606F-6EFF-A7B0-E780-468BC7F6A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Sommerville, I. (2016). Software engineering. Pearson. </a:t>
            </a:r>
          </a:p>
          <a:p>
            <a:r>
              <a:rPr lang="en-US" dirty="0">
                <a:hlinkClick r:id="rId2"/>
              </a:rPr>
              <a:t>https://www.iso.org/obp/ui/en/#iso:std:iso-iec-ieee:14764:ed-3:v1:en</a:t>
            </a:r>
            <a:endParaRPr lang="en-US" dirty="0"/>
          </a:p>
          <a:p>
            <a:r>
              <a:rPr lang="en-US" dirty="0"/>
              <a:t>Guide to the Software Engineering Body of Knowledge </a:t>
            </a:r>
          </a:p>
          <a:p>
            <a:r>
              <a:rPr lang="en-US" dirty="0"/>
              <a:t>https://</a:t>
            </a:r>
            <a:r>
              <a:rPr lang="en-US" dirty="0" err="1"/>
              <a:t>www.geeksforgeeks.org</a:t>
            </a:r>
            <a:r>
              <a:rPr lang="en-US" dirty="0"/>
              <a:t>/software-testing/software-engineering-software-quality-assurance/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776109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</TotalTime>
  <Words>778</Words>
  <Application>Microsoft Macintosh PowerPoint</Application>
  <PresentationFormat>Widescreen</PresentationFormat>
  <Paragraphs>128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Neue Haas Grotesk Text Pro</vt:lpstr>
      <vt:lpstr>InterweaveVTI</vt:lpstr>
      <vt:lpstr>Software Maintenance &amp; Quality Assurance</vt:lpstr>
      <vt:lpstr>Breakdown of Topic</vt:lpstr>
      <vt:lpstr>ACRONYMS</vt:lpstr>
      <vt:lpstr>What is software maintenance?</vt:lpstr>
      <vt:lpstr>Need for Software Maintenance</vt:lpstr>
      <vt:lpstr>Maintenance Costs</vt:lpstr>
      <vt:lpstr>Evolution of Software</vt:lpstr>
      <vt:lpstr>Modification Request</vt:lpstr>
      <vt:lpstr>Acitvity</vt:lpstr>
      <vt:lpstr>Categories of Software Maintenance</vt:lpstr>
      <vt:lpstr>Key Issues in Software Maintenance</vt:lpstr>
      <vt:lpstr>Software Maintenance Processes</vt:lpstr>
      <vt:lpstr>Processes, activities and practices that are specialized to software maintenance  </vt:lpstr>
      <vt:lpstr>Planning</vt:lpstr>
      <vt:lpstr>Software Maintenance Techniques</vt:lpstr>
      <vt:lpstr>Software Maintenance Tools</vt:lpstr>
      <vt:lpstr>Software Quality Assurance</vt:lpstr>
      <vt:lpstr>Elements of Software Quality Assurance </vt:lpstr>
      <vt:lpstr>Focus of Software Quality Assurance</vt:lpstr>
      <vt:lpstr>Major Activities in Software Quality Assurance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NURHIDAYAH BAHAR</dc:creator>
  <cp:lastModifiedBy>Nurhidayah Bahar</cp:lastModifiedBy>
  <cp:revision>25</cp:revision>
  <dcterms:created xsi:type="dcterms:W3CDTF">2024-10-15T01:56:27Z</dcterms:created>
  <dcterms:modified xsi:type="dcterms:W3CDTF">2025-11-06T05:22:05Z</dcterms:modified>
</cp:coreProperties>
</file>