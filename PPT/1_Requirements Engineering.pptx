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41"/>
  </p:notesMasterIdLst>
  <p:sldIdLst>
    <p:sldId id="256" r:id="rId2"/>
    <p:sldId id="257" r:id="rId3"/>
    <p:sldId id="258" r:id="rId4"/>
    <p:sldId id="267" r:id="rId5"/>
    <p:sldId id="269" r:id="rId6"/>
    <p:sldId id="270" r:id="rId7"/>
    <p:sldId id="271" r:id="rId8"/>
    <p:sldId id="268" r:id="rId9"/>
    <p:sldId id="260" r:id="rId10"/>
    <p:sldId id="273" r:id="rId11"/>
    <p:sldId id="272" r:id="rId12"/>
    <p:sldId id="261" r:id="rId13"/>
    <p:sldId id="274" r:id="rId14"/>
    <p:sldId id="275" r:id="rId15"/>
    <p:sldId id="262" r:id="rId16"/>
    <p:sldId id="276" r:id="rId17"/>
    <p:sldId id="277" r:id="rId18"/>
    <p:sldId id="263" r:id="rId19"/>
    <p:sldId id="264" r:id="rId20"/>
    <p:sldId id="278" r:id="rId21"/>
    <p:sldId id="280" r:id="rId22"/>
    <p:sldId id="281" r:id="rId23"/>
    <p:sldId id="279" r:id="rId24"/>
    <p:sldId id="265" r:id="rId25"/>
    <p:sldId id="282" r:id="rId26"/>
    <p:sldId id="283" r:id="rId27"/>
    <p:sldId id="284" r:id="rId28"/>
    <p:sldId id="266" r:id="rId29"/>
    <p:sldId id="285" r:id="rId30"/>
    <p:sldId id="286" r:id="rId31"/>
    <p:sldId id="287" r:id="rId32"/>
    <p:sldId id="288" r:id="rId33"/>
    <p:sldId id="289" r:id="rId34"/>
    <p:sldId id="290" r:id="rId35"/>
    <p:sldId id="291" r:id="rId36"/>
    <p:sldId id="292" r:id="rId37"/>
    <p:sldId id="293" r:id="rId38"/>
    <p:sldId id="294" r:id="rId39"/>
    <p:sldId id="25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28"/>
  </p:normalViewPr>
  <p:slideViewPr>
    <p:cSldViewPr snapToGrid="0">
      <p:cViewPr varScale="1">
        <p:scale>
          <a:sx n="98" d="100"/>
          <a:sy n="98" d="100"/>
        </p:scale>
        <p:origin x="5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FED6C0-981D-AA40-9E59-8D34B6C2017E}" type="datetimeFigureOut">
              <a:rPr lang="en-US" smtClean="0"/>
              <a:t>10/15/24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5B72E0-AF98-AA40-9570-F338BA92EDC2}" type="slidenum">
              <a:rPr lang="en-US" smtClean="0"/>
              <a:t>‹#›</a:t>
            </a:fld>
            <a:endParaRPr lang="en-US"/>
          </a:p>
        </p:txBody>
      </p:sp>
    </p:spTree>
    <p:extLst>
      <p:ext uri="{BB962C8B-B14F-4D97-AF65-F5344CB8AC3E}">
        <p14:creationId xmlns:p14="http://schemas.microsoft.com/office/powerpoint/2010/main" val="1807429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5B72E0-AF98-AA40-9570-F338BA92EDC2}" type="slidenum">
              <a:rPr lang="en-US" smtClean="0"/>
              <a:t>24</a:t>
            </a:fld>
            <a:endParaRPr lang="en-US"/>
          </a:p>
        </p:txBody>
      </p:sp>
    </p:spTree>
    <p:extLst>
      <p:ext uri="{BB962C8B-B14F-4D97-AF65-F5344CB8AC3E}">
        <p14:creationId xmlns:p14="http://schemas.microsoft.com/office/powerpoint/2010/main" val="3870292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03645-DCFE-47FC-8A66-F9A45A422ED9}"/>
              </a:ext>
            </a:extLst>
          </p:cNvPr>
          <p:cNvSpPr>
            <a:spLocks noGrp="1"/>
          </p:cNvSpPr>
          <p:nvPr>
            <p:ph type="ctrTitle"/>
          </p:nvPr>
        </p:nvSpPr>
        <p:spPr>
          <a:xfrm>
            <a:off x="3221150" y="1247140"/>
            <a:ext cx="7891760" cy="3450844"/>
          </a:xfrm>
        </p:spPr>
        <p:txBody>
          <a:bodyPr anchor="t"/>
          <a:lstStyle>
            <a:lvl1pPr algn="l">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AD509FA-7BD7-4D45-998F-0E43038F179C}"/>
              </a:ext>
            </a:extLst>
          </p:cNvPr>
          <p:cNvSpPr>
            <a:spLocks noGrp="1"/>
          </p:cNvSpPr>
          <p:nvPr>
            <p:ph type="subTitle" idx="1"/>
          </p:nvPr>
        </p:nvSpPr>
        <p:spPr>
          <a:xfrm>
            <a:off x="3221150" y="4818126"/>
            <a:ext cx="7891760" cy="1268984"/>
          </a:xfrm>
        </p:spPr>
        <p:txBody>
          <a:bodyPr anchor="b"/>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Rectangle 8">
            <a:extLst>
              <a:ext uri="{FF2B5EF4-FFF2-40B4-BE49-F238E27FC236}">
                <a16:creationId xmlns:a16="http://schemas.microsoft.com/office/drawing/2014/main" id="{2D03A0B2-4A2F-D846-A5E6-FB7CB9A031F7}"/>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7F573F1D-73A7-FB41-BCAD-FC9AA7DEF4F5}"/>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 name="Date Placeholder 6">
            <a:extLst>
              <a:ext uri="{FF2B5EF4-FFF2-40B4-BE49-F238E27FC236}">
                <a16:creationId xmlns:a16="http://schemas.microsoft.com/office/drawing/2014/main" id="{DDCFA51C-E4FE-4BF2-A2DD-E32DE57D8AD0}"/>
              </a:ext>
            </a:extLst>
          </p:cNvPr>
          <p:cNvSpPr>
            <a:spLocks noGrp="1"/>
          </p:cNvSpPr>
          <p:nvPr>
            <p:ph type="dt" sz="half" idx="10"/>
          </p:nvPr>
        </p:nvSpPr>
        <p:spPr/>
        <p:txBody>
          <a:bodyPr/>
          <a:lstStyle/>
          <a:p>
            <a:pPr algn="r"/>
            <a:fld id="{1449AA12-8195-4182-A7AC-2E7E59DFBDAF}" type="datetimeFigureOut">
              <a:rPr lang="en-US" smtClean="0"/>
              <a:pPr algn="r"/>
              <a:t>10/15/24</a:t>
            </a:fld>
            <a:endParaRPr lang="en-US"/>
          </a:p>
        </p:txBody>
      </p:sp>
      <p:sp>
        <p:nvSpPr>
          <p:cNvPr id="8" name="Footer Placeholder 7">
            <a:extLst>
              <a:ext uri="{FF2B5EF4-FFF2-40B4-BE49-F238E27FC236}">
                <a16:creationId xmlns:a16="http://schemas.microsoft.com/office/drawing/2014/main" id="{5A438448-FC2D-4A2F-B7C0-04AC50311EAA}"/>
              </a:ext>
            </a:extLst>
          </p:cNvPr>
          <p:cNvSpPr>
            <a:spLocks noGrp="1"/>
          </p:cNvSpPr>
          <p:nvPr>
            <p:ph type="ftr" sz="quarter" idx="11"/>
          </p:nvPr>
        </p:nvSpPr>
        <p:spPr>
          <a:xfrm>
            <a:off x="3221150" y="6292850"/>
            <a:ext cx="4114800" cy="365125"/>
          </a:xfrm>
        </p:spPr>
        <p:txBody>
          <a:bodyPr/>
          <a:lstStyle/>
          <a:p>
            <a:pPr algn="l"/>
            <a:endParaRPr lang="en-US" dirty="0"/>
          </a:p>
        </p:txBody>
      </p:sp>
      <p:sp>
        <p:nvSpPr>
          <p:cNvPr id="11" name="Slide Number Placeholder 10">
            <a:extLst>
              <a:ext uri="{FF2B5EF4-FFF2-40B4-BE49-F238E27FC236}">
                <a16:creationId xmlns:a16="http://schemas.microsoft.com/office/drawing/2014/main" id="{3B07C67E-EAD9-47D8-9559-4E091BC03BA8}"/>
              </a:ext>
            </a:extLst>
          </p:cNvPr>
          <p:cNvSpPr>
            <a:spLocks noGrp="1"/>
          </p:cNvSpPr>
          <p:nvPr>
            <p:ph type="sldNum" sz="quarter" idx="12"/>
          </p:nvPr>
        </p:nvSpPr>
        <p:spPr/>
        <p:txBody>
          <a:bodyPr/>
          <a:lstStyle/>
          <a:p>
            <a:fld id="{14DFC975-2FD7-44A5-9E78-ECBA46156075}" type="slidenum">
              <a:rPr lang="en-US" smtClean="0"/>
              <a:t>‹#›</a:t>
            </a:fld>
            <a:endParaRPr lang="en-US"/>
          </a:p>
        </p:txBody>
      </p:sp>
    </p:spTree>
    <p:extLst>
      <p:ext uri="{BB962C8B-B14F-4D97-AF65-F5344CB8AC3E}">
        <p14:creationId xmlns:p14="http://schemas.microsoft.com/office/powerpoint/2010/main" val="2565916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5DD8-8608-4B55-96D8-0AB848C028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A3CC0B-7B21-422D-937D-FBD49EE939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0EAFA-89BC-43E9-8EB9-B6B3CD136E43}"/>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5" name="Footer Placeholder 4">
            <a:extLst>
              <a:ext uri="{FF2B5EF4-FFF2-40B4-BE49-F238E27FC236}">
                <a16:creationId xmlns:a16="http://schemas.microsoft.com/office/drawing/2014/main" id="{A3850944-70C2-487F-A102-58CDFB94C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77B7B8-A972-455E-9D8C-9B8026A5306D}"/>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51" name="Rectangle 50">
            <a:extLst>
              <a:ext uri="{FF2B5EF4-FFF2-40B4-BE49-F238E27FC236}">
                <a16:creationId xmlns:a16="http://schemas.microsoft.com/office/drawing/2014/main" id="{CCC95119-6D9D-3542-9E0E-4171B33DC9C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FC92F19-7317-314C-81B7-43B8B687F4E4}"/>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7991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87F2-AA0E-4F0C-9AD6-2353021573D7}"/>
              </a:ext>
            </a:extLst>
          </p:cNvPr>
          <p:cNvSpPr>
            <a:spLocks noGrp="1"/>
          </p:cNvSpPr>
          <p:nvPr>
            <p:ph type="title"/>
          </p:nvPr>
        </p:nvSpPr>
        <p:spPr>
          <a:xfrm>
            <a:off x="3221150" y="1251674"/>
            <a:ext cx="7891760" cy="2914688"/>
          </a:xfrm>
        </p:spPr>
        <p:txBody>
          <a:bodyPr anchor="t"/>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7937807-96B8-4061-A845-1287216BF53B}"/>
              </a:ext>
            </a:extLst>
          </p:cNvPr>
          <p:cNvSpPr>
            <a:spLocks noGrp="1"/>
          </p:cNvSpPr>
          <p:nvPr>
            <p:ph type="body" idx="1"/>
          </p:nvPr>
        </p:nvSpPr>
        <p:spPr>
          <a:xfrm>
            <a:off x="3221150" y="4818126"/>
            <a:ext cx="7891760" cy="1271524"/>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AF346-9503-4767-BCB4-84B823E27419}"/>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5" name="Footer Placeholder 4">
            <a:extLst>
              <a:ext uri="{FF2B5EF4-FFF2-40B4-BE49-F238E27FC236}">
                <a16:creationId xmlns:a16="http://schemas.microsoft.com/office/drawing/2014/main" id="{5259605B-A39D-4BEE-B46F-16CF13FA0BA7}"/>
              </a:ext>
            </a:extLst>
          </p:cNvPr>
          <p:cNvSpPr>
            <a:spLocks noGrp="1"/>
          </p:cNvSpPr>
          <p:nvPr>
            <p:ph type="ftr" sz="quarter" idx="11"/>
          </p:nvPr>
        </p:nvSpPr>
        <p:spPr>
          <a:xfrm>
            <a:off x="3221150" y="6292850"/>
            <a:ext cx="4114800" cy="365125"/>
          </a:xfrm>
        </p:spPr>
        <p:txBody>
          <a:bodyPr/>
          <a:lstStyle/>
          <a:p>
            <a:endParaRPr lang="en-US"/>
          </a:p>
        </p:txBody>
      </p:sp>
      <p:sp>
        <p:nvSpPr>
          <p:cNvPr id="6" name="Slide Number Placeholder 5">
            <a:extLst>
              <a:ext uri="{FF2B5EF4-FFF2-40B4-BE49-F238E27FC236}">
                <a16:creationId xmlns:a16="http://schemas.microsoft.com/office/drawing/2014/main" id="{2575834A-942D-410B-A430-43F9E01FC5F9}"/>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4AD199D5-C485-D449-9804-F755E0907B51}"/>
              </a:ext>
            </a:extLst>
          </p:cNvPr>
          <p:cNvSpPr/>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tangle 9">
            <a:extLst>
              <a:ext uri="{FF2B5EF4-FFF2-40B4-BE49-F238E27FC236}">
                <a16:creationId xmlns:a16="http://schemas.microsoft.com/office/drawing/2014/main" id="{4290D1A7-C550-2540-86C9-EB0FB2EB2E71}"/>
              </a:ext>
            </a:extLst>
          </p:cNvPr>
          <p:cNvSpPr/>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53789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AD2-C321-4E81-AEBE-696A90E2D9A4}"/>
              </a:ext>
            </a:extLst>
          </p:cNvPr>
          <p:cNvSpPr>
            <a:spLocks noGrp="1"/>
          </p:cNvSpPr>
          <p:nvPr>
            <p:ph type="title"/>
          </p:nvPr>
        </p:nvSpPr>
        <p:spPr>
          <a:xfrm>
            <a:off x="1587710" y="455362"/>
            <a:ext cx="9486690" cy="1550419"/>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3EF20CD1-0E09-4415-911C-0F5B7341DD80}"/>
              </a:ext>
            </a:extLst>
          </p:cNvPr>
          <p:cNvSpPr>
            <a:spLocks noGrp="1"/>
          </p:cNvSpPr>
          <p:nvPr>
            <p:ph sz="half" idx="1"/>
          </p:nvPr>
        </p:nvSpPr>
        <p:spPr>
          <a:xfrm>
            <a:off x="1587709" y="2160016"/>
            <a:ext cx="4425437" cy="39270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A963EDD-031A-49CA-9130-067550BD0D55}"/>
              </a:ext>
            </a:extLst>
          </p:cNvPr>
          <p:cNvSpPr>
            <a:spLocks noGrp="1"/>
          </p:cNvSpPr>
          <p:nvPr>
            <p:ph sz="half" idx="2"/>
          </p:nvPr>
        </p:nvSpPr>
        <p:spPr>
          <a:xfrm>
            <a:off x="6648963" y="2160016"/>
            <a:ext cx="4425437" cy="39270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0808E79-A0BE-49F3-AE92-7EE5CC78F1A6}"/>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6" name="Footer Placeholder 5">
            <a:extLst>
              <a:ext uri="{FF2B5EF4-FFF2-40B4-BE49-F238E27FC236}">
                <a16:creationId xmlns:a16="http://schemas.microsoft.com/office/drawing/2014/main" id="{2898B87C-BF1E-47CF-9A4E-FD4BE32C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C06E71-46F6-469C-A9CA-E707EBE51B58}"/>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052659F6-6B3B-A545-A45F-FAD238210D47}"/>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80637F8-15DE-2240-8BF8-D6E57A337B1A}"/>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2051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3B26D-64DE-4314-8BD2-25FD618FB46D}"/>
              </a:ext>
            </a:extLst>
          </p:cNvPr>
          <p:cNvSpPr>
            <a:spLocks noGrp="1"/>
          </p:cNvSpPr>
          <p:nvPr>
            <p:ph type="title"/>
          </p:nvPr>
        </p:nvSpPr>
        <p:spPr>
          <a:xfrm>
            <a:off x="1591056" y="457200"/>
            <a:ext cx="9521854" cy="1554480"/>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9D77613-5CEE-4B05-A937-CD43EAAABF38}"/>
              </a:ext>
            </a:extLst>
          </p:cNvPr>
          <p:cNvSpPr>
            <a:spLocks noGrp="1"/>
          </p:cNvSpPr>
          <p:nvPr>
            <p:ph type="body" idx="1"/>
          </p:nvPr>
        </p:nvSpPr>
        <p:spPr>
          <a:xfrm>
            <a:off x="1591057"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43E4779-3B5A-4993-9C7F-FB19F1633F5D}"/>
              </a:ext>
            </a:extLst>
          </p:cNvPr>
          <p:cNvSpPr>
            <a:spLocks noGrp="1"/>
          </p:cNvSpPr>
          <p:nvPr>
            <p:ph sz="half" idx="2"/>
          </p:nvPr>
        </p:nvSpPr>
        <p:spPr>
          <a:xfrm>
            <a:off x="1591056" y="2988998"/>
            <a:ext cx="4425697" cy="3098112"/>
          </a:xfrm>
        </p:spPr>
        <p:txBody>
          <a:bodyPr/>
          <a:lstStyle>
            <a:lvl1pPr>
              <a:defRPr sz="2000"/>
            </a:lvl1pPr>
            <a:lvl2pPr>
              <a:defRPr sz="18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AB51081A-685C-4C18-9AE9-425106A02F6B}"/>
              </a:ext>
            </a:extLst>
          </p:cNvPr>
          <p:cNvSpPr>
            <a:spLocks noGrp="1"/>
          </p:cNvSpPr>
          <p:nvPr>
            <p:ph type="body" sz="quarter" idx="3"/>
          </p:nvPr>
        </p:nvSpPr>
        <p:spPr>
          <a:xfrm>
            <a:off x="6687214" y="2165086"/>
            <a:ext cx="4425696" cy="823912"/>
          </a:xfrm>
        </p:spPr>
        <p:txBody>
          <a:bodyPr anchor="b">
            <a:normAutofit/>
          </a:bodyPr>
          <a:lstStyle>
            <a:lvl1pPr marL="0" indent="0">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7780F424-FE3A-4B7D-B60C-7AEA2118A585}"/>
              </a:ext>
            </a:extLst>
          </p:cNvPr>
          <p:cNvSpPr>
            <a:spLocks noGrp="1"/>
          </p:cNvSpPr>
          <p:nvPr>
            <p:ph sz="quarter" idx="4"/>
          </p:nvPr>
        </p:nvSpPr>
        <p:spPr>
          <a:xfrm>
            <a:off x="6687214" y="2988998"/>
            <a:ext cx="4425696" cy="3098112"/>
          </a:xfrm>
        </p:spPr>
        <p:txBody>
          <a:bodyPr/>
          <a:lstStyle>
            <a:lvl1pPr>
              <a:defRPr sz="2000"/>
            </a:lvl1pPr>
            <a:lvl2pPr>
              <a:defRPr sz="1800"/>
            </a:lvl2pPr>
            <a:lvl3pPr>
              <a:defRPr sz="1600"/>
            </a:lvl3pPr>
            <a:lvl4pPr>
              <a:defRPr sz="1400"/>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864D2A96-CD7D-41BC-BDBE-5E29B7C0B325}"/>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8" name="Footer Placeholder 7">
            <a:extLst>
              <a:ext uri="{FF2B5EF4-FFF2-40B4-BE49-F238E27FC236}">
                <a16:creationId xmlns:a16="http://schemas.microsoft.com/office/drawing/2014/main" id="{2CD1471D-6DDE-4E56-84E9-48136966A9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A3F451-CF28-4F57-B844-52A665440A0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2" name="Rectangle 11">
            <a:extLst>
              <a:ext uri="{FF2B5EF4-FFF2-40B4-BE49-F238E27FC236}">
                <a16:creationId xmlns:a16="http://schemas.microsoft.com/office/drawing/2014/main" id="{2D1FA03E-7A83-AB41-BB4B-25B04946559A}"/>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702630-3C98-A142-9D04-1D852974DC2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740332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22D7A-4502-49C3-BAFB-6D46F7A2E27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CAB67EE-A167-43D1-9C58-7B736CF28B64}"/>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4" name="Footer Placeholder 3">
            <a:extLst>
              <a:ext uri="{FF2B5EF4-FFF2-40B4-BE49-F238E27FC236}">
                <a16:creationId xmlns:a16="http://schemas.microsoft.com/office/drawing/2014/main" id="{3C5605B7-599B-450E-9E8D-2A9AE3F30F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5BD2B1-8C5F-430B-A0F2-CD5281AB75E2}"/>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8" name="Rectangle 7">
            <a:extLst>
              <a:ext uri="{FF2B5EF4-FFF2-40B4-BE49-F238E27FC236}">
                <a16:creationId xmlns:a16="http://schemas.microsoft.com/office/drawing/2014/main" id="{1DBA877B-B45A-BD48-8FC8-E752E7D7174F}"/>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BF3343D-2AFA-B544-B40A-315F5EC680B6}"/>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9261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308016-71BA-4CD3-918D-51613F7F4DF5}"/>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3" name="Footer Placeholder 2">
            <a:extLst>
              <a:ext uri="{FF2B5EF4-FFF2-40B4-BE49-F238E27FC236}">
                <a16:creationId xmlns:a16="http://schemas.microsoft.com/office/drawing/2014/main" id="{95B24F46-0425-47C6-9FFB-F69AFFFE89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CE7A99-1593-4189-A514-8209CC32A2EA}"/>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7" name="Rectangle 6">
            <a:extLst>
              <a:ext uri="{FF2B5EF4-FFF2-40B4-BE49-F238E27FC236}">
                <a16:creationId xmlns:a16="http://schemas.microsoft.com/office/drawing/2014/main" id="{11C15DFD-AB97-AB43-A6C9-2808708C91B4}"/>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A05BA89-ECA6-2247-ABBB-3C67160202E9}"/>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8925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E933B-3FC6-4B08-9FBE-2DD48307A4D4}"/>
              </a:ext>
            </a:extLst>
          </p:cNvPr>
          <p:cNvSpPr>
            <a:spLocks noGrp="1"/>
          </p:cNvSpPr>
          <p:nvPr>
            <p:ph type="title"/>
          </p:nvPr>
        </p:nvSpPr>
        <p:spPr>
          <a:xfrm>
            <a:off x="1587712" y="455362"/>
            <a:ext cx="4043440" cy="1584512"/>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377FBD4A-4514-4DCE-8F18-914DF3F4EED1}"/>
              </a:ext>
            </a:extLst>
          </p:cNvPr>
          <p:cNvSpPr>
            <a:spLocks noGrp="1"/>
          </p:cNvSpPr>
          <p:nvPr>
            <p:ph idx="1"/>
          </p:nvPr>
        </p:nvSpPr>
        <p:spPr>
          <a:xfrm>
            <a:off x="6271232" y="565151"/>
            <a:ext cx="5358384" cy="5521960"/>
          </a:xfrm>
        </p:spPr>
        <p:txBody>
          <a:bodyPr>
            <a:normAutofit/>
          </a:bodyPr>
          <a:lstStyle>
            <a:lvl1pPr>
              <a:defRPr sz="2200"/>
            </a:lvl1pPr>
            <a:lvl2pPr>
              <a:defRPr sz="1900"/>
            </a:lvl2pPr>
            <a:lvl3pPr>
              <a:defRPr sz="1700"/>
            </a:lvl3pPr>
            <a:lvl4pPr>
              <a:defRPr sz="1500"/>
            </a:lvl4pPr>
            <a:lvl5pPr>
              <a:defRPr sz="15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AF18C85-0675-4202-B796-352766854939}"/>
              </a:ext>
            </a:extLst>
          </p:cNvPr>
          <p:cNvSpPr>
            <a:spLocks noGrp="1"/>
          </p:cNvSpPr>
          <p:nvPr>
            <p:ph type="body" sz="half" idx="2"/>
          </p:nvPr>
        </p:nvSpPr>
        <p:spPr>
          <a:xfrm>
            <a:off x="1587712" y="2039874"/>
            <a:ext cx="4043440"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0079E5-F934-4D04-866F-F7CB5B08ACC4}"/>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6" name="Footer Placeholder 5">
            <a:extLst>
              <a:ext uri="{FF2B5EF4-FFF2-40B4-BE49-F238E27FC236}">
                <a16:creationId xmlns:a16="http://schemas.microsoft.com/office/drawing/2014/main" id="{E705FC94-7915-439A-B937-F02D1BB03A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B69B19-4156-4584-B1DC-4F42F200B915}"/>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DC1B6031-8ABE-F648-8E05-3D08D0D54B53}"/>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DABD855-35E6-BE4F-8B03-FD12DDB32E10}"/>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19716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1F3B-090C-4BB5-84BE-8ED0FC5981A5}"/>
              </a:ext>
            </a:extLst>
          </p:cNvPr>
          <p:cNvSpPr>
            <a:spLocks noGrp="1"/>
          </p:cNvSpPr>
          <p:nvPr>
            <p:ph type="title"/>
          </p:nvPr>
        </p:nvSpPr>
        <p:spPr>
          <a:xfrm>
            <a:off x="1587711" y="455362"/>
            <a:ext cx="4043436" cy="1584512"/>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9397C49E-9426-4B24-B2A7-C54B89DA60A3}"/>
              </a:ext>
            </a:extLst>
          </p:cNvPr>
          <p:cNvSpPr>
            <a:spLocks noGrp="1"/>
          </p:cNvSpPr>
          <p:nvPr>
            <p:ph type="pic" idx="1"/>
          </p:nvPr>
        </p:nvSpPr>
        <p:spPr>
          <a:xfrm>
            <a:off x="6271232" y="565150"/>
            <a:ext cx="5355607" cy="55226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BC7F011-0A5F-44E9-88CD-C95A33351B45}"/>
              </a:ext>
            </a:extLst>
          </p:cNvPr>
          <p:cNvSpPr>
            <a:spLocks noGrp="1"/>
          </p:cNvSpPr>
          <p:nvPr>
            <p:ph type="body" sz="half" idx="2"/>
          </p:nvPr>
        </p:nvSpPr>
        <p:spPr>
          <a:xfrm>
            <a:off x="1587711" y="2039874"/>
            <a:ext cx="4043436" cy="38291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721C85-27BB-4533-A21B-C379FE03A944}"/>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6" name="Footer Placeholder 5">
            <a:extLst>
              <a:ext uri="{FF2B5EF4-FFF2-40B4-BE49-F238E27FC236}">
                <a16:creationId xmlns:a16="http://schemas.microsoft.com/office/drawing/2014/main" id="{35018850-01F1-4247-9BFD-1DDC5DDDC3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365A9-4C28-480F-B370-2DFF234B73F7}"/>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10" name="Rectangle 9">
            <a:extLst>
              <a:ext uri="{FF2B5EF4-FFF2-40B4-BE49-F238E27FC236}">
                <a16:creationId xmlns:a16="http://schemas.microsoft.com/office/drawing/2014/main" id="{920EAFF3-0A84-F84B-90E4-A596F00B3DC2}"/>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8392559-3C15-B249-93C9-B0F7E9E5DDD8}"/>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7481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C53B0-59B2-4B39-93E0-DCFBB932C82A}"/>
              </a:ext>
            </a:extLst>
          </p:cNvPr>
          <p:cNvSpPr>
            <a:spLocks noGrp="1"/>
          </p:cNvSpPr>
          <p:nvPr>
            <p:ph type="title"/>
          </p:nvPr>
        </p:nvSpPr>
        <p:spPr>
          <a:xfrm>
            <a:off x="1587710" y="455362"/>
            <a:ext cx="9525200" cy="1550419"/>
          </a:xfr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18C5F7B-98AC-425B-80BD-6C6F3032D0CE}"/>
              </a:ext>
            </a:extLst>
          </p:cNvPr>
          <p:cNvSpPr>
            <a:spLocks noGrp="1"/>
          </p:cNvSpPr>
          <p:nvPr>
            <p:ph type="body" orient="vert" idx="1"/>
          </p:nvPr>
        </p:nvSpPr>
        <p:spPr>
          <a:xfrm>
            <a:off x="1587710" y="2160016"/>
            <a:ext cx="9525200" cy="392615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C88C2EE-2433-424A-878C-24514FF5D44F}"/>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5" name="Footer Placeholder 4">
            <a:extLst>
              <a:ext uri="{FF2B5EF4-FFF2-40B4-BE49-F238E27FC236}">
                <a16:creationId xmlns:a16="http://schemas.microsoft.com/office/drawing/2014/main" id="{1FFEFD20-ADE2-40F3-A071-6D1E97F8FB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7D1D5-5E92-48E1-9475-EC122D3FE61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60FCF945-5CF3-5542-A36A-9CBB738E735E}"/>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7D61B-66C5-4341-8F2D-129A9E4D8283}"/>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9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7FBCF-6EDB-4883-92D4-612F4D1C5589}"/>
              </a:ext>
            </a:extLst>
          </p:cNvPr>
          <p:cNvSpPr>
            <a:spLocks noGrp="1"/>
          </p:cNvSpPr>
          <p:nvPr>
            <p:ph type="title" orient="vert"/>
          </p:nvPr>
        </p:nvSpPr>
        <p:spPr>
          <a:xfrm>
            <a:off x="8846380" y="565149"/>
            <a:ext cx="2266530" cy="561181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9D2DF8-B588-416F-AA11-9F3A0DDE6765}"/>
              </a:ext>
            </a:extLst>
          </p:cNvPr>
          <p:cNvSpPr>
            <a:spLocks noGrp="1"/>
          </p:cNvSpPr>
          <p:nvPr>
            <p:ph type="body" orient="vert" idx="1"/>
          </p:nvPr>
        </p:nvSpPr>
        <p:spPr>
          <a:xfrm>
            <a:off x="1587710" y="565149"/>
            <a:ext cx="7088929" cy="5611813"/>
          </a:xfrm>
        </p:spPr>
        <p:txBody>
          <a:bodyPr vert="eaVert"/>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72F7B1D-405D-4EE7-9A23-3F21916C9503}"/>
              </a:ext>
            </a:extLst>
          </p:cNvPr>
          <p:cNvSpPr>
            <a:spLocks noGrp="1"/>
          </p:cNvSpPr>
          <p:nvPr>
            <p:ph type="dt" sz="half" idx="10"/>
          </p:nvPr>
        </p:nvSpPr>
        <p:spPr/>
        <p:txBody>
          <a:bodyPr/>
          <a:lstStyle/>
          <a:p>
            <a:fld id="{1449AA12-8195-4182-A7AC-2E7E59DFBDAF}" type="datetimeFigureOut">
              <a:rPr lang="en-US" smtClean="0"/>
              <a:t>10/15/24</a:t>
            </a:fld>
            <a:endParaRPr lang="en-US"/>
          </a:p>
        </p:txBody>
      </p:sp>
      <p:sp>
        <p:nvSpPr>
          <p:cNvPr id="5" name="Footer Placeholder 4">
            <a:extLst>
              <a:ext uri="{FF2B5EF4-FFF2-40B4-BE49-F238E27FC236}">
                <a16:creationId xmlns:a16="http://schemas.microsoft.com/office/drawing/2014/main" id="{D27B9304-686C-431A-8E7F-D9DD19F4D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40B-DB2E-46ED-8AC6-744B2C1C70E3}"/>
              </a:ext>
            </a:extLst>
          </p:cNvPr>
          <p:cNvSpPr>
            <a:spLocks noGrp="1"/>
          </p:cNvSpPr>
          <p:nvPr>
            <p:ph type="sldNum" sz="quarter" idx="12"/>
          </p:nvPr>
        </p:nvSpPr>
        <p:spPr/>
        <p:txBody>
          <a:bodyPr/>
          <a:lstStyle/>
          <a:p>
            <a:fld id="{14DFC975-2FD7-44A5-9E78-ECBA46156075}" type="slidenum">
              <a:rPr lang="en-US" smtClean="0"/>
              <a:t>‹#›</a:t>
            </a:fld>
            <a:endParaRPr lang="en-US"/>
          </a:p>
        </p:txBody>
      </p:sp>
      <p:sp>
        <p:nvSpPr>
          <p:cNvPr id="9" name="Rectangle 8">
            <a:extLst>
              <a:ext uri="{FF2B5EF4-FFF2-40B4-BE49-F238E27FC236}">
                <a16:creationId xmlns:a16="http://schemas.microsoft.com/office/drawing/2014/main" id="{2F275F2C-778B-864A-8379-6D0726B18FDC}"/>
              </a:ext>
            </a:extLst>
          </p:cNvPr>
          <p:cNvSpPr/>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70051C8-76B3-384B-BCF1-60BB80301FCD}"/>
              </a:ext>
            </a:extLst>
          </p:cNvPr>
          <p:cNvSpPr/>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6934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7ACD69-D2F4-4938-B590-C414049017E0}"/>
              </a:ext>
            </a:extLst>
          </p:cNvPr>
          <p:cNvSpPr>
            <a:spLocks noGrp="1"/>
          </p:cNvSpPr>
          <p:nvPr>
            <p:ph type="title"/>
          </p:nvPr>
        </p:nvSpPr>
        <p:spPr>
          <a:xfrm>
            <a:off x="1587710" y="455362"/>
            <a:ext cx="9486690" cy="1550419"/>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2E762BD4-BA0F-4CA4-BAE3-DF2B5087C045}"/>
              </a:ext>
            </a:extLst>
          </p:cNvPr>
          <p:cNvSpPr>
            <a:spLocks noGrp="1"/>
          </p:cNvSpPr>
          <p:nvPr>
            <p:ph type="body" idx="1"/>
          </p:nvPr>
        </p:nvSpPr>
        <p:spPr>
          <a:xfrm>
            <a:off x="1587710" y="2160016"/>
            <a:ext cx="9486690" cy="39261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80B2FEE-249E-42F1-94D8-A8C0759EF471}"/>
              </a:ext>
            </a:extLst>
          </p:cNvPr>
          <p:cNvSpPr>
            <a:spLocks noGrp="1"/>
          </p:cNvSpPr>
          <p:nvPr>
            <p:ph type="dt" sz="half" idx="2"/>
          </p:nvPr>
        </p:nvSpPr>
        <p:spPr>
          <a:xfrm>
            <a:off x="8018632" y="6292850"/>
            <a:ext cx="3094278"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49AA12-8195-4182-A7AC-2E7E59DFBDAF}" type="datetimeFigureOut">
              <a:rPr lang="en-US" smtClean="0"/>
              <a:pPr/>
              <a:t>10/15/24</a:t>
            </a:fld>
            <a:endParaRPr lang="en-US"/>
          </a:p>
        </p:txBody>
      </p:sp>
      <p:sp>
        <p:nvSpPr>
          <p:cNvPr id="5" name="Footer Placeholder 4">
            <a:extLst>
              <a:ext uri="{FF2B5EF4-FFF2-40B4-BE49-F238E27FC236}">
                <a16:creationId xmlns:a16="http://schemas.microsoft.com/office/drawing/2014/main" id="{8560C617-A890-4920-83B0-143C03349066}"/>
              </a:ext>
            </a:extLst>
          </p:cNvPr>
          <p:cNvSpPr>
            <a:spLocks noGrp="1"/>
          </p:cNvSpPr>
          <p:nvPr>
            <p:ph type="ftr" sz="quarter" idx="3"/>
          </p:nvPr>
        </p:nvSpPr>
        <p:spPr>
          <a:xfrm>
            <a:off x="1587711" y="6292850"/>
            <a:ext cx="4114800" cy="365125"/>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14F1B4F1-B06B-4BBE-BFFF-C0B386E2449E}"/>
              </a:ext>
            </a:extLst>
          </p:cNvPr>
          <p:cNvSpPr>
            <a:spLocks noGrp="1"/>
          </p:cNvSpPr>
          <p:nvPr>
            <p:ph type="sldNum" sz="quarter" idx="4"/>
          </p:nvPr>
        </p:nvSpPr>
        <p:spPr>
          <a:xfrm>
            <a:off x="11149574" y="6292850"/>
            <a:ext cx="813816" cy="365125"/>
          </a:xfrm>
          <a:prstGeom prst="rect">
            <a:avLst/>
          </a:prstGeom>
        </p:spPr>
        <p:txBody>
          <a:bodyPr vert="horz" lIns="91440" tIns="45720" rIns="91440" bIns="45720" rtlCol="0" anchor="ctr"/>
          <a:lstStyle>
            <a:lvl1pPr algn="r">
              <a:defRPr sz="1100">
                <a:solidFill>
                  <a:schemeClr val="tx1">
                    <a:tint val="75000"/>
                  </a:schemeClr>
                </a:solidFill>
              </a:defRPr>
            </a:lvl1pPr>
          </a:lstStyle>
          <a:p>
            <a:fld id="{14DFC975-2FD7-44A5-9E78-ECBA46156075}" type="slidenum">
              <a:rPr lang="en-US" smtClean="0"/>
              <a:pPr/>
              <a:t>‹#›</a:t>
            </a:fld>
            <a:endParaRPr lang="en-US"/>
          </a:p>
        </p:txBody>
      </p:sp>
    </p:spTree>
    <p:extLst>
      <p:ext uri="{BB962C8B-B14F-4D97-AF65-F5344CB8AC3E}">
        <p14:creationId xmlns:p14="http://schemas.microsoft.com/office/powerpoint/2010/main" val="3073607824"/>
      </p:ext>
    </p:extLst>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2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457200" indent="-228600" algn="l" defTabSz="914400" rtl="0" eaLnBrk="1" latinLnBrk="0" hangingPunct="1">
        <a:lnSpc>
          <a:spcPct val="110000"/>
        </a:lnSpc>
        <a:spcBef>
          <a:spcPts val="600"/>
        </a:spcBef>
        <a:buClr>
          <a:schemeClr val="accent1"/>
        </a:buClr>
        <a:buFont typeface="Arial" panose="020B0604020202020204" pitchFamily="34" charset="0"/>
        <a:buChar char="•"/>
        <a:defRPr sz="1900" kern="1200">
          <a:solidFill>
            <a:schemeClr val="tx1"/>
          </a:solidFill>
          <a:latin typeface="+mn-lt"/>
          <a:ea typeface="+mn-ea"/>
          <a:cs typeface="+mn-cs"/>
        </a:defRPr>
      </a:lvl2pPr>
      <a:lvl3pPr marL="685800" indent="-228600" algn="l" defTabSz="914400" rtl="0" eaLnBrk="1" latinLnBrk="0" hangingPunct="1">
        <a:lnSpc>
          <a:spcPct val="110000"/>
        </a:lnSpc>
        <a:spcBef>
          <a:spcPts val="600"/>
        </a:spcBef>
        <a:buClr>
          <a:schemeClr val="accent1"/>
        </a:buClr>
        <a:buFont typeface="Arial" panose="020B0604020202020204" pitchFamily="34" charset="0"/>
        <a:buChar char="•"/>
        <a:defRPr sz="1700" kern="1200">
          <a:solidFill>
            <a:schemeClr val="tx1"/>
          </a:solidFill>
          <a:latin typeface="+mn-lt"/>
          <a:ea typeface="+mn-ea"/>
          <a:cs typeface="+mn-cs"/>
        </a:defRPr>
      </a:lvl3pPr>
      <a:lvl4pPr marL="9144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4pPr>
      <a:lvl5pPr marL="1143000" indent="-228600" algn="l" defTabSz="914400" rtl="0" eaLnBrk="1" latinLnBrk="0" hangingPunct="1">
        <a:lnSpc>
          <a:spcPct val="110000"/>
        </a:lnSpc>
        <a:spcBef>
          <a:spcPts val="600"/>
        </a:spcBef>
        <a:buClr>
          <a:schemeClr val="accent1"/>
        </a:buClr>
        <a:buFont typeface="Arial" panose="020B0604020202020204" pitchFamily="34" charset="0"/>
        <a:buChar char="•"/>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91E46D-0383-154E-42D7-0ACEB1E5F075}"/>
              </a:ext>
            </a:extLst>
          </p:cNvPr>
          <p:cNvSpPr>
            <a:spLocks noGrp="1"/>
          </p:cNvSpPr>
          <p:nvPr>
            <p:ph type="ctrTitle"/>
          </p:nvPr>
        </p:nvSpPr>
        <p:spPr>
          <a:xfrm>
            <a:off x="569469" y="1247140"/>
            <a:ext cx="3608208" cy="3450844"/>
          </a:xfrm>
        </p:spPr>
        <p:txBody>
          <a:bodyPr>
            <a:normAutofit/>
          </a:bodyPr>
          <a:lstStyle/>
          <a:p>
            <a:r>
              <a:rPr lang="en-US" sz="4000" dirty="0"/>
              <a:t>Requirement Engineering and Software Design </a:t>
            </a:r>
            <a:br>
              <a:rPr lang="en-US" sz="4000" dirty="0"/>
            </a:br>
            <a:endParaRPr lang="en-US" sz="4000" dirty="0"/>
          </a:p>
        </p:txBody>
      </p:sp>
      <p:sp>
        <p:nvSpPr>
          <p:cNvPr id="3" name="Subtitle 2">
            <a:extLst>
              <a:ext uri="{FF2B5EF4-FFF2-40B4-BE49-F238E27FC236}">
                <a16:creationId xmlns:a16="http://schemas.microsoft.com/office/drawing/2014/main" id="{652863FC-E4A9-7DE6-2FDF-CCF136B736A5}"/>
              </a:ext>
            </a:extLst>
          </p:cNvPr>
          <p:cNvSpPr>
            <a:spLocks noGrp="1"/>
          </p:cNvSpPr>
          <p:nvPr>
            <p:ph type="subTitle" idx="1"/>
          </p:nvPr>
        </p:nvSpPr>
        <p:spPr>
          <a:xfrm>
            <a:off x="569469" y="4818126"/>
            <a:ext cx="3608208" cy="1268984"/>
          </a:xfrm>
        </p:spPr>
        <p:txBody>
          <a:bodyPr>
            <a:normAutofit fontScale="92500" lnSpcReduction="10000"/>
          </a:bodyPr>
          <a:lstStyle/>
          <a:p>
            <a:pPr algn="ctr"/>
            <a:r>
              <a:rPr lang="en-US" dirty="0"/>
              <a:t>TTTE6104 </a:t>
            </a:r>
          </a:p>
          <a:p>
            <a:pPr algn="ctr"/>
            <a:r>
              <a:rPr lang="en-US" dirty="0"/>
              <a:t>Software Engineering Paradigm </a:t>
            </a:r>
          </a:p>
        </p:txBody>
      </p:sp>
      <p:pic>
        <p:nvPicPr>
          <p:cNvPr id="4" name="Picture 3" descr="A blue and white curved wall&#10;&#10;Description automatically generated with medium confidence">
            <a:extLst>
              <a:ext uri="{FF2B5EF4-FFF2-40B4-BE49-F238E27FC236}">
                <a16:creationId xmlns:a16="http://schemas.microsoft.com/office/drawing/2014/main" id="{6B314AD5-A343-A6A8-C03F-CB9D36352F17}"/>
              </a:ext>
            </a:extLst>
          </p:cNvPr>
          <p:cNvPicPr>
            <a:picLocks noChangeAspect="1"/>
          </p:cNvPicPr>
          <p:nvPr/>
        </p:nvPicPr>
        <p:blipFill>
          <a:blip r:embed="rId2"/>
          <a:srcRect l="11416" r="7039"/>
          <a:stretch/>
        </p:blipFill>
        <p:spPr>
          <a:xfrm>
            <a:off x="4735487" y="10"/>
            <a:ext cx="7456513" cy="6857990"/>
          </a:xfrm>
          <a:prstGeom prst="rect">
            <a:avLst/>
          </a:prstGeom>
        </p:spPr>
      </p:pic>
      <p:sp>
        <p:nvSpPr>
          <p:cNvPr id="11" name="Rectangle 10">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529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3" name="Rectangle 12">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3529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Tree>
    <p:extLst>
      <p:ext uri="{BB962C8B-B14F-4D97-AF65-F5344CB8AC3E}">
        <p14:creationId xmlns:p14="http://schemas.microsoft.com/office/powerpoint/2010/main" val="2374522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3F62-DBD0-0C00-2553-E479C3264677}"/>
              </a:ext>
            </a:extLst>
          </p:cNvPr>
          <p:cNvSpPr>
            <a:spLocks noGrp="1"/>
          </p:cNvSpPr>
          <p:nvPr>
            <p:ph type="title"/>
          </p:nvPr>
        </p:nvSpPr>
        <p:spPr/>
        <p:txBody>
          <a:bodyPr/>
          <a:lstStyle/>
          <a:p>
            <a:r>
              <a:rPr lang="en-US" dirty="0"/>
              <a:t>Objectives </a:t>
            </a:r>
          </a:p>
        </p:txBody>
      </p:sp>
      <p:sp>
        <p:nvSpPr>
          <p:cNvPr id="3" name="Content Placeholder 2">
            <a:extLst>
              <a:ext uri="{FF2B5EF4-FFF2-40B4-BE49-F238E27FC236}">
                <a16:creationId xmlns:a16="http://schemas.microsoft.com/office/drawing/2014/main" id="{D27D8BB1-715F-C3BE-6FE9-8E4404B85164}"/>
              </a:ext>
            </a:extLst>
          </p:cNvPr>
          <p:cNvSpPr>
            <a:spLocks noGrp="1"/>
          </p:cNvSpPr>
          <p:nvPr>
            <p:ph idx="1"/>
          </p:nvPr>
        </p:nvSpPr>
        <p:spPr/>
        <p:txBody>
          <a:bodyPr>
            <a:normAutofit fontScale="92500" lnSpcReduction="10000"/>
          </a:bodyPr>
          <a:lstStyle/>
          <a:p>
            <a:r>
              <a:rPr lang="en-US" dirty="0"/>
              <a:t>understand the concepts of user and system requirements and why these requirements should be written in different ways; </a:t>
            </a:r>
          </a:p>
          <a:p>
            <a:r>
              <a:rPr lang="en-US" dirty="0"/>
              <a:t>understand the differences between functional and nonfunctional software requirements; </a:t>
            </a:r>
          </a:p>
          <a:p>
            <a:r>
              <a:rPr lang="en-US" dirty="0"/>
              <a:t>understand how requirements may be organized in a software requirements document; </a:t>
            </a:r>
          </a:p>
          <a:p>
            <a:r>
              <a:rPr lang="en-US" dirty="0"/>
              <a:t>understand the principal requirements engineering activities of elicitation, analysis and validation, and the relationships between these activities; </a:t>
            </a:r>
          </a:p>
          <a:p>
            <a:r>
              <a:rPr lang="en-US" dirty="0"/>
              <a:t>understand why requirements management is necessary and how it supports other requirements engineering activities. </a:t>
            </a:r>
          </a:p>
          <a:p>
            <a:endParaRPr lang="en-US" dirty="0"/>
          </a:p>
        </p:txBody>
      </p:sp>
    </p:spTree>
    <p:extLst>
      <p:ext uri="{BB962C8B-B14F-4D97-AF65-F5344CB8AC3E}">
        <p14:creationId xmlns:p14="http://schemas.microsoft.com/office/powerpoint/2010/main" val="1494515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2E6FF-16D8-93E6-90DB-ED2569E3CDF4}"/>
              </a:ext>
            </a:extLst>
          </p:cNvPr>
          <p:cNvSpPr>
            <a:spLocks noGrp="1"/>
          </p:cNvSpPr>
          <p:nvPr>
            <p:ph type="title"/>
          </p:nvPr>
        </p:nvSpPr>
        <p:spPr/>
        <p:txBody>
          <a:bodyPr/>
          <a:lstStyle/>
          <a:p>
            <a:r>
              <a:rPr lang="en-US" dirty="0"/>
              <a:t>Contents </a:t>
            </a:r>
          </a:p>
        </p:txBody>
      </p:sp>
      <p:sp>
        <p:nvSpPr>
          <p:cNvPr id="3" name="Content Placeholder 2">
            <a:extLst>
              <a:ext uri="{FF2B5EF4-FFF2-40B4-BE49-F238E27FC236}">
                <a16:creationId xmlns:a16="http://schemas.microsoft.com/office/drawing/2014/main" id="{9062D401-BB48-97D2-A606-02DAE54AB5B5}"/>
              </a:ext>
            </a:extLst>
          </p:cNvPr>
          <p:cNvSpPr>
            <a:spLocks noGrp="1"/>
          </p:cNvSpPr>
          <p:nvPr>
            <p:ph idx="1"/>
          </p:nvPr>
        </p:nvSpPr>
        <p:spPr/>
        <p:txBody>
          <a:bodyPr/>
          <a:lstStyle/>
          <a:p>
            <a:r>
              <a:rPr lang="en-US" dirty="0"/>
              <a:t>Functional and non-functional requirements </a:t>
            </a:r>
          </a:p>
          <a:p>
            <a:r>
              <a:rPr lang="en-US" dirty="0"/>
              <a:t>The software requirements document</a:t>
            </a:r>
          </a:p>
          <a:p>
            <a:r>
              <a:rPr lang="en-US" dirty="0"/>
              <a:t>Requirements specification</a:t>
            </a:r>
          </a:p>
          <a:p>
            <a:r>
              <a:rPr lang="en-US" dirty="0"/>
              <a:t>Requirements engineering processes</a:t>
            </a:r>
          </a:p>
          <a:p>
            <a:r>
              <a:rPr lang="en-US" dirty="0"/>
              <a:t>Requirements elicitation and analysis</a:t>
            </a:r>
          </a:p>
          <a:p>
            <a:r>
              <a:rPr lang="en-US" dirty="0"/>
              <a:t>Requirements validation</a:t>
            </a:r>
          </a:p>
          <a:p>
            <a:r>
              <a:rPr lang="en-US" dirty="0"/>
              <a:t>Requirements management </a:t>
            </a:r>
          </a:p>
          <a:p>
            <a:endParaRPr lang="en-US" dirty="0"/>
          </a:p>
        </p:txBody>
      </p:sp>
    </p:spTree>
    <p:extLst>
      <p:ext uri="{BB962C8B-B14F-4D97-AF65-F5344CB8AC3E}">
        <p14:creationId xmlns:p14="http://schemas.microsoft.com/office/powerpoint/2010/main" val="810269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55312-BF53-6526-0830-A3CAC3560877}"/>
              </a:ext>
            </a:extLst>
          </p:cNvPr>
          <p:cNvSpPr>
            <a:spLocks noGrp="1"/>
          </p:cNvSpPr>
          <p:nvPr>
            <p:ph type="title"/>
          </p:nvPr>
        </p:nvSpPr>
        <p:spPr/>
        <p:txBody>
          <a:bodyPr/>
          <a:lstStyle/>
          <a:p>
            <a:r>
              <a:rPr lang="en-US" dirty="0"/>
              <a:t>Requirements</a:t>
            </a:r>
          </a:p>
        </p:txBody>
      </p:sp>
      <p:sp>
        <p:nvSpPr>
          <p:cNvPr id="3" name="Content Placeholder 2">
            <a:extLst>
              <a:ext uri="{FF2B5EF4-FFF2-40B4-BE49-F238E27FC236}">
                <a16:creationId xmlns:a16="http://schemas.microsoft.com/office/drawing/2014/main" id="{C6C7E5AA-8943-F748-BA29-7DDBFCEEC0C4}"/>
              </a:ext>
            </a:extLst>
          </p:cNvPr>
          <p:cNvSpPr>
            <a:spLocks noGrp="1"/>
          </p:cNvSpPr>
          <p:nvPr>
            <p:ph idx="1"/>
          </p:nvPr>
        </p:nvSpPr>
        <p:spPr/>
        <p:txBody>
          <a:bodyPr/>
          <a:lstStyle/>
          <a:p>
            <a:r>
              <a:rPr lang="en-US" dirty="0"/>
              <a:t>The requirements for a system are the descriptions of what the system should do— the services that it provides and the constraints on its operation. </a:t>
            </a:r>
          </a:p>
          <a:p>
            <a:r>
              <a:rPr lang="en-US" dirty="0"/>
              <a:t>Reflect the needs of customers for a system that serves a certain purpose such as controlling a device, placing an order, or finding information. </a:t>
            </a:r>
          </a:p>
          <a:p>
            <a:r>
              <a:rPr lang="en-US" dirty="0"/>
              <a:t>Simply a high-level, abstract statement of a service that a sys- </a:t>
            </a:r>
            <a:r>
              <a:rPr lang="en-US" dirty="0" err="1"/>
              <a:t>tem</a:t>
            </a:r>
            <a:r>
              <a:rPr lang="en-US" dirty="0"/>
              <a:t> should provide or a constraint on a system, Or</a:t>
            </a:r>
          </a:p>
          <a:p>
            <a:r>
              <a:rPr lang="en-US" dirty="0"/>
              <a:t>A detailed, formal definition of a system function </a:t>
            </a:r>
          </a:p>
          <a:p>
            <a:endParaRPr lang="en-US" dirty="0"/>
          </a:p>
          <a:p>
            <a:endParaRPr lang="en-US" dirty="0"/>
          </a:p>
          <a:p>
            <a:endParaRPr lang="en-US" dirty="0"/>
          </a:p>
        </p:txBody>
      </p:sp>
    </p:spTree>
    <p:extLst>
      <p:ext uri="{BB962C8B-B14F-4D97-AF65-F5344CB8AC3E}">
        <p14:creationId xmlns:p14="http://schemas.microsoft.com/office/powerpoint/2010/main" val="3880421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5BD36-F8AB-3118-6FB2-19E4A93D10D2}"/>
              </a:ext>
            </a:extLst>
          </p:cNvPr>
          <p:cNvSpPr>
            <a:spLocks noGrp="1"/>
          </p:cNvSpPr>
          <p:nvPr>
            <p:ph type="title"/>
          </p:nvPr>
        </p:nvSpPr>
        <p:spPr/>
        <p:txBody>
          <a:bodyPr/>
          <a:lstStyle/>
          <a:p>
            <a:r>
              <a:rPr lang="en-US" dirty="0"/>
              <a:t>User requirements</a:t>
            </a:r>
          </a:p>
        </p:txBody>
      </p:sp>
      <p:sp>
        <p:nvSpPr>
          <p:cNvPr id="3" name="Content Placeholder 2">
            <a:extLst>
              <a:ext uri="{FF2B5EF4-FFF2-40B4-BE49-F238E27FC236}">
                <a16:creationId xmlns:a16="http://schemas.microsoft.com/office/drawing/2014/main" id="{CAC1333C-3D32-9C06-CDBE-A4E38F587E8A}"/>
              </a:ext>
            </a:extLst>
          </p:cNvPr>
          <p:cNvSpPr>
            <a:spLocks noGrp="1"/>
          </p:cNvSpPr>
          <p:nvPr>
            <p:ph idx="1"/>
          </p:nvPr>
        </p:nvSpPr>
        <p:spPr/>
        <p:txBody>
          <a:bodyPr/>
          <a:lstStyle/>
          <a:p>
            <a:r>
              <a:rPr lang="en-US" dirty="0"/>
              <a:t>Statements, in a natural language plus diagrams, of what services the system is expected to provide to system users and the constraints under which it must operate. </a:t>
            </a:r>
          </a:p>
          <a:p>
            <a:r>
              <a:rPr lang="en-US" dirty="0"/>
              <a:t>Write user requirements in natural language, with simple tables, forms, and intuitive diagrams. </a:t>
            </a:r>
          </a:p>
          <a:p>
            <a:endParaRPr lang="en-US" dirty="0"/>
          </a:p>
          <a:p>
            <a:endParaRPr lang="en-US" dirty="0"/>
          </a:p>
        </p:txBody>
      </p:sp>
    </p:spTree>
    <p:extLst>
      <p:ext uri="{BB962C8B-B14F-4D97-AF65-F5344CB8AC3E}">
        <p14:creationId xmlns:p14="http://schemas.microsoft.com/office/powerpoint/2010/main" val="1464717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D43F-D520-298E-D694-0C1ACD4147E9}"/>
              </a:ext>
            </a:extLst>
          </p:cNvPr>
          <p:cNvSpPr>
            <a:spLocks noGrp="1"/>
          </p:cNvSpPr>
          <p:nvPr>
            <p:ph type="title"/>
          </p:nvPr>
        </p:nvSpPr>
        <p:spPr/>
        <p:txBody>
          <a:bodyPr/>
          <a:lstStyle/>
          <a:p>
            <a:r>
              <a:rPr lang="en-US" dirty="0"/>
              <a:t>System requirements</a:t>
            </a:r>
          </a:p>
        </p:txBody>
      </p:sp>
      <p:sp>
        <p:nvSpPr>
          <p:cNvPr id="3" name="Content Placeholder 2">
            <a:extLst>
              <a:ext uri="{FF2B5EF4-FFF2-40B4-BE49-F238E27FC236}">
                <a16:creationId xmlns:a16="http://schemas.microsoft.com/office/drawing/2014/main" id="{0364619B-77EC-8812-BA29-DC47F4C2D5A7}"/>
              </a:ext>
            </a:extLst>
          </p:cNvPr>
          <p:cNvSpPr>
            <a:spLocks noGrp="1"/>
          </p:cNvSpPr>
          <p:nvPr>
            <p:ph idx="1"/>
          </p:nvPr>
        </p:nvSpPr>
        <p:spPr/>
        <p:txBody>
          <a:bodyPr/>
          <a:lstStyle/>
          <a:p>
            <a:r>
              <a:rPr lang="en-US" dirty="0"/>
              <a:t>more detailed descriptions of the software system’s functions, services, and operational constraints. </a:t>
            </a:r>
          </a:p>
          <a:p>
            <a:r>
              <a:rPr lang="en-US" dirty="0"/>
              <a:t>The system requirements document (sometimes called a functional specification) should define exactly what is to be implemented. </a:t>
            </a:r>
          </a:p>
          <a:p>
            <a:r>
              <a:rPr lang="en-US" dirty="0"/>
              <a:t>It may be part of the contract between the system buyer and the software developers. </a:t>
            </a:r>
          </a:p>
          <a:p>
            <a:endParaRPr lang="en-US" dirty="0"/>
          </a:p>
        </p:txBody>
      </p:sp>
    </p:spTree>
    <p:extLst>
      <p:ext uri="{BB962C8B-B14F-4D97-AF65-F5344CB8AC3E}">
        <p14:creationId xmlns:p14="http://schemas.microsoft.com/office/powerpoint/2010/main" val="4136206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D2F13-691D-15C1-1AA9-6848FAAE3FE1}"/>
              </a:ext>
            </a:extLst>
          </p:cNvPr>
          <p:cNvSpPr>
            <a:spLocks noGrp="1"/>
          </p:cNvSpPr>
          <p:nvPr>
            <p:ph type="title"/>
          </p:nvPr>
        </p:nvSpPr>
        <p:spPr>
          <a:xfrm>
            <a:off x="7695729" y="455362"/>
            <a:ext cx="3378671" cy="1550419"/>
          </a:xfrm>
        </p:spPr>
        <p:txBody>
          <a:bodyPr>
            <a:normAutofit fontScale="90000"/>
          </a:bodyPr>
          <a:lstStyle/>
          <a:p>
            <a:r>
              <a:rPr lang="en-US" sz="4000"/>
              <a:t>User and system requirements</a:t>
            </a:r>
            <a:r>
              <a:rPr lang="en-US"/>
              <a:t> </a:t>
            </a:r>
            <a:br>
              <a:rPr lang="en-US"/>
            </a:br>
            <a:endParaRPr lang="en-US" dirty="0"/>
          </a:p>
        </p:txBody>
      </p:sp>
      <p:pic>
        <p:nvPicPr>
          <p:cNvPr id="7" name="Content Placeholder 6" descr="A diagram of software components&#10;&#10;Description automatically generated">
            <a:extLst>
              <a:ext uri="{FF2B5EF4-FFF2-40B4-BE49-F238E27FC236}">
                <a16:creationId xmlns:a16="http://schemas.microsoft.com/office/drawing/2014/main" id="{925A3C5D-C6D1-3EAE-534C-A39C7D20FC6C}"/>
              </a:ext>
            </a:extLst>
          </p:cNvPr>
          <p:cNvPicPr>
            <a:picLocks noGrp="1" noChangeAspect="1"/>
          </p:cNvPicPr>
          <p:nvPr>
            <p:ph idx="1"/>
          </p:nvPr>
        </p:nvPicPr>
        <p:blipFill>
          <a:blip r:embed="rId2"/>
          <a:stretch>
            <a:fillRect/>
          </a:stretch>
        </p:blipFill>
        <p:spPr>
          <a:xfrm>
            <a:off x="7696200" y="3184486"/>
            <a:ext cx="3378200" cy="1878090"/>
          </a:xfrm>
        </p:spPr>
      </p:pic>
      <p:pic>
        <p:nvPicPr>
          <p:cNvPr id="5" name="Content Placeholder 4" descr="A screenshot of a medical report&#10;&#10;Description automatically generated">
            <a:extLst>
              <a:ext uri="{FF2B5EF4-FFF2-40B4-BE49-F238E27FC236}">
                <a16:creationId xmlns:a16="http://schemas.microsoft.com/office/drawing/2014/main" id="{09912004-0D89-1FE8-53E2-D2E9C38B3AFE}"/>
              </a:ext>
            </a:extLst>
          </p:cNvPr>
          <p:cNvPicPr>
            <a:picLocks noChangeAspect="1"/>
          </p:cNvPicPr>
          <p:nvPr/>
        </p:nvPicPr>
        <p:blipFill>
          <a:blip r:embed="rId3"/>
          <a:stretch>
            <a:fillRect/>
          </a:stretch>
        </p:blipFill>
        <p:spPr>
          <a:xfrm>
            <a:off x="1701327" y="1269847"/>
            <a:ext cx="5565250" cy="4118285"/>
          </a:xfrm>
          <a:prstGeom prst="rect">
            <a:avLst/>
          </a:prstGeom>
        </p:spPr>
      </p:pic>
    </p:spTree>
    <p:extLst>
      <p:ext uri="{BB962C8B-B14F-4D97-AF65-F5344CB8AC3E}">
        <p14:creationId xmlns:p14="http://schemas.microsoft.com/office/powerpoint/2010/main" val="3118804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9770D-6CC7-C855-EDE8-F308FD72EA99}"/>
              </a:ext>
            </a:extLst>
          </p:cNvPr>
          <p:cNvSpPr>
            <a:spLocks noGrp="1"/>
          </p:cNvSpPr>
          <p:nvPr>
            <p:ph type="title"/>
          </p:nvPr>
        </p:nvSpPr>
        <p:spPr/>
        <p:txBody>
          <a:bodyPr/>
          <a:lstStyle/>
          <a:p>
            <a:r>
              <a:rPr lang="en-US" dirty="0"/>
              <a:t>Requirements Engineering (RE) </a:t>
            </a:r>
            <a:br>
              <a:rPr lang="en-US" dirty="0"/>
            </a:br>
            <a:endParaRPr lang="en-US" dirty="0"/>
          </a:p>
        </p:txBody>
      </p:sp>
      <p:sp>
        <p:nvSpPr>
          <p:cNvPr id="3" name="Content Placeholder 2">
            <a:extLst>
              <a:ext uri="{FF2B5EF4-FFF2-40B4-BE49-F238E27FC236}">
                <a16:creationId xmlns:a16="http://schemas.microsoft.com/office/drawing/2014/main" id="{894DCA23-0263-1C99-6A0C-05A5F602E170}"/>
              </a:ext>
            </a:extLst>
          </p:cNvPr>
          <p:cNvSpPr>
            <a:spLocks noGrp="1"/>
          </p:cNvSpPr>
          <p:nvPr>
            <p:ph idx="1"/>
          </p:nvPr>
        </p:nvSpPr>
        <p:spPr/>
        <p:txBody>
          <a:bodyPr/>
          <a:lstStyle/>
          <a:p>
            <a:r>
              <a:rPr lang="en-US" dirty="0"/>
              <a:t>The process of finding out, analyzing, documenting and checking these services and constraints. </a:t>
            </a:r>
          </a:p>
          <a:p>
            <a:endParaRPr lang="en-US" dirty="0"/>
          </a:p>
        </p:txBody>
      </p:sp>
    </p:spTree>
    <p:extLst>
      <p:ext uri="{BB962C8B-B14F-4D97-AF65-F5344CB8AC3E}">
        <p14:creationId xmlns:p14="http://schemas.microsoft.com/office/powerpoint/2010/main" val="6645942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C2F94-BADF-14C0-9728-37AD74C51227}"/>
              </a:ext>
            </a:extLst>
          </p:cNvPr>
          <p:cNvSpPr>
            <a:spLocks noGrp="1"/>
          </p:cNvSpPr>
          <p:nvPr>
            <p:ph type="title"/>
          </p:nvPr>
        </p:nvSpPr>
        <p:spPr/>
        <p:txBody>
          <a:bodyPr>
            <a:normAutofit fontScale="90000"/>
          </a:bodyPr>
          <a:lstStyle/>
          <a:p>
            <a:r>
              <a:rPr lang="en-US" dirty="0"/>
              <a:t>Functional and non-functional requirements </a:t>
            </a:r>
            <a:br>
              <a:rPr lang="en-US" dirty="0"/>
            </a:br>
            <a:endParaRPr lang="en-US" dirty="0"/>
          </a:p>
        </p:txBody>
      </p:sp>
      <p:sp>
        <p:nvSpPr>
          <p:cNvPr id="3" name="Content Placeholder 2">
            <a:extLst>
              <a:ext uri="{FF2B5EF4-FFF2-40B4-BE49-F238E27FC236}">
                <a16:creationId xmlns:a16="http://schemas.microsoft.com/office/drawing/2014/main" id="{959A7815-FF0F-9911-33F6-8127EA31F145}"/>
              </a:ext>
            </a:extLst>
          </p:cNvPr>
          <p:cNvSpPr>
            <a:spLocks noGrp="1"/>
          </p:cNvSpPr>
          <p:nvPr>
            <p:ph idx="1"/>
          </p:nvPr>
        </p:nvSpPr>
        <p:spPr/>
        <p:txBody>
          <a:bodyPr>
            <a:normAutofit lnSpcReduction="10000"/>
          </a:bodyPr>
          <a:lstStyle/>
          <a:p>
            <a:r>
              <a:rPr lang="en-US" dirty="0"/>
              <a:t>Functional requirements </a:t>
            </a:r>
          </a:p>
          <a:p>
            <a:pPr lvl="1"/>
            <a:r>
              <a:rPr lang="en-US" dirty="0"/>
              <a:t>Statements of services the system should provide, how the system should react to particular inputs, and how the system should behave in particular situations. </a:t>
            </a:r>
          </a:p>
          <a:p>
            <a:pPr lvl="1"/>
            <a:r>
              <a:rPr lang="en-US" dirty="0"/>
              <a:t>May also explicitly state what the system should not do. </a:t>
            </a:r>
          </a:p>
          <a:p>
            <a:r>
              <a:rPr lang="en-US" dirty="0"/>
              <a:t>Non-functional requirements </a:t>
            </a:r>
          </a:p>
          <a:p>
            <a:pPr lvl="1"/>
            <a:r>
              <a:rPr lang="en-US" dirty="0"/>
              <a:t>These are constraints on the services or functions offered by the system. They include timing constraints, constraints on the development process, and constraints imposed by standards. </a:t>
            </a:r>
          </a:p>
          <a:p>
            <a:pPr lvl="1"/>
            <a:r>
              <a:rPr lang="en-US" dirty="0"/>
              <a:t>Often apply to the system as a whole, rather than individual system features or services. </a:t>
            </a:r>
          </a:p>
          <a:p>
            <a:endParaRPr lang="en-US" dirty="0"/>
          </a:p>
          <a:p>
            <a:endParaRPr lang="en-US" dirty="0"/>
          </a:p>
          <a:p>
            <a:endParaRPr lang="en-US" dirty="0"/>
          </a:p>
        </p:txBody>
      </p:sp>
    </p:spTree>
    <p:extLst>
      <p:ext uri="{BB962C8B-B14F-4D97-AF65-F5344CB8AC3E}">
        <p14:creationId xmlns:p14="http://schemas.microsoft.com/office/powerpoint/2010/main" val="2087606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F7404-302A-8071-B311-0BABF2F5D12E}"/>
              </a:ext>
            </a:extLst>
          </p:cNvPr>
          <p:cNvSpPr>
            <a:spLocks noGrp="1"/>
          </p:cNvSpPr>
          <p:nvPr>
            <p:ph type="title"/>
          </p:nvPr>
        </p:nvSpPr>
        <p:spPr/>
        <p:txBody>
          <a:bodyPr>
            <a:normAutofit/>
          </a:bodyPr>
          <a:lstStyle/>
          <a:p>
            <a:r>
              <a:rPr lang="en-US" dirty="0"/>
              <a:t>Types of non-functional requirement</a:t>
            </a:r>
          </a:p>
        </p:txBody>
      </p:sp>
      <p:pic>
        <p:nvPicPr>
          <p:cNvPr id="5" name="Content Placeholder 4" descr="A diagram of a company&#10;&#10;Description automatically generated">
            <a:extLst>
              <a:ext uri="{FF2B5EF4-FFF2-40B4-BE49-F238E27FC236}">
                <a16:creationId xmlns:a16="http://schemas.microsoft.com/office/drawing/2014/main" id="{2710F330-BA60-7423-AA2F-E177A0717921}"/>
              </a:ext>
            </a:extLst>
          </p:cNvPr>
          <p:cNvPicPr>
            <a:picLocks noGrp="1" noChangeAspect="1"/>
          </p:cNvPicPr>
          <p:nvPr>
            <p:ph idx="1"/>
          </p:nvPr>
        </p:nvPicPr>
        <p:blipFill>
          <a:blip r:embed="rId2"/>
          <a:stretch>
            <a:fillRect/>
          </a:stretch>
        </p:blipFill>
        <p:spPr>
          <a:xfrm>
            <a:off x="2833512" y="2005781"/>
            <a:ext cx="6995085" cy="4037813"/>
          </a:xfrm>
        </p:spPr>
      </p:pic>
    </p:spTree>
    <p:extLst>
      <p:ext uri="{BB962C8B-B14F-4D97-AF65-F5344CB8AC3E}">
        <p14:creationId xmlns:p14="http://schemas.microsoft.com/office/powerpoint/2010/main" val="3122937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CFD5B-18F4-A5C3-1B95-7CAC39594BDF}"/>
              </a:ext>
            </a:extLst>
          </p:cNvPr>
          <p:cNvSpPr>
            <a:spLocks noGrp="1"/>
          </p:cNvSpPr>
          <p:nvPr>
            <p:ph type="title"/>
          </p:nvPr>
        </p:nvSpPr>
        <p:spPr/>
        <p:txBody>
          <a:bodyPr>
            <a:normAutofit fontScale="90000"/>
          </a:bodyPr>
          <a:lstStyle/>
          <a:p>
            <a:r>
              <a:rPr lang="en-US" dirty="0"/>
              <a:t>Class Activity: Identifying Functional and Non-Functional Requirements</a:t>
            </a:r>
          </a:p>
        </p:txBody>
      </p:sp>
      <p:sp>
        <p:nvSpPr>
          <p:cNvPr id="3" name="Content Placeholder 2">
            <a:extLst>
              <a:ext uri="{FF2B5EF4-FFF2-40B4-BE49-F238E27FC236}">
                <a16:creationId xmlns:a16="http://schemas.microsoft.com/office/drawing/2014/main" id="{CEAB77C9-BDF2-0278-0F71-6F573E2B997E}"/>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MY" b="1" dirty="0"/>
              <a:t>Form groups of 3-4 </a:t>
            </a:r>
            <a:r>
              <a:rPr lang="en-MY" b="1" dirty="0" err="1"/>
              <a:t>students.Select</a:t>
            </a:r>
            <a:r>
              <a:rPr lang="en-MY" b="1" dirty="0"/>
              <a:t> one of the following real-world </a:t>
            </a:r>
            <a:r>
              <a:rPr lang="en-MY" b="1" dirty="0" err="1"/>
              <a:t>systems</a:t>
            </a:r>
            <a:r>
              <a:rPr lang="en-MY" dirty="0" err="1"/>
              <a:t>:Online</a:t>
            </a:r>
            <a:r>
              <a:rPr lang="en-MY" dirty="0"/>
              <a:t> shopping platform (e.g., Amazon, Lazada)</a:t>
            </a:r>
          </a:p>
          <a:p>
            <a:pPr lvl="1"/>
            <a:r>
              <a:rPr lang="en-MY" dirty="0"/>
              <a:t>Food delivery app (e.g., Grab, </a:t>
            </a:r>
            <a:r>
              <a:rPr lang="en-MY" dirty="0" err="1"/>
              <a:t>UberEats</a:t>
            </a:r>
            <a:r>
              <a:rPr lang="en-MY" dirty="0"/>
              <a:t>)</a:t>
            </a:r>
          </a:p>
          <a:p>
            <a:pPr lvl="1"/>
            <a:r>
              <a:rPr lang="en-MY" dirty="0"/>
              <a:t>Online banking system (e.g., Maybank2u, CIMB Clicks)</a:t>
            </a:r>
          </a:p>
          <a:p>
            <a:pPr lvl="1"/>
            <a:r>
              <a:rPr lang="en-MY" dirty="0"/>
              <a:t>Ride-hailing app (e.g., Grab, Lyft)</a:t>
            </a:r>
          </a:p>
          <a:p>
            <a:pPr>
              <a:buFont typeface="Arial" panose="020B0604020202020204" pitchFamily="34" charset="0"/>
              <a:buChar char="•"/>
            </a:pPr>
            <a:r>
              <a:rPr lang="en-MY" dirty="0"/>
              <a:t>For your chosen system, </a:t>
            </a:r>
            <a:r>
              <a:rPr lang="en-MY" b="1" dirty="0"/>
              <a:t>identify</a:t>
            </a:r>
            <a:r>
              <a:rPr lang="en-MY" dirty="0"/>
              <a:t>:</a:t>
            </a:r>
          </a:p>
          <a:p>
            <a:pPr lvl="1"/>
            <a:r>
              <a:rPr lang="en-MY" b="1" dirty="0"/>
              <a:t>2 Functional requirements</a:t>
            </a:r>
            <a:r>
              <a:rPr lang="en-MY" dirty="0"/>
              <a:t>: Describe services the system should provide or how it should react in certain situations.</a:t>
            </a:r>
          </a:p>
          <a:p>
            <a:pPr lvl="1"/>
            <a:r>
              <a:rPr lang="en-MY" b="1" dirty="0"/>
              <a:t>2 Non-functional requirements</a:t>
            </a:r>
            <a:r>
              <a:rPr lang="en-MY" dirty="0"/>
              <a:t>: Describe constraints related to performance, security, usability, etc., that apply to the system.</a:t>
            </a:r>
          </a:p>
          <a:p>
            <a:r>
              <a:rPr lang="en-MY" b="1" dirty="0"/>
              <a:t>Prepare a brief 5-minute presentation</a:t>
            </a:r>
            <a:r>
              <a:rPr lang="en-MY" dirty="0"/>
              <a:t> to share your examples with the class.</a:t>
            </a:r>
            <a:endParaRPr lang="en-US" dirty="0"/>
          </a:p>
        </p:txBody>
      </p:sp>
    </p:spTree>
    <p:extLst>
      <p:ext uri="{BB962C8B-B14F-4D97-AF65-F5344CB8AC3E}">
        <p14:creationId xmlns:p14="http://schemas.microsoft.com/office/powerpoint/2010/main" val="983040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CC4E-258C-3A3B-039D-D8D8F25C7AA6}"/>
              </a:ext>
            </a:extLst>
          </p:cNvPr>
          <p:cNvSpPr>
            <a:spLocks noGrp="1"/>
          </p:cNvSpPr>
          <p:nvPr>
            <p:ph type="title"/>
          </p:nvPr>
        </p:nvSpPr>
        <p:spPr/>
        <p:txBody>
          <a:bodyPr>
            <a:normAutofit fontScale="90000"/>
          </a:bodyPr>
          <a:lstStyle/>
          <a:p>
            <a:r>
              <a:rPr lang="en-US" dirty="0"/>
              <a:t>The software requirements document</a:t>
            </a:r>
            <a:br>
              <a:rPr lang="en-US" dirty="0"/>
            </a:br>
            <a:endParaRPr lang="en-US" dirty="0"/>
          </a:p>
        </p:txBody>
      </p:sp>
      <p:sp>
        <p:nvSpPr>
          <p:cNvPr id="3" name="Content Placeholder 2">
            <a:extLst>
              <a:ext uri="{FF2B5EF4-FFF2-40B4-BE49-F238E27FC236}">
                <a16:creationId xmlns:a16="http://schemas.microsoft.com/office/drawing/2014/main" id="{C7D7749C-A64A-2AD8-CF88-7D8A1B034BDA}"/>
              </a:ext>
            </a:extLst>
          </p:cNvPr>
          <p:cNvSpPr>
            <a:spLocks noGrp="1"/>
          </p:cNvSpPr>
          <p:nvPr>
            <p:ph idx="1"/>
          </p:nvPr>
        </p:nvSpPr>
        <p:spPr/>
        <p:txBody>
          <a:bodyPr/>
          <a:lstStyle/>
          <a:p>
            <a:r>
              <a:rPr lang="en-US" dirty="0"/>
              <a:t>Sometimes called the software requirements specification or SRS</a:t>
            </a:r>
          </a:p>
          <a:p>
            <a:r>
              <a:rPr lang="en-US" dirty="0"/>
              <a:t>An official statement of what the system developers should implement. </a:t>
            </a:r>
          </a:p>
          <a:p>
            <a:r>
              <a:rPr lang="en-US" dirty="0"/>
              <a:t>It should include both the user requirements for a system and a detailed specification of the system requirements. </a:t>
            </a:r>
          </a:p>
          <a:p>
            <a:r>
              <a:rPr lang="en-US" dirty="0"/>
              <a:t> Essential when an outside contractor is developing the software system. </a:t>
            </a:r>
          </a:p>
          <a:p>
            <a:endParaRPr lang="en-US" dirty="0"/>
          </a:p>
          <a:p>
            <a:endParaRPr lang="en-US" dirty="0"/>
          </a:p>
        </p:txBody>
      </p:sp>
    </p:spTree>
    <p:extLst>
      <p:ext uri="{BB962C8B-B14F-4D97-AF65-F5344CB8AC3E}">
        <p14:creationId xmlns:p14="http://schemas.microsoft.com/office/powerpoint/2010/main" val="3643220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4" name="Rectangle 13">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5953" y="1375495"/>
            <a:ext cx="1133856"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Rectangle 17">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1146"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79E0D6D5-EAA1-4A40-D0D0-7990ED1D4F86}"/>
              </a:ext>
            </a:extLst>
          </p:cNvPr>
          <p:cNvSpPr>
            <a:spLocks noGrp="1"/>
          </p:cNvSpPr>
          <p:nvPr>
            <p:ph type="title"/>
          </p:nvPr>
        </p:nvSpPr>
        <p:spPr>
          <a:xfrm>
            <a:off x="8016858" y="1247140"/>
            <a:ext cx="3609982" cy="3450844"/>
          </a:xfrm>
        </p:spPr>
        <p:txBody>
          <a:bodyPr vert="horz" lIns="91440" tIns="45720" rIns="91440" bIns="45720" rtlCol="0" anchor="t">
            <a:normAutofit/>
          </a:bodyPr>
          <a:lstStyle/>
          <a:p>
            <a:r>
              <a:rPr lang="en-US" sz="4100"/>
              <a:t>Users of a requirements document</a:t>
            </a:r>
          </a:p>
        </p:txBody>
      </p:sp>
      <p:pic>
        <p:nvPicPr>
          <p:cNvPr id="5" name="Content Placeholder 4" descr="A diagram of a system&#10;&#10;Description automatically generated">
            <a:extLst>
              <a:ext uri="{FF2B5EF4-FFF2-40B4-BE49-F238E27FC236}">
                <a16:creationId xmlns:a16="http://schemas.microsoft.com/office/drawing/2014/main" id="{08130A05-79D4-332B-4890-D6EC175F1F8B}"/>
              </a:ext>
            </a:extLst>
          </p:cNvPr>
          <p:cNvPicPr>
            <a:picLocks noGrp="1" noChangeAspect="1"/>
          </p:cNvPicPr>
          <p:nvPr>
            <p:ph idx="1"/>
          </p:nvPr>
        </p:nvPicPr>
        <p:blipFill>
          <a:blip r:embed="rId2"/>
          <a:stretch>
            <a:fillRect/>
          </a:stretch>
        </p:blipFill>
        <p:spPr>
          <a:xfrm>
            <a:off x="1334005" y="1375494"/>
            <a:ext cx="3865875" cy="4588577"/>
          </a:xfrm>
          <a:prstGeom prst="rect">
            <a:avLst/>
          </a:prstGeom>
        </p:spPr>
      </p:pic>
    </p:spTree>
    <p:extLst>
      <p:ext uri="{BB962C8B-B14F-4D97-AF65-F5344CB8AC3E}">
        <p14:creationId xmlns:p14="http://schemas.microsoft.com/office/powerpoint/2010/main" val="47774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868C70C-E5C4-CD47-888C-FCB3373B6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8C68F39-5E8A-844C-A8FD-394F253C1E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C583CEB-AC2B-2640-94F6-5958E6BC5B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03756B-A2D9-B564-CA75-9002F9200741}"/>
              </a:ext>
            </a:extLst>
          </p:cNvPr>
          <p:cNvSpPr>
            <a:spLocks noGrp="1"/>
          </p:cNvSpPr>
          <p:nvPr>
            <p:ph type="title"/>
          </p:nvPr>
        </p:nvSpPr>
        <p:spPr>
          <a:xfrm>
            <a:off x="7695729" y="455362"/>
            <a:ext cx="3378671" cy="1550419"/>
          </a:xfrm>
        </p:spPr>
        <p:txBody>
          <a:bodyPr>
            <a:normAutofit/>
          </a:bodyPr>
          <a:lstStyle/>
          <a:p>
            <a:pPr>
              <a:lnSpc>
                <a:spcPct val="90000"/>
              </a:lnSpc>
            </a:pPr>
            <a:r>
              <a:rPr lang="en-US" sz="3100"/>
              <a:t>The structure of a requirements document </a:t>
            </a:r>
          </a:p>
        </p:txBody>
      </p:sp>
      <p:sp>
        <p:nvSpPr>
          <p:cNvPr id="9" name="Content Placeholder 8">
            <a:extLst>
              <a:ext uri="{FF2B5EF4-FFF2-40B4-BE49-F238E27FC236}">
                <a16:creationId xmlns:a16="http://schemas.microsoft.com/office/drawing/2014/main" id="{4E45FDA2-1ACA-55CD-4CB9-13C5C67A3679}"/>
              </a:ext>
            </a:extLst>
          </p:cNvPr>
          <p:cNvSpPr>
            <a:spLocks noGrp="1"/>
          </p:cNvSpPr>
          <p:nvPr>
            <p:ph idx="1"/>
          </p:nvPr>
        </p:nvSpPr>
        <p:spPr>
          <a:xfrm>
            <a:off x="7695728" y="2160016"/>
            <a:ext cx="3378672" cy="3926152"/>
          </a:xfrm>
        </p:spPr>
        <p:txBody>
          <a:bodyPr>
            <a:normAutofit/>
          </a:bodyPr>
          <a:lstStyle/>
          <a:p>
            <a:endParaRPr lang="en-US"/>
          </a:p>
        </p:txBody>
      </p:sp>
      <p:pic>
        <p:nvPicPr>
          <p:cNvPr id="5" name="Content Placeholder 4" descr="A blue and white rectangular text box&#10;&#10;Description automatically generated with medium confidence">
            <a:extLst>
              <a:ext uri="{FF2B5EF4-FFF2-40B4-BE49-F238E27FC236}">
                <a16:creationId xmlns:a16="http://schemas.microsoft.com/office/drawing/2014/main" id="{46B7EAFC-E1AE-A98B-7369-AEC860A3CD1E}"/>
              </a:ext>
            </a:extLst>
          </p:cNvPr>
          <p:cNvPicPr>
            <a:picLocks noChangeAspect="1"/>
          </p:cNvPicPr>
          <p:nvPr/>
        </p:nvPicPr>
        <p:blipFill>
          <a:blip r:embed="rId2"/>
          <a:stretch>
            <a:fillRect/>
          </a:stretch>
        </p:blipFill>
        <p:spPr>
          <a:xfrm>
            <a:off x="2058686" y="565154"/>
            <a:ext cx="4850532" cy="5527672"/>
          </a:xfrm>
          <a:prstGeom prst="rect">
            <a:avLst/>
          </a:prstGeom>
        </p:spPr>
      </p:pic>
    </p:spTree>
    <p:extLst>
      <p:ext uri="{BB962C8B-B14F-4D97-AF65-F5344CB8AC3E}">
        <p14:creationId xmlns:p14="http://schemas.microsoft.com/office/powerpoint/2010/main" val="12371919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C7842-C0CE-12EE-5057-38DC64FE43AB}"/>
              </a:ext>
            </a:extLst>
          </p:cNvPr>
          <p:cNvSpPr>
            <a:spLocks noGrp="1"/>
          </p:cNvSpPr>
          <p:nvPr>
            <p:ph type="title"/>
          </p:nvPr>
        </p:nvSpPr>
        <p:spPr/>
        <p:txBody>
          <a:bodyPr/>
          <a:lstStyle/>
          <a:p>
            <a:r>
              <a:rPr lang="en-US" dirty="0"/>
              <a:t>Requirements specification</a:t>
            </a:r>
            <a:br>
              <a:rPr lang="en-US" dirty="0"/>
            </a:br>
            <a:endParaRPr lang="en-US" dirty="0"/>
          </a:p>
        </p:txBody>
      </p:sp>
      <p:sp>
        <p:nvSpPr>
          <p:cNvPr id="3" name="Content Placeholder 2">
            <a:extLst>
              <a:ext uri="{FF2B5EF4-FFF2-40B4-BE49-F238E27FC236}">
                <a16:creationId xmlns:a16="http://schemas.microsoft.com/office/drawing/2014/main" id="{B596FB13-78D0-7CC1-4963-B671B808CF2C}"/>
              </a:ext>
            </a:extLst>
          </p:cNvPr>
          <p:cNvSpPr>
            <a:spLocks noGrp="1"/>
          </p:cNvSpPr>
          <p:nvPr>
            <p:ph idx="1"/>
          </p:nvPr>
        </p:nvSpPr>
        <p:spPr/>
        <p:txBody>
          <a:bodyPr>
            <a:normAutofit fontScale="85000" lnSpcReduction="20000"/>
          </a:bodyPr>
          <a:lstStyle/>
          <a:p>
            <a:r>
              <a:rPr lang="en-US" dirty="0"/>
              <a:t>Process of writing down the user and system requirements in a requirements document. </a:t>
            </a:r>
          </a:p>
          <a:p>
            <a:r>
              <a:rPr lang="en-US" dirty="0"/>
              <a:t>Should be clear, unambiguous, easy to understand, complete, and consistent. </a:t>
            </a:r>
          </a:p>
          <a:p>
            <a:r>
              <a:rPr lang="en-US" dirty="0"/>
              <a:t>Should not include details of the system architecture or design </a:t>
            </a:r>
          </a:p>
          <a:p>
            <a:r>
              <a:rPr lang="en-US" dirty="0"/>
              <a:t>User requirements - describe the functional and non- functional requirements so that they are understandable by system users who don’t have detailed technical knowledge  </a:t>
            </a:r>
          </a:p>
          <a:p>
            <a:r>
              <a:rPr lang="en-US" dirty="0"/>
              <a:t>System requirements  - describe the external behavior of the system and its operational constraints. </a:t>
            </a:r>
          </a:p>
          <a:p>
            <a:endParaRPr lang="en-US" dirty="0"/>
          </a:p>
          <a:p>
            <a:r>
              <a:rPr lang="en-US" dirty="0"/>
              <a:t> </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168019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1DC87-5C30-9BAB-8773-696DCBC41D8E}"/>
              </a:ext>
            </a:extLst>
          </p:cNvPr>
          <p:cNvSpPr>
            <a:spLocks noGrp="1"/>
          </p:cNvSpPr>
          <p:nvPr>
            <p:ph type="title"/>
          </p:nvPr>
        </p:nvSpPr>
        <p:spPr/>
        <p:txBody>
          <a:bodyPr>
            <a:normAutofit fontScale="90000"/>
          </a:bodyPr>
          <a:lstStyle/>
          <a:p>
            <a:r>
              <a:rPr lang="en-US" dirty="0"/>
              <a:t>Ways of writing a system requirements specification </a:t>
            </a:r>
            <a:br>
              <a:rPr lang="en-US" dirty="0"/>
            </a:br>
            <a:endParaRPr lang="en-US" dirty="0"/>
          </a:p>
        </p:txBody>
      </p:sp>
      <p:pic>
        <p:nvPicPr>
          <p:cNvPr id="5" name="Content Placeholder 4" descr="A blue and white screen with text&#10;&#10;Description automatically generated">
            <a:extLst>
              <a:ext uri="{FF2B5EF4-FFF2-40B4-BE49-F238E27FC236}">
                <a16:creationId xmlns:a16="http://schemas.microsoft.com/office/drawing/2014/main" id="{1D91F355-731B-CAFA-C3F4-285DAC6D18F4}"/>
              </a:ext>
            </a:extLst>
          </p:cNvPr>
          <p:cNvPicPr>
            <a:picLocks noGrp="1" noChangeAspect="1"/>
          </p:cNvPicPr>
          <p:nvPr>
            <p:ph idx="1"/>
          </p:nvPr>
        </p:nvPicPr>
        <p:blipFill>
          <a:blip r:embed="rId2"/>
          <a:stretch>
            <a:fillRect/>
          </a:stretch>
        </p:blipFill>
        <p:spPr>
          <a:xfrm>
            <a:off x="2823882" y="2005781"/>
            <a:ext cx="6929718" cy="4020080"/>
          </a:xfrm>
        </p:spPr>
      </p:pic>
    </p:spTree>
    <p:extLst>
      <p:ext uri="{BB962C8B-B14F-4D97-AF65-F5344CB8AC3E}">
        <p14:creationId xmlns:p14="http://schemas.microsoft.com/office/powerpoint/2010/main" val="3681310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4" name="Rectangle 13">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5953" y="1375495"/>
            <a:ext cx="1133856"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Rectangle 17">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1146"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A48621D0-29F0-3AB2-3AF5-3C45E7A7F026}"/>
              </a:ext>
            </a:extLst>
          </p:cNvPr>
          <p:cNvSpPr>
            <a:spLocks noGrp="1"/>
          </p:cNvSpPr>
          <p:nvPr>
            <p:ph type="title"/>
          </p:nvPr>
        </p:nvSpPr>
        <p:spPr>
          <a:xfrm>
            <a:off x="8073267" y="339371"/>
            <a:ext cx="3609982" cy="3450844"/>
          </a:xfrm>
        </p:spPr>
        <p:txBody>
          <a:bodyPr vert="horz" lIns="91440" tIns="45720" rIns="91440" bIns="45720" rtlCol="0" anchor="t">
            <a:normAutofit/>
          </a:bodyPr>
          <a:lstStyle/>
          <a:p>
            <a:pPr>
              <a:lnSpc>
                <a:spcPct val="90000"/>
              </a:lnSpc>
            </a:pPr>
            <a:r>
              <a:rPr lang="en-US" sz="3700" dirty="0"/>
              <a:t>A spiral view of the requirements engineering process </a:t>
            </a:r>
            <a:br>
              <a:rPr lang="en-US" sz="3700" dirty="0"/>
            </a:br>
            <a:endParaRPr lang="en-US" sz="3700" dirty="0"/>
          </a:p>
        </p:txBody>
      </p:sp>
      <p:pic>
        <p:nvPicPr>
          <p:cNvPr id="5" name="Content Placeholder 4" descr="A diagram of a system requirements&#10;&#10;Description automatically generated">
            <a:extLst>
              <a:ext uri="{FF2B5EF4-FFF2-40B4-BE49-F238E27FC236}">
                <a16:creationId xmlns:a16="http://schemas.microsoft.com/office/drawing/2014/main" id="{5FE963BD-921A-E5DB-4B25-0129A609D2BC}"/>
              </a:ext>
            </a:extLst>
          </p:cNvPr>
          <p:cNvPicPr>
            <a:picLocks noGrp="1" noChangeAspect="1"/>
          </p:cNvPicPr>
          <p:nvPr>
            <p:ph idx="1"/>
          </p:nvPr>
        </p:nvPicPr>
        <p:blipFill>
          <a:blip r:embed="rId2"/>
          <a:stretch>
            <a:fillRect/>
          </a:stretch>
        </p:blipFill>
        <p:spPr>
          <a:xfrm>
            <a:off x="781399" y="1538429"/>
            <a:ext cx="4971087" cy="4262706"/>
          </a:xfrm>
          <a:prstGeom prst="rect">
            <a:avLst/>
          </a:prstGeom>
        </p:spPr>
      </p:pic>
      <p:sp>
        <p:nvSpPr>
          <p:cNvPr id="6" name="TextBox 5">
            <a:extLst>
              <a:ext uri="{FF2B5EF4-FFF2-40B4-BE49-F238E27FC236}">
                <a16:creationId xmlns:a16="http://schemas.microsoft.com/office/drawing/2014/main" id="{48A16E6C-4457-C697-F6B3-BAFD75497118}"/>
              </a:ext>
            </a:extLst>
          </p:cNvPr>
          <p:cNvSpPr txBox="1"/>
          <p:nvPr/>
        </p:nvSpPr>
        <p:spPr>
          <a:xfrm>
            <a:off x="7682433" y="3790215"/>
            <a:ext cx="4342160" cy="2862322"/>
          </a:xfrm>
          <a:prstGeom prst="rect">
            <a:avLst/>
          </a:prstGeom>
          <a:noFill/>
        </p:spPr>
        <p:txBody>
          <a:bodyPr wrap="square" rtlCol="0">
            <a:spAutoFit/>
          </a:bodyPr>
          <a:lstStyle/>
          <a:p>
            <a:r>
              <a:rPr lang="en-MY" b="1" dirty="0"/>
              <a:t>Discussion Question:</a:t>
            </a:r>
          </a:p>
          <a:p>
            <a:pPr algn="just"/>
            <a:r>
              <a:rPr lang="en-MY" b="1" dirty="0"/>
              <a:t>In the spiral view of the requirements engineering process, requirements are gathered and refined through multiple iterations. Can you explain how this spiral model works and why it is beneficial for managing requirements in complex software projects? What are the key stages involved in each iteration?</a:t>
            </a:r>
            <a:endParaRPr lang="en-MY" dirty="0"/>
          </a:p>
        </p:txBody>
      </p:sp>
    </p:spTree>
    <p:extLst>
      <p:ext uri="{BB962C8B-B14F-4D97-AF65-F5344CB8AC3E}">
        <p14:creationId xmlns:p14="http://schemas.microsoft.com/office/powerpoint/2010/main" val="2273026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62992-A650-A8DE-DA53-EC00367C209F}"/>
              </a:ext>
            </a:extLst>
          </p:cNvPr>
          <p:cNvSpPr>
            <a:spLocks noGrp="1"/>
          </p:cNvSpPr>
          <p:nvPr>
            <p:ph type="title"/>
          </p:nvPr>
        </p:nvSpPr>
        <p:spPr/>
        <p:txBody>
          <a:bodyPr>
            <a:normAutofit fontScale="90000"/>
          </a:bodyPr>
          <a:lstStyle/>
          <a:p>
            <a:r>
              <a:rPr lang="en-US" dirty="0"/>
              <a:t>Requirements engineering processes</a:t>
            </a:r>
            <a:br>
              <a:rPr lang="en-US" dirty="0"/>
            </a:br>
            <a:endParaRPr lang="en-US" dirty="0"/>
          </a:p>
        </p:txBody>
      </p:sp>
      <p:sp>
        <p:nvSpPr>
          <p:cNvPr id="3" name="Content Placeholder 2">
            <a:extLst>
              <a:ext uri="{FF2B5EF4-FFF2-40B4-BE49-F238E27FC236}">
                <a16:creationId xmlns:a16="http://schemas.microsoft.com/office/drawing/2014/main" id="{C7297334-6C87-F62F-D3DF-D317CF2AF370}"/>
              </a:ext>
            </a:extLst>
          </p:cNvPr>
          <p:cNvSpPr>
            <a:spLocks noGrp="1"/>
          </p:cNvSpPr>
          <p:nvPr>
            <p:ph idx="1"/>
          </p:nvPr>
        </p:nvSpPr>
        <p:spPr/>
        <p:txBody>
          <a:bodyPr>
            <a:normAutofit/>
          </a:bodyPr>
          <a:lstStyle/>
          <a:p>
            <a:r>
              <a:rPr lang="en-US" dirty="0"/>
              <a:t>Include four high-level activities. </a:t>
            </a:r>
          </a:p>
          <a:p>
            <a:r>
              <a:rPr lang="en-US" dirty="0"/>
              <a:t>Feasibility study - Focus on assessing if the system is useful to the business</a:t>
            </a:r>
          </a:p>
          <a:p>
            <a:r>
              <a:rPr lang="en-US" dirty="0"/>
              <a:t>elicitation and analysis - Discovering requirements</a:t>
            </a:r>
          </a:p>
          <a:p>
            <a:r>
              <a:rPr lang="en-US" dirty="0"/>
              <a:t>Specification - Converting these requirements into some standard form </a:t>
            </a:r>
          </a:p>
          <a:p>
            <a:r>
              <a:rPr lang="en-US" dirty="0"/>
              <a:t>Validation - Checking that the requirements define the system that the customer wants </a:t>
            </a:r>
          </a:p>
          <a:p>
            <a:endParaRPr lang="en-US" dirty="0"/>
          </a:p>
        </p:txBody>
      </p:sp>
    </p:spTree>
    <p:extLst>
      <p:ext uri="{BB962C8B-B14F-4D97-AF65-F5344CB8AC3E}">
        <p14:creationId xmlns:p14="http://schemas.microsoft.com/office/powerpoint/2010/main" val="1696184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8CCF7-EA21-A6EC-FFC6-C1788EC84E07}"/>
              </a:ext>
            </a:extLst>
          </p:cNvPr>
          <p:cNvSpPr>
            <a:spLocks noGrp="1"/>
          </p:cNvSpPr>
          <p:nvPr>
            <p:ph type="title"/>
          </p:nvPr>
        </p:nvSpPr>
        <p:spPr/>
        <p:txBody>
          <a:bodyPr>
            <a:normAutofit/>
          </a:bodyPr>
          <a:lstStyle/>
          <a:p>
            <a:r>
              <a:rPr lang="en-US" dirty="0"/>
              <a:t>Requirements elicitation and analysis</a:t>
            </a:r>
          </a:p>
        </p:txBody>
      </p:sp>
      <p:sp>
        <p:nvSpPr>
          <p:cNvPr id="3" name="Content Placeholder 2">
            <a:extLst>
              <a:ext uri="{FF2B5EF4-FFF2-40B4-BE49-F238E27FC236}">
                <a16:creationId xmlns:a16="http://schemas.microsoft.com/office/drawing/2014/main" id="{1F84DCE8-59BC-AB4E-D308-4DBE58EB7C3B}"/>
              </a:ext>
            </a:extLst>
          </p:cNvPr>
          <p:cNvSpPr>
            <a:spLocks noGrp="1"/>
          </p:cNvSpPr>
          <p:nvPr>
            <p:ph idx="1"/>
          </p:nvPr>
        </p:nvSpPr>
        <p:spPr/>
        <p:txBody>
          <a:bodyPr/>
          <a:lstStyle/>
          <a:p>
            <a:r>
              <a:rPr lang="en-US" dirty="0"/>
              <a:t>Software engineers work with customers and system end-users to find out about the application domain, what services the system should provide, the required performance of the system, hardware constraints, and so on. </a:t>
            </a:r>
          </a:p>
          <a:p>
            <a:r>
              <a:rPr lang="en-US" dirty="0"/>
              <a:t>The process activities are: </a:t>
            </a:r>
          </a:p>
          <a:p>
            <a:pPr lvl="1"/>
            <a:r>
              <a:rPr lang="en-US" dirty="0"/>
              <a:t>Requirements discovery </a:t>
            </a:r>
          </a:p>
          <a:p>
            <a:pPr lvl="1"/>
            <a:r>
              <a:rPr lang="en-US" dirty="0"/>
              <a:t>Requirements classification and organization </a:t>
            </a:r>
          </a:p>
          <a:p>
            <a:pPr lvl="1"/>
            <a:r>
              <a:rPr lang="en-US" dirty="0"/>
              <a:t>Requirements prioritization and negotiation </a:t>
            </a:r>
          </a:p>
          <a:p>
            <a:pPr lvl="1"/>
            <a:r>
              <a:rPr lang="en-US" dirty="0"/>
              <a:t>Requirements specification </a:t>
            </a:r>
          </a:p>
          <a:p>
            <a:endParaRPr lang="en-US" dirty="0"/>
          </a:p>
          <a:p>
            <a:endParaRPr lang="en-US" dirty="0"/>
          </a:p>
          <a:p>
            <a:endParaRPr lang="en-US" dirty="0"/>
          </a:p>
        </p:txBody>
      </p:sp>
    </p:spTree>
    <p:extLst>
      <p:ext uri="{BB962C8B-B14F-4D97-AF65-F5344CB8AC3E}">
        <p14:creationId xmlns:p14="http://schemas.microsoft.com/office/powerpoint/2010/main" val="1778448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4" name="Rectangle 13">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5953" y="1375495"/>
            <a:ext cx="1133856"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8" name="Rectangle 17">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51146" y="1"/>
            <a:ext cx="566928"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B577FD2D-6714-8D2D-121F-77845B96E5F2}"/>
              </a:ext>
            </a:extLst>
          </p:cNvPr>
          <p:cNvSpPr>
            <a:spLocks noGrp="1"/>
          </p:cNvSpPr>
          <p:nvPr>
            <p:ph type="title"/>
          </p:nvPr>
        </p:nvSpPr>
        <p:spPr>
          <a:xfrm>
            <a:off x="8016858" y="1247140"/>
            <a:ext cx="3609982" cy="3450844"/>
          </a:xfrm>
        </p:spPr>
        <p:txBody>
          <a:bodyPr vert="horz" lIns="91440" tIns="45720" rIns="91440" bIns="45720" rtlCol="0" anchor="t">
            <a:normAutofit/>
          </a:bodyPr>
          <a:lstStyle/>
          <a:p>
            <a:r>
              <a:rPr lang="en-US" sz="4100"/>
              <a:t>The requirements elicitation and analysis process</a:t>
            </a:r>
          </a:p>
        </p:txBody>
      </p:sp>
      <p:pic>
        <p:nvPicPr>
          <p:cNvPr id="5" name="Content Placeholder 4" descr="A diagram of a process&#10;&#10;Description automatically generated">
            <a:extLst>
              <a:ext uri="{FF2B5EF4-FFF2-40B4-BE49-F238E27FC236}">
                <a16:creationId xmlns:a16="http://schemas.microsoft.com/office/drawing/2014/main" id="{001ABF3F-F32E-A282-167C-AB284826EA21}"/>
              </a:ext>
            </a:extLst>
          </p:cNvPr>
          <p:cNvPicPr>
            <a:picLocks noGrp="1" noChangeAspect="1"/>
          </p:cNvPicPr>
          <p:nvPr>
            <p:ph idx="1"/>
          </p:nvPr>
        </p:nvPicPr>
        <p:blipFill>
          <a:blip r:embed="rId2"/>
          <a:stretch>
            <a:fillRect/>
          </a:stretch>
        </p:blipFill>
        <p:spPr>
          <a:xfrm>
            <a:off x="781399" y="1936116"/>
            <a:ext cx="4971087" cy="3467332"/>
          </a:xfrm>
          <a:prstGeom prst="rect">
            <a:avLst/>
          </a:prstGeom>
        </p:spPr>
      </p:pic>
      <p:sp>
        <p:nvSpPr>
          <p:cNvPr id="6" name="Rectangle 5">
            <a:extLst>
              <a:ext uri="{FF2B5EF4-FFF2-40B4-BE49-F238E27FC236}">
                <a16:creationId xmlns:a16="http://schemas.microsoft.com/office/drawing/2014/main" id="{4655F4FF-5495-D2B4-9182-8A0C938B26D9}"/>
              </a:ext>
            </a:extLst>
          </p:cNvPr>
          <p:cNvSpPr/>
          <p:nvPr/>
        </p:nvSpPr>
        <p:spPr>
          <a:xfrm>
            <a:off x="780196" y="5403448"/>
            <a:ext cx="4835562" cy="523220"/>
          </a:xfrm>
          <a:prstGeom prst="rect">
            <a:avLst/>
          </a:prstGeom>
          <a:noFill/>
        </p:spPr>
        <p:txBody>
          <a:bodyPr wrap="square" lIns="91440" tIns="45720" rIns="91440" bIns="45720">
            <a:spAutoFit/>
          </a:bodyPr>
          <a:lstStyle/>
          <a:p>
            <a:pPr algn="ctr"/>
            <a:r>
              <a:rPr lang="en-GB" sz="2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Iterative process</a:t>
            </a:r>
          </a:p>
        </p:txBody>
      </p:sp>
    </p:spTree>
    <p:extLst>
      <p:ext uri="{BB962C8B-B14F-4D97-AF65-F5344CB8AC3E}">
        <p14:creationId xmlns:p14="http://schemas.microsoft.com/office/powerpoint/2010/main" val="9861770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2AFCC-8987-D841-C947-7F6E1ACA742C}"/>
              </a:ext>
            </a:extLst>
          </p:cNvPr>
          <p:cNvSpPr>
            <a:spLocks noGrp="1"/>
          </p:cNvSpPr>
          <p:nvPr>
            <p:ph type="title"/>
          </p:nvPr>
        </p:nvSpPr>
        <p:spPr/>
        <p:txBody>
          <a:bodyPr/>
          <a:lstStyle/>
          <a:p>
            <a:r>
              <a:rPr lang="en-US" dirty="0"/>
              <a:t>Techniques for Requirements Discovery</a:t>
            </a:r>
          </a:p>
        </p:txBody>
      </p:sp>
      <p:sp>
        <p:nvSpPr>
          <p:cNvPr id="3" name="Content Placeholder 2">
            <a:extLst>
              <a:ext uri="{FF2B5EF4-FFF2-40B4-BE49-F238E27FC236}">
                <a16:creationId xmlns:a16="http://schemas.microsoft.com/office/drawing/2014/main" id="{0FE7E6D2-68BD-4E33-4C75-9A43932F73F0}"/>
              </a:ext>
            </a:extLst>
          </p:cNvPr>
          <p:cNvSpPr>
            <a:spLocks noGrp="1"/>
          </p:cNvSpPr>
          <p:nvPr>
            <p:ph idx="1"/>
          </p:nvPr>
        </p:nvSpPr>
        <p:spPr/>
        <p:txBody>
          <a:bodyPr/>
          <a:lstStyle/>
          <a:p>
            <a:r>
              <a:rPr lang="en-US" dirty="0"/>
              <a:t>Interviews </a:t>
            </a:r>
          </a:p>
          <a:p>
            <a:r>
              <a:rPr lang="en-US" dirty="0"/>
              <a:t>Scenarios  - starts with an outline of the interaction. During the elicitation process, details are added to this to create a complete description of that interaction. </a:t>
            </a:r>
          </a:p>
          <a:p>
            <a:r>
              <a:rPr lang="en-US" dirty="0"/>
              <a:t>Use cases - a fundamental feature of the unified modeling language </a:t>
            </a:r>
          </a:p>
          <a:p>
            <a:r>
              <a:rPr lang="en-US" dirty="0"/>
              <a:t>Ethnography - an observational technique that can be used to understand operational processes and help derive support requirements for these processes. </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557161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1" name="Rectangle 20">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22" name="Rectangle 21">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21C8291-E3D5-4240-8FF4-E5213CBCC4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4" name="Rectangle 23">
            <a:extLst>
              <a:ext uri="{FF2B5EF4-FFF2-40B4-BE49-F238E27FC236}">
                <a16:creationId xmlns:a16="http://schemas.microsoft.com/office/drawing/2014/main" id="{08B44AFE-C181-7047-8CC9-CA00BD385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8E115E5D-8A3D-C05F-EDF8-BBEB657C4A37}"/>
              </a:ext>
            </a:extLst>
          </p:cNvPr>
          <p:cNvSpPr>
            <a:spLocks noGrp="1"/>
          </p:cNvSpPr>
          <p:nvPr>
            <p:ph type="title"/>
          </p:nvPr>
        </p:nvSpPr>
        <p:spPr>
          <a:xfrm>
            <a:off x="3229057" y="4320541"/>
            <a:ext cx="8393008" cy="1179508"/>
          </a:xfrm>
        </p:spPr>
        <p:txBody>
          <a:bodyPr vert="horz" lIns="91440" tIns="45720" rIns="91440" bIns="45720" rtlCol="0" anchor="b">
            <a:normAutofit/>
          </a:bodyPr>
          <a:lstStyle/>
          <a:p>
            <a:pPr>
              <a:lnSpc>
                <a:spcPct val="90000"/>
              </a:lnSpc>
            </a:pPr>
            <a:r>
              <a:rPr lang="en-US" sz="3800"/>
              <a:t>Ethnography and prototyping for requirements analysis</a:t>
            </a:r>
          </a:p>
        </p:txBody>
      </p:sp>
      <p:pic>
        <p:nvPicPr>
          <p:cNvPr id="5" name="Content Placeholder 4" descr="A diagram of a system&#10;&#10;Description automatically generated">
            <a:extLst>
              <a:ext uri="{FF2B5EF4-FFF2-40B4-BE49-F238E27FC236}">
                <a16:creationId xmlns:a16="http://schemas.microsoft.com/office/drawing/2014/main" id="{28562821-0148-32E8-B6DC-E8885386EA9A}"/>
              </a:ext>
            </a:extLst>
          </p:cNvPr>
          <p:cNvPicPr>
            <a:picLocks noGrp="1" noChangeAspect="1"/>
          </p:cNvPicPr>
          <p:nvPr>
            <p:ph idx="1"/>
          </p:nvPr>
        </p:nvPicPr>
        <p:blipFill>
          <a:blip r:embed="rId2"/>
          <a:stretch>
            <a:fillRect/>
          </a:stretch>
        </p:blipFill>
        <p:spPr>
          <a:xfrm>
            <a:off x="3229058" y="1372970"/>
            <a:ext cx="8200942" cy="2726811"/>
          </a:xfrm>
          <a:prstGeom prst="rect">
            <a:avLst/>
          </a:prstGeom>
        </p:spPr>
      </p:pic>
    </p:spTree>
    <p:extLst>
      <p:ext uri="{BB962C8B-B14F-4D97-AF65-F5344CB8AC3E}">
        <p14:creationId xmlns:p14="http://schemas.microsoft.com/office/powerpoint/2010/main" val="1222386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1399-E34B-D0BC-A898-E41E52E88201}"/>
              </a:ext>
            </a:extLst>
          </p:cNvPr>
          <p:cNvSpPr>
            <a:spLocks noGrp="1"/>
          </p:cNvSpPr>
          <p:nvPr>
            <p:ph type="title"/>
          </p:nvPr>
        </p:nvSpPr>
        <p:spPr/>
        <p:txBody>
          <a:bodyPr>
            <a:noAutofit/>
          </a:bodyPr>
          <a:lstStyle/>
          <a:p>
            <a:pPr algn="ctr"/>
            <a:r>
              <a:rPr lang="en-US" sz="3200" dirty="0"/>
              <a:t>Eliciting and understanding requirements from system stakeholders is a difficult process for several reasons</a:t>
            </a:r>
          </a:p>
        </p:txBody>
      </p:sp>
      <p:sp>
        <p:nvSpPr>
          <p:cNvPr id="3" name="Content Placeholder 2">
            <a:extLst>
              <a:ext uri="{FF2B5EF4-FFF2-40B4-BE49-F238E27FC236}">
                <a16:creationId xmlns:a16="http://schemas.microsoft.com/office/drawing/2014/main" id="{5EE6343A-1538-6641-31A5-3D2C5006322F}"/>
              </a:ext>
            </a:extLst>
          </p:cNvPr>
          <p:cNvSpPr>
            <a:spLocks noGrp="1"/>
          </p:cNvSpPr>
          <p:nvPr>
            <p:ph idx="1"/>
          </p:nvPr>
        </p:nvSpPr>
        <p:spPr/>
        <p:txBody>
          <a:bodyPr>
            <a:normAutofit fontScale="70000" lnSpcReduction="20000"/>
          </a:bodyPr>
          <a:lstStyle/>
          <a:p>
            <a:r>
              <a:rPr lang="en-US" dirty="0"/>
              <a:t>Stakeholders often don’t know what they want from a computer system except in the most general terms; they may find it difficult to articulate what they want the system to do; they may make unrealistic demands because they don’t know what is and isn’t feasible. </a:t>
            </a:r>
          </a:p>
          <a:p>
            <a:r>
              <a:rPr lang="en-US" dirty="0"/>
              <a:t>Stakeholders in a system naturally express requirements in their own terms and with implicit knowledge of their own work. Requirements engineers, without experience in the customer’s domain, may not understand these requirements. </a:t>
            </a:r>
          </a:p>
          <a:p>
            <a:r>
              <a:rPr lang="en-US" dirty="0"/>
              <a:t>Different stakeholders have different requirements and they may express these in different ways. Requirements engineers have to discover all potential sources of requirements and discover commonalities and conflict. </a:t>
            </a:r>
          </a:p>
          <a:p>
            <a:r>
              <a:rPr lang="en-US" dirty="0"/>
              <a:t>Political factors may influence the requirements of a system. Managers may demand specific system requirements because these will allow them to increase their influence in the organization. </a:t>
            </a:r>
          </a:p>
          <a:p>
            <a:r>
              <a:rPr lang="en-US" dirty="0"/>
              <a:t>The economic and business environment in which the analysis takes place is dynamic. It inevitably changes during the analysis process. The importance of particular requirements may change. New requirements may emerge from new stakeholders who were not originally consulted. </a:t>
            </a:r>
          </a:p>
          <a:p>
            <a:endParaRPr lang="en-US" dirty="0"/>
          </a:p>
        </p:txBody>
      </p:sp>
    </p:spTree>
    <p:extLst>
      <p:ext uri="{BB962C8B-B14F-4D97-AF65-F5344CB8AC3E}">
        <p14:creationId xmlns:p14="http://schemas.microsoft.com/office/powerpoint/2010/main" val="1495692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BE39-22C5-D7F9-0BAB-7DC4E3FFB2F4}"/>
              </a:ext>
            </a:extLst>
          </p:cNvPr>
          <p:cNvSpPr>
            <a:spLocks noGrp="1"/>
          </p:cNvSpPr>
          <p:nvPr>
            <p:ph type="title"/>
          </p:nvPr>
        </p:nvSpPr>
        <p:spPr/>
        <p:txBody>
          <a:bodyPr/>
          <a:lstStyle/>
          <a:p>
            <a:r>
              <a:rPr lang="en-US" dirty="0"/>
              <a:t>Requirements validation</a:t>
            </a:r>
          </a:p>
        </p:txBody>
      </p:sp>
      <p:sp>
        <p:nvSpPr>
          <p:cNvPr id="3" name="Content Placeholder 2">
            <a:extLst>
              <a:ext uri="{FF2B5EF4-FFF2-40B4-BE49-F238E27FC236}">
                <a16:creationId xmlns:a16="http://schemas.microsoft.com/office/drawing/2014/main" id="{5173BCC7-6574-9407-663E-E2D55F6A24C4}"/>
              </a:ext>
            </a:extLst>
          </p:cNvPr>
          <p:cNvSpPr>
            <a:spLocks noGrp="1"/>
          </p:cNvSpPr>
          <p:nvPr>
            <p:ph idx="1"/>
          </p:nvPr>
        </p:nvSpPr>
        <p:spPr/>
        <p:txBody>
          <a:bodyPr/>
          <a:lstStyle/>
          <a:p>
            <a:r>
              <a:rPr lang="en-US" dirty="0"/>
              <a:t>Process of checking that requirements actually define the system that the customer really wants </a:t>
            </a:r>
          </a:p>
          <a:p>
            <a:r>
              <a:rPr lang="en-US" dirty="0"/>
              <a:t>It is concerned with finding problems with the requirements. </a:t>
            </a:r>
          </a:p>
          <a:p>
            <a:r>
              <a:rPr lang="en-US" dirty="0"/>
              <a:t>It is important because errors in a requirements document can lead to extensive rework costs when these problems are discovered during development or after the system is in service </a:t>
            </a:r>
          </a:p>
          <a:p>
            <a:endParaRPr lang="en-US" dirty="0"/>
          </a:p>
        </p:txBody>
      </p:sp>
      <p:sp>
        <p:nvSpPr>
          <p:cNvPr id="4" name="Oval Callout 3">
            <a:extLst>
              <a:ext uri="{FF2B5EF4-FFF2-40B4-BE49-F238E27FC236}">
                <a16:creationId xmlns:a16="http://schemas.microsoft.com/office/drawing/2014/main" id="{7AD9D83D-AC1B-1A47-7855-A19A8AB67D50}"/>
              </a:ext>
            </a:extLst>
          </p:cNvPr>
          <p:cNvSpPr/>
          <p:nvPr/>
        </p:nvSpPr>
        <p:spPr>
          <a:xfrm>
            <a:off x="7551883" y="4614150"/>
            <a:ext cx="2429691" cy="1788488"/>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200" b="1" dirty="0">
                <a:solidFill>
                  <a:schemeClr val="bg2"/>
                </a:solidFill>
              </a:rPr>
              <a:t>Has anyone experienced a situation where problems with the requirements were discovered during development or after the system was in service? </a:t>
            </a:r>
            <a:endParaRPr lang="en-US" sz="1200" b="1" dirty="0">
              <a:solidFill>
                <a:schemeClr val="bg2"/>
              </a:solidFill>
            </a:endParaRPr>
          </a:p>
        </p:txBody>
      </p:sp>
      <p:sp>
        <p:nvSpPr>
          <p:cNvPr id="5" name="Oval Callout 4">
            <a:extLst>
              <a:ext uri="{FF2B5EF4-FFF2-40B4-BE49-F238E27FC236}">
                <a16:creationId xmlns:a16="http://schemas.microsoft.com/office/drawing/2014/main" id="{768098DF-33B8-EAC6-9871-F1CEA9AD336E}"/>
              </a:ext>
            </a:extLst>
          </p:cNvPr>
          <p:cNvSpPr/>
          <p:nvPr/>
        </p:nvSpPr>
        <p:spPr>
          <a:xfrm rot="846470">
            <a:off x="9580980" y="4800368"/>
            <a:ext cx="2429691" cy="1788488"/>
          </a:xfrm>
          <a:prstGeom prst="wedgeEllipseCallou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MY" sz="1200" b="1" dirty="0">
                <a:solidFill>
                  <a:schemeClr val="bg2"/>
                </a:solidFill>
              </a:rPr>
              <a:t>How did these issues affect the project, and what were the consequences in terms of time and cost?</a:t>
            </a:r>
            <a:endParaRPr lang="en-US" sz="1200" b="1" dirty="0">
              <a:solidFill>
                <a:schemeClr val="bg2"/>
              </a:solidFill>
            </a:endParaRPr>
          </a:p>
        </p:txBody>
      </p:sp>
      <p:sp>
        <p:nvSpPr>
          <p:cNvPr id="7" name="Rectangle 6">
            <a:extLst>
              <a:ext uri="{FF2B5EF4-FFF2-40B4-BE49-F238E27FC236}">
                <a16:creationId xmlns:a16="http://schemas.microsoft.com/office/drawing/2014/main" id="{0950FE4D-E135-AC20-A17F-1462136B641A}"/>
              </a:ext>
            </a:extLst>
          </p:cNvPr>
          <p:cNvSpPr/>
          <p:nvPr/>
        </p:nvSpPr>
        <p:spPr>
          <a:xfrm rot="19732132">
            <a:off x="6902214" y="5736572"/>
            <a:ext cx="989373" cy="1015663"/>
          </a:xfrm>
          <a:prstGeom prst="rect">
            <a:avLst/>
          </a:prstGeom>
          <a:noFill/>
        </p:spPr>
        <p:txBody>
          <a:bodyPr wrap="none" lIns="91440" tIns="45720" rIns="91440" bIns="45720">
            <a:spAutoFit/>
          </a:bodyPr>
          <a:lstStyle/>
          <a:p>
            <a:pPr algn="ctr"/>
            <a:r>
              <a:rPr lang="en-GB" sz="6000" b="0" cap="none" spc="0" dirty="0">
                <a:ln w="0"/>
                <a:solidFill>
                  <a:srgbClr val="FF0000"/>
                </a:solidFill>
                <a:effectLst>
                  <a:outerShdw blurRad="38100" dist="19050" dir="2700000" algn="tl" rotWithShape="0">
                    <a:schemeClr val="dk1">
                      <a:alpha val="40000"/>
                    </a:schemeClr>
                  </a:outerShdw>
                </a:effectLst>
                <a:latin typeface="Comic Sans MS" panose="030F0902030302020204" pitchFamily="66" charset="0"/>
                <a:cs typeface="Phosphate Inline" panose="02000506050000020004" pitchFamily="2" charset="77"/>
              </a:rPr>
              <a:t>??</a:t>
            </a:r>
          </a:p>
        </p:txBody>
      </p:sp>
      <p:sp>
        <p:nvSpPr>
          <p:cNvPr id="8" name="Rectangle 7">
            <a:extLst>
              <a:ext uri="{FF2B5EF4-FFF2-40B4-BE49-F238E27FC236}">
                <a16:creationId xmlns:a16="http://schemas.microsoft.com/office/drawing/2014/main" id="{4D4AA639-9F01-4FE3-0220-9E05487C9EB8}"/>
              </a:ext>
            </a:extLst>
          </p:cNvPr>
          <p:cNvSpPr/>
          <p:nvPr/>
        </p:nvSpPr>
        <p:spPr>
          <a:xfrm rot="1212810">
            <a:off x="10560370" y="4106318"/>
            <a:ext cx="989373" cy="1015663"/>
          </a:xfrm>
          <a:prstGeom prst="rect">
            <a:avLst/>
          </a:prstGeom>
          <a:noFill/>
        </p:spPr>
        <p:txBody>
          <a:bodyPr wrap="none" lIns="91440" tIns="45720" rIns="91440" bIns="45720">
            <a:spAutoFit/>
          </a:bodyPr>
          <a:lstStyle/>
          <a:p>
            <a:pPr algn="ctr"/>
            <a:r>
              <a:rPr lang="en-GB" sz="6000" b="0" cap="none" spc="0" dirty="0">
                <a:ln w="0"/>
                <a:solidFill>
                  <a:srgbClr val="FF0000"/>
                </a:solidFill>
                <a:effectLst>
                  <a:outerShdw blurRad="38100" dist="19050" dir="2700000" algn="tl" rotWithShape="0">
                    <a:schemeClr val="dk1">
                      <a:alpha val="40000"/>
                    </a:schemeClr>
                  </a:outerShdw>
                </a:effectLst>
                <a:latin typeface="Comic Sans MS" panose="030F0902030302020204" pitchFamily="66" charset="0"/>
                <a:cs typeface="Phosphate Inline" panose="02000506050000020004" pitchFamily="2" charset="77"/>
              </a:rPr>
              <a:t>??</a:t>
            </a:r>
          </a:p>
        </p:txBody>
      </p:sp>
    </p:spTree>
    <p:extLst>
      <p:ext uri="{BB962C8B-B14F-4D97-AF65-F5344CB8AC3E}">
        <p14:creationId xmlns:p14="http://schemas.microsoft.com/office/powerpoint/2010/main" val="32635575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41A6F-89F5-F594-10EC-41CAA691803A}"/>
              </a:ext>
            </a:extLst>
          </p:cNvPr>
          <p:cNvSpPr>
            <a:spLocks noGrp="1"/>
          </p:cNvSpPr>
          <p:nvPr>
            <p:ph type="title"/>
          </p:nvPr>
        </p:nvSpPr>
        <p:spPr/>
        <p:txBody>
          <a:bodyPr/>
          <a:lstStyle/>
          <a:p>
            <a:r>
              <a:rPr lang="en-US" dirty="0"/>
              <a:t>Different types of checks</a:t>
            </a:r>
          </a:p>
        </p:txBody>
      </p:sp>
      <p:sp>
        <p:nvSpPr>
          <p:cNvPr id="3" name="Content Placeholder 2">
            <a:extLst>
              <a:ext uri="{FF2B5EF4-FFF2-40B4-BE49-F238E27FC236}">
                <a16:creationId xmlns:a16="http://schemas.microsoft.com/office/drawing/2014/main" id="{2D16A525-18C0-9A7B-DE9E-0AA89960A904}"/>
              </a:ext>
            </a:extLst>
          </p:cNvPr>
          <p:cNvSpPr>
            <a:spLocks noGrp="1"/>
          </p:cNvSpPr>
          <p:nvPr>
            <p:ph idx="1"/>
          </p:nvPr>
        </p:nvSpPr>
        <p:spPr/>
        <p:txBody>
          <a:bodyPr>
            <a:normAutofit fontScale="77500" lnSpcReduction="20000"/>
          </a:bodyPr>
          <a:lstStyle/>
          <a:p>
            <a:r>
              <a:rPr lang="en-US" dirty="0"/>
              <a:t>Validity checks - Further thought and analysis may identify additional or different functions that are required. Systems have diverse stakeholders with different needs. </a:t>
            </a:r>
          </a:p>
          <a:p>
            <a:r>
              <a:rPr lang="en-US" dirty="0"/>
              <a:t>Consistency checks - Requirements in the document should not conflict. There should not be contradictory constraints or different descriptions of the same system function. </a:t>
            </a:r>
          </a:p>
          <a:p>
            <a:r>
              <a:rPr lang="en-US" dirty="0"/>
              <a:t>Completeness checks - The requirements document should include requirements that define all functions and the constraints intended by the system user. </a:t>
            </a:r>
          </a:p>
          <a:p>
            <a:r>
              <a:rPr lang="en-US" dirty="0"/>
              <a:t>Realism checks - Using knowledge of existing technology, the requirements should be checked to ensure that they can actually be implemented. </a:t>
            </a:r>
          </a:p>
          <a:p>
            <a:r>
              <a:rPr lang="en-US" dirty="0"/>
              <a:t>Verifiability - To reduce the potential for dispute between customer and contractor, system requirements should always be written so that they are verifiable. Write a set of tests that can demonstrate that the delivered system meets each specified requirement. </a:t>
            </a:r>
          </a:p>
          <a:p>
            <a:endParaRPr lang="en-US" dirty="0"/>
          </a:p>
        </p:txBody>
      </p:sp>
    </p:spTree>
    <p:extLst>
      <p:ext uri="{BB962C8B-B14F-4D97-AF65-F5344CB8AC3E}">
        <p14:creationId xmlns:p14="http://schemas.microsoft.com/office/powerpoint/2010/main" val="398229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B3B3-C0AB-BBD3-AD1F-A859C7F22916}"/>
              </a:ext>
            </a:extLst>
          </p:cNvPr>
          <p:cNvSpPr>
            <a:spLocks noGrp="1"/>
          </p:cNvSpPr>
          <p:nvPr>
            <p:ph type="title"/>
          </p:nvPr>
        </p:nvSpPr>
        <p:spPr/>
        <p:txBody>
          <a:bodyPr>
            <a:normAutofit/>
          </a:bodyPr>
          <a:lstStyle/>
          <a:p>
            <a:r>
              <a:rPr lang="en-US" dirty="0"/>
              <a:t>Requirements Validation Techniques </a:t>
            </a:r>
          </a:p>
        </p:txBody>
      </p:sp>
      <p:sp>
        <p:nvSpPr>
          <p:cNvPr id="3" name="Content Placeholder 2">
            <a:extLst>
              <a:ext uri="{FF2B5EF4-FFF2-40B4-BE49-F238E27FC236}">
                <a16:creationId xmlns:a16="http://schemas.microsoft.com/office/drawing/2014/main" id="{B22BDDB3-42C5-74E5-D377-06E88FE887DB}"/>
              </a:ext>
            </a:extLst>
          </p:cNvPr>
          <p:cNvSpPr>
            <a:spLocks noGrp="1"/>
          </p:cNvSpPr>
          <p:nvPr>
            <p:ph idx="1"/>
          </p:nvPr>
        </p:nvSpPr>
        <p:spPr/>
        <p:txBody>
          <a:bodyPr>
            <a:normAutofit fontScale="92500"/>
          </a:bodyPr>
          <a:lstStyle/>
          <a:p>
            <a:r>
              <a:rPr lang="en-US" dirty="0"/>
              <a:t>Requirements reviews - The requirements are analyzed systematically by a team of reviewers who check for errors and inconsistencies. </a:t>
            </a:r>
          </a:p>
          <a:p>
            <a:r>
              <a:rPr lang="en-US" dirty="0"/>
              <a:t>Prototyping - In this approach to validation, an executable model of the system in question is demonstrated to end-users and customers. They can experiment with this model to see if it meets their real needs. </a:t>
            </a:r>
          </a:p>
          <a:p>
            <a:r>
              <a:rPr lang="en-US" dirty="0"/>
              <a:t>Test-case generation - Requirements should be testable. If the tests for the requirements are devised as part of the validation process, this often reveals requirements problems. If a test is difficult or impossible to design, this usually means that the requirements will be difficult to implement and should be reconsidered. </a:t>
            </a:r>
          </a:p>
        </p:txBody>
      </p:sp>
    </p:spTree>
    <p:extLst>
      <p:ext uri="{BB962C8B-B14F-4D97-AF65-F5344CB8AC3E}">
        <p14:creationId xmlns:p14="http://schemas.microsoft.com/office/powerpoint/2010/main" val="26078981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1D69A-FB87-7708-71E6-2783BF4D5C4A}"/>
              </a:ext>
            </a:extLst>
          </p:cNvPr>
          <p:cNvSpPr>
            <a:spLocks noGrp="1"/>
          </p:cNvSpPr>
          <p:nvPr>
            <p:ph type="title"/>
          </p:nvPr>
        </p:nvSpPr>
        <p:spPr/>
        <p:txBody>
          <a:bodyPr>
            <a:noAutofit/>
          </a:bodyPr>
          <a:lstStyle/>
          <a:p>
            <a:r>
              <a:rPr lang="en-US" sz="3600" dirty="0"/>
              <a:t>Class Activity: Researching Real-World Applications of Requirements Validation Techniques</a:t>
            </a:r>
          </a:p>
        </p:txBody>
      </p:sp>
      <p:sp>
        <p:nvSpPr>
          <p:cNvPr id="3" name="Content Placeholder 2">
            <a:extLst>
              <a:ext uri="{FF2B5EF4-FFF2-40B4-BE49-F238E27FC236}">
                <a16:creationId xmlns:a16="http://schemas.microsoft.com/office/drawing/2014/main" id="{D59137DA-90B3-EDBA-B0DB-214348DDA883}"/>
              </a:ext>
            </a:extLst>
          </p:cNvPr>
          <p:cNvSpPr>
            <a:spLocks noGrp="1"/>
          </p:cNvSpPr>
          <p:nvPr>
            <p:ph idx="1"/>
          </p:nvPr>
        </p:nvSpPr>
        <p:spPr/>
        <p:txBody>
          <a:bodyPr>
            <a:normAutofit fontScale="25000" lnSpcReduction="20000"/>
          </a:bodyPr>
          <a:lstStyle/>
          <a:p>
            <a:pPr marL="0" indent="0">
              <a:lnSpc>
                <a:spcPct val="120000"/>
              </a:lnSpc>
              <a:spcBef>
                <a:spcPts val="0"/>
              </a:spcBef>
              <a:buNone/>
            </a:pPr>
            <a:r>
              <a:rPr lang="en-MY" sz="5600" b="1" dirty="0"/>
              <a:t>Instructions:</a:t>
            </a:r>
          </a:p>
          <a:p>
            <a:pPr>
              <a:lnSpc>
                <a:spcPct val="120000"/>
              </a:lnSpc>
              <a:spcBef>
                <a:spcPts val="0"/>
              </a:spcBef>
              <a:buFont typeface="+mj-lt"/>
              <a:buAutoNum type="arabicPeriod"/>
            </a:pPr>
            <a:r>
              <a:rPr lang="en-MY" sz="5600" dirty="0"/>
              <a:t>Research and find a real-world case study, report, or article that demonstrates the use of one of the following requirements validation techniques:</a:t>
            </a:r>
          </a:p>
          <a:p>
            <a:pPr marL="742950" lvl="1" indent="-285750">
              <a:lnSpc>
                <a:spcPct val="120000"/>
              </a:lnSpc>
              <a:spcBef>
                <a:spcPts val="0"/>
              </a:spcBef>
              <a:buFont typeface="+mj-lt"/>
              <a:buAutoNum type="arabicPeriod"/>
            </a:pPr>
            <a:r>
              <a:rPr lang="en-MY" sz="5600" b="1" dirty="0"/>
              <a:t>Requirements Reviews</a:t>
            </a:r>
            <a:endParaRPr lang="en-MY" sz="5600" dirty="0"/>
          </a:p>
          <a:p>
            <a:pPr marL="742950" lvl="1" indent="-285750">
              <a:lnSpc>
                <a:spcPct val="120000"/>
              </a:lnSpc>
              <a:spcBef>
                <a:spcPts val="0"/>
              </a:spcBef>
              <a:buFont typeface="+mj-lt"/>
              <a:buAutoNum type="arabicPeriod"/>
            </a:pPr>
            <a:r>
              <a:rPr lang="en-MY" sz="5600" b="1" dirty="0"/>
              <a:t>Prototyping</a:t>
            </a:r>
            <a:endParaRPr lang="en-MY" sz="5600" dirty="0"/>
          </a:p>
          <a:p>
            <a:pPr marL="742950" lvl="1" indent="-285750">
              <a:lnSpc>
                <a:spcPct val="120000"/>
              </a:lnSpc>
              <a:spcBef>
                <a:spcPts val="0"/>
              </a:spcBef>
              <a:buFont typeface="+mj-lt"/>
              <a:buAutoNum type="arabicPeriod"/>
            </a:pPr>
            <a:r>
              <a:rPr lang="en-MY" sz="5600" b="1" dirty="0"/>
              <a:t>Test-case Generation</a:t>
            </a:r>
            <a:endParaRPr lang="en-MY" sz="5600" dirty="0"/>
          </a:p>
          <a:p>
            <a:pPr>
              <a:lnSpc>
                <a:spcPct val="120000"/>
              </a:lnSpc>
              <a:spcBef>
                <a:spcPts val="0"/>
              </a:spcBef>
              <a:buFont typeface="+mj-lt"/>
              <a:buAutoNum type="arabicPeriod"/>
            </a:pPr>
            <a:r>
              <a:rPr lang="en-MY" sz="5600" dirty="0"/>
              <a:t>In your research, focus on how the chosen technique was applied to a software development project and identify:</a:t>
            </a:r>
          </a:p>
          <a:p>
            <a:pPr marL="742950" lvl="1" indent="-285750">
              <a:lnSpc>
                <a:spcPct val="120000"/>
              </a:lnSpc>
              <a:spcBef>
                <a:spcPts val="0"/>
              </a:spcBef>
              <a:buFont typeface="+mj-lt"/>
              <a:buAutoNum type="arabicPeriod"/>
            </a:pPr>
            <a:r>
              <a:rPr lang="en-MY" sz="5600" dirty="0"/>
              <a:t>The system or project being validated.</a:t>
            </a:r>
          </a:p>
          <a:p>
            <a:pPr marL="742950" lvl="1" indent="-285750">
              <a:lnSpc>
                <a:spcPct val="120000"/>
              </a:lnSpc>
              <a:spcBef>
                <a:spcPts val="0"/>
              </a:spcBef>
              <a:buFont typeface="+mj-lt"/>
              <a:buAutoNum type="arabicPeriod"/>
            </a:pPr>
            <a:r>
              <a:rPr lang="en-MY" sz="5600" dirty="0"/>
              <a:t>The process followed in the application of the technique.</a:t>
            </a:r>
          </a:p>
          <a:p>
            <a:pPr marL="742950" lvl="1" indent="-285750">
              <a:lnSpc>
                <a:spcPct val="120000"/>
              </a:lnSpc>
              <a:spcBef>
                <a:spcPts val="0"/>
              </a:spcBef>
              <a:buFont typeface="+mj-lt"/>
              <a:buAutoNum type="arabicPeriod"/>
            </a:pPr>
            <a:r>
              <a:rPr lang="en-MY" sz="5600" dirty="0"/>
              <a:t>The challenges faced or benefits gained from using the technique.</a:t>
            </a:r>
          </a:p>
          <a:p>
            <a:pPr marL="742950" lvl="1" indent="-285750">
              <a:lnSpc>
                <a:spcPct val="120000"/>
              </a:lnSpc>
              <a:spcBef>
                <a:spcPts val="0"/>
              </a:spcBef>
              <a:buFont typeface="+mj-lt"/>
              <a:buAutoNum type="arabicPeriod"/>
            </a:pPr>
            <a:r>
              <a:rPr lang="en-MY" sz="5600" dirty="0"/>
              <a:t>Any issues found with the requirements and how they were resolved.</a:t>
            </a:r>
          </a:p>
          <a:p>
            <a:pPr>
              <a:lnSpc>
                <a:spcPct val="120000"/>
              </a:lnSpc>
              <a:spcBef>
                <a:spcPts val="0"/>
              </a:spcBef>
              <a:buFont typeface="+mj-lt"/>
              <a:buAutoNum type="arabicPeriod"/>
            </a:pPr>
            <a:r>
              <a:rPr lang="en-MY" sz="5600" b="1" dirty="0"/>
              <a:t>Summarize the findings</a:t>
            </a:r>
            <a:r>
              <a:rPr lang="en-MY" sz="5600" dirty="0"/>
              <a:t>:</a:t>
            </a:r>
          </a:p>
          <a:p>
            <a:pPr marL="742950" lvl="1" indent="-285750">
              <a:lnSpc>
                <a:spcPct val="120000"/>
              </a:lnSpc>
              <a:spcBef>
                <a:spcPts val="0"/>
              </a:spcBef>
              <a:buFont typeface="+mj-lt"/>
              <a:buAutoNum type="arabicPeriod"/>
            </a:pPr>
            <a:r>
              <a:rPr lang="en-MY" sz="5600" dirty="0"/>
              <a:t>Briefly explain the case to the class in a </a:t>
            </a:r>
            <a:r>
              <a:rPr lang="en-MY" sz="5600" b="1" dirty="0"/>
              <a:t>3-minute presentation</a:t>
            </a:r>
            <a:r>
              <a:rPr lang="en-MY" sz="5600" dirty="0"/>
              <a:t>.</a:t>
            </a:r>
          </a:p>
          <a:p>
            <a:pPr marL="742950" lvl="1" indent="-285750">
              <a:lnSpc>
                <a:spcPct val="120000"/>
              </a:lnSpc>
              <a:spcBef>
                <a:spcPts val="0"/>
              </a:spcBef>
              <a:buFont typeface="+mj-lt"/>
              <a:buAutoNum type="arabicPeriod"/>
            </a:pPr>
            <a:r>
              <a:rPr lang="en-MY" sz="5600" dirty="0"/>
              <a:t>Share how this technique helped or hindered the success of the project.</a:t>
            </a:r>
          </a:p>
          <a:p>
            <a:pPr>
              <a:lnSpc>
                <a:spcPct val="120000"/>
              </a:lnSpc>
              <a:spcBef>
                <a:spcPts val="0"/>
              </a:spcBef>
            </a:pPr>
            <a:r>
              <a:rPr lang="en-MY" sz="5600" b="1" dirty="0"/>
              <a:t>Example Sources:</a:t>
            </a:r>
          </a:p>
          <a:p>
            <a:pPr>
              <a:lnSpc>
                <a:spcPct val="120000"/>
              </a:lnSpc>
              <a:spcBef>
                <a:spcPts val="0"/>
              </a:spcBef>
              <a:buFont typeface="Arial" panose="020B0604020202020204" pitchFamily="34" charset="0"/>
              <a:buChar char="•"/>
            </a:pPr>
            <a:r>
              <a:rPr lang="en-MY" sz="5600" dirty="0"/>
              <a:t>Software project case studies from journals or reputable websites.</a:t>
            </a:r>
          </a:p>
          <a:p>
            <a:pPr>
              <a:lnSpc>
                <a:spcPct val="120000"/>
              </a:lnSpc>
              <a:spcBef>
                <a:spcPts val="0"/>
              </a:spcBef>
              <a:buFont typeface="Arial" panose="020B0604020202020204" pitchFamily="34" charset="0"/>
              <a:buChar char="•"/>
            </a:pPr>
            <a:r>
              <a:rPr lang="en-MY" sz="5600" dirty="0"/>
              <a:t>White papers or technical reports from software companies.</a:t>
            </a:r>
          </a:p>
          <a:p>
            <a:pPr>
              <a:lnSpc>
                <a:spcPct val="120000"/>
              </a:lnSpc>
              <a:spcBef>
                <a:spcPts val="0"/>
              </a:spcBef>
              <a:buFont typeface="Arial" panose="020B0604020202020204" pitchFamily="34" charset="0"/>
              <a:buChar char="•"/>
            </a:pPr>
            <a:r>
              <a:rPr lang="en-MY" sz="5600" dirty="0"/>
              <a:t>Blogs or articles detailing experiences with requirements validation in real projects.</a:t>
            </a:r>
          </a:p>
          <a:p>
            <a:endParaRPr lang="en-US" dirty="0"/>
          </a:p>
        </p:txBody>
      </p:sp>
    </p:spTree>
    <p:extLst>
      <p:ext uri="{BB962C8B-B14F-4D97-AF65-F5344CB8AC3E}">
        <p14:creationId xmlns:p14="http://schemas.microsoft.com/office/powerpoint/2010/main" val="4265529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BB2C-54FA-54BE-FA34-D35795B64F7B}"/>
              </a:ext>
            </a:extLst>
          </p:cNvPr>
          <p:cNvSpPr>
            <a:spLocks noGrp="1"/>
          </p:cNvSpPr>
          <p:nvPr>
            <p:ph type="title"/>
          </p:nvPr>
        </p:nvSpPr>
        <p:spPr/>
        <p:txBody>
          <a:bodyPr/>
          <a:lstStyle/>
          <a:p>
            <a:r>
              <a:rPr lang="en-US" dirty="0"/>
              <a:t>Requirements management</a:t>
            </a:r>
          </a:p>
        </p:txBody>
      </p:sp>
      <p:sp>
        <p:nvSpPr>
          <p:cNvPr id="3" name="Content Placeholder 2">
            <a:extLst>
              <a:ext uri="{FF2B5EF4-FFF2-40B4-BE49-F238E27FC236}">
                <a16:creationId xmlns:a16="http://schemas.microsoft.com/office/drawing/2014/main" id="{113B81BB-BC8D-B6E9-F989-ED6EAE2955F1}"/>
              </a:ext>
            </a:extLst>
          </p:cNvPr>
          <p:cNvSpPr>
            <a:spLocks noGrp="1"/>
          </p:cNvSpPr>
          <p:nvPr>
            <p:ph idx="1"/>
          </p:nvPr>
        </p:nvSpPr>
        <p:spPr/>
        <p:txBody>
          <a:bodyPr>
            <a:normAutofit/>
          </a:bodyPr>
          <a:lstStyle/>
          <a:p>
            <a:r>
              <a:rPr lang="en-US" dirty="0"/>
              <a:t>The requirements for large software systems are always changing. </a:t>
            </a:r>
          </a:p>
          <a:p>
            <a:r>
              <a:rPr lang="en-US" dirty="0"/>
              <a:t>The stakeholders’ understanding of the problem is constantly changing because:</a:t>
            </a:r>
          </a:p>
          <a:p>
            <a:pPr lvl="1"/>
            <a:r>
              <a:rPr lang="en-US" dirty="0"/>
              <a:t>systems are usually developed to address problems that cannot be completely defined</a:t>
            </a:r>
          </a:p>
          <a:p>
            <a:pPr lvl="1"/>
            <a:r>
              <a:rPr lang="en-US" dirty="0"/>
              <a:t>the software requirements are bound to be incomplete</a:t>
            </a:r>
          </a:p>
          <a:p>
            <a:r>
              <a:rPr lang="en-US" dirty="0"/>
              <a:t>The system requirements must then also evolve to reflect this changed problem view.</a:t>
            </a:r>
          </a:p>
          <a:p>
            <a:endParaRPr lang="en-US" dirty="0"/>
          </a:p>
        </p:txBody>
      </p:sp>
    </p:spTree>
    <p:extLst>
      <p:ext uri="{BB962C8B-B14F-4D97-AF65-F5344CB8AC3E}">
        <p14:creationId xmlns:p14="http://schemas.microsoft.com/office/powerpoint/2010/main" val="2386523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D03A0B2-4A2F-D846-A5E6-FB7CB9A03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375492"/>
            <a:ext cx="2770698" cy="5482505"/>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 name="Rectangle 11">
            <a:extLst>
              <a:ext uri="{FF2B5EF4-FFF2-40B4-BE49-F238E27FC236}">
                <a16:creationId xmlns:a16="http://schemas.microsoft.com/office/drawing/2014/main" id="{7F573F1D-73A7-FB41-BCAD-FC9AA7DEF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373567"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useBgFill="1">
        <p:nvSpPr>
          <p:cNvPr id="14" name="Rectangle 13">
            <a:extLst>
              <a:ext uri="{FF2B5EF4-FFF2-40B4-BE49-F238E27FC236}">
                <a16:creationId xmlns:a16="http://schemas.microsoft.com/office/drawing/2014/main" id="{A88F843D-1C1B-C740-AC27-E3238D0F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5B0F748-7FA7-4DDF-89A3-7F1D8EE1F7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65153"/>
            <a:ext cx="1133856" cy="6292847"/>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50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903E872-C07A-4030-B584-D321D40CA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65150" cy="6857999"/>
          </a:xfrm>
          <a:prstGeom prst="rect">
            <a:avLst/>
          </a:prstGeom>
          <a:gradFill flip="none" rotWithShape="1">
            <a:gsLst>
              <a:gs pos="0">
                <a:schemeClr val="accent1">
                  <a:alpha val="50000"/>
                </a:schemeClr>
              </a:gs>
              <a:gs pos="81000">
                <a:schemeClr val="accent4">
                  <a:alpha val="50000"/>
                </a:schemeClr>
              </a:gs>
              <a:gs pos="25000">
                <a:schemeClr val="accent2">
                  <a:alpha val="60000"/>
                </a:schemeClr>
              </a:gs>
              <a:gs pos="49000">
                <a:schemeClr val="accent3">
                  <a:alpha val="55000"/>
                </a:schemeClr>
              </a:gs>
              <a:gs pos="99000">
                <a:schemeClr val="accent5">
                  <a:alpha val="5000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24FA89-08A2-5096-3A44-8EA950DD373E}"/>
              </a:ext>
            </a:extLst>
          </p:cNvPr>
          <p:cNvSpPr>
            <a:spLocks noGrp="1"/>
          </p:cNvSpPr>
          <p:nvPr>
            <p:ph type="title"/>
          </p:nvPr>
        </p:nvSpPr>
        <p:spPr>
          <a:xfrm>
            <a:off x="1777321" y="4309024"/>
            <a:ext cx="9677833" cy="1134452"/>
          </a:xfrm>
        </p:spPr>
        <p:txBody>
          <a:bodyPr vert="horz" lIns="91440" tIns="45720" rIns="91440" bIns="45720" rtlCol="0" anchor="ctr">
            <a:normAutofit/>
          </a:bodyPr>
          <a:lstStyle/>
          <a:p>
            <a:pPr algn="ctr"/>
            <a:r>
              <a:rPr lang="en-US" sz="6000"/>
              <a:t>Requirements evolution</a:t>
            </a:r>
          </a:p>
        </p:txBody>
      </p:sp>
      <p:pic>
        <p:nvPicPr>
          <p:cNvPr id="5" name="Content Placeholder 4" descr="A diagram of a problem&#10;&#10;Description automatically generated">
            <a:extLst>
              <a:ext uri="{FF2B5EF4-FFF2-40B4-BE49-F238E27FC236}">
                <a16:creationId xmlns:a16="http://schemas.microsoft.com/office/drawing/2014/main" id="{8C6BC01B-0B16-176F-E753-B5B835B2B8F5}"/>
              </a:ext>
            </a:extLst>
          </p:cNvPr>
          <p:cNvPicPr>
            <a:picLocks noGrp="1" noChangeAspect="1"/>
          </p:cNvPicPr>
          <p:nvPr>
            <p:ph idx="1"/>
          </p:nvPr>
        </p:nvPicPr>
        <p:blipFill>
          <a:blip r:embed="rId2"/>
          <a:stretch>
            <a:fillRect/>
          </a:stretch>
        </p:blipFill>
        <p:spPr>
          <a:xfrm>
            <a:off x="3377259" y="627797"/>
            <a:ext cx="6477960" cy="3238979"/>
          </a:xfrm>
          <a:prstGeom prst="rect">
            <a:avLst/>
          </a:prstGeom>
        </p:spPr>
      </p:pic>
    </p:spTree>
    <p:extLst>
      <p:ext uri="{BB962C8B-B14F-4D97-AF65-F5344CB8AC3E}">
        <p14:creationId xmlns:p14="http://schemas.microsoft.com/office/powerpoint/2010/main" val="2932796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3CEC8-D15E-D34E-F4B2-3C14A62E829E}"/>
              </a:ext>
            </a:extLst>
          </p:cNvPr>
          <p:cNvSpPr>
            <a:spLocks noGrp="1"/>
          </p:cNvSpPr>
          <p:nvPr>
            <p:ph type="title"/>
          </p:nvPr>
        </p:nvSpPr>
        <p:spPr/>
        <p:txBody>
          <a:bodyPr>
            <a:normAutofit/>
          </a:bodyPr>
          <a:lstStyle/>
          <a:p>
            <a:r>
              <a:rPr lang="en-US" dirty="0"/>
              <a:t>There are several reasons why change is inevitable</a:t>
            </a:r>
          </a:p>
        </p:txBody>
      </p:sp>
      <p:sp>
        <p:nvSpPr>
          <p:cNvPr id="3" name="Content Placeholder 2">
            <a:extLst>
              <a:ext uri="{FF2B5EF4-FFF2-40B4-BE49-F238E27FC236}">
                <a16:creationId xmlns:a16="http://schemas.microsoft.com/office/drawing/2014/main" id="{B3987929-490E-64E5-64CA-596C7EF7AF9F}"/>
              </a:ext>
            </a:extLst>
          </p:cNvPr>
          <p:cNvSpPr>
            <a:spLocks noGrp="1"/>
          </p:cNvSpPr>
          <p:nvPr>
            <p:ph idx="1"/>
          </p:nvPr>
        </p:nvSpPr>
        <p:spPr/>
        <p:txBody>
          <a:bodyPr>
            <a:normAutofit fontScale="77500" lnSpcReduction="20000"/>
          </a:bodyPr>
          <a:lstStyle/>
          <a:p>
            <a:r>
              <a:rPr lang="en-US" dirty="0"/>
              <a:t>The business and technical environment of the system always changes after installation. New hardware may be introduced, it may be necessary to interface the system with other systems, business priorities may change (with consequent changes in the system support required), and new legislation and regulations may be introduced that the system must necessarily abide by. </a:t>
            </a:r>
          </a:p>
          <a:p>
            <a:r>
              <a:rPr lang="en-US" dirty="0"/>
              <a:t>The people who pay for a system and the users of that system are rarely the same people. System customers impose requirements because of organizational and budgetary constraints. These may conflict with end-user requirements and, after delivery, new features may have to be added for user support if the system is to meet its goals. </a:t>
            </a:r>
          </a:p>
          <a:p>
            <a:r>
              <a:rPr lang="en-US" dirty="0"/>
              <a:t>Large systems usually have a diverse user community, with many users having different requirements and priorities that may be conflicting or contradictory. The final system requirements are inevitably a compromise between them and, with experience, it is often discovered that the balance of support given to different users has to be changed. </a:t>
            </a:r>
          </a:p>
          <a:p>
            <a:endParaRPr lang="en-US" dirty="0"/>
          </a:p>
        </p:txBody>
      </p:sp>
    </p:spTree>
    <p:extLst>
      <p:ext uri="{BB962C8B-B14F-4D97-AF65-F5344CB8AC3E}">
        <p14:creationId xmlns:p14="http://schemas.microsoft.com/office/powerpoint/2010/main" val="12192522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C9BA-98A6-419B-16A7-3587040959E3}"/>
              </a:ext>
            </a:extLst>
          </p:cNvPr>
          <p:cNvSpPr>
            <a:spLocks noGrp="1"/>
          </p:cNvSpPr>
          <p:nvPr>
            <p:ph type="title"/>
          </p:nvPr>
        </p:nvSpPr>
        <p:spPr/>
        <p:txBody>
          <a:bodyPr>
            <a:normAutofit/>
          </a:bodyPr>
          <a:lstStyle/>
          <a:p>
            <a:r>
              <a:rPr lang="en-US" dirty="0"/>
              <a:t>Requirements management planning</a:t>
            </a:r>
          </a:p>
        </p:txBody>
      </p:sp>
      <p:sp>
        <p:nvSpPr>
          <p:cNvPr id="3" name="Content Placeholder 2">
            <a:extLst>
              <a:ext uri="{FF2B5EF4-FFF2-40B4-BE49-F238E27FC236}">
                <a16:creationId xmlns:a16="http://schemas.microsoft.com/office/drawing/2014/main" id="{3664E285-6031-FA27-21BD-EA7B90F51750}"/>
              </a:ext>
            </a:extLst>
          </p:cNvPr>
          <p:cNvSpPr>
            <a:spLocks noGrp="1"/>
          </p:cNvSpPr>
          <p:nvPr>
            <p:ph idx="1"/>
          </p:nvPr>
        </p:nvSpPr>
        <p:spPr/>
        <p:txBody>
          <a:bodyPr>
            <a:normAutofit fontScale="77500" lnSpcReduction="20000"/>
          </a:bodyPr>
          <a:lstStyle/>
          <a:p>
            <a:pPr marL="0" indent="0">
              <a:buNone/>
            </a:pPr>
            <a:endParaRPr lang="en-US" dirty="0"/>
          </a:p>
          <a:p>
            <a:r>
              <a:rPr lang="en-US" dirty="0"/>
              <a:t>Requirements identification - Each requirement must be uniquely identified so that it can be cross-referenced with other requirements and used in traceability assessments. </a:t>
            </a:r>
          </a:p>
          <a:p>
            <a:r>
              <a:rPr lang="en-US" dirty="0"/>
              <a:t>A change management process - This is the set of activities that assess the impact and cost of changes. I discuss this process in more detail in the following section. </a:t>
            </a:r>
          </a:p>
          <a:p>
            <a:r>
              <a:rPr lang="en-US" dirty="0"/>
              <a:t>Traceability policies - These policies define the relationships between each requirement and between the requirements and the system design that should be recorded. The traceability policy should also define how these records should be maintained. </a:t>
            </a:r>
          </a:p>
          <a:p>
            <a:r>
              <a:rPr lang="en-US" dirty="0"/>
              <a:t>Tool support - Requirements management involves the processing of large amounts of information about the requirements. Tools that may be used range from specialist requirements management systems to spreadsheets and simple database systems. </a:t>
            </a:r>
          </a:p>
          <a:p>
            <a:endParaRPr lang="en-US" dirty="0"/>
          </a:p>
        </p:txBody>
      </p:sp>
    </p:spTree>
    <p:extLst>
      <p:ext uri="{BB962C8B-B14F-4D97-AF65-F5344CB8AC3E}">
        <p14:creationId xmlns:p14="http://schemas.microsoft.com/office/powerpoint/2010/main" val="2822516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4E1A3-97C1-4440-2C2D-5269D53768FE}"/>
              </a:ext>
            </a:extLst>
          </p:cNvPr>
          <p:cNvSpPr>
            <a:spLocks noGrp="1"/>
          </p:cNvSpPr>
          <p:nvPr>
            <p:ph type="title"/>
          </p:nvPr>
        </p:nvSpPr>
        <p:spPr/>
        <p:txBody>
          <a:bodyPr>
            <a:normAutofit/>
          </a:bodyPr>
          <a:lstStyle/>
          <a:p>
            <a:r>
              <a:rPr lang="en-US" dirty="0"/>
              <a:t>Requirements change management</a:t>
            </a:r>
          </a:p>
        </p:txBody>
      </p:sp>
      <p:sp>
        <p:nvSpPr>
          <p:cNvPr id="3" name="Content Placeholder 2">
            <a:extLst>
              <a:ext uri="{FF2B5EF4-FFF2-40B4-BE49-F238E27FC236}">
                <a16:creationId xmlns:a16="http://schemas.microsoft.com/office/drawing/2014/main" id="{A4D5ACA8-6653-83DF-36D3-3FFB3B2FF948}"/>
              </a:ext>
            </a:extLst>
          </p:cNvPr>
          <p:cNvSpPr>
            <a:spLocks noGrp="1"/>
          </p:cNvSpPr>
          <p:nvPr>
            <p:ph idx="1"/>
          </p:nvPr>
        </p:nvSpPr>
        <p:spPr/>
        <p:txBody>
          <a:bodyPr/>
          <a:lstStyle/>
          <a:p>
            <a:r>
              <a:rPr lang="en-US" dirty="0"/>
              <a:t>Should be applied to all proposed changes to a system’s requirements after the requirements document has been approved.</a:t>
            </a:r>
          </a:p>
          <a:p>
            <a:r>
              <a:rPr lang="en-US" dirty="0"/>
              <a:t>Change management is essential because you need to decide if the benefits of implementing new requirements are justified by the costs of implementation. </a:t>
            </a:r>
          </a:p>
          <a:p>
            <a:endParaRPr lang="en-US" dirty="0"/>
          </a:p>
        </p:txBody>
      </p:sp>
    </p:spTree>
    <p:extLst>
      <p:ext uri="{BB962C8B-B14F-4D97-AF65-F5344CB8AC3E}">
        <p14:creationId xmlns:p14="http://schemas.microsoft.com/office/powerpoint/2010/main" val="3824356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998A-90A1-9F98-36C5-F7A3328CF238}"/>
              </a:ext>
            </a:extLst>
          </p:cNvPr>
          <p:cNvSpPr>
            <a:spLocks noGrp="1"/>
          </p:cNvSpPr>
          <p:nvPr>
            <p:ph type="title"/>
          </p:nvPr>
        </p:nvSpPr>
        <p:spPr/>
        <p:txBody>
          <a:bodyPr>
            <a:normAutofit fontScale="90000"/>
          </a:bodyPr>
          <a:lstStyle/>
          <a:p>
            <a:r>
              <a:rPr lang="en-US" dirty="0"/>
              <a:t>Three principal stages to a change management process </a:t>
            </a:r>
            <a:br>
              <a:rPr lang="en-US" dirty="0"/>
            </a:br>
            <a:endParaRPr lang="en-US" dirty="0"/>
          </a:p>
        </p:txBody>
      </p:sp>
      <p:sp>
        <p:nvSpPr>
          <p:cNvPr id="3" name="Content Placeholder 2">
            <a:extLst>
              <a:ext uri="{FF2B5EF4-FFF2-40B4-BE49-F238E27FC236}">
                <a16:creationId xmlns:a16="http://schemas.microsoft.com/office/drawing/2014/main" id="{43279069-9B75-55AB-4C89-AC4FC4872A1A}"/>
              </a:ext>
            </a:extLst>
          </p:cNvPr>
          <p:cNvSpPr>
            <a:spLocks noGrp="1"/>
          </p:cNvSpPr>
          <p:nvPr>
            <p:ph idx="1"/>
          </p:nvPr>
        </p:nvSpPr>
        <p:spPr/>
        <p:txBody>
          <a:bodyPr>
            <a:normAutofit lnSpcReduction="10000"/>
          </a:bodyPr>
          <a:lstStyle/>
          <a:p>
            <a:r>
              <a:rPr lang="en-US" dirty="0"/>
              <a:t>Problem analysis and change specification - The process starts with an identified requirements problem. During this stage, the problem or the change proposal is analyzed to check that it is valid. </a:t>
            </a:r>
          </a:p>
          <a:p>
            <a:r>
              <a:rPr lang="en-US" dirty="0"/>
              <a:t>Change analysis and costing - The effect of the proposed change is assessed using traceability information and general knowledge of the system requirements. The cost of making the change is estimated both in terms of modifications to the requirements document and, if appropriate, to the system design and implementation. </a:t>
            </a:r>
          </a:p>
          <a:p>
            <a:r>
              <a:rPr lang="en-US" dirty="0"/>
              <a:t>Change implementation - The requirements document and, where necessary, the system design and implementation, are modified. </a:t>
            </a:r>
          </a:p>
          <a:p>
            <a:endParaRPr lang="en-US" dirty="0"/>
          </a:p>
        </p:txBody>
      </p:sp>
    </p:spTree>
    <p:extLst>
      <p:ext uri="{BB962C8B-B14F-4D97-AF65-F5344CB8AC3E}">
        <p14:creationId xmlns:p14="http://schemas.microsoft.com/office/powerpoint/2010/main" val="2729628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1AE79-74BD-0D9F-09B2-7BB3B395FEBB}"/>
              </a:ext>
            </a:extLst>
          </p:cNvPr>
          <p:cNvSpPr>
            <a:spLocks noGrp="1"/>
          </p:cNvSpPr>
          <p:nvPr>
            <p:ph type="title"/>
          </p:nvPr>
        </p:nvSpPr>
        <p:spPr/>
        <p:txBody>
          <a:bodyPr/>
          <a:lstStyle/>
          <a:p>
            <a:r>
              <a:rPr lang="en-US" dirty="0"/>
              <a:t>KEY POINTS</a:t>
            </a:r>
          </a:p>
        </p:txBody>
      </p:sp>
      <p:sp>
        <p:nvSpPr>
          <p:cNvPr id="3" name="Content Placeholder 2">
            <a:extLst>
              <a:ext uri="{FF2B5EF4-FFF2-40B4-BE49-F238E27FC236}">
                <a16:creationId xmlns:a16="http://schemas.microsoft.com/office/drawing/2014/main" id="{F0D7A89D-1965-23F0-D8A1-B1A531B652C8}"/>
              </a:ext>
            </a:extLst>
          </p:cNvPr>
          <p:cNvSpPr>
            <a:spLocks noGrp="1"/>
          </p:cNvSpPr>
          <p:nvPr>
            <p:ph idx="1"/>
          </p:nvPr>
        </p:nvSpPr>
        <p:spPr>
          <a:xfrm>
            <a:off x="1587710" y="1230571"/>
            <a:ext cx="9486690" cy="3926152"/>
          </a:xfrm>
        </p:spPr>
        <p:txBody>
          <a:bodyPr>
            <a:noAutofit/>
          </a:bodyPr>
          <a:lstStyle/>
          <a:p>
            <a:r>
              <a:rPr lang="en-US" sz="1400" dirty="0"/>
              <a:t>Requirements for a software system set out what the system should do and define constraints on its operation and implementation. </a:t>
            </a:r>
          </a:p>
          <a:p>
            <a:r>
              <a:rPr lang="en-US" sz="1400" dirty="0"/>
              <a:t>Functional requirements are statements of the services that the system must provide or are descriptions of how some computations must be carried out. </a:t>
            </a:r>
          </a:p>
          <a:p>
            <a:r>
              <a:rPr lang="en-US" sz="1400" dirty="0"/>
              <a:t>Non-functional requirements often constrain the system being developed and the development process being used. These might be product requirements, organizational requirements, or external requirements. They often relate to the emergent properties of the system and therefore apply to the system as a whole. </a:t>
            </a:r>
          </a:p>
          <a:p>
            <a:r>
              <a:rPr lang="en-US" sz="1400" dirty="0"/>
              <a:t>The software requirements document is an agreed statement of the system requirements. It should be organized so that both system customers and software developers can use it. </a:t>
            </a:r>
          </a:p>
          <a:p>
            <a:r>
              <a:rPr lang="en-US" sz="1400" dirty="0"/>
              <a:t>The requirements engineering process includes a feasibility study, requirements elicitation and analysis, requirements specification, requirements validation, and requirements management. </a:t>
            </a:r>
          </a:p>
          <a:p>
            <a:r>
              <a:rPr lang="en-US" sz="1400" dirty="0"/>
              <a:t>Requirements elicitation and analysis is an iterative process that can be represented as a spiral of activities—requirements discovery, requirements classification and organization, requirements negotiation, and requirements documentation. </a:t>
            </a:r>
          </a:p>
          <a:p>
            <a:r>
              <a:rPr lang="en-US" sz="1400" dirty="0"/>
              <a:t>Requirements validation is the process of checking the requirements for validity, consistency, completeness, realism, and verifiability. </a:t>
            </a:r>
          </a:p>
          <a:p>
            <a:r>
              <a:rPr lang="en-US" sz="1400" dirty="0"/>
              <a:t>Business, organizational, and technical changes inevitably lead to changes to the requirements for a software system. Requirements management is the process of managing and controlling these changes. </a:t>
            </a:r>
          </a:p>
          <a:p>
            <a:endParaRPr lang="en-US" sz="1400" dirty="0"/>
          </a:p>
        </p:txBody>
      </p:sp>
    </p:spTree>
    <p:extLst>
      <p:ext uri="{BB962C8B-B14F-4D97-AF65-F5344CB8AC3E}">
        <p14:creationId xmlns:p14="http://schemas.microsoft.com/office/powerpoint/2010/main" val="1541723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07F4D-2D49-87B5-6D4F-E9491D419120}"/>
              </a:ext>
            </a:extLst>
          </p:cNvPr>
          <p:cNvSpPr>
            <a:spLocks noGrp="1"/>
          </p:cNvSpPr>
          <p:nvPr>
            <p:ph type="title"/>
          </p:nvPr>
        </p:nvSpPr>
        <p:spPr/>
        <p:txBody>
          <a:bodyPr/>
          <a:lstStyle/>
          <a:p>
            <a:r>
              <a:rPr lang="en-US" dirty="0"/>
              <a:t>From Requirements to System Design</a:t>
            </a:r>
          </a:p>
        </p:txBody>
      </p:sp>
      <p:sp>
        <p:nvSpPr>
          <p:cNvPr id="3" name="Content Placeholder 2">
            <a:extLst>
              <a:ext uri="{FF2B5EF4-FFF2-40B4-BE49-F238E27FC236}">
                <a16:creationId xmlns:a16="http://schemas.microsoft.com/office/drawing/2014/main" id="{88B2E399-7166-3796-0F1B-916DDBBACE69}"/>
              </a:ext>
            </a:extLst>
          </p:cNvPr>
          <p:cNvSpPr>
            <a:spLocks noGrp="1"/>
          </p:cNvSpPr>
          <p:nvPr>
            <p:ph idx="1"/>
          </p:nvPr>
        </p:nvSpPr>
        <p:spPr/>
        <p:txBody>
          <a:bodyPr/>
          <a:lstStyle/>
          <a:p>
            <a:r>
              <a:rPr lang="en-US" dirty="0"/>
              <a:t>How the validated requirements are translated into a system architecture and design?</a:t>
            </a:r>
          </a:p>
          <a:p>
            <a:r>
              <a:rPr lang="en-US" dirty="0"/>
              <a:t>System design is the process of defining the architecture, components, modules, interfaces, and data for a system to satisfy specified requirements.</a:t>
            </a:r>
          </a:p>
        </p:txBody>
      </p:sp>
    </p:spTree>
    <p:extLst>
      <p:ext uri="{BB962C8B-B14F-4D97-AF65-F5344CB8AC3E}">
        <p14:creationId xmlns:p14="http://schemas.microsoft.com/office/powerpoint/2010/main" val="4274274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5FA17-16F9-4CB8-089D-9A93EC89F55B}"/>
              </a:ext>
            </a:extLst>
          </p:cNvPr>
          <p:cNvSpPr>
            <a:spLocks noGrp="1"/>
          </p:cNvSpPr>
          <p:nvPr>
            <p:ph type="title"/>
          </p:nvPr>
        </p:nvSpPr>
        <p:spPr/>
        <p:txBody>
          <a:bodyPr/>
          <a:lstStyle/>
          <a:p>
            <a:r>
              <a:rPr lang="en-US" dirty="0"/>
              <a:t>Key Activities in System Design</a:t>
            </a:r>
          </a:p>
        </p:txBody>
      </p:sp>
      <p:sp>
        <p:nvSpPr>
          <p:cNvPr id="3" name="Content Placeholder 2">
            <a:extLst>
              <a:ext uri="{FF2B5EF4-FFF2-40B4-BE49-F238E27FC236}">
                <a16:creationId xmlns:a16="http://schemas.microsoft.com/office/drawing/2014/main" id="{A0D713CD-D3A2-CF03-0734-202CB37F1ECE}"/>
              </a:ext>
            </a:extLst>
          </p:cNvPr>
          <p:cNvSpPr>
            <a:spLocks noGrp="1"/>
          </p:cNvSpPr>
          <p:nvPr>
            <p:ph idx="1"/>
          </p:nvPr>
        </p:nvSpPr>
        <p:spPr/>
        <p:txBody>
          <a:bodyPr>
            <a:normAutofit fontScale="62500" lnSpcReduction="20000"/>
          </a:bodyPr>
          <a:lstStyle/>
          <a:p>
            <a:r>
              <a:rPr lang="en-US" sz="2300" dirty="0"/>
              <a:t>Architectural Design</a:t>
            </a:r>
          </a:p>
          <a:p>
            <a:pPr lvl="1"/>
            <a:r>
              <a:rPr lang="en-US" sz="2300" dirty="0"/>
              <a:t>Defines the high-level structure of the system, identifying major components and how they interact.</a:t>
            </a:r>
          </a:p>
          <a:p>
            <a:pPr lvl="1"/>
            <a:r>
              <a:rPr lang="en-US" sz="2300" dirty="0"/>
              <a:t>Common architectural styles: Client-server, Layered, Microservices, etc.</a:t>
            </a:r>
          </a:p>
          <a:p>
            <a:r>
              <a:rPr lang="en-US" sz="2300" dirty="0"/>
              <a:t>Component Design</a:t>
            </a:r>
          </a:p>
          <a:p>
            <a:pPr lvl="1"/>
            <a:r>
              <a:rPr lang="en-US" sz="2300" dirty="0"/>
              <a:t>Decomposes the system into smaller, independent modules or components.</a:t>
            </a:r>
          </a:p>
          <a:p>
            <a:pPr lvl="1"/>
            <a:r>
              <a:rPr lang="en-US" sz="2300" dirty="0"/>
              <a:t>Defines the responsibilities and interfaces of each component.</a:t>
            </a:r>
          </a:p>
          <a:p>
            <a:r>
              <a:rPr lang="en-US" sz="2300" dirty="0"/>
              <a:t>Data Design</a:t>
            </a:r>
          </a:p>
          <a:p>
            <a:pPr lvl="1"/>
            <a:r>
              <a:rPr lang="en-US" sz="2300" dirty="0"/>
              <a:t>Defines how data will be structured, stored, and accessed.</a:t>
            </a:r>
          </a:p>
          <a:p>
            <a:pPr lvl="1"/>
            <a:r>
              <a:rPr lang="en-US" sz="2300" dirty="0"/>
              <a:t>Includes designing databases, data flows, and data models.</a:t>
            </a:r>
          </a:p>
          <a:p>
            <a:pPr lvl="1"/>
            <a:r>
              <a:rPr lang="en-US" sz="2300" dirty="0"/>
              <a:t>Ensures data integrity, consistency, and security.</a:t>
            </a:r>
          </a:p>
          <a:p>
            <a:r>
              <a:rPr lang="en-US" sz="2300" dirty="0"/>
              <a:t>Interface Design</a:t>
            </a:r>
          </a:p>
          <a:p>
            <a:pPr lvl="1"/>
            <a:r>
              <a:rPr lang="en-US" sz="2300" dirty="0"/>
              <a:t>Defines how system components will communicate with each other.</a:t>
            </a:r>
          </a:p>
          <a:p>
            <a:pPr lvl="1"/>
            <a:r>
              <a:rPr lang="en-US" sz="2300" dirty="0"/>
              <a:t>Ensures seamless integration between system modules and a user-friendly interface.</a:t>
            </a:r>
          </a:p>
          <a:p>
            <a:endParaRPr lang="en-US" dirty="0"/>
          </a:p>
        </p:txBody>
      </p:sp>
    </p:spTree>
    <p:extLst>
      <p:ext uri="{BB962C8B-B14F-4D97-AF65-F5344CB8AC3E}">
        <p14:creationId xmlns:p14="http://schemas.microsoft.com/office/powerpoint/2010/main" val="274276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C7D3-C84D-E883-12E5-3889EF7024F7}"/>
              </a:ext>
            </a:extLst>
          </p:cNvPr>
          <p:cNvSpPr>
            <a:spLocks noGrp="1"/>
          </p:cNvSpPr>
          <p:nvPr>
            <p:ph type="title"/>
          </p:nvPr>
        </p:nvSpPr>
        <p:spPr/>
        <p:txBody>
          <a:bodyPr/>
          <a:lstStyle/>
          <a:p>
            <a:r>
              <a:rPr lang="en-US" dirty="0"/>
              <a:t>Class Activity : Design Principles and Best Practices</a:t>
            </a:r>
          </a:p>
        </p:txBody>
      </p:sp>
      <p:sp>
        <p:nvSpPr>
          <p:cNvPr id="3" name="Content Placeholder 2">
            <a:extLst>
              <a:ext uri="{FF2B5EF4-FFF2-40B4-BE49-F238E27FC236}">
                <a16:creationId xmlns:a16="http://schemas.microsoft.com/office/drawing/2014/main" id="{FE83AE9A-0C06-A7D3-675E-6AF81162C2BF}"/>
              </a:ext>
            </a:extLst>
          </p:cNvPr>
          <p:cNvSpPr>
            <a:spLocks noGrp="1"/>
          </p:cNvSpPr>
          <p:nvPr>
            <p:ph idx="1"/>
          </p:nvPr>
        </p:nvSpPr>
        <p:spPr/>
        <p:txBody>
          <a:bodyPr>
            <a:normAutofit fontScale="85000" lnSpcReduction="10000"/>
          </a:bodyPr>
          <a:lstStyle/>
          <a:p>
            <a:r>
              <a:rPr lang="en-US" dirty="0"/>
              <a:t>Explore the following design principles or best practices:</a:t>
            </a:r>
          </a:p>
          <a:p>
            <a:pPr lvl="1"/>
            <a:r>
              <a:rPr lang="en-US" dirty="0"/>
              <a:t>Separation of Concerns</a:t>
            </a:r>
          </a:p>
          <a:p>
            <a:pPr lvl="1"/>
            <a:r>
              <a:rPr lang="en-US" dirty="0"/>
              <a:t>Modularity</a:t>
            </a:r>
          </a:p>
          <a:p>
            <a:pPr lvl="1"/>
            <a:r>
              <a:rPr lang="en-US" dirty="0"/>
              <a:t>Abstraction</a:t>
            </a:r>
          </a:p>
          <a:p>
            <a:pPr lvl="1"/>
            <a:r>
              <a:rPr lang="en-US" dirty="0"/>
              <a:t>Encapsulation</a:t>
            </a:r>
          </a:p>
          <a:p>
            <a:pPr lvl="1"/>
            <a:r>
              <a:rPr lang="en-US" dirty="0"/>
              <a:t>Design for Scalability</a:t>
            </a:r>
          </a:p>
          <a:p>
            <a:r>
              <a:rPr lang="en-US" dirty="0"/>
              <a:t>Discuss your assigned principle or best practice. Consider the following points:</a:t>
            </a:r>
          </a:p>
          <a:p>
            <a:pPr lvl="1"/>
            <a:r>
              <a:rPr lang="en-US" dirty="0"/>
              <a:t>What does the principle mean in the context of software design?</a:t>
            </a:r>
          </a:p>
          <a:p>
            <a:pPr lvl="1"/>
            <a:r>
              <a:rPr lang="en-US" dirty="0"/>
              <a:t>Why is it important for building effective and maintainable software systems?</a:t>
            </a:r>
          </a:p>
          <a:p>
            <a:pPr lvl="1"/>
            <a:r>
              <a:rPr lang="en-US" dirty="0"/>
              <a:t>Provide a real-world example or case study that illustrates its use.</a:t>
            </a:r>
          </a:p>
          <a:p>
            <a:r>
              <a:rPr lang="en-MY" dirty="0"/>
              <a:t>Give a brief presentation to the class.</a:t>
            </a:r>
            <a:endParaRPr lang="en-US" dirty="0"/>
          </a:p>
          <a:p>
            <a:endParaRPr lang="en-US" dirty="0"/>
          </a:p>
        </p:txBody>
      </p:sp>
    </p:spTree>
    <p:extLst>
      <p:ext uri="{BB962C8B-B14F-4D97-AF65-F5344CB8AC3E}">
        <p14:creationId xmlns:p14="http://schemas.microsoft.com/office/powerpoint/2010/main" val="41497729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E9992-D77A-1588-30D7-68A8BA44A69E}"/>
              </a:ext>
            </a:extLst>
          </p:cNvPr>
          <p:cNvSpPr>
            <a:spLocks noGrp="1"/>
          </p:cNvSpPr>
          <p:nvPr>
            <p:ph type="title"/>
          </p:nvPr>
        </p:nvSpPr>
        <p:spPr/>
        <p:txBody>
          <a:bodyPr/>
          <a:lstStyle/>
          <a:p>
            <a:r>
              <a:rPr lang="en-US" dirty="0"/>
              <a:t>Class Activity: Identifying Design Models and Tools</a:t>
            </a:r>
          </a:p>
        </p:txBody>
      </p:sp>
      <p:sp>
        <p:nvSpPr>
          <p:cNvPr id="3" name="Content Placeholder 2">
            <a:extLst>
              <a:ext uri="{FF2B5EF4-FFF2-40B4-BE49-F238E27FC236}">
                <a16:creationId xmlns:a16="http://schemas.microsoft.com/office/drawing/2014/main" id="{563D66E5-6537-7EF4-F98A-1C00BA9B6414}"/>
              </a:ext>
            </a:extLst>
          </p:cNvPr>
          <p:cNvSpPr>
            <a:spLocks noGrp="1"/>
          </p:cNvSpPr>
          <p:nvPr>
            <p:ph idx="1"/>
          </p:nvPr>
        </p:nvSpPr>
        <p:spPr/>
        <p:txBody>
          <a:bodyPr>
            <a:normAutofit/>
          </a:bodyPr>
          <a:lstStyle/>
          <a:p>
            <a:r>
              <a:rPr lang="en-US" dirty="0"/>
              <a:t>Research and identify one design model (e.g., class diagram, sequence diagram, use case diagram) and one tool (e.g., Visual Paradigm, </a:t>
            </a:r>
            <a:r>
              <a:rPr lang="en-US" dirty="0" err="1"/>
              <a:t>Lucidchart</a:t>
            </a:r>
            <a:r>
              <a:rPr lang="en-US" dirty="0"/>
              <a:t>, Microsoft Visio) commonly used in system design.</a:t>
            </a:r>
          </a:p>
          <a:p>
            <a:r>
              <a:rPr lang="en-US" dirty="0"/>
              <a:t>For each, provide:</a:t>
            </a:r>
          </a:p>
          <a:p>
            <a:pPr lvl="1"/>
            <a:r>
              <a:rPr lang="en-US" dirty="0"/>
              <a:t>A brief description of what the design model or tool is used for.</a:t>
            </a:r>
          </a:p>
          <a:p>
            <a:pPr lvl="1"/>
            <a:r>
              <a:rPr lang="en-US" dirty="0"/>
              <a:t>An example of how it could be applied in a real-world software project.</a:t>
            </a:r>
          </a:p>
          <a:p>
            <a:r>
              <a:rPr lang="en-US" dirty="0"/>
              <a:t>Prepare a 2-minute explanation of your findings to share with the class.</a:t>
            </a:r>
          </a:p>
          <a:p>
            <a:endParaRPr lang="en-US" dirty="0"/>
          </a:p>
        </p:txBody>
      </p:sp>
    </p:spTree>
    <p:extLst>
      <p:ext uri="{BB962C8B-B14F-4D97-AF65-F5344CB8AC3E}">
        <p14:creationId xmlns:p14="http://schemas.microsoft.com/office/powerpoint/2010/main" val="41444171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8D27C-72F4-73EE-3381-50AA25943247}"/>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02F606F-6EFF-A7B0-E780-468BC7F6A8D8}"/>
              </a:ext>
            </a:extLst>
          </p:cNvPr>
          <p:cNvSpPr>
            <a:spLocks noGrp="1"/>
          </p:cNvSpPr>
          <p:nvPr>
            <p:ph idx="1"/>
          </p:nvPr>
        </p:nvSpPr>
        <p:spPr/>
        <p:txBody>
          <a:bodyPr/>
          <a:lstStyle/>
          <a:p>
            <a:r>
              <a:rPr lang="en-US" dirty="0"/>
              <a:t>Sommerville, I. (2016). Software engineering. Pearson. </a:t>
            </a:r>
          </a:p>
          <a:p>
            <a:endParaRPr lang="en-US" dirty="0"/>
          </a:p>
        </p:txBody>
      </p:sp>
    </p:spTree>
    <p:extLst>
      <p:ext uri="{BB962C8B-B14F-4D97-AF65-F5344CB8AC3E}">
        <p14:creationId xmlns:p14="http://schemas.microsoft.com/office/powerpoint/2010/main" val="3024776109"/>
      </p:ext>
    </p:extLst>
  </p:cSld>
  <p:clrMapOvr>
    <a:masterClrMapping/>
  </p:clrMapOvr>
</p:sld>
</file>

<file path=ppt/theme/theme1.xml><?xml version="1.0" encoding="utf-8"?>
<a:theme xmlns:a="http://schemas.openxmlformats.org/drawingml/2006/main" name="InterweaveVTI">
  <a:themeElements>
    <a:clrScheme name="AnalogousFromLightSeedRightStep">
      <a:dk1>
        <a:srgbClr val="000000"/>
      </a:dk1>
      <a:lt1>
        <a:srgbClr val="FFFFFF"/>
      </a:lt1>
      <a:dk2>
        <a:srgbClr val="243141"/>
      </a:dk2>
      <a:lt2>
        <a:srgbClr val="E2E3E8"/>
      </a:lt2>
      <a:accent1>
        <a:srgbClr val="AAA180"/>
      </a:accent1>
      <a:accent2>
        <a:srgbClr val="9CA671"/>
      </a:accent2>
      <a:accent3>
        <a:srgbClr val="8FA880"/>
      </a:accent3>
      <a:accent4>
        <a:srgbClr val="76AD78"/>
      </a:accent4>
      <a:accent5>
        <a:srgbClr val="81AB94"/>
      </a:accent5>
      <a:accent6>
        <a:srgbClr val="74AAA2"/>
      </a:accent6>
      <a:hlink>
        <a:srgbClr val="6978AE"/>
      </a:hlink>
      <a:folHlink>
        <a:srgbClr val="7F7F7F"/>
      </a:folHlink>
    </a:clrScheme>
    <a:fontScheme name="Interweave">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weaveVTI" id="{2A5AE21D-FC75-4AD0-BC12-FA563BC24905}" vid="{9A4A41B8-EB69-44BB-8E15-B517E25CF8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TotalTime>
  <Words>2808</Words>
  <Application>Microsoft Macintosh PowerPoint</Application>
  <PresentationFormat>Widescreen</PresentationFormat>
  <Paragraphs>210</Paragraphs>
  <Slides>39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Arial</vt:lpstr>
      <vt:lpstr>Comic Sans MS</vt:lpstr>
      <vt:lpstr>Neue Haas Grotesk Text Pro</vt:lpstr>
      <vt:lpstr>InterweaveVTI</vt:lpstr>
      <vt:lpstr>Requirement Engineering and Software Design  </vt:lpstr>
      <vt:lpstr>Objectives </vt:lpstr>
      <vt:lpstr>Contents </vt:lpstr>
      <vt:lpstr>Requirements</vt:lpstr>
      <vt:lpstr>User requirements</vt:lpstr>
      <vt:lpstr>System requirements</vt:lpstr>
      <vt:lpstr>User and system requirements  </vt:lpstr>
      <vt:lpstr>Requirements Engineering (RE)  </vt:lpstr>
      <vt:lpstr>Functional and non-functional requirements  </vt:lpstr>
      <vt:lpstr>Types of non-functional requirement</vt:lpstr>
      <vt:lpstr>Class Activity: Identifying Functional and Non-Functional Requirements</vt:lpstr>
      <vt:lpstr>The software requirements document </vt:lpstr>
      <vt:lpstr>Users of a requirements document</vt:lpstr>
      <vt:lpstr>The structure of a requirements document </vt:lpstr>
      <vt:lpstr>Requirements specification </vt:lpstr>
      <vt:lpstr>Ways of writing a system requirements specification  </vt:lpstr>
      <vt:lpstr>A spiral view of the requirements engineering process  </vt:lpstr>
      <vt:lpstr>Requirements engineering processes </vt:lpstr>
      <vt:lpstr>Requirements elicitation and analysis</vt:lpstr>
      <vt:lpstr>The requirements elicitation and analysis process</vt:lpstr>
      <vt:lpstr>Techniques for Requirements Discovery</vt:lpstr>
      <vt:lpstr>Ethnography and prototyping for requirements analysis</vt:lpstr>
      <vt:lpstr>Eliciting and understanding requirements from system stakeholders is a difficult process for several reasons</vt:lpstr>
      <vt:lpstr>Requirements validation</vt:lpstr>
      <vt:lpstr>Different types of checks</vt:lpstr>
      <vt:lpstr>Requirements Validation Techniques </vt:lpstr>
      <vt:lpstr>Class Activity: Researching Real-World Applications of Requirements Validation Techniques</vt:lpstr>
      <vt:lpstr>Requirements management</vt:lpstr>
      <vt:lpstr>Requirements evolution</vt:lpstr>
      <vt:lpstr>There are several reasons why change is inevitable</vt:lpstr>
      <vt:lpstr>Requirements management planning</vt:lpstr>
      <vt:lpstr>Requirements change management</vt:lpstr>
      <vt:lpstr>Three principal stages to a change management process  </vt:lpstr>
      <vt:lpstr>KEY POINTS</vt:lpstr>
      <vt:lpstr>From Requirements to System Design</vt:lpstr>
      <vt:lpstr>Key Activities in System Design</vt:lpstr>
      <vt:lpstr>Class Activity : Design Principles and Best Practices</vt:lpstr>
      <vt:lpstr>Class Activity: Identifying Design Models and Tools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NURHIDAYAH BAHAR</dc:creator>
  <cp:lastModifiedBy>NURHIDAYAH BAHAR</cp:lastModifiedBy>
  <cp:revision>19</cp:revision>
  <dcterms:created xsi:type="dcterms:W3CDTF">2024-10-15T01:56:27Z</dcterms:created>
  <dcterms:modified xsi:type="dcterms:W3CDTF">2024-10-15T10:00:37Z</dcterms:modified>
</cp:coreProperties>
</file>